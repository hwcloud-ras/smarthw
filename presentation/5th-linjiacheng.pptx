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2"/>
  </p:sldMasterIdLst>
  <p:notesMasterIdLst>
    <p:notesMasterId r:id="rId19"/>
  </p:notesMasterIdLst>
  <p:handoutMasterIdLst>
    <p:handoutMasterId r:id="rId20"/>
  </p:handoutMasterIdLst>
  <p:sldIdLst>
    <p:sldId id="1519" r:id="rId3"/>
    <p:sldId id="1983" r:id="rId4"/>
    <p:sldId id="1987" r:id="rId5"/>
    <p:sldId id="1988" r:id="rId6"/>
    <p:sldId id="1991" r:id="rId7"/>
    <p:sldId id="1984" r:id="rId8"/>
    <p:sldId id="1992" r:id="rId9"/>
    <p:sldId id="1993" r:id="rId10"/>
    <p:sldId id="1994" r:id="rId11"/>
    <p:sldId id="1990" r:id="rId12"/>
    <p:sldId id="1985" r:id="rId13"/>
    <p:sldId id="1995" r:id="rId14"/>
    <p:sldId id="1996" r:id="rId15"/>
    <p:sldId id="1986" r:id="rId16"/>
    <p:sldId id="1989" r:id="rId17"/>
    <p:sldId id="19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0" userDrawn="1">
          <p15:clr>
            <a:srgbClr val="A4A3A4"/>
          </p15:clr>
        </p15:guide>
        <p15:guide id="2" pos="38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一" initials="李" lastIdx="1" clrIdx="0"/>
  <p:cmAuthor id="2" name="张 先生" initials="张" lastIdx="2" clrIdx="1"/>
  <p:cmAuthor id="3" name="junchao" initials="j"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4C85"/>
    <a:srgbClr val="DC5E47"/>
    <a:srgbClr val="DF9D82"/>
    <a:srgbClr val="F8AD8F"/>
    <a:srgbClr val="81A4FA"/>
    <a:srgbClr val="567AE3"/>
    <a:srgbClr val="C72F32"/>
    <a:srgbClr val="94C076"/>
    <a:srgbClr val="233246"/>
    <a:srgbClr val="740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9" autoAdjust="0"/>
    <p:restoredTop sz="79528" autoAdjust="0"/>
  </p:normalViewPr>
  <p:slideViewPr>
    <p:cSldViewPr snapToGrid="0" snapToObjects="1" showGuides="1">
      <p:cViewPr varScale="1">
        <p:scale>
          <a:sx n="66" d="100"/>
          <a:sy n="66" d="100"/>
        </p:scale>
        <p:origin x="1142" y="48"/>
      </p:cViewPr>
      <p:guideLst>
        <p:guide orient="horz" pos="2240"/>
        <p:guide pos="3833"/>
      </p:guideLst>
    </p:cSldViewPr>
  </p:slideViewPr>
  <p:outlineViewPr>
    <p:cViewPr>
      <p:scale>
        <a:sx n="33" d="100"/>
        <a:sy n="33" d="100"/>
      </p:scale>
      <p:origin x="0" y="-28296"/>
    </p:cViewPr>
  </p:outlineViewPr>
  <p:notesTextViewPr>
    <p:cViewPr>
      <p:scale>
        <a:sx n="155" d="100"/>
        <a:sy n="155" d="100"/>
      </p:scale>
      <p:origin x="0" y="0"/>
    </p:cViewPr>
  </p:notesTextViewPr>
  <p:notesViewPr>
    <p:cSldViewPr snapToGrid="0" snapToObjects="1">
      <p:cViewPr varScale="1">
        <p:scale>
          <a:sx n="118" d="100"/>
          <a:sy n="118" d="100"/>
        </p:scale>
        <p:origin x="42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73E8D5-F0E7-403B-AAA9-FDB7ED172D46}" type="datetimeFigureOut">
              <a:rPr lang="en-US" smtClean="0"/>
              <a:t>5/6/2025</a:t>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59E22B-5E0F-454F-9BF0-C70D08ED4CE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ADD3D-D7A5-B14B-BE07-5D181AE43AF2}"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DA7C1-09EB-C742-909D-6754DCC5DD3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6D2DA7C1-09EB-C742-909D-6754DCC5DD3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DA7C1-09EB-C742-909D-6754DCC5DD36}"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597" name="灯片编号占位符 5"/>
          <p:cNvSpPr>
            <a:spLocks noGrp="1"/>
          </p:cNvSpPr>
          <p:nvPr>
            <p:ph type="sldNum" sz="quarter" idx="12"/>
          </p:nvPr>
        </p:nvSpPr>
        <p:spPr>
          <a:xfrm>
            <a:off x="10761970" y="6438282"/>
            <a:ext cx="914093" cy="291556"/>
          </a:xfrm>
          <a:prstGeom prst="rect">
            <a:avLst/>
          </a:prstGeom>
        </p:spPr>
        <p:txBody>
          <a:bodyPr rIns="0"/>
          <a:lstStyle>
            <a:lvl1pPr algn="r">
              <a:defRPr sz="1100" b="0">
                <a:solidFill>
                  <a:schemeClr val="tx1">
                    <a:lumMod val="65000"/>
                    <a:lumOff val="35000"/>
                  </a:schemeClr>
                </a:solidFill>
                <a:effectLst>
                  <a:outerShdw blurRad="38100" dist="38100" dir="2700000" algn="tl">
                    <a:srgbClr val="000000">
                      <a:alpha val="43137"/>
                    </a:srgbClr>
                  </a:outerShdw>
                </a:effectLst>
                <a:latin typeface="+mn-ea"/>
                <a:ea typeface="+mn-ea"/>
              </a:defRPr>
            </a:lvl1pPr>
          </a:lstStyle>
          <a:p>
            <a:fld id="{7CFB1EEF-B761-4911-A2FD-18DBD3241D03}" type="slidenum">
              <a:rPr lang="zh-CN" altLang="en-US" spc="90" smtClean="0"/>
              <a:t>‹#›</a:t>
            </a:fld>
            <a:r>
              <a:rPr lang="zh-CN" altLang="en-US" spc="90" dirty="0"/>
              <a:t>页</a:t>
            </a:r>
          </a:p>
        </p:txBody>
      </p:sp>
      <p:cxnSp>
        <p:nvCxnSpPr>
          <p:cNvPr id="3145735"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6" name="直接连接符 21"/>
          <p:cNvCxnSpPr/>
          <p:nvPr userDrawn="1"/>
        </p:nvCxnSpPr>
        <p:spPr>
          <a:xfrm>
            <a:off x="0" y="63433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20204" pitchFamily="34" charset="0"/>
                <a:cs typeface="Arial" panose="020B0604020202020204" pitchFamily="34" charset="0"/>
              </a:rPr>
              <a:t>SmartMem</a:t>
            </a:r>
            <a:r>
              <a:rPr lang="en-US" altLang="zh-CN" sz="1400" b="0" dirty="0">
                <a:solidFill>
                  <a:srgbClr val="064C85"/>
                </a:solidFill>
                <a:latin typeface="Arial" panose="020B0604020202020204" pitchFamily="34" charset="0"/>
                <a:cs typeface="Arial" panose="020B060402020202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20204" pitchFamily="34" charset="0"/>
                <a:cs typeface="Arial" panose="020B0604020202020204" pitchFamily="34" charset="0"/>
              </a:rPr>
              <a:t>WWW 2025, Sydney, Australia</a:t>
            </a:r>
            <a:endParaRPr lang="en-US" sz="1100" dirty="0">
              <a:solidFill>
                <a:schemeClr val="bg1"/>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20204" pitchFamily="34" charset="0"/>
                <a:cs typeface="Arial" panose="020B0604020202020204" pitchFamily="34" charset="0"/>
              </a:rPr>
              <a:t>SmartMem</a:t>
            </a:r>
            <a:r>
              <a:rPr lang="en-US" altLang="zh-CN" sz="1400" b="0" dirty="0">
                <a:solidFill>
                  <a:srgbClr val="064C85"/>
                </a:solidFill>
                <a:latin typeface="Arial" panose="020B0604020202020204" pitchFamily="34" charset="0"/>
                <a:cs typeface="Arial" panose="020B060402020202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20204" pitchFamily="34" charset="0"/>
                <a:cs typeface="Arial" panose="020B0604020202020204" pitchFamily="34" charset="0"/>
              </a:rPr>
              <a:t>WWW 2025, Sydney, Australia</a:t>
            </a:r>
            <a:endParaRPr lang="en-US" sz="1100" dirty="0">
              <a:solidFill>
                <a:schemeClr val="bg1"/>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jpeg"/><Relationship Id="rId13" Type="http://schemas.openxmlformats.org/officeDocument/2006/relationships/image" Target="../media/image7.png"/><Relationship Id="rId3" Type="http://schemas.openxmlformats.org/officeDocument/2006/relationships/tags" Target="../tags/tag3.xml"/><Relationship Id="rId7" Type="http://schemas.openxmlformats.org/officeDocument/2006/relationships/slideLayout" Target="../slideLayouts/slideLayout5.xml"/><Relationship Id="rId12"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5.png"/><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png"/><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9"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0.xml"/><Relationship Id="rId7" Type="http://schemas.openxmlformats.org/officeDocument/2006/relationships/image" Target="../media/image11.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0.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7.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7.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9.xml"/><Relationship Id="rId7" Type="http://schemas.openxmlformats.org/officeDocument/2006/relationships/image" Target="../media/image16.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5.png"/><Relationship Id="rId5" Type="http://schemas.openxmlformats.org/officeDocument/2006/relationships/slideLayout" Target="../slideLayouts/slideLayout2.xml"/><Relationship Id="rId4" Type="http://schemas.openxmlformats.org/officeDocument/2006/relationships/tags" Target="../tags/tag30.xml"/><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7.png"/><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tags" Target="../tags/tag59.xml"/><Relationship Id="rId26" Type="http://schemas.openxmlformats.org/officeDocument/2006/relationships/image" Target="../media/image7.png"/><Relationship Id="rId3" Type="http://schemas.openxmlformats.org/officeDocument/2006/relationships/tags" Target="../tags/tag44.xml"/><Relationship Id="rId21" Type="http://schemas.openxmlformats.org/officeDocument/2006/relationships/tags" Target="../tags/tag62.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slideLayout" Target="../slideLayouts/slideLayout2.xml"/><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tags" Target="../tags/tag61.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tags" Target="../tags/tag65.xml"/><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tags" Target="../tags/tag64.xml"/><Relationship Id="rId10" Type="http://schemas.openxmlformats.org/officeDocument/2006/relationships/tags" Target="../tags/tag51.xml"/><Relationship Id="rId19" Type="http://schemas.openxmlformats.org/officeDocument/2006/relationships/tags" Target="../tags/tag60.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tags" Target="../tags/tag6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0" y="-8101"/>
            <a:ext cx="12192000" cy="2856105"/>
          </a:xfrm>
          <a:prstGeom prst="rect">
            <a:avLst/>
          </a:prstGeom>
        </p:spPr>
      </p:pic>
      <p:sp>
        <p:nvSpPr>
          <p:cNvPr id="16" name="Rectangle 15"/>
          <p:cNvSpPr/>
          <p:nvPr/>
        </p:nvSpPr>
        <p:spPr>
          <a:xfrm>
            <a:off x="0" y="6540403"/>
            <a:ext cx="12192000" cy="324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副标题 2"/>
          <p:cNvSpPr txBox="1"/>
          <p:nvPr/>
        </p:nvSpPr>
        <p:spPr>
          <a:xfrm>
            <a:off x="391366" y="4103579"/>
            <a:ext cx="11108055" cy="205182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en-US" altLang="zh-CN" sz="1800" b="1" dirty="0">
                <a:latin typeface="Arial" panose="020B0604020202020204" pitchFamily="34" charset="0"/>
                <a:cs typeface="Arial" panose="020B0604020202020204" pitchFamily="34" charset="0"/>
              </a:rPr>
              <a:t>Team: first_wewillwin</a:t>
            </a:r>
          </a:p>
          <a:p>
            <a:pPr marL="0" indent="0" algn="ctr">
              <a:lnSpc>
                <a:spcPct val="150000"/>
              </a:lnSpc>
              <a:buNone/>
            </a:pPr>
            <a:r>
              <a:rPr lang="en-US" altLang="zh-CN" sz="1800" dirty="0">
                <a:latin typeface="Arial" panose="020B0604020202020204" pitchFamily="34" charset="0"/>
                <a:cs typeface="Arial" panose="020B0604020202020204" pitchFamily="34" charset="0"/>
              </a:rPr>
              <a:t>Member: Jiacheng Lin</a:t>
            </a:r>
            <a:r>
              <a:rPr lang="en-US" altLang="zh-CN" sz="1800" baseline="30000" dirty="0">
                <a:latin typeface="Arial" panose="020B0604020202020204" pitchFamily="34" charset="0"/>
                <a:cs typeface="Arial" panose="020B0604020202020204" pitchFamily="34" charset="0"/>
              </a:rPr>
              <a:t>1,</a:t>
            </a:r>
            <a:r>
              <a:rPr lang="en-US" altLang="zh-CN" sz="1800" dirty="0">
                <a:latin typeface="Arial" panose="020B0604020202020204" pitchFamily="34" charset="0"/>
                <a:cs typeface="Arial" panose="020B0604020202020204" pitchFamily="34" charset="0"/>
              </a:rPr>
              <a:t> Yulin Xiao</a:t>
            </a:r>
            <a:r>
              <a:rPr lang="en-US" altLang="zh-CN" sz="1800" baseline="30000" dirty="0">
                <a:latin typeface="Arial" panose="020B0604020202020204" pitchFamily="34" charset="0"/>
                <a:cs typeface="Arial" panose="020B0604020202020204" pitchFamily="34" charset="0"/>
                <a:sym typeface="+mn-ea"/>
              </a:rPr>
              <a:t>1, </a:t>
            </a:r>
            <a:r>
              <a:rPr lang="en-US" altLang="zh-CN" sz="1800" dirty="0">
                <a:latin typeface="Arial" panose="020B0604020202020204" pitchFamily="34" charset="0"/>
                <a:cs typeface="Arial" panose="020B0604020202020204" pitchFamily="34" charset="0"/>
                <a:sym typeface="+mn-ea"/>
              </a:rPr>
              <a:t>Dong Zheng</a:t>
            </a:r>
            <a:r>
              <a:rPr lang="en-US" altLang="zh-CN" sz="1800" baseline="30000" dirty="0">
                <a:latin typeface="Arial" panose="020B0604020202020204" pitchFamily="34" charset="0"/>
                <a:cs typeface="Arial" panose="020B0604020202020204" pitchFamily="34" charset="0"/>
                <a:sym typeface="+mn-ea"/>
              </a:rPr>
              <a:t>1,</a:t>
            </a:r>
            <a:r>
              <a:rPr lang="en-US" altLang="zh-CN" sz="1800" dirty="0">
                <a:latin typeface="Arial" panose="020B0604020202020204" pitchFamily="34" charset="0"/>
                <a:cs typeface="Arial" panose="020B0604020202020204" pitchFamily="34" charset="0"/>
                <a:sym typeface="+mn-ea"/>
              </a:rPr>
              <a:t> </a:t>
            </a:r>
            <a:endParaRPr lang="en-US" altLang="zh-CN" sz="1800" baseline="30000" dirty="0">
              <a:latin typeface="Arial" panose="020B0604020202020204" pitchFamily="34" charset="0"/>
              <a:cs typeface="Arial" panose="020B0604020202020204" pitchFamily="34" charset="0"/>
            </a:endParaRPr>
          </a:p>
          <a:p>
            <a:pPr marL="0" indent="0" algn="ctr">
              <a:lnSpc>
                <a:spcPct val="150000"/>
              </a:lnSpc>
              <a:buNone/>
            </a:pPr>
            <a:r>
              <a:rPr lang="en-US" altLang="zh-CN" sz="1800" dirty="0">
                <a:latin typeface="Arial" panose="020B0604020202020204" pitchFamily="34" charset="0"/>
                <a:cs typeface="Arial" panose="020B0604020202020204" pitchFamily="34" charset="0"/>
              </a:rPr>
              <a:t>Instructor:Wenjun Li</a:t>
            </a:r>
            <a:r>
              <a:rPr lang="en-US" altLang="zh-CN" sz="1800" baseline="30000" dirty="0">
                <a:latin typeface="Arial" panose="020B0604020202020204" pitchFamily="34" charset="0"/>
                <a:cs typeface="Arial" panose="020B0604020202020204" pitchFamily="34" charset="0"/>
                <a:sym typeface="+mn-ea"/>
              </a:rPr>
              <a:t>1, </a:t>
            </a:r>
            <a:r>
              <a:rPr lang="en-US" altLang="zh-CN" sz="1800" dirty="0">
                <a:latin typeface="Arial" panose="020B0604020202020204" pitchFamily="34" charset="0"/>
                <a:cs typeface="Arial" panose="020B0604020202020204" pitchFamily="34" charset="0"/>
                <a:sym typeface="+mn-ea"/>
              </a:rPr>
              <a:t>Jun Liu</a:t>
            </a:r>
            <a:r>
              <a:rPr lang="en-US" altLang="zh-CN" sz="1800" baseline="30000" dirty="0">
                <a:latin typeface="Arial" panose="020B0604020202020204" pitchFamily="34" charset="0"/>
                <a:cs typeface="Arial" panose="020B0604020202020204" pitchFamily="34" charset="0"/>
                <a:sym typeface="+mn-ea"/>
              </a:rPr>
              <a:t>1</a:t>
            </a:r>
          </a:p>
          <a:p>
            <a:pPr marL="0" indent="0" algn="ctr">
              <a:lnSpc>
                <a:spcPct val="150000"/>
              </a:lnSpc>
              <a:buNone/>
            </a:pPr>
            <a:r>
              <a:rPr lang="en-US" altLang="zh-CN" sz="1800" baseline="30000" dirty="0">
                <a:latin typeface="Arial" panose="020B0604020202020204" pitchFamily="34" charset="0"/>
                <a:cs typeface="Arial" panose="020B0604020202020204" pitchFamily="34" charset="0"/>
              </a:rPr>
              <a:t>1</a:t>
            </a:r>
            <a:r>
              <a:rPr lang="en-US" altLang="zh-CN" sz="1800" dirty="0">
                <a:latin typeface="Arial" panose="020B0604020202020204" pitchFamily="34" charset="0"/>
                <a:cs typeface="Arial" panose="020B0604020202020204" pitchFamily="34" charset="0"/>
              </a:rPr>
              <a:t>Hangzhou Dianzi University</a:t>
            </a:r>
          </a:p>
          <a:p>
            <a:pPr marL="0" indent="0" algn="ctr">
              <a:lnSpc>
                <a:spcPct val="150000"/>
              </a:lnSpc>
              <a:buNone/>
            </a:pPr>
            <a:r>
              <a:rPr lang="en-US" altLang="zh-CN" sz="1800" dirty="0">
                <a:latin typeface="Arial" panose="020B0604020202020204" pitchFamily="34" charset="0"/>
                <a:cs typeface="Arial" panose="020B0604020202020204" pitchFamily="34" charset="0"/>
              </a:rPr>
              <a:t>28</a:t>
            </a:r>
            <a:r>
              <a:rPr lang="en-US" altLang="zh-CN" sz="1800" baseline="30000" dirty="0">
                <a:latin typeface="Arial" panose="020B0604020202020204" pitchFamily="34" charset="0"/>
                <a:cs typeface="Arial" panose="020B0604020202020204" pitchFamily="34" charset="0"/>
              </a:rPr>
              <a:t>th</a:t>
            </a:r>
            <a:r>
              <a:rPr lang="en-US" altLang="zh-CN" sz="1800" dirty="0">
                <a:latin typeface="Arial" panose="020B0604020202020204" pitchFamily="34" charset="0"/>
                <a:cs typeface="Arial" panose="020B0604020202020204" pitchFamily="34" charset="0"/>
              </a:rPr>
              <a:t> April, 2025</a:t>
            </a:r>
          </a:p>
        </p:txBody>
      </p:sp>
      <p:sp>
        <p:nvSpPr>
          <p:cNvPr id="6" name="标题 1"/>
          <p:cNvSpPr txBox="1"/>
          <p:nvPr/>
        </p:nvSpPr>
        <p:spPr>
          <a:xfrm>
            <a:off x="-127000" y="2139622"/>
            <a:ext cx="12446000" cy="17410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Candara" panose="020E0502030303020204" pitchFamily="34" charset="0"/>
                <a:ea typeface="+mj-ea"/>
                <a:cs typeface="+mj-cs"/>
              </a:defRPr>
            </a:lvl1pPr>
          </a:lstStyle>
          <a:p>
            <a:r>
              <a:rPr lang="en-US" sz="3200" b="1" dirty="0">
                <a:solidFill>
                  <a:srgbClr val="064C85"/>
                </a:solidFill>
                <a:latin typeface="Lucida Grande" panose="020B0600040502020204" pitchFamily="34" charset="0"/>
              </a:rPr>
              <a:t>WWW 2025 </a:t>
            </a:r>
            <a:r>
              <a:rPr lang="en-US" sz="3200" b="1" dirty="0" err="1">
                <a:solidFill>
                  <a:srgbClr val="064C85"/>
                </a:solidFill>
                <a:latin typeface="Lucida Grande" panose="020B0600040502020204" pitchFamily="34" charset="0"/>
              </a:rPr>
              <a:t>SmartMem</a:t>
            </a:r>
            <a:r>
              <a:rPr lang="en-US" sz="3200" b="1" dirty="0">
                <a:solidFill>
                  <a:srgbClr val="064C85"/>
                </a:solidFill>
                <a:latin typeface="Lucida Grande" panose="020B0600040502020204" pitchFamily="34" charset="0"/>
              </a:rPr>
              <a:t> </a:t>
            </a:r>
            <a:r>
              <a:rPr lang="en-US" altLang="zh-CN" sz="3200" b="1" dirty="0">
                <a:solidFill>
                  <a:srgbClr val="064C85"/>
                </a:solidFill>
                <a:latin typeface="Lucida Grande" panose="020B0600040502020204" pitchFamily="34" charset="0"/>
              </a:rPr>
              <a:t>Competition</a:t>
            </a:r>
            <a:endParaRPr lang="en-US" sz="3200" b="1" i="0" dirty="0">
              <a:solidFill>
                <a:srgbClr val="064C85"/>
              </a:solidFill>
              <a:effectLst/>
              <a:latin typeface="Lucida Grande" panose="020B06000405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69594"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Introduction</a:t>
            </a:r>
          </a:p>
        </p:txBody>
      </p:sp>
      <p:sp>
        <p:nvSpPr>
          <p:cNvPr id="6" name="Freeform 14"/>
          <p:cNvSpPr>
            <a:spLocks noEditPoints="1"/>
          </p:cNvSpPr>
          <p:nvPr/>
        </p:nvSpPr>
        <p:spPr bwMode="auto">
          <a:xfrm>
            <a:off x="4225290" y="2706370"/>
            <a:ext cx="328295" cy="32766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7" name="Freeform 15"/>
          <p:cNvSpPr/>
          <p:nvPr/>
        </p:nvSpPr>
        <p:spPr bwMode="auto">
          <a:xfrm>
            <a:off x="4298950" y="2807335"/>
            <a:ext cx="181610" cy="126365"/>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nvGrpSpPr>
          <p:cNvPr id="9" name="Group 13"/>
          <p:cNvGrpSpPr>
            <a:grpSpLocks noChangeAspect="1"/>
          </p:cNvGrpSpPr>
          <p:nvPr/>
        </p:nvGrpSpPr>
        <p:grpSpPr bwMode="auto">
          <a:xfrm>
            <a:off x="4225466" y="3182921"/>
            <a:ext cx="328183" cy="327403"/>
            <a:chOff x="3665" y="2074"/>
            <a:chExt cx="421" cy="420"/>
          </a:xfrm>
          <a:solidFill>
            <a:schemeClr val="accent1"/>
          </a:solidFill>
        </p:grpSpPr>
        <p:sp>
          <p:nvSpPr>
            <p:cNvPr id="10"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grpSp>
        <p:nvGrpSpPr>
          <p:cNvPr id="2" name="Group 13"/>
          <p:cNvGrpSpPr>
            <a:grpSpLocks noChangeAspect="1"/>
          </p:cNvGrpSpPr>
          <p:nvPr/>
        </p:nvGrpSpPr>
        <p:grpSpPr bwMode="auto">
          <a:xfrm>
            <a:off x="4226736" y="3635676"/>
            <a:ext cx="328183" cy="327403"/>
            <a:chOff x="3665" y="2074"/>
            <a:chExt cx="421" cy="420"/>
          </a:xfrm>
          <a:solidFill>
            <a:schemeClr val="accent1"/>
          </a:solidFill>
        </p:grpSpPr>
        <p:sp>
          <p:nvSpPr>
            <p:cNvPr id="8"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16" name="文本框 15"/>
          <p:cNvSpPr txBox="1"/>
          <p:nvPr/>
        </p:nvSpPr>
        <p:spPr>
          <a:xfrm>
            <a:off x="4612005" y="3728085"/>
            <a:ext cx="4064000" cy="368300"/>
          </a:xfrm>
          <a:prstGeom prst="rect">
            <a:avLst/>
          </a:prstGeom>
          <a:noFill/>
        </p:spPr>
        <p:txBody>
          <a:bodyPr wrap="square" rtlCol="0">
            <a:spAutoFit/>
          </a:bodyPr>
          <a:lstStyle/>
          <a:p>
            <a:endParaRPr lang="zh-CN" altLang="en-US"/>
          </a:p>
        </p:txBody>
      </p:sp>
      <p:sp>
        <p:nvSpPr>
          <p:cNvPr id="17" name="矩形 16"/>
          <p:cNvSpPr/>
          <p:nvPr/>
        </p:nvSpPr>
        <p:spPr>
          <a:xfrm>
            <a:off x="4611878" y="2670569"/>
            <a:ext cx="3361055" cy="398780"/>
          </a:xfrm>
          <a:prstGeom prst="rect">
            <a:avLst/>
          </a:prstGeom>
        </p:spPr>
        <p:txBody>
          <a:bodyPr wrap="none">
            <a:spAutoFit/>
          </a:bodyPr>
          <a:lstStyle/>
          <a:p>
            <a:pPr algn="l">
              <a:buClrTx/>
              <a:buSzTx/>
              <a:buFontTx/>
            </a:pPr>
            <a:r>
              <a:rPr lang="en-US" altLang="zh-CN" sz="2000" b="1" kern="100" dirty="0">
                <a:solidFill>
                  <a:schemeClr val="accent1"/>
                </a:solidFill>
                <a:latin typeface="+mn-ea"/>
                <a:cs typeface="Times New Roman" panose="02020603050405020304" pitchFamily="18" charset="0"/>
                <a:sym typeface="+mn-ea"/>
              </a:rPr>
              <a:t>Team member Introduction</a:t>
            </a:r>
          </a:p>
        </p:txBody>
      </p:sp>
      <p:sp>
        <p:nvSpPr>
          <p:cNvPr id="21" name="矩形 20"/>
          <p:cNvSpPr/>
          <p:nvPr/>
        </p:nvSpPr>
        <p:spPr>
          <a:xfrm>
            <a:off x="4611878" y="3156979"/>
            <a:ext cx="3888105" cy="1137285"/>
          </a:xfrm>
          <a:prstGeom prst="rect">
            <a:avLst/>
          </a:prstGeom>
        </p:spPr>
        <p:txBody>
          <a:bodyPr wrap="none">
            <a:spAutoFit/>
          </a:bodyPr>
          <a:lstStyle/>
          <a:p>
            <a:pPr algn="l">
              <a:buClrTx/>
              <a:buSzTx/>
              <a:buFontTx/>
            </a:pPr>
            <a:r>
              <a:rPr lang="en-US" altLang="zh-CN" sz="2000" b="1" kern="100" dirty="0">
                <a:solidFill>
                  <a:schemeClr val="accent1"/>
                </a:solidFill>
                <a:latin typeface="+mn-ea"/>
                <a:cs typeface="Times New Roman" panose="02020603050405020304" pitchFamily="18" charset="0"/>
                <a:sym typeface="+mn-ea"/>
              </a:rPr>
              <a:t>Introduction to the Competition</a:t>
            </a:r>
            <a:endParaRPr lang="en-US" altLang="zh-CN" sz="2000" b="1" i="0" u="none" strike="noStrike" kern="100" cap="none" spc="0" normalizeH="0" baseline="0" dirty="0">
              <a:solidFill>
                <a:schemeClr val="accent1"/>
              </a:solidFill>
              <a:latin typeface="+mn-ea"/>
              <a:cs typeface="Times New Roman" panose="02020603050405020304" pitchFamily="18" charset="0"/>
            </a:endParaRPr>
          </a:p>
          <a:p>
            <a:endParaRPr lang="en-US" altLang="zh-CN" sz="4800" b="1" kern="100" dirty="0">
              <a:solidFill>
                <a:schemeClr val="accent1"/>
              </a:solidFill>
              <a:latin typeface="+mn-ea"/>
              <a:cs typeface="Times New Roman" panose="02020603050405020304" pitchFamily="18" charset="0"/>
            </a:endParaRPr>
          </a:p>
        </p:txBody>
      </p:sp>
      <p:sp>
        <p:nvSpPr>
          <p:cNvPr id="18" name="矩形 17"/>
          <p:cNvSpPr/>
          <p:nvPr/>
        </p:nvSpPr>
        <p:spPr>
          <a:xfrm>
            <a:off x="4616323" y="3617989"/>
            <a:ext cx="3451225" cy="1137285"/>
          </a:xfrm>
          <a:prstGeom prst="rect">
            <a:avLst/>
          </a:prstGeom>
        </p:spPr>
        <p:txBody>
          <a:bodyPr wrap="none">
            <a:spAutoFit/>
          </a:bodyPr>
          <a:lstStyle/>
          <a:p>
            <a:pPr algn="l">
              <a:buClrTx/>
              <a:buSzTx/>
              <a:buFontTx/>
            </a:pPr>
            <a:r>
              <a:rPr lang="en-US" altLang="zh-CN" sz="2000" b="1" kern="100" dirty="0">
                <a:solidFill>
                  <a:schemeClr val="accent1"/>
                </a:solidFill>
                <a:latin typeface="+mn-ea"/>
                <a:cs typeface="Times New Roman" panose="02020603050405020304" pitchFamily="18" charset="0"/>
                <a:sym typeface="+mn-ea"/>
              </a:rPr>
              <a:t>Difficulty of the competition</a:t>
            </a:r>
            <a:endParaRPr lang="en-US" altLang="zh-CN" sz="2000" b="1" kern="100" dirty="0">
              <a:solidFill>
                <a:schemeClr val="accent1"/>
              </a:solidFill>
              <a:latin typeface="+mn-ea"/>
              <a:cs typeface="Times New Roman" panose="02020603050405020304" pitchFamily="18" charset="0"/>
            </a:endParaRPr>
          </a:p>
          <a:p>
            <a:endParaRPr lang="en-US" altLang="zh-CN" sz="4800" b="1" kern="100" dirty="0">
              <a:solidFill>
                <a:schemeClr val="accent1"/>
              </a:solidFill>
              <a:latin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0" name="矩形 19"/>
          <p:cNvSpPr/>
          <p:nvPr/>
        </p:nvSpPr>
        <p:spPr>
          <a:xfrm>
            <a:off x="43815" y="1177290"/>
            <a:ext cx="12149455" cy="5242560"/>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19" name="矩形 18"/>
          <p:cNvSpPr/>
          <p:nvPr/>
        </p:nvSpPr>
        <p:spPr>
          <a:xfrm>
            <a:off x="69850" y="998220"/>
            <a:ext cx="11931015" cy="444500"/>
          </a:xfrm>
          <a:prstGeom prst="rect">
            <a:avLst/>
          </a:prstGeom>
          <a:gradFill>
            <a:gsLst>
              <a:gs pos="21000">
                <a:srgbClr val="FFE699">
                  <a:alpha val="51000"/>
                </a:srgbClr>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 name="文本框 10"/>
          <p:cNvSpPr txBox="1"/>
          <p:nvPr/>
        </p:nvSpPr>
        <p:spPr>
          <a:xfrm>
            <a:off x="360399" y="1025763"/>
            <a:ext cx="772223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effectLst/>
                <a:uLnTx/>
                <a:uFillTx/>
                <a:latin typeface="微软雅黑" panose="020B0503020204020204" charset="-122"/>
                <a:ea typeface="微软雅黑" panose="020B0503020204020204" charset="-122"/>
              </a:rPr>
              <a:t>Team member Introduction: Lin Jiacheng, Xiao Yulin, Zheng Dong</a:t>
            </a:r>
          </a:p>
        </p:txBody>
      </p:sp>
      <p:pic>
        <p:nvPicPr>
          <p:cNvPr id="5" name="图片 4" descr="7b0a202020202266696c746572223a202230220a7d0a"/>
          <p:cNvPicPr>
            <a:picLocks noChangeAspect="1"/>
          </p:cNvPicPr>
          <p:nvPr>
            <p:custDataLst>
              <p:tags r:id="rId1"/>
            </p:custDataLst>
          </p:nvPr>
        </p:nvPicPr>
        <p:blipFill>
          <a:blip r:embed="rId8"/>
          <a:stretch>
            <a:fillRect/>
          </a:stretch>
        </p:blipFill>
        <p:spPr>
          <a:xfrm>
            <a:off x="254635" y="2122170"/>
            <a:ext cx="1263650" cy="1769745"/>
          </a:xfrm>
          <a:prstGeom prst="rect">
            <a:avLst/>
          </a:prstGeom>
        </p:spPr>
      </p:pic>
      <p:pic>
        <p:nvPicPr>
          <p:cNvPr id="8" name="图片 7" descr="7b0a202020202266696c746572223a202230220a7d0a"/>
          <p:cNvPicPr>
            <a:picLocks noChangeAspect="1"/>
          </p:cNvPicPr>
          <p:nvPr>
            <p:custDataLst>
              <p:tags r:id="rId2"/>
            </p:custDataLst>
          </p:nvPr>
        </p:nvPicPr>
        <p:blipFill>
          <a:blip r:embed="rId9"/>
          <a:srcRect l="12515" r="12882" b="19056"/>
          <a:stretch>
            <a:fillRect/>
          </a:stretch>
        </p:blipFill>
        <p:spPr>
          <a:xfrm>
            <a:off x="1700530" y="2105660"/>
            <a:ext cx="1153160" cy="1821815"/>
          </a:xfrm>
          <a:prstGeom prst="rect">
            <a:avLst/>
          </a:prstGeom>
        </p:spPr>
      </p:pic>
      <p:pic>
        <p:nvPicPr>
          <p:cNvPr id="12" name="图片 11"/>
          <p:cNvPicPr>
            <a:picLocks noChangeAspect="1"/>
          </p:cNvPicPr>
          <p:nvPr>
            <p:custDataLst>
              <p:tags r:id="rId3"/>
            </p:custDataLst>
          </p:nvPr>
        </p:nvPicPr>
        <p:blipFill>
          <a:blip r:embed="rId10"/>
          <a:stretch>
            <a:fillRect/>
          </a:stretch>
        </p:blipFill>
        <p:spPr>
          <a:xfrm>
            <a:off x="3030220" y="2094865"/>
            <a:ext cx="1365250" cy="1841500"/>
          </a:xfrm>
          <a:prstGeom prst="rect">
            <a:avLst/>
          </a:prstGeom>
        </p:spPr>
      </p:pic>
      <p:cxnSp>
        <p:nvCxnSpPr>
          <p:cNvPr id="18" name="直线连接符 17"/>
          <p:cNvCxnSpPr/>
          <p:nvPr/>
        </p:nvCxnSpPr>
        <p:spPr>
          <a:xfrm>
            <a:off x="4942508" y="1517519"/>
            <a:ext cx="4363" cy="465837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45735"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2672" y="-57391"/>
            <a:ext cx="7807325" cy="829945"/>
          </a:xfrm>
          <a:prstGeom prst="rect">
            <a:avLst/>
          </a:prstGeom>
        </p:spPr>
        <p:txBody>
          <a:bodyPr wrap="none">
            <a:spAutoFit/>
          </a:bodyPr>
          <a:lstStyle/>
          <a:p>
            <a:pPr algn="l">
              <a:buClrTx/>
              <a:buSzTx/>
              <a:buFontTx/>
            </a:pPr>
            <a:r>
              <a:rPr lang="en-US" altLang="zh-CN" sz="4800" b="1" kern="100" dirty="0">
                <a:solidFill>
                  <a:schemeClr val="accent1"/>
                </a:solidFill>
                <a:latin typeface="+mn-ea"/>
                <a:cs typeface="Times New Roman" panose="02020603050405020304" pitchFamily="18" charset="0"/>
                <a:sym typeface="+mn-ea"/>
              </a:rPr>
              <a:t>Team member Introduction</a:t>
            </a:r>
            <a:endParaRPr lang="en-US" altLang="zh-CN" sz="4800" b="1" kern="100" dirty="0">
              <a:solidFill>
                <a:schemeClr val="accent1"/>
              </a:solidFill>
              <a:latin typeface="+mn-ea"/>
              <a:cs typeface="Times New Roman" panose="02020603050405020304" pitchFamily="18" charset="0"/>
            </a:endParaRPr>
          </a:p>
        </p:txBody>
      </p:sp>
      <p:sp>
        <p:nvSpPr>
          <p:cNvPr id="21" name="文本框 20"/>
          <p:cNvSpPr txBox="1"/>
          <p:nvPr/>
        </p:nvSpPr>
        <p:spPr>
          <a:xfrm>
            <a:off x="5310505" y="4086860"/>
            <a:ext cx="6487795" cy="2889250"/>
          </a:xfrm>
          <a:prstGeom prst="rect">
            <a:avLst/>
          </a:prstGeom>
        </p:spPr>
        <p:txBody>
          <a:bodyPr wrap="square">
            <a:noAutofit/>
          </a:bodyPr>
          <a:lstStyle/>
          <a:p>
            <a:pPr marL="0" lvl="1" indent="0" algn="l" fontAlgn="auto">
              <a:lnSpc>
                <a:spcPct val="120000"/>
              </a:lnSpc>
              <a:spcBef>
                <a:spcPts val="500"/>
              </a:spcBef>
              <a:buClrTx/>
              <a:buSzTx/>
              <a:buFontTx/>
              <a:buBlip>
                <a:blip r:embed="rId11"/>
              </a:buBlip>
              <a:defRPr/>
            </a:pPr>
            <a:r>
              <a:rPr lang="en-US" altLang="zh-CN" sz="1600">
                <a:solidFill>
                  <a:srgbClr val="000000"/>
                </a:solidFill>
                <a:latin typeface="CIDFont"/>
                <a:ea typeface="CIDFont"/>
              </a:rPr>
              <a:t></a:t>
            </a:r>
            <a:r>
              <a:rPr kumimoji="1" lang="en-US" altLang="zh-CN" sz="1400" noProof="0" dirty="0">
                <a:ln>
                  <a:noFill/>
                </a:ln>
                <a:effectLst/>
                <a:uLnTx/>
                <a:uFillTx/>
                <a:latin typeface="微软雅黑" panose="020B0503020204020204" charset="-122"/>
                <a:ea typeface="微软雅黑" panose="020B0503020204020204" charset="-122"/>
              </a:rPr>
              <a:t>EDA basic commonality and cutting-edge technology research (optimization, synthesis, place and route, MBSE technology roadmap)</a:t>
            </a:r>
          </a:p>
          <a:p>
            <a:pPr marL="0" lvl="1" indent="0" algn="l" fontAlgn="auto">
              <a:lnSpc>
                <a:spcPct val="120000"/>
              </a:lnSpc>
              <a:spcBef>
                <a:spcPts val="500"/>
              </a:spcBef>
              <a:buClrTx/>
              <a:buSzTx/>
              <a:buFontTx/>
              <a:buBlip>
                <a:blip r:embed="rId11"/>
              </a:buBlip>
              <a:defRPr/>
            </a:pPr>
            <a:r>
              <a:rPr kumimoji="1" lang="en-US" altLang="zh-CN" sz="1400" noProof="0" dirty="0">
                <a:ln>
                  <a:noFill/>
                </a:ln>
                <a:effectLst/>
                <a:uLnTx/>
                <a:uFillTx/>
                <a:latin typeface="微软雅黑" panose="020B0503020204020204" charset="-122"/>
                <a:ea typeface="微软雅黑" panose="020B0503020204020204" charset="-122"/>
              </a:rPr>
              <a:t>JG-specific chip design simulation technology R&amp;D (chip feature extraction, macro model, modeling tool development)</a:t>
            </a:r>
          </a:p>
          <a:p>
            <a:pPr marL="0" lvl="1" indent="0" algn="l" fontAlgn="auto">
              <a:lnSpc>
                <a:spcPct val="120000"/>
              </a:lnSpc>
              <a:spcBef>
                <a:spcPts val="500"/>
              </a:spcBef>
              <a:buClrTx/>
              <a:buSzTx/>
              <a:buFontTx/>
              <a:buBlip>
                <a:blip r:embed="rId11"/>
              </a:buBlip>
              <a:defRPr/>
            </a:pPr>
            <a:r>
              <a:rPr kumimoji="1" lang="en-US" altLang="zh-CN" sz="1400" noProof="0" dirty="0">
                <a:ln>
                  <a:noFill/>
                </a:ln>
                <a:effectLst/>
                <a:uLnTx/>
                <a:uFillTx/>
                <a:latin typeface="微软雅黑" panose="020B0503020204020204" charset="-122"/>
                <a:ea typeface="微软雅黑" panose="020B0503020204020204" charset="-122"/>
              </a:rPr>
              <a:t>Large language model training and agent design in the vertical field of RF/MMIC</a:t>
            </a:r>
          </a:p>
        </p:txBody>
      </p:sp>
      <p:sp>
        <p:nvSpPr>
          <p:cNvPr id="23" name="文本框 22"/>
          <p:cNvSpPr txBox="1"/>
          <p:nvPr/>
        </p:nvSpPr>
        <p:spPr>
          <a:xfrm>
            <a:off x="-133985" y="4072890"/>
            <a:ext cx="1881505" cy="829945"/>
          </a:xfrm>
          <a:prstGeom prst="rect">
            <a:avLst/>
          </a:prstGeom>
          <a:noFill/>
        </p:spPr>
        <p:txBody>
          <a:bodyPr wrap="square" rtlCol="0">
            <a:spAutoFit/>
          </a:bodyPr>
          <a:lstStyle/>
          <a:p>
            <a:pPr algn="ctr"/>
            <a:r>
              <a:rPr lang="en-US" altLang="zh-CN" sz="1600"/>
              <a:t>Jiacheng Lin</a:t>
            </a:r>
          </a:p>
          <a:p>
            <a:pPr algn="ctr"/>
            <a:r>
              <a:rPr lang="en-US" altLang="zh-CN" sz="1600"/>
              <a:t>Master's degree</a:t>
            </a:r>
          </a:p>
          <a:p>
            <a:pPr algn="ctr"/>
            <a:r>
              <a:rPr lang="en-US" altLang="zh-CN" sz="1600"/>
              <a:t> </a:t>
            </a:r>
          </a:p>
        </p:txBody>
      </p:sp>
      <p:sp>
        <p:nvSpPr>
          <p:cNvPr id="24" name="文本框 23"/>
          <p:cNvSpPr txBox="1"/>
          <p:nvPr/>
        </p:nvSpPr>
        <p:spPr>
          <a:xfrm>
            <a:off x="1320165" y="4086860"/>
            <a:ext cx="1809115" cy="407670"/>
          </a:xfrm>
          <a:prstGeom prst="rect">
            <a:avLst/>
          </a:prstGeom>
          <a:noFill/>
        </p:spPr>
        <p:txBody>
          <a:bodyPr wrap="square" rtlCol="0">
            <a:noAutofit/>
          </a:bodyPr>
          <a:lstStyle/>
          <a:p>
            <a:pPr algn="ctr"/>
            <a:r>
              <a:rPr lang="en-US" altLang="zh-CN" sz="1600"/>
              <a:t>Yulin Xiao</a:t>
            </a:r>
          </a:p>
          <a:p>
            <a:pPr algn="ctr"/>
            <a:r>
              <a:rPr lang="en-US" altLang="zh-CN" sz="1600"/>
              <a:t>Master's degree</a:t>
            </a:r>
          </a:p>
          <a:p>
            <a:endParaRPr lang="en-US" altLang="zh-CN" sz="1600"/>
          </a:p>
        </p:txBody>
      </p:sp>
      <p:sp>
        <p:nvSpPr>
          <p:cNvPr id="25" name="文本框 24"/>
          <p:cNvSpPr txBox="1"/>
          <p:nvPr/>
        </p:nvSpPr>
        <p:spPr>
          <a:xfrm>
            <a:off x="2651760" y="4086860"/>
            <a:ext cx="2122170" cy="583565"/>
          </a:xfrm>
          <a:prstGeom prst="rect">
            <a:avLst/>
          </a:prstGeom>
          <a:noFill/>
        </p:spPr>
        <p:txBody>
          <a:bodyPr wrap="square" rtlCol="0">
            <a:spAutoFit/>
          </a:bodyPr>
          <a:lstStyle/>
          <a:p>
            <a:pPr algn="ctr"/>
            <a:r>
              <a:rPr lang="en-US" altLang="zh-CN" sz="1600"/>
              <a:t>Dong Zheng</a:t>
            </a:r>
          </a:p>
          <a:p>
            <a:pPr algn="ctr"/>
            <a:r>
              <a:rPr lang="en-US" altLang="zh-CN" sz="1600"/>
              <a:t>Master's degree </a:t>
            </a:r>
          </a:p>
        </p:txBody>
      </p:sp>
      <p:sp>
        <p:nvSpPr>
          <p:cNvPr id="26" name="文本框 25"/>
          <p:cNvSpPr txBox="1"/>
          <p:nvPr/>
        </p:nvSpPr>
        <p:spPr>
          <a:xfrm>
            <a:off x="6657340" y="3637915"/>
            <a:ext cx="5087620" cy="337185"/>
          </a:xfrm>
          <a:prstGeom prst="rect">
            <a:avLst/>
          </a:prstGeom>
          <a:noFill/>
        </p:spPr>
        <p:txBody>
          <a:bodyPr wrap="square" rtlCol="0">
            <a:spAutoFit/>
          </a:bodyPr>
          <a:lstStyle/>
          <a:p>
            <a:pPr algn="l">
              <a:buClrTx/>
              <a:buSzTx/>
              <a:buFontTx/>
            </a:pPr>
            <a:r>
              <a:rPr lang="en-US" altLang="zh-CN" sz="1600" b="1" kern="100" dirty="0">
                <a:solidFill>
                  <a:schemeClr val="accent1"/>
                </a:solidFill>
                <a:latin typeface="+mn-ea"/>
                <a:cs typeface="Times New Roman" panose="02020603050405020304" pitchFamily="18" charset="0"/>
              </a:rPr>
              <a:t>EDA Technology Innovation Center</a:t>
            </a:r>
          </a:p>
        </p:txBody>
      </p:sp>
      <p:pic>
        <p:nvPicPr>
          <p:cNvPr id="3" name="图片 2"/>
          <p:cNvPicPr>
            <a:picLocks noChangeAspect="1"/>
          </p:cNvPicPr>
          <p:nvPr>
            <p:custDataLst>
              <p:tags r:id="rId4"/>
            </p:custDataLst>
          </p:nvPr>
        </p:nvPicPr>
        <p:blipFill>
          <a:blip r:embed="rId12"/>
          <a:stretch>
            <a:fillRect/>
          </a:stretch>
        </p:blipFill>
        <p:spPr>
          <a:xfrm>
            <a:off x="8570595" y="1739900"/>
            <a:ext cx="3430270" cy="1600200"/>
          </a:xfrm>
          <a:prstGeom prst="rect">
            <a:avLst/>
          </a:prstGeom>
        </p:spPr>
      </p:pic>
      <p:sp>
        <p:nvSpPr>
          <p:cNvPr id="6" name="文本框 5"/>
          <p:cNvSpPr txBox="1"/>
          <p:nvPr/>
        </p:nvSpPr>
        <p:spPr>
          <a:xfrm>
            <a:off x="170815" y="5173980"/>
            <a:ext cx="4628515" cy="675640"/>
          </a:xfrm>
          <a:prstGeom prst="rect">
            <a:avLst/>
          </a:prstGeom>
          <a:noFill/>
        </p:spPr>
        <p:txBody>
          <a:bodyPr wrap="square" rtlCol="0">
            <a:spAutoFit/>
          </a:bodyPr>
          <a:lstStyle/>
          <a:p>
            <a:r>
              <a:rPr lang="en-US" altLang="zh-CN" sz="2000" b="1"/>
              <a:t>Research Interests:</a:t>
            </a:r>
            <a:r>
              <a:rPr lang="en-US" altLang="zh-CN"/>
              <a:t> AI and Big Data, Multi-modal Recognition, Image Segmentation</a:t>
            </a:r>
          </a:p>
        </p:txBody>
      </p:sp>
      <p:pic>
        <p:nvPicPr>
          <p:cNvPr id="7" name="Picture 1"/>
          <p:cNvPicPr>
            <a:picLocks noChangeAspect="1" noChangeArrowheads="1"/>
          </p:cNvPicPr>
          <p:nvPr>
            <p:custDataLst>
              <p:tags r:id="rId5"/>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custDataLst>
              <p:tags r:id="rId6"/>
            </p:custDataLst>
          </p:nvPr>
        </p:nvPicPr>
        <p:blipFill>
          <a:blip r:embed="rId14"/>
          <a:stretch>
            <a:fillRect/>
          </a:stretch>
        </p:blipFill>
        <p:spPr>
          <a:xfrm>
            <a:off x="5558155" y="1734185"/>
            <a:ext cx="2910840" cy="16992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90500" y="1665955"/>
            <a:ext cx="2921635" cy="4620260"/>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3" name="文本框 2" descr="7b0a202020202262756c6c6574223a20227b5c2263617465676f727949645c223a5c225c222c5c2274656d706c61746549645c223a32303233313536317d220a7d0a"/>
          <p:cNvSpPr txBox="1"/>
          <p:nvPr/>
        </p:nvSpPr>
        <p:spPr>
          <a:xfrm>
            <a:off x="207645" y="1842135"/>
            <a:ext cx="3110865" cy="4444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8000" tIns="180000" rIns="288000" bIns="45720" numCol="1" spcCol="0" rtlCol="0" fromWordArt="0" anchor="t" anchorCtr="0" forceAA="0" compatLnSpc="1">
            <a:noAutofit/>
          </a:bodyPr>
          <a:lstStyle>
            <a:defPPr>
              <a:defRPr lang="zh-CN"/>
            </a:defPPr>
            <a:lvl1pPr algn="ctr">
              <a:defRPr kumimoj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lvl="0" indent="-285750" algn="l">
              <a:spcBef>
                <a:spcPts val="1200"/>
              </a:spcBef>
              <a:buClrTx/>
              <a:buSzTx/>
              <a:buFont typeface="Arial" panose="020B0604020202020204" pitchFamily="34" charset="0"/>
              <a:buChar char="•"/>
              <a:defRPr/>
            </a:pPr>
            <a:r>
              <a:rPr kumimoji="1" lang="zh-CN" altLang="en-US" sz="1600" b="1" i="0" u="none" strike="noStrike" kern="1200" cap="none" spc="0" normalizeH="0" baseline="0" dirty="0">
                <a:solidFill>
                  <a:schemeClr val="tx1"/>
                </a:solidFill>
                <a:latin typeface="微软雅黑" panose="020B0503020204020204" charset="-122"/>
                <a:ea typeface="微软雅黑" panose="020B0503020204020204" charset="-122"/>
              </a:rPr>
              <a:t>Dynamic memory failure timing prediction</a:t>
            </a:r>
          </a:p>
          <a:p>
            <a:pPr marL="342900" lvl="1" indent="-342900" fontAlgn="auto">
              <a:lnSpc>
                <a:spcPct val="100000"/>
              </a:lnSpc>
              <a:spcBef>
                <a:spcPts val="1200"/>
              </a:spcBef>
              <a:buFont typeface="BatangChe" panose="02030609000101010101" charset="-127"/>
              <a:buBlip>
                <a:blip r:embed="rId4"/>
              </a:buBlip>
              <a:defRPr/>
            </a:pPr>
            <a:r>
              <a:rPr kumimoji="1" lang="en-US" altLang="zh-CN"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Based on the memory and kernel log data of large-scale servers (with a total of hundreds of millions of logs and tens of thousands of servers), a machine learning model is trained to detect online whether a server will experience memory failure within the next 7 days. (Classification problem)</a:t>
            </a:r>
          </a:p>
        </p:txBody>
      </p:sp>
      <p:sp>
        <p:nvSpPr>
          <p:cNvPr id="9" name="文本框 8"/>
          <p:cNvSpPr txBox="1"/>
          <p:nvPr/>
        </p:nvSpPr>
        <p:spPr>
          <a:xfrm>
            <a:off x="4436745" y="4657090"/>
            <a:ext cx="6193790" cy="1680210"/>
          </a:xfrm>
          <a:prstGeom prst="rect">
            <a:avLst/>
          </a:prstGeom>
          <a:solidFill>
            <a:schemeClr val="accent1">
              <a:lumMod val="60000"/>
              <a:lumOff val="4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8000" tIns="360000" rIns="288000" bIns="288000" numCol="1" spcCol="0" rtlCol="0" fromWordArt="0" anchor="t" anchorCtr="0" forceAA="0" compatLnSpc="1">
            <a:noAutofit/>
          </a:bodyPr>
          <a:lstStyle>
            <a:defPPr>
              <a:defRPr lang="zh-CN"/>
            </a:defPPr>
            <a:lvl1pPr marL="285750" marR="0" lvl="0" indent="-285750" fontAlgn="auto">
              <a:lnSpc>
                <a:spcPct val="100000"/>
              </a:lnSpc>
              <a:spcBef>
                <a:spcPts val="1200"/>
              </a:spcBef>
              <a:spcAft>
                <a:spcPts val="0"/>
              </a:spcAft>
              <a:buClrTx/>
              <a:buSzTx/>
              <a:buFont typeface="Arial" panose="020B0604020202020204" pitchFamily="34" charset="0"/>
              <a:buChar char="•"/>
              <a:defRPr kumimoji="1" sz="1600" b="0" i="0" u="none" strike="noStrike" cap="none" spc="0" normalizeH="0" baseline="0">
                <a:ln>
                  <a:noFill/>
                </a:ln>
                <a:effectLst/>
                <a:uLnTx/>
                <a:uFillTx/>
                <a:latin typeface="楷体" panose="02010609060101010101" pitchFamily="49" charset="-122"/>
                <a:ea typeface="楷体" panose="02010609060101010101" pitchFamily="49" charset="-122"/>
              </a:defRPr>
            </a:lvl1pPr>
            <a:lvl2pPr marL="742950" lvl="1" indent="-285750">
              <a:spcBef>
                <a:spcPts val="1200"/>
              </a:spcBef>
              <a:buFont typeface="系统字体" panose="00000300000000000000"/>
              <a:buChar char="-"/>
              <a:defRPr kumimoji="1" sz="1600" b="1" i="0" u="none" strike="noStrike" cap="none" spc="0" normalizeH="0" baseline="0">
                <a:ln>
                  <a:noFill/>
                </a:ln>
                <a:effectLst/>
                <a:uLnTx/>
                <a:uFillTx/>
                <a:latin typeface="楷体" panose="02010609060101010101" pitchFamily="49" charset="-122"/>
                <a:ea typeface="楷体" panose="02010609060101010101"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spcBef>
                <a:spcPts val="600"/>
              </a:spcBef>
              <a:buNone/>
            </a:pPr>
            <a:endParaRPr lang="en-US" altLang="zh-CN" dirty="0">
              <a:solidFill>
                <a:schemeClr val="tx1"/>
              </a:solidFill>
              <a:latin typeface="微软雅黑" panose="020B0503020204020204" charset="-122"/>
              <a:ea typeface="微软雅黑" panose="020B0503020204020204" charset="-122"/>
            </a:endParaRPr>
          </a:p>
        </p:txBody>
      </p:sp>
      <p:sp>
        <p:nvSpPr>
          <p:cNvPr id="10" name="矩形 9"/>
          <p:cNvSpPr/>
          <p:nvPr/>
        </p:nvSpPr>
        <p:spPr>
          <a:xfrm>
            <a:off x="190500" y="1087120"/>
            <a:ext cx="11643360" cy="444500"/>
          </a:xfrm>
          <a:prstGeom prst="rect">
            <a:avLst/>
          </a:prstGeom>
          <a:gradFill>
            <a:gsLst>
              <a:gs pos="21000">
                <a:srgbClr val="FFE699">
                  <a:alpha val="51000"/>
                </a:srgbClr>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269923" y="1102158"/>
            <a:ext cx="388810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effectLst/>
                <a:uLnTx/>
                <a:uFillTx/>
                <a:latin typeface="微软雅黑" panose="020B0503020204020204" charset="-122"/>
                <a:ea typeface="微软雅黑" panose="020B0503020204020204" charset="-122"/>
              </a:rPr>
              <a:t>Introduction to the Competition</a:t>
            </a:r>
          </a:p>
        </p:txBody>
      </p:sp>
      <p:sp>
        <p:nvSpPr>
          <p:cNvPr id="4" name="文本框 3"/>
          <p:cNvSpPr txBox="1"/>
          <p:nvPr/>
        </p:nvSpPr>
        <p:spPr>
          <a:xfrm>
            <a:off x="6139345" y="1119938"/>
            <a:ext cx="223520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effectLst/>
                <a:uLnTx/>
                <a:uFillTx/>
                <a:latin typeface="微软雅黑" panose="020B0503020204020204" charset="-122"/>
                <a:ea typeface="微软雅黑" panose="020B0503020204020204" charset="-122"/>
              </a:rPr>
              <a:t>Data Introduction</a:t>
            </a:r>
          </a:p>
        </p:txBody>
      </p:sp>
      <p:grpSp>
        <p:nvGrpSpPr>
          <p:cNvPr id="13" name="组合 12"/>
          <p:cNvGrpSpPr/>
          <p:nvPr/>
        </p:nvGrpSpPr>
        <p:grpSpPr>
          <a:xfrm>
            <a:off x="3113607" y="3928985"/>
            <a:ext cx="360000" cy="360000"/>
            <a:chOff x="4359372" y="1220810"/>
            <a:chExt cx="360000" cy="360000"/>
          </a:xfrm>
        </p:grpSpPr>
        <p:sp>
          <p:nvSpPr>
            <p:cNvPr id="14" name="椭圆 13"/>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15" name="燕尾形 14"/>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17" name="燕尾形 16"/>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cxnSp>
        <p:nvCxnSpPr>
          <p:cNvPr id="7" name="直线连接符 17"/>
          <p:cNvCxnSpPr/>
          <p:nvPr/>
        </p:nvCxnSpPr>
        <p:spPr>
          <a:xfrm>
            <a:off x="3324528" y="1619754"/>
            <a:ext cx="4363" cy="465837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4806967" y="4164390"/>
            <a:ext cx="5290833" cy="396000"/>
          </a:xfrm>
          <a:prstGeom prst="roundRect">
            <a:avLst>
              <a:gd name="adj" fmla="val 50000"/>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b="1" dirty="0">
                <a:solidFill>
                  <a:schemeClr val="tx1"/>
                </a:solidFill>
                <a:latin typeface="微软雅黑" panose="020B0503020204020204" charset="-122"/>
                <a:ea typeface="微软雅黑" panose="020B0503020204020204" charset="-122"/>
              </a:rPr>
              <a:t>Evaluation Index</a:t>
            </a:r>
          </a:p>
        </p:txBody>
      </p:sp>
      <p:pic>
        <p:nvPicPr>
          <p:cNvPr id="16" name="图片 15"/>
          <p:cNvPicPr>
            <a:picLocks noChangeAspect="1"/>
          </p:cNvPicPr>
          <p:nvPr>
            <p:custDataLst>
              <p:tags r:id="rId1"/>
            </p:custDataLst>
          </p:nvPr>
        </p:nvPicPr>
        <p:blipFill>
          <a:blip r:embed="rId5"/>
          <a:stretch>
            <a:fillRect/>
          </a:stretch>
        </p:blipFill>
        <p:spPr>
          <a:xfrm>
            <a:off x="4650105" y="4809490"/>
            <a:ext cx="5761355" cy="1418590"/>
          </a:xfrm>
          <a:prstGeom prst="rect">
            <a:avLst/>
          </a:prstGeom>
        </p:spPr>
      </p:pic>
      <p:sp>
        <p:nvSpPr>
          <p:cNvPr id="232" name="矩形 231"/>
          <p:cNvSpPr/>
          <p:nvPr/>
        </p:nvSpPr>
        <p:spPr>
          <a:xfrm>
            <a:off x="3562350" y="1666240"/>
            <a:ext cx="2534285" cy="24117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3" name="矩形 232"/>
          <p:cNvSpPr/>
          <p:nvPr/>
        </p:nvSpPr>
        <p:spPr>
          <a:xfrm>
            <a:off x="6326505" y="1666240"/>
            <a:ext cx="2734945" cy="2413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4" name="矩形 233"/>
          <p:cNvSpPr/>
          <p:nvPr/>
        </p:nvSpPr>
        <p:spPr>
          <a:xfrm>
            <a:off x="9297035" y="1666240"/>
            <a:ext cx="2533015" cy="2384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35" name="文本框 234"/>
          <p:cNvSpPr txBox="1"/>
          <p:nvPr/>
        </p:nvSpPr>
        <p:spPr>
          <a:xfrm>
            <a:off x="9321800" y="1666240"/>
            <a:ext cx="2608580" cy="2368550"/>
          </a:xfrm>
          <a:prstGeom prst="rect">
            <a:avLst/>
          </a:prstGeom>
          <a:noFill/>
        </p:spPr>
        <p:txBody>
          <a:bodyPr wrap="square" rtlCol="0">
            <a:spAutoFit/>
          </a:bodyPr>
          <a:lstStyle/>
          <a:p>
            <a:pPr algn="l"/>
            <a:r>
              <a:rPr lang="en-US" altLang="zh-CN" sz="1400" b="1">
                <a:solidFill>
                  <a:schemeClr val="tx1"/>
                </a:solidFill>
                <a:latin typeface="微软雅黑" panose="020B0503020204020204" charset="-122"/>
                <a:ea typeface="微软雅黑" panose="020B0503020204020204" charset="-122"/>
                <a:cs typeface="微软雅黑" panose="020B0503020204020204" charset="-122"/>
                <a:sym typeface="+mn-ea"/>
              </a:rPr>
              <a:t>3. System and Configuration Dimensions</a:t>
            </a:r>
          </a:p>
          <a:p>
            <a:pPr algn="l"/>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manufacturer: Server manufacturer</a:t>
            </a:r>
          </a:p>
          <a:p>
            <a:pPr marL="171450" indent="-171450" algn="l">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model: CPU model</a:t>
            </a:r>
          </a:p>
          <a:p>
            <a:pPr marL="171450" indent="-171450" algn="l">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PN: DIMM part number</a:t>
            </a:r>
          </a:p>
          <a:p>
            <a:pPr marL="171450" indent="-171450" algn="l">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Capacity: DIMM capacity</a:t>
            </a:r>
          </a:p>
          <a:p>
            <a:pPr marL="171450" indent="-171450" algn="l">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memory_type: DIMM type (e.g., DDR4)</a:t>
            </a:r>
          </a:p>
        </p:txBody>
      </p:sp>
      <p:sp>
        <p:nvSpPr>
          <p:cNvPr id="236" name="文本框 235"/>
          <p:cNvSpPr txBox="1"/>
          <p:nvPr/>
        </p:nvSpPr>
        <p:spPr>
          <a:xfrm>
            <a:off x="6330315" y="1709420"/>
            <a:ext cx="2842895" cy="2115185"/>
          </a:xfrm>
          <a:prstGeom prst="rect">
            <a:avLst/>
          </a:prstGeom>
          <a:noFill/>
        </p:spPr>
        <p:txBody>
          <a:bodyPr wrap="square" rtlCol="0">
            <a:noAutofit/>
          </a:bodyPr>
          <a:lstStyle/>
          <a:p>
            <a:pPr algn="l">
              <a:buClrTx/>
              <a:buSzTx/>
              <a:buFontTx/>
            </a:pPr>
            <a:r>
              <a:rPr lang="zh-CN" altLang="en-US" sz="1400" b="1">
                <a:latin typeface="微软雅黑" panose="020B0503020204020204" charset="-122"/>
                <a:ea typeface="微软雅黑" panose="020B0503020204020204" charset="-122"/>
                <a:cs typeface="微软雅黑" panose="020B0503020204020204" charset="-122"/>
                <a:sym typeface="+mn-ea"/>
              </a:rPr>
              <a:t>2. </a:t>
            </a:r>
            <a:r>
              <a:rPr lang="en-US" altLang="zh-CN" sz="1400" b="1">
                <a:latin typeface="微软雅黑" panose="020B0503020204020204" charset="-122"/>
                <a:ea typeface="微软雅黑" panose="020B0503020204020204" charset="-122"/>
                <a:cs typeface="微软雅黑" panose="020B0503020204020204" charset="-122"/>
                <a:sym typeface="+mn-ea"/>
              </a:rPr>
              <a:t>Error and Log Dimensions</a:t>
            </a:r>
          </a:p>
          <a:p>
            <a:pPr algn="l">
              <a:buClrTx/>
              <a:buSzTx/>
              <a:buFontTx/>
            </a:pPr>
            <a:endParaRPr lang="zh-CN" altLang="en-US" sz="1400" b="1">
              <a:latin typeface="微软雅黑" panose="020B0503020204020204" charset="-122"/>
              <a:ea typeface="微软雅黑" panose="020B0503020204020204" charset="-122"/>
              <a:cs typeface="微软雅黑" panose="020B0503020204020204" charset="-122"/>
              <a:sym typeface="+mn-ea"/>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Retryrderrlogparity: Retry read error log parity information</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Retryrderrlog: Retry log, records error type and check (parity/ECC)</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Burst_info: Memory DQ and burst error parity bits</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Error_type: Error type (read or scrub/erase)</a:t>
            </a: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Log_time: Error occurrence timestamp</a:t>
            </a:r>
          </a:p>
        </p:txBody>
      </p:sp>
      <p:sp>
        <p:nvSpPr>
          <p:cNvPr id="237" name="文本框 236"/>
          <p:cNvSpPr txBox="1"/>
          <p:nvPr/>
        </p:nvSpPr>
        <p:spPr>
          <a:xfrm>
            <a:off x="3562350" y="1674495"/>
            <a:ext cx="2461260" cy="2254250"/>
          </a:xfrm>
          <a:prstGeom prst="rect">
            <a:avLst/>
          </a:prstGeom>
        </p:spPr>
        <p:txBody>
          <a:bodyPr wrap="square">
            <a:noAutofit/>
          </a:bodyPr>
          <a:lstStyle/>
          <a:p>
            <a:pPr algn="l">
              <a:buClrTx/>
              <a:buSzTx/>
              <a:buFontTx/>
            </a:pPr>
            <a:r>
              <a:rPr lang="zh-CN" altLang="en-US" sz="1400" b="1">
                <a:latin typeface="微软雅黑" panose="020B0503020204020204" charset="-122"/>
                <a:ea typeface="微软雅黑" panose="020B0503020204020204" charset="-122"/>
                <a:cs typeface="微软雅黑" panose="020B0503020204020204" charset="-122"/>
              </a:rPr>
              <a:t>1. </a:t>
            </a:r>
            <a:r>
              <a:rPr lang="en-US" altLang="zh-CN" sz="1400" b="1">
                <a:latin typeface="微软雅黑" panose="020B0503020204020204" charset="-122"/>
                <a:ea typeface="微软雅黑" panose="020B0503020204020204" charset="-122"/>
                <a:cs typeface="微软雅黑" panose="020B0503020204020204" charset="-122"/>
              </a:rPr>
              <a:t>Hardware Dimensions</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Cpuid: CPU ID</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Channelid: Channel ID (each CPU has multiple channels)</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Dimmid: DIMM ID (each channel connects multiple DIMMs)</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Rankid: Rank ID (each DIMM has 1 or 2 Ranks)</a:t>
            </a:r>
          </a:p>
          <a:p>
            <a:pPr marL="171450" indent="-171450" algn="l">
              <a:buClrTx/>
              <a:buSzTx/>
              <a:buFont typeface="Wingdings" panose="05000000000000000000" charset="0"/>
              <a:buChar char="l"/>
            </a:pP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marL="171450" indent="-171450" algn="l">
              <a:buClrTx/>
              <a:buSzTx/>
              <a:buFont typeface="Wingdings" panose="05000000000000000000" charset="0"/>
              <a:buChar char="l"/>
            </a:pP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Deviceid: Device ID (each DIMM has multiple devices)</a:t>
            </a:r>
          </a:p>
        </p:txBody>
      </p:sp>
      <p:cxnSp>
        <p:nvCxnSpPr>
          <p:cNvPr id="20"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42672" y="-57391"/>
            <a:ext cx="9072245" cy="1568450"/>
          </a:xfrm>
          <a:prstGeom prst="rect">
            <a:avLst/>
          </a:prstGeom>
        </p:spPr>
        <p:txBody>
          <a:bodyPr wrap="none">
            <a:spAutoFit/>
          </a:bodyPr>
          <a:lstStyle/>
          <a:p>
            <a:pPr algn="l">
              <a:buClrTx/>
              <a:buSzTx/>
              <a:buFontTx/>
            </a:pPr>
            <a:r>
              <a:rPr lang="en-US" altLang="zh-CN" sz="4800" b="1" kern="100" dirty="0">
                <a:solidFill>
                  <a:schemeClr val="accent1"/>
                </a:solidFill>
                <a:latin typeface="+mn-ea"/>
                <a:cs typeface="Times New Roman" panose="02020603050405020304" pitchFamily="18" charset="0"/>
                <a:sym typeface="+mn-ea"/>
              </a:rPr>
              <a:t>Introduction to the Competition</a:t>
            </a:r>
            <a:endParaRPr lang="en-US" altLang="zh-CN" sz="4800" b="1" i="0" u="none" strike="noStrike" kern="100" cap="none" spc="0" normalizeH="0" baseline="0" dirty="0">
              <a:solidFill>
                <a:schemeClr val="accent1"/>
              </a:solidFill>
              <a:latin typeface="+mn-ea"/>
              <a:cs typeface="Times New Roman" panose="02020603050405020304" pitchFamily="18" charset="0"/>
            </a:endParaRPr>
          </a:p>
          <a:p>
            <a:endParaRPr lang="en-US" altLang="zh-CN" sz="4800" b="1" kern="100" dirty="0">
              <a:solidFill>
                <a:schemeClr val="accent1"/>
              </a:solidFill>
              <a:latin typeface="+mn-ea"/>
              <a:cs typeface="Times New Roman" panose="02020603050405020304" pitchFamily="18" charset="0"/>
            </a:endParaRPr>
          </a:p>
        </p:txBody>
      </p:sp>
      <p:pic>
        <p:nvPicPr>
          <p:cNvPr id="2" name="Picture 1"/>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14630" y="1177290"/>
            <a:ext cx="11688445" cy="5242560"/>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6" name="矩形 5"/>
          <p:cNvSpPr/>
          <p:nvPr/>
        </p:nvSpPr>
        <p:spPr>
          <a:xfrm>
            <a:off x="180975" y="1567815"/>
            <a:ext cx="4547235" cy="4620260"/>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10" name="矩形 9"/>
          <p:cNvSpPr/>
          <p:nvPr/>
        </p:nvSpPr>
        <p:spPr>
          <a:xfrm>
            <a:off x="180340" y="988695"/>
            <a:ext cx="11675110" cy="444500"/>
          </a:xfrm>
          <a:prstGeom prst="rect">
            <a:avLst/>
          </a:prstGeom>
          <a:gradFill>
            <a:gsLst>
              <a:gs pos="21000">
                <a:srgbClr val="FFE699">
                  <a:alpha val="51000"/>
                </a:srgbClr>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523240" y="1009015"/>
            <a:ext cx="1085850" cy="24384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latin typeface="微软雅黑" panose="020B0503020204020204" charset="-122"/>
                <a:ea typeface="微软雅黑" panose="020B0503020204020204" charset="-122"/>
              </a:rPr>
              <a:t>Difficulty of the competition</a:t>
            </a:r>
          </a:p>
        </p:txBody>
      </p:sp>
      <p:cxnSp>
        <p:nvCxnSpPr>
          <p:cNvPr id="18" name="直线连接符 17"/>
          <p:cNvCxnSpPr/>
          <p:nvPr/>
        </p:nvCxnSpPr>
        <p:spPr>
          <a:xfrm>
            <a:off x="4760941" y="1501551"/>
            <a:ext cx="4363" cy="465837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descr="7b0a202020202262756c6c6574223a20227b5c2263617465676f727949645c223a5c225c222c5c2274656d706c61746549645c223a32303233313536317d220a7d0a"/>
          <p:cNvSpPr txBox="1"/>
          <p:nvPr/>
        </p:nvSpPr>
        <p:spPr>
          <a:xfrm>
            <a:off x="0" y="1501775"/>
            <a:ext cx="5058410" cy="4444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8000" tIns="180000" rIns="288000" bIns="45720" numCol="1" spcCol="0" rtlCol="0" fromWordArt="0" anchor="t" anchorCtr="0" forceAA="0" compatLnSpc="1">
            <a:noAutofit/>
          </a:bodyPr>
          <a:lstStyle>
            <a:defPPr>
              <a:defRPr lang="zh-CN"/>
            </a:defPPr>
            <a:lvl1pPr algn="ctr">
              <a:defRPr kumimoj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lvl="0" indent="-285750" algn="l" fontAlgn="auto">
              <a:spcBef>
                <a:spcPts val="500"/>
              </a:spcBef>
              <a:buFont typeface="Arial" panose="020B0604020202020204" pitchFamily="34" charset="0"/>
              <a:buChar char="•"/>
              <a:defRPr/>
            </a:pPr>
            <a:r>
              <a:rPr kumimoji="1" lang="en-US" altLang="zh-CN"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Task Difficulties</a:t>
            </a:r>
          </a:p>
          <a:p>
            <a:pPr marL="0" lvl="1" algn="l" fontAlgn="auto">
              <a:lnSpc>
                <a:spcPct val="170000"/>
              </a:lnSpc>
              <a:spcBef>
                <a:spcPts val="500"/>
              </a:spcBef>
              <a:buClrTx/>
              <a:buSzTx/>
              <a:buFontTx/>
              <a:buBlip>
                <a:blip r:embed="rId3"/>
              </a:buBlip>
              <a:defRPr/>
            </a:pPr>
            <a:r>
              <a:rPr kumimoji="1" lang="zh-CN" altLang="en-US" sz="1400" noProof="0" dirty="0">
                <a:ln>
                  <a:noFill/>
                </a:ln>
                <a:solidFill>
                  <a:schemeClr val="tx1"/>
                </a:solidFill>
                <a:effectLst/>
                <a:uLnTx/>
                <a:uFillTx/>
                <a:latin typeface="微软雅黑" panose="020B0503020204020204" charset="-122"/>
                <a:ea typeface="微软雅黑" panose="020B0503020204020204" charset="-122"/>
                <a:sym typeface="+mn-ea"/>
              </a:rPr>
              <a:t>Highly Imbalanced Data: Out of a total of 72,959 machines in the training data, only </a:t>
            </a:r>
            <a:r>
              <a:rPr kumimoji="1" lang="en-US" altLang="zh-CN" sz="1400" noProof="0" dirty="0">
                <a:ln>
                  <a:noFill/>
                </a:ln>
                <a:solidFill>
                  <a:schemeClr val="tx1"/>
                </a:solidFill>
                <a:effectLst/>
                <a:uLnTx/>
                <a:uFillTx/>
                <a:latin typeface="微软雅黑" panose="020B0503020204020204" charset="-122"/>
                <a:ea typeface="微软雅黑" panose="020B0503020204020204" charset="-122"/>
                <a:sym typeface="+mn-ea"/>
              </a:rPr>
              <a:t>673</a:t>
            </a:r>
            <a:r>
              <a:rPr kumimoji="1" lang="zh-CN" altLang="en-US" sz="1400" noProof="0" dirty="0">
                <a:ln>
                  <a:noFill/>
                </a:ln>
                <a:solidFill>
                  <a:schemeClr val="tx1"/>
                </a:solidFill>
                <a:effectLst/>
                <a:uLnTx/>
                <a:uFillTx/>
                <a:latin typeface="微软雅黑" panose="020B0503020204020204" charset="-122"/>
                <a:ea typeface="微软雅黑" panose="020B0503020204020204" charset="-122"/>
                <a:sym typeface="+mn-ea"/>
              </a:rPr>
              <a:t> experienced memory failures </a:t>
            </a:r>
            <a:r>
              <a:rPr kumimoji="1" lang="en-US" altLang="zh-CN" sz="1400" noProof="0" dirty="0">
                <a:ln>
                  <a:noFill/>
                </a:ln>
                <a:solidFill>
                  <a:schemeClr val="tx1"/>
                </a:solidFill>
                <a:effectLst/>
                <a:uLnTx/>
                <a:uFillTx/>
                <a:latin typeface="微软雅黑" panose="020B0503020204020204" charset="-122"/>
                <a:ea typeface="微软雅黑" panose="020B0503020204020204" charset="-122"/>
                <a:sym typeface="+mn-ea"/>
              </a:rPr>
              <a:t>(0.9</a:t>
            </a:r>
            <a:r>
              <a:rPr kumimoji="1" lang="zh-CN" altLang="en-US" sz="1400" noProof="0" dirty="0">
                <a:ln>
                  <a:noFill/>
                </a:ln>
                <a:solidFill>
                  <a:schemeClr val="tx1"/>
                </a:solidFill>
                <a:effectLst/>
                <a:uLnTx/>
                <a:uFillTx/>
                <a:latin typeface="微软雅黑" panose="020B0503020204020204" charset="-122"/>
                <a:ea typeface="微软雅黑" panose="020B0503020204020204" charset="-122"/>
                <a:sym typeface="+mn-ea"/>
              </a:rPr>
              <a:t>%).</a:t>
            </a:r>
          </a:p>
          <a:p>
            <a:pPr marL="0" lvl="1" algn="l" fontAlgn="auto">
              <a:lnSpc>
                <a:spcPct val="170000"/>
              </a:lnSpc>
              <a:spcBef>
                <a:spcPts val="500"/>
              </a:spcBef>
              <a:buClrTx/>
              <a:buSzTx/>
              <a:buFontTx/>
              <a:buBlip>
                <a:blip r:embed="rId3"/>
              </a:buBlip>
              <a:defRPr/>
            </a:pPr>
            <a:r>
              <a:rPr kumimoji="1" lang="zh-CN" altLang="en-US" sz="1400" noProof="0" dirty="0">
                <a:ln>
                  <a:noFill/>
                </a:ln>
                <a:solidFill>
                  <a:schemeClr val="tx1"/>
                </a:solidFill>
                <a:effectLst/>
                <a:uLnTx/>
                <a:uFillTx/>
                <a:latin typeface="微软雅黑" panose="020B0503020204020204" charset="-122"/>
                <a:ea typeface="微软雅黑" panose="020B0503020204020204" charset="-122"/>
                <a:sym typeface="+mn-ea"/>
              </a:rPr>
              <a:t>Difficult Feature Engineering: The vast majority of the original features are Categorical features.</a:t>
            </a:r>
          </a:p>
          <a:p>
            <a:pPr marL="0" lvl="1" algn="l" fontAlgn="auto">
              <a:lnSpc>
                <a:spcPct val="170000"/>
              </a:lnSpc>
              <a:spcBef>
                <a:spcPts val="500"/>
              </a:spcBef>
              <a:buClrTx/>
              <a:buSzTx/>
              <a:buFontTx/>
              <a:buBlip>
                <a:blip r:embed="rId3"/>
              </a:buBlip>
              <a:defRPr/>
            </a:pPr>
            <a:r>
              <a:rPr kumimoji="1" lang="zh-CN" altLang="en-US" sz="1600" b="1" dirty="0">
                <a:solidFill>
                  <a:schemeClr val="tx1"/>
                </a:solidFill>
                <a:latin typeface="微软雅黑" panose="020B0503020204020204" charset="-122"/>
                <a:ea typeface="微软雅黑" panose="020B0503020204020204" charset="-122"/>
                <a:sym typeface="+mn-ea"/>
              </a:rPr>
              <a:t>Key Constraint - Prediction Window:</a:t>
            </a:r>
          </a:p>
          <a:p>
            <a:pPr marL="0" lvl="1" indent="0" fontAlgn="auto">
              <a:lnSpc>
                <a:spcPct val="170000"/>
              </a:lnSpc>
              <a:spcBef>
                <a:spcPts val="500"/>
              </a:spcBef>
              <a:buBlip>
                <a:blip r:embed="rId3"/>
              </a:buBlip>
              <a:defRPr/>
            </a:pPr>
            <a:r>
              <a:rPr kumimoji="1" lang="en-US" altLang="zh-CN" sz="1400" noProof="0" dirty="0">
                <a:ln>
                  <a:noFill/>
                </a:ln>
                <a:solidFill>
                  <a:schemeClr val="tx1"/>
                </a:solidFill>
                <a:effectLst/>
                <a:uLnTx/>
                <a:uFillTx/>
                <a:latin typeface="微软雅黑" panose="020B0503020204020204" charset="-122"/>
                <a:ea typeface="微软雅黑" panose="020B0503020204020204" charset="-122"/>
                <a:sym typeface="+mn-ea"/>
              </a:rPr>
              <a:t> </a:t>
            </a:r>
            <a:r>
              <a:rPr kumimoji="1" lang="en-US" altLang="zh-CN" sz="1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Predictions must occur before the actual failure alarm_time and need to meet specific lead time requirements. t_pred + 15 minutes &lt;= alarm_time &lt;= t_pred + 15 minutes + 7 days.</a:t>
            </a:r>
          </a:p>
        </p:txBody>
      </p:sp>
      <p:grpSp>
        <p:nvGrpSpPr>
          <p:cNvPr id="58" name="组合 57"/>
          <p:cNvGrpSpPr/>
          <p:nvPr/>
        </p:nvGrpSpPr>
        <p:grpSpPr>
          <a:xfrm>
            <a:off x="4804410" y="1530985"/>
            <a:ext cx="6978015" cy="4593590"/>
            <a:chOff x="7640" y="2751"/>
            <a:chExt cx="10989" cy="7234"/>
          </a:xfrm>
        </p:grpSpPr>
        <p:grpSp>
          <p:nvGrpSpPr>
            <p:cNvPr id="59" name="组合 58"/>
            <p:cNvGrpSpPr/>
            <p:nvPr/>
          </p:nvGrpSpPr>
          <p:grpSpPr>
            <a:xfrm>
              <a:off x="7765" y="2759"/>
              <a:ext cx="2119" cy="7226"/>
              <a:chOff x="4509873" y="1139811"/>
              <a:chExt cx="1345630" cy="4588255"/>
            </a:xfrm>
          </p:grpSpPr>
          <p:grpSp>
            <p:nvGrpSpPr>
              <p:cNvPr id="60" name="组合 59"/>
              <p:cNvGrpSpPr/>
              <p:nvPr/>
            </p:nvGrpSpPr>
            <p:grpSpPr>
              <a:xfrm>
                <a:off x="4509873" y="2654558"/>
                <a:ext cx="1345630" cy="1548883"/>
                <a:chOff x="2030573" y="3729911"/>
                <a:chExt cx="1345630" cy="1548883"/>
              </a:xfrm>
            </p:grpSpPr>
            <p:sp>
              <p:nvSpPr>
                <p:cNvPr id="61" name="矩形 60"/>
                <p:cNvSpPr/>
                <p:nvPr/>
              </p:nvSpPr>
              <p:spPr>
                <a:xfrm>
                  <a:off x="2030573" y="3729911"/>
                  <a:ext cx="1345630" cy="154888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4"/>
                <p:cNvSpPr/>
                <p:nvPr/>
              </p:nvSpPr>
              <p:spPr>
                <a:xfrm>
                  <a:off x="2141221" y="3890866"/>
                  <a:ext cx="1105518" cy="39188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IMC 2</a:t>
                  </a:r>
                  <a:endParaRPr lang="zh-CN" altLang="en-US" sz="1400" b="1" dirty="0">
                    <a:solidFill>
                      <a:schemeClr val="tx1"/>
                    </a:solidFill>
                  </a:endParaRPr>
                </a:p>
              </p:txBody>
            </p:sp>
            <p:sp>
              <p:nvSpPr>
                <p:cNvPr id="63" name="矩形: 圆角 76"/>
                <p:cNvSpPr/>
                <p:nvPr/>
              </p:nvSpPr>
              <p:spPr>
                <a:xfrm>
                  <a:off x="2141221" y="4725956"/>
                  <a:ext cx="1105518" cy="39188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IMC 3</a:t>
                  </a:r>
                  <a:endParaRPr lang="zh-CN" altLang="en-US" sz="1400" b="1" dirty="0">
                    <a:solidFill>
                      <a:schemeClr val="tx1"/>
                    </a:solidFill>
                  </a:endParaRPr>
                </a:p>
              </p:txBody>
            </p:sp>
            <p:sp>
              <p:nvSpPr>
                <p:cNvPr id="64" name="矩形 63"/>
                <p:cNvSpPr/>
                <p:nvPr/>
              </p:nvSpPr>
              <p:spPr>
                <a:xfrm>
                  <a:off x="2395474" y="4350465"/>
                  <a:ext cx="676788" cy="307777"/>
                </a:xfrm>
                <a:prstGeom prst="rect">
                  <a:avLst/>
                </a:prstGeom>
              </p:spPr>
              <p:txBody>
                <a:bodyPr wrap="none">
                  <a:spAutoFit/>
                </a:bodyPr>
                <a:lstStyle/>
                <a:p>
                  <a:pPr algn="ctr"/>
                  <a:r>
                    <a:rPr lang="en-US" altLang="zh-CN" sz="1400" b="1" dirty="0"/>
                    <a:t>CPU 1</a:t>
                  </a:r>
                  <a:endParaRPr lang="zh-CN" altLang="en-US" sz="1400" b="1" dirty="0"/>
                </a:p>
              </p:txBody>
            </p:sp>
          </p:grpSp>
          <p:sp>
            <p:nvSpPr>
              <p:cNvPr id="65" name="矩形 64"/>
              <p:cNvSpPr/>
              <p:nvPr/>
            </p:nvSpPr>
            <p:spPr>
              <a:xfrm rot="16200000">
                <a:off x="4490980"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66" name="矩形 65"/>
              <p:cNvSpPr/>
              <p:nvPr/>
            </p:nvSpPr>
            <p:spPr>
              <a:xfrm rot="16200000">
                <a:off x="4900903"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67" name="矩形 66"/>
              <p:cNvSpPr/>
              <p:nvPr/>
            </p:nvSpPr>
            <p:spPr>
              <a:xfrm rot="16200000">
                <a:off x="5310826"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68" name="矩形 67"/>
              <p:cNvSpPr/>
              <p:nvPr/>
            </p:nvSpPr>
            <p:spPr>
              <a:xfrm rot="16200000">
                <a:off x="4490239"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69" name="矩形 68"/>
              <p:cNvSpPr/>
              <p:nvPr/>
            </p:nvSpPr>
            <p:spPr>
              <a:xfrm rot="16200000">
                <a:off x="4900903"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70" name="矩形 69"/>
              <p:cNvSpPr/>
              <p:nvPr/>
            </p:nvSpPr>
            <p:spPr>
              <a:xfrm rot="16200000">
                <a:off x="5310826"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cxnSp>
            <p:nvCxnSpPr>
              <p:cNvPr id="71" name="直接连接符 70"/>
              <p:cNvCxnSpPr>
                <a:stCxn id="65" idx="3"/>
              </p:cNvCxnSpPr>
              <p:nvPr/>
            </p:nvCxnSpPr>
            <p:spPr>
              <a:xfrm flipH="1" flipV="1">
                <a:off x="4784350" y="4042489"/>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flipV="1">
                <a:off x="5193223" y="4054561"/>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flipV="1">
                <a:off x="5607542" y="4043420"/>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68" idx="3"/>
                <a:endCxn id="65" idx="1"/>
              </p:cNvCxnSpPr>
              <p:nvPr/>
            </p:nvCxnSpPr>
            <p:spPr>
              <a:xfrm flipV="1">
                <a:off x="4787264" y="4958446"/>
                <a:ext cx="741"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69" idx="3"/>
                <a:endCxn id="66" idx="1"/>
              </p:cNvCxnSpPr>
              <p:nvPr/>
            </p:nvCxnSpPr>
            <p:spPr>
              <a:xfrm flipV="1">
                <a:off x="5197928" y="4958446"/>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70" idx="3"/>
                <a:endCxn id="67" idx="1"/>
              </p:cNvCxnSpPr>
              <p:nvPr/>
            </p:nvCxnSpPr>
            <p:spPr>
              <a:xfrm flipV="1">
                <a:off x="5607851" y="4958446"/>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7" name="组合 76"/>
              <p:cNvGrpSpPr/>
              <p:nvPr/>
            </p:nvGrpSpPr>
            <p:grpSpPr>
              <a:xfrm>
                <a:off x="4699926" y="1139811"/>
                <a:ext cx="1026483" cy="1363670"/>
                <a:chOff x="5611156" y="3580469"/>
                <a:chExt cx="1026483" cy="1363670"/>
              </a:xfrm>
            </p:grpSpPr>
            <p:sp>
              <p:nvSpPr>
                <p:cNvPr id="78" name="矩形 77"/>
                <p:cNvSpPr/>
                <p:nvPr/>
              </p:nvSpPr>
              <p:spPr>
                <a:xfrm rot="16200000">
                  <a:off x="5417820"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79" name="矩形 78"/>
                <p:cNvSpPr/>
                <p:nvPr/>
              </p:nvSpPr>
              <p:spPr>
                <a:xfrm rot="16200000">
                  <a:off x="5827743"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80" name="矩形 79"/>
                <p:cNvSpPr/>
                <p:nvPr/>
              </p:nvSpPr>
              <p:spPr>
                <a:xfrm rot="16200000">
                  <a:off x="6237666"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81" name="矩形 80"/>
                <p:cNvSpPr/>
                <p:nvPr/>
              </p:nvSpPr>
              <p:spPr>
                <a:xfrm rot="16200000">
                  <a:off x="5417079"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82" name="矩形 81"/>
                <p:cNvSpPr/>
                <p:nvPr/>
              </p:nvSpPr>
              <p:spPr>
                <a:xfrm rot="16200000">
                  <a:off x="5827743"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83" name="矩形 82"/>
                <p:cNvSpPr/>
                <p:nvPr/>
              </p:nvSpPr>
              <p:spPr>
                <a:xfrm rot="16200000">
                  <a:off x="6237666"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cxnSp>
              <p:nvCxnSpPr>
                <p:cNvPr id="84" name="直接连接符 83"/>
                <p:cNvCxnSpPr>
                  <a:stCxn id="81" idx="3"/>
                  <a:endCxn id="78" idx="1"/>
                </p:cNvCxnSpPr>
                <p:nvPr/>
              </p:nvCxnSpPr>
              <p:spPr>
                <a:xfrm flipV="1">
                  <a:off x="5714104" y="4174519"/>
                  <a:ext cx="741"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2" idx="3"/>
                  <a:endCxn id="79" idx="1"/>
                </p:cNvCxnSpPr>
                <p:nvPr/>
              </p:nvCxnSpPr>
              <p:spPr>
                <a:xfrm flipV="1">
                  <a:off x="6124768" y="4174519"/>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3" idx="3"/>
                  <a:endCxn id="80" idx="1"/>
                </p:cNvCxnSpPr>
                <p:nvPr/>
              </p:nvCxnSpPr>
              <p:spPr>
                <a:xfrm flipV="1">
                  <a:off x="6534691" y="4174519"/>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 name="直接连接符 87"/>
              <p:cNvCxnSpPr/>
              <p:nvPr/>
            </p:nvCxnSpPr>
            <p:spPr>
              <a:xfrm flipH="1" flipV="1">
                <a:off x="4802874" y="2499513"/>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flipV="1">
                <a:off x="5211747" y="2511585"/>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flipV="1">
                <a:off x="5626066" y="2500444"/>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文本框 113"/>
            <p:cNvSpPr txBox="1"/>
            <p:nvPr/>
          </p:nvSpPr>
          <p:spPr>
            <a:xfrm rot="16200000">
              <a:off x="7204" y="8681"/>
              <a:ext cx="1272" cy="400"/>
            </a:xfrm>
            <a:prstGeom prst="rect">
              <a:avLst/>
            </a:prstGeom>
            <a:noFill/>
          </p:spPr>
          <p:txBody>
            <a:bodyPr wrap="square" rtlCol="0">
              <a:spAutoFit/>
            </a:bodyPr>
            <a:lstStyle/>
            <a:p>
              <a:r>
                <a:rPr lang="en-US" altLang="zh-CN" sz="1050" b="1" dirty="0"/>
                <a:t>Channel 0</a:t>
              </a:r>
              <a:endParaRPr lang="zh-CN" altLang="en-US" sz="1050" b="1" dirty="0"/>
            </a:p>
          </p:txBody>
        </p:sp>
        <p:sp>
          <p:nvSpPr>
            <p:cNvPr id="115" name="文本框 114"/>
            <p:cNvSpPr txBox="1"/>
            <p:nvPr/>
          </p:nvSpPr>
          <p:spPr>
            <a:xfrm rot="16200000">
              <a:off x="7887" y="8681"/>
              <a:ext cx="1272" cy="400"/>
            </a:xfrm>
            <a:prstGeom prst="rect">
              <a:avLst/>
            </a:prstGeom>
            <a:noFill/>
          </p:spPr>
          <p:txBody>
            <a:bodyPr wrap="square" rtlCol="0">
              <a:spAutoFit/>
            </a:bodyPr>
            <a:lstStyle/>
            <a:p>
              <a:r>
                <a:rPr lang="en-US" altLang="zh-CN" sz="1050" b="1" dirty="0"/>
                <a:t>Channel 1</a:t>
              </a:r>
              <a:endParaRPr lang="zh-CN" altLang="en-US" sz="1050" b="1" dirty="0"/>
            </a:p>
          </p:txBody>
        </p:sp>
        <p:sp>
          <p:nvSpPr>
            <p:cNvPr id="116" name="文本框 115"/>
            <p:cNvSpPr txBox="1"/>
            <p:nvPr/>
          </p:nvSpPr>
          <p:spPr>
            <a:xfrm rot="16200000">
              <a:off x="8560" y="8681"/>
              <a:ext cx="1272" cy="400"/>
            </a:xfrm>
            <a:prstGeom prst="rect">
              <a:avLst/>
            </a:prstGeom>
            <a:noFill/>
          </p:spPr>
          <p:txBody>
            <a:bodyPr wrap="square" rtlCol="0">
              <a:spAutoFit/>
            </a:bodyPr>
            <a:lstStyle/>
            <a:p>
              <a:r>
                <a:rPr lang="en-US" altLang="zh-CN" sz="1050" b="1" dirty="0"/>
                <a:t>Channel 2</a:t>
              </a:r>
              <a:endParaRPr lang="zh-CN" altLang="en-US" sz="1050" b="1" dirty="0"/>
            </a:p>
          </p:txBody>
        </p:sp>
        <p:sp>
          <p:nvSpPr>
            <p:cNvPr id="117" name="文本框 116"/>
            <p:cNvSpPr txBox="1"/>
            <p:nvPr/>
          </p:nvSpPr>
          <p:spPr>
            <a:xfrm rot="16200000">
              <a:off x="7221" y="3713"/>
              <a:ext cx="1272" cy="400"/>
            </a:xfrm>
            <a:prstGeom prst="rect">
              <a:avLst/>
            </a:prstGeom>
            <a:noFill/>
          </p:spPr>
          <p:txBody>
            <a:bodyPr wrap="square" rtlCol="0">
              <a:spAutoFit/>
            </a:bodyPr>
            <a:lstStyle/>
            <a:p>
              <a:r>
                <a:rPr lang="en-US" altLang="zh-CN" sz="1050" b="1" dirty="0"/>
                <a:t>Channel 0</a:t>
              </a:r>
              <a:endParaRPr lang="zh-CN" altLang="en-US" sz="1050" b="1" dirty="0"/>
            </a:p>
          </p:txBody>
        </p:sp>
        <p:sp>
          <p:nvSpPr>
            <p:cNvPr id="118" name="文本框 117"/>
            <p:cNvSpPr txBox="1"/>
            <p:nvPr/>
          </p:nvSpPr>
          <p:spPr>
            <a:xfrm rot="16200000">
              <a:off x="7905" y="3713"/>
              <a:ext cx="1272" cy="400"/>
            </a:xfrm>
            <a:prstGeom prst="rect">
              <a:avLst/>
            </a:prstGeom>
            <a:noFill/>
          </p:spPr>
          <p:txBody>
            <a:bodyPr wrap="square" rtlCol="0">
              <a:spAutoFit/>
            </a:bodyPr>
            <a:lstStyle/>
            <a:p>
              <a:r>
                <a:rPr lang="en-US" altLang="zh-CN" sz="1050" b="1" dirty="0"/>
                <a:t>Channel 1</a:t>
              </a:r>
              <a:endParaRPr lang="zh-CN" altLang="en-US" sz="1050" b="1" dirty="0"/>
            </a:p>
          </p:txBody>
        </p:sp>
        <p:sp>
          <p:nvSpPr>
            <p:cNvPr id="119" name="文本框 118"/>
            <p:cNvSpPr txBox="1"/>
            <p:nvPr/>
          </p:nvSpPr>
          <p:spPr>
            <a:xfrm rot="16200000">
              <a:off x="8577" y="3713"/>
              <a:ext cx="1272" cy="400"/>
            </a:xfrm>
            <a:prstGeom prst="rect">
              <a:avLst/>
            </a:prstGeom>
            <a:noFill/>
          </p:spPr>
          <p:txBody>
            <a:bodyPr wrap="square" rtlCol="0">
              <a:spAutoFit/>
            </a:bodyPr>
            <a:lstStyle/>
            <a:p>
              <a:r>
                <a:rPr lang="en-US" altLang="zh-CN" sz="1050" b="1" dirty="0"/>
                <a:t>Channel 2</a:t>
              </a:r>
              <a:endParaRPr lang="zh-CN" altLang="en-US" sz="1050" b="1" dirty="0"/>
            </a:p>
          </p:txBody>
        </p:sp>
        <p:grpSp>
          <p:nvGrpSpPr>
            <p:cNvPr id="120" name="组合 119"/>
            <p:cNvGrpSpPr/>
            <p:nvPr/>
          </p:nvGrpSpPr>
          <p:grpSpPr>
            <a:xfrm>
              <a:off x="10668" y="2751"/>
              <a:ext cx="2119" cy="7226"/>
              <a:chOff x="4509873" y="1139811"/>
              <a:chExt cx="1345630" cy="4588255"/>
            </a:xfrm>
          </p:grpSpPr>
          <p:grpSp>
            <p:nvGrpSpPr>
              <p:cNvPr id="121" name="组合 120"/>
              <p:cNvGrpSpPr/>
              <p:nvPr/>
            </p:nvGrpSpPr>
            <p:grpSpPr>
              <a:xfrm>
                <a:off x="4509873" y="2654558"/>
                <a:ext cx="1345630" cy="1548883"/>
                <a:chOff x="2030573" y="3729911"/>
                <a:chExt cx="1345630" cy="1548883"/>
              </a:xfrm>
            </p:grpSpPr>
            <p:sp>
              <p:nvSpPr>
                <p:cNvPr id="122" name="矩形 121"/>
                <p:cNvSpPr/>
                <p:nvPr/>
              </p:nvSpPr>
              <p:spPr>
                <a:xfrm>
                  <a:off x="2030573" y="3729911"/>
                  <a:ext cx="1345630" cy="154888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圆角 176"/>
                <p:cNvSpPr/>
                <p:nvPr/>
              </p:nvSpPr>
              <p:spPr>
                <a:xfrm>
                  <a:off x="2141221" y="3890866"/>
                  <a:ext cx="1105518" cy="39188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IMC 0</a:t>
                  </a:r>
                  <a:endParaRPr lang="zh-CN" altLang="en-US" sz="1400" b="1" dirty="0">
                    <a:solidFill>
                      <a:schemeClr val="tx1"/>
                    </a:solidFill>
                  </a:endParaRPr>
                </a:p>
              </p:txBody>
            </p:sp>
            <p:sp>
              <p:nvSpPr>
                <p:cNvPr id="124" name="矩形: 圆角 177"/>
                <p:cNvSpPr/>
                <p:nvPr/>
              </p:nvSpPr>
              <p:spPr>
                <a:xfrm>
                  <a:off x="2141221" y="4725956"/>
                  <a:ext cx="1105518" cy="39188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IMC 1</a:t>
                  </a:r>
                  <a:endParaRPr lang="zh-CN" altLang="en-US" sz="1400" b="1" dirty="0">
                    <a:solidFill>
                      <a:schemeClr val="tx1"/>
                    </a:solidFill>
                  </a:endParaRPr>
                </a:p>
              </p:txBody>
            </p:sp>
            <p:sp>
              <p:nvSpPr>
                <p:cNvPr id="125" name="矩形 124"/>
                <p:cNvSpPr/>
                <p:nvPr/>
              </p:nvSpPr>
              <p:spPr>
                <a:xfrm>
                  <a:off x="2367482" y="4350465"/>
                  <a:ext cx="676788" cy="307777"/>
                </a:xfrm>
                <a:prstGeom prst="rect">
                  <a:avLst/>
                </a:prstGeom>
              </p:spPr>
              <p:txBody>
                <a:bodyPr wrap="none">
                  <a:spAutoFit/>
                </a:bodyPr>
                <a:lstStyle/>
                <a:p>
                  <a:pPr algn="ctr"/>
                  <a:r>
                    <a:rPr lang="en-US" altLang="zh-CN" sz="1400" b="1" dirty="0"/>
                    <a:t>CPU 0</a:t>
                  </a:r>
                  <a:endParaRPr lang="zh-CN" altLang="en-US" sz="1400" b="1" dirty="0"/>
                </a:p>
              </p:txBody>
            </p:sp>
          </p:grpSp>
          <p:sp>
            <p:nvSpPr>
              <p:cNvPr id="126" name="矩形 125"/>
              <p:cNvSpPr/>
              <p:nvPr/>
            </p:nvSpPr>
            <p:spPr>
              <a:xfrm rot="16200000">
                <a:off x="4490980"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127" name="矩形 126"/>
              <p:cNvSpPr/>
              <p:nvPr/>
            </p:nvSpPr>
            <p:spPr>
              <a:xfrm rot="16200000">
                <a:off x="4900903"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128" name="矩形 127"/>
              <p:cNvSpPr/>
              <p:nvPr/>
            </p:nvSpPr>
            <p:spPr>
              <a:xfrm rot="16200000">
                <a:off x="5310826" y="455847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129" name="矩形 128"/>
              <p:cNvSpPr/>
              <p:nvPr/>
            </p:nvSpPr>
            <p:spPr>
              <a:xfrm rot="16200000">
                <a:off x="4490239"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130" name="矩形 129"/>
              <p:cNvSpPr/>
              <p:nvPr/>
            </p:nvSpPr>
            <p:spPr>
              <a:xfrm rot="16200000">
                <a:off x="4900903"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131" name="矩形 130"/>
              <p:cNvSpPr/>
              <p:nvPr/>
            </p:nvSpPr>
            <p:spPr>
              <a:xfrm rot="16200000">
                <a:off x="5310826" y="5328093"/>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cxnSp>
            <p:nvCxnSpPr>
              <p:cNvPr id="132" name="直接连接符 131"/>
              <p:cNvCxnSpPr>
                <a:stCxn id="126" idx="3"/>
              </p:cNvCxnSpPr>
              <p:nvPr/>
            </p:nvCxnSpPr>
            <p:spPr>
              <a:xfrm flipH="1" flipV="1">
                <a:off x="4784350" y="4042489"/>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flipV="1">
                <a:off x="5193223" y="4054561"/>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flipV="1">
                <a:off x="5607542" y="4043420"/>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stCxn id="129" idx="3"/>
                <a:endCxn id="126" idx="1"/>
              </p:cNvCxnSpPr>
              <p:nvPr/>
            </p:nvCxnSpPr>
            <p:spPr>
              <a:xfrm flipV="1">
                <a:off x="4787264" y="4958446"/>
                <a:ext cx="741"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a:stCxn id="130" idx="3"/>
                <a:endCxn id="127" idx="1"/>
              </p:cNvCxnSpPr>
              <p:nvPr/>
            </p:nvCxnSpPr>
            <p:spPr>
              <a:xfrm flipV="1">
                <a:off x="5197928" y="4958446"/>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a:stCxn id="131" idx="3"/>
                <a:endCxn id="128" idx="1"/>
              </p:cNvCxnSpPr>
              <p:nvPr/>
            </p:nvCxnSpPr>
            <p:spPr>
              <a:xfrm flipV="1">
                <a:off x="5607851" y="4958446"/>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8" name="组合 137"/>
              <p:cNvGrpSpPr/>
              <p:nvPr/>
            </p:nvGrpSpPr>
            <p:grpSpPr>
              <a:xfrm>
                <a:off x="4699926" y="1139811"/>
                <a:ext cx="1026483" cy="1363670"/>
                <a:chOff x="5611156" y="3580469"/>
                <a:chExt cx="1026483" cy="1363670"/>
              </a:xfrm>
            </p:grpSpPr>
            <p:sp>
              <p:nvSpPr>
                <p:cNvPr id="139" name="矩形 138"/>
                <p:cNvSpPr/>
                <p:nvPr/>
              </p:nvSpPr>
              <p:spPr>
                <a:xfrm rot="16200000">
                  <a:off x="5417820"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140" name="矩形 139"/>
                <p:cNvSpPr/>
                <p:nvPr/>
              </p:nvSpPr>
              <p:spPr>
                <a:xfrm rot="16200000">
                  <a:off x="5827743"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141" name="矩形 140"/>
                <p:cNvSpPr/>
                <p:nvPr/>
              </p:nvSpPr>
              <p:spPr>
                <a:xfrm rot="16200000">
                  <a:off x="6237666" y="377454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1</a:t>
                  </a:r>
                  <a:endParaRPr lang="zh-CN" altLang="en-US" sz="900" dirty="0">
                    <a:solidFill>
                      <a:schemeClr val="tx1"/>
                    </a:solidFill>
                  </a:endParaRPr>
                </a:p>
              </p:txBody>
            </p:sp>
            <p:sp>
              <p:nvSpPr>
                <p:cNvPr id="142" name="矩形 141"/>
                <p:cNvSpPr/>
                <p:nvPr/>
              </p:nvSpPr>
              <p:spPr>
                <a:xfrm rot="16200000">
                  <a:off x="5417079"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143" name="矩形 142"/>
                <p:cNvSpPr/>
                <p:nvPr/>
              </p:nvSpPr>
              <p:spPr>
                <a:xfrm rot="16200000">
                  <a:off x="5827743"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sp>
              <p:nvSpPr>
                <p:cNvPr id="144" name="矩形 143"/>
                <p:cNvSpPr/>
                <p:nvPr/>
              </p:nvSpPr>
              <p:spPr>
                <a:xfrm rot="16200000">
                  <a:off x="6237666" y="4544166"/>
                  <a:ext cx="594050" cy="2058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DIMM 0</a:t>
                  </a:r>
                  <a:endParaRPr lang="zh-CN" altLang="en-US" sz="900" dirty="0">
                    <a:solidFill>
                      <a:schemeClr val="tx1"/>
                    </a:solidFill>
                  </a:endParaRPr>
                </a:p>
              </p:txBody>
            </p:sp>
            <p:cxnSp>
              <p:nvCxnSpPr>
                <p:cNvPr id="145" name="直接连接符 144"/>
                <p:cNvCxnSpPr>
                  <a:stCxn id="142" idx="3"/>
                  <a:endCxn id="139" idx="1"/>
                </p:cNvCxnSpPr>
                <p:nvPr/>
              </p:nvCxnSpPr>
              <p:spPr>
                <a:xfrm flipV="1">
                  <a:off x="5714104" y="4174519"/>
                  <a:ext cx="741"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143" idx="3"/>
                  <a:endCxn id="140" idx="1"/>
                </p:cNvCxnSpPr>
                <p:nvPr/>
              </p:nvCxnSpPr>
              <p:spPr>
                <a:xfrm flipV="1">
                  <a:off x="6124768" y="4174519"/>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stCxn id="144" idx="3"/>
                  <a:endCxn id="141" idx="1"/>
                </p:cNvCxnSpPr>
                <p:nvPr/>
              </p:nvCxnSpPr>
              <p:spPr>
                <a:xfrm flipV="1">
                  <a:off x="6534691" y="4174519"/>
                  <a:ext cx="0" cy="175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8" name="直接连接符 147"/>
              <p:cNvCxnSpPr/>
              <p:nvPr/>
            </p:nvCxnSpPr>
            <p:spPr>
              <a:xfrm flipH="1" flipV="1">
                <a:off x="4802874" y="2499513"/>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flipV="1">
                <a:off x="5211747" y="2511585"/>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flipV="1">
                <a:off x="5626066" y="2500444"/>
                <a:ext cx="3655" cy="321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3" name="文本框 202"/>
            <p:cNvSpPr txBox="1"/>
            <p:nvPr/>
          </p:nvSpPr>
          <p:spPr>
            <a:xfrm rot="16200000">
              <a:off x="10107" y="8673"/>
              <a:ext cx="1272" cy="400"/>
            </a:xfrm>
            <a:prstGeom prst="rect">
              <a:avLst/>
            </a:prstGeom>
            <a:noFill/>
          </p:spPr>
          <p:txBody>
            <a:bodyPr wrap="square" rtlCol="0">
              <a:spAutoFit/>
            </a:bodyPr>
            <a:lstStyle/>
            <a:p>
              <a:r>
                <a:rPr lang="en-US" altLang="zh-CN" sz="1050" b="1" dirty="0"/>
                <a:t>Channel 0</a:t>
              </a:r>
              <a:endParaRPr lang="zh-CN" altLang="en-US" sz="1050" b="1" dirty="0"/>
            </a:p>
          </p:txBody>
        </p:sp>
        <p:sp>
          <p:nvSpPr>
            <p:cNvPr id="205" name="文本框 204"/>
            <p:cNvSpPr txBox="1"/>
            <p:nvPr/>
          </p:nvSpPr>
          <p:spPr>
            <a:xfrm rot="16200000">
              <a:off x="10791" y="8673"/>
              <a:ext cx="1272" cy="400"/>
            </a:xfrm>
            <a:prstGeom prst="rect">
              <a:avLst/>
            </a:prstGeom>
            <a:noFill/>
          </p:spPr>
          <p:txBody>
            <a:bodyPr wrap="square" rtlCol="0">
              <a:spAutoFit/>
            </a:bodyPr>
            <a:lstStyle/>
            <a:p>
              <a:r>
                <a:rPr lang="en-US" altLang="zh-CN" sz="1050" b="1" dirty="0"/>
                <a:t>Channel 1</a:t>
              </a:r>
              <a:endParaRPr lang="zh-CN" altLang="en-US" sz="1050" b="1" dirty="0"/>
            </a:p>
          </p:txBody>
        </p:sp>
        <p:sp>
          <p:nvSpPr>
            <p:cNvPr id="206" name="文本框 205"/>
            <p:cNvSpPr txBox="1"/>
            <p:nvPr/>
          </p:nvSpPr>
          <p:spPr>
            <a:xfrm rot="16200000">
              <a:off x="11463" y="8673"/>
              <a:ext cx="1272" cy="400"/>
            </a:xfrm>
            <a:prstGeom prst="rect">
              <a:avLst/>
            </a:prstGeom>
            <a:noFill/>
          </p:spPr>
          <p:txBody>
            <a:bodyPr wrap="square" rtlCol="0">
              <a:spAutoFit/>
            </a:bodyPr>
            <a:lstStyle/>
            <a:p>
              <a:r>
                <a:rPr lang="en-US" altLang="zh-CN" sz="1050" b="1" dirty="0"/>
                <a:t>Channel 2</a:t>
              </a:r>
              <a:endParaRPr lang="zh-CN" altLang="en-US" sz="1050" b="1" dirty="0"/>
            </a:p>
          </p:txBody>
        </p:sp>
        <p:sp>
          <p:nvSpPr>
            <p:cNvPr id="207" name="文本框 206"/>
            <p:cNvSpPr txBox="1"/>
            <p:nvPr/>
          </p:nvSpPr>
          <p:spPr>
            <a:xfrm rot="16200000">
              <a:off x="10125" y="3705"/>
              <a:ext cx="1272" cy="400"/>
            </a:xfrm>
            <a:prstGeom prst="rect">
              <a:avLst/>
            </a:prstGeom>
            <a:noFill/>
          </p:spPr>
          <p:txBody>
            <a:bodyPr wrap="square" rtlCol="0">
              <a:spAutoFit/>
            </a:bodyPr>
            <a:lstStyle/>
            <a:p>
              <a:r>
                <a:rPr lang="en-US" altLang="zh-CN" sz="1050" b="1" dirty="0"/>
                <a:t>Channel 0</a:t>
              </a:r>
              <a:endParaRPr lang="zh-CN" altLang="en-US" sz="1050" b="1" dirty="0"/>
            </a:p>
          </p:txBody>
        </p:sp>
        <p:sp>
          <p:nvSpPr>
            <p:cNvPr id="209" name="文本框 208"/>
            <p:cNvSpPr txBox="1"/>
            <p:nvPr/>
          </p:nvSpPr>
          <p:spPr>
            <a:xfrm rot="16200000">
              <a:off x="10808" y="3705"/>
              <a:ext cx="1272" cy="400"/>
            </a:xfrm>
            <a:prstGeom prst="rect">
              <a:avLst/>
            </a:prstGeom>
            <a:noFill/>
          </p:spPr>
          <p:txBody>
            <a:bodyPr wrap="square" rtlCol="0">
              <a:spAutoFit/>
            </a:bodyPr>
            <a:lstStyle/>
            <a:p>
              <a:r>
                <a:rPr lang="en-US" altLang="zh-CN" sz="1050" b="1" dirty="0"/>
                <a:t>Channel 1</a:t>
              </a:r>
              <a:endParaRPr lang="zh-CN" altLang="en-US" sz="1050" b="1" dirty="0"/>
            </a:p>
          </p:txBody>
        </p:sp>
        <p:sp>
          <p:nvSpPr>
            <p:cNvPr id="210" name="文本框 209"/>
            <p:cNvSpPr txBox="1"/>
            <p:nvPr/>
          </p:nvSpPr>
          <p:spPr>
            <a:xfrm rot="16200000">
              <a:off x="11481" y="3705"/>
              <a:ext cx="1272" cy="400"/>
            </a:xfrm>
            <a:prstGeom prst="rect">
              <a:avLst/>
            </a:prstGeom>
            <a:noFill/>
          </p:spPr>
          <p:txBody>
            <a:bodyPr wrap="square" rtlCol="0">
              <a:spAutoFit/>
            </a:bodyPr>
            <a:lstStyle/>
            <a:p>
              <a:r>
                <a:rPr lang="en-US" altLang="zh-CN" sz="1050" b="1" dirty="0"/>
                <a:t>Channel 2</a:t>
              </a:r>
              <a:endParaRPr lang="zh-CN" altLang="en-US" sz="1050" b="1" dirty="0"/>
            </a:p>
          </p:txBody>
        </p:sp>
        <p:grpSp>
          <p:nvGrpSpPr>
            <p:cNvPr id="211" name="组合 210"/>
            <p:cNvGrpSpPr/>
            <p:nvPr/>
          </p:nvGrpSpPr>
          <p:grpSpPr>
            <a:xfrm>
              <a:off x="14043" y="3825"/>
              <a:ext cx="4587" cy="4495"/>
              <a:chOff x="8360554" y="2494574"/>
              <a:chExt cx="2912588" cy="2854120"/>
            </a:xfrm>
          </p:grpSpPr>
          <p:sp>
            <p:nvSpPr>
              <p:cNvPr id="212" name="矩形 211"/>
              <p:cNvSpPr/>
              <p:nvPr/>
            </p:nvSpPr>
            <p:spPr>
              <a:xfrm>
                <a:off x="8360554" y="2494574"/>
                <a:ext cx="2912588" cy="2854120"/>
              </a:xfrm>
              <a:prstGeom prst="rect">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212"/>
              <p:cNvSpPr/>
              <p:nvPr/>
            </p:nvSpPr>
            <p:spPr>
              <a:xfrm>
                <a:off x="8538262" y="2922733"/>
                <a:ext cx="1156376" cy="225773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4" name="矩形 213"/>
              <p:cNvSpPr/>
              <p:nvPr/>
            </p:nvSpPr>
            <p:spPr>
              <a:xfrm>
                <a:off x="8686370" y="3043083"/>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0</a:t>
                </a:r>
                <a:endParaRPr lang="zh-CN" altLang="en-US" sz="1200" b="1" dirty="0">
                  <a:solidFill>
                    <a:schemeClr val="tx1"/>
                  </a:solidFill>
                </a:endParaRPr>
              </a:p>
            </p:txBody>
          </p:sp>
          <p:sp>
            <p:nvSpPr>
              <p:cNvPr id="215" name="矩形 214"/>
              <p:cNvSpPr/>
              <p:nvPr/>
            </p:nvSpPr>
            <p:spPr>
              <a:xfrm>
                <a:off x="8686369" y="3535076"/>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a:t>
                </a:r>
                <a:endParaRPr lang="zh-CN" altLang="en-US" sz="1200" b="1" dirty="0">
                  <a:solidFill>
                    <a:schemeClr val="tx1"/>
                  </a:solidFill>
                </a:endParaRPr>
              </a:p>
            </p:txBody>
          </p:sp>
          <p:sp>
            <p:nvSpPr>
              <p:cNvPr id="216" name="矩形 215"/>
              <p:cNvSpPr/>
              <p:nvPr/>
            </p:nvSpPr>
            <p:spPr>
              <a:xfrm>
                <a:off x="8690918" y="4227268"/>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14</a:t>
                </a:r>
                <a:endParaRPr lang="zh-CN" altLang="en-US" sz="1200" b="1" dirty="0">
                  <a:solidFill>
                    <a:schemeClr val="tx1"/>
                  </a:solidFill>
                </a:endParaRPr>
              </a:p>
            </p:txBody>
          </p:sp>
          <p:sp>
            <p:nvSpPr>
              <p:cNvPr id="218" name="矩形 217"/>
              <p:cNvSpPr/>
              <p:nvPr/>
            </p:nvSpPr>
            <p:spPr>
              <a:xfrm>
                <a:off x="8690917" y="4719261"/>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15</a:t>
                </a:r>
                <a:endParaRPr lang="zh-CN" altLang="en-US" sz="1200" b="1" dirty="0">
                  <a:solidFill>
                    <a:schemeClr val="tx1"/>
                  </a:solidFill>
                </a:endParaRPr>
              </a:p>
            </p:txBody>
          </p:sp>
          <p:sp>
            <p:nvSpPr>
              <p:cNvPr id="219" name="文本框 218"/>
              <p:cNvSpPr txBox="1"/>
              <p:nvPr/>
            </p:nvSpPr>
            <p:spPr>
              <a:xfrm>
                <a:off x="8949676" y="3857936"/>
                <a:ext cx="251927" cy="369332"/>
              </a:xfrm>
              <a:prstGeom prst="rect">
                <a:avLst/>
              </a:prstGeom>
              <a:noFill/>
            </p:spPr>
            <p:txBody>
              <a:bodyPr wrap="square" rtlCol="0">
                <a:spAutoFit/>
              </a:bodyPr>
              <a:lstStyle/>
              <a:p>
                <a:r>
                  <a:rPr lang="en-US" altLang="zh-CN" b="1" dirty="0"/>
                  <a:t>…</a:t>
                </a:r>
                <a:endParaRPr lang="zh-CN" altLang="en-US" b="1" dirty="0"/>
              </a:p>
            </p:txBody>
          </p:sp>
          <p:sp>
            <p:nvSpPr>
              <p:cNvPr id="220" name="矩形 219"/>
              <p:cNvSpPr/>
              <p:nvPr/>
            </p:nvSpPr>
            <p:spPr>
              <a:xfrm>
                <a:off x="9941603" y="2922733"/>
                <a:ext cx="1156376" cy="225773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矩形 220"/>
              <p:cNvSpPr/>
              <p:nvPr/>
            </p:nvSpPr>
            <p:spPr>
              <a:xfrm>
                <a:off x="10089711" y="3043083"/>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0</a:t>
                </a:r>
                <a:endParaRPr lang="zh-CN" altLang="en-US" sz="1200" b="1" dirty="0">
                  <a:solidFill>
                    <a:schemeClr val="tx1"/>
                  </a:solidFill>
                </a:endParaRPr>
              </a:p>
            </p:txBody>
          </p:sp>
          <p:sp>
            <p:nvSpPr>
              <p:cNvPr id="222" name="矩形 221"/>
              <p:cNvSpPr/>
              <p:nvPr/>
            </p:nvSpPr>
            <p:spPr>
              <a:xfrm>
                <a:off x="10089710" y="3535076"/>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a:t>
                </a:r>
                <a:endParaRPr lang="zh-CN" altLang="en-US" sz="1200" b="1" dirty="0">
                  <a:solidFill>
                    <a:schemeClr val="tx1"/>
                  </a:solidFill>
                </a:endParaRPr>
              </a:p>
            </p:txBody>
          </p:sp>
          <p:sp>
            <p:nvSpPr>
              <p:cNvPr id="223" name="矩形 222"/>
              <p:cNvSpPr/>
              <p:nvPr/>
            </p:nvSpPr>
            <p:spPr>
              <a:xfrm>
                <a:off x="10094259" y="4227268"/>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14</a:t>
                </a:r>
                <a:endParaRPr lang="zh-CN" altLang="en-US" sz="1200" b="1" dirty="0">
                  <a:solidFill>
                    <a:schemeClr val="tx1"/>
                  </a:solidFill>
                </a:endParaRPr>
              </a:p>
            </p:txBody>
          </p:sp>
          <p:sp>
            <p:nvSpPr>
              <p:cNvPr id="224" name="矩形 223"/>
              <p:cNvSpPr/>
              <p:nvPr/>
            </p:nvSpPr>
            <p:spPr>
              <a:xfrm>
                <a:off x="10094258" y="4719261"/>
                <a:ext cx="875873" cy="357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rPr>
                  <a:t>bank 15</a:t>
                </a:r>
                <a:endParaRPr lang="zh-CN" altLang="en-US" sz="1200" b="1" dirty="0">
                  <a:solidFill>
                    <a:schemeClr val="tx1"/>
                  </a:solidFill>
                </a:endParaRPr>
              </a:p>
            </p:txBody>
          </p:sp>
          <p:sp>
            <p:nvSpPr>
              <p:cNvPr id="225" name="文本框 224"/>
              <p:cNvSpPr txBox="1"/>
              <p:nvPr/>
            </p:nvSpPr>
            <p:spPr>
              <a:xfrm>
                <a:off x="10353017" y="3857936"/>
                <a:ext cx="251927" cy="369332"/>
              </a:xfrm>
              <a:prstGeom prst="rect">
                <a:avLst/>
              </a:prstGeom>
              <a:noFill/>
            </p:spPr>
            <p:txBody>
              <a:bodyPr wrap="square" rtlCol="0">
                <a:spAutoFit/>
              </a:bodyPr>
              <a:lstStyle/>
              <a:p>
                <a:r>
                  <a:rPr lang="en-US" altLang="zh-CN" b="1" dirty="0"/>
                  <a:t>…</a:t>
                </a:r>
                <a:endParaRPr lang="zh-CN" altLang="en-US" b="1" dirty="0"/>
              </a:p>
            </p:txBody>
          </p:sp>
          <p:sp>
            <p:nvSpPr>
              <p:cNvPr id="226" name="文本框 225"/>
              <p:cNvSpPr txBox="1"/>
              <p:nvPr/>
            </p:nvSpPr>
            <p:spPr>
              <a:xfrm>
                <a:off x="8817560" y="2565161"/>
                <a:ext cx="877078" cy="307777"/>
              </a:xfrm>
              <a:prstGeom prst="rect">
                <a:avLst/>
              </a:prstGeom>
              <a:noFill/>
            </p:spPr>
            <p:txBody>
              <a:bodyPr wrap="square" rtlCol="0">
                <a:spAutoFit/>
              </a:bodyPr>
              <a:lstStyle/>
              <a:p>
                <a:r>
                  <a:rPr lang="en-US" altLang="zh-CN" sz="1400" b="1" dirty="0"/>
                  <a:t>rank 0</a:t>
                </a:r>
                <a:endParaRPr lang="zh-CN" altLang="en-US" sz="1400" b="1" dirty="0"/>
              </a:p>
            </p:txBody>
          </p:sp>
          <p:sp>
            <p:nvSpPr>
              <p:cNvPr id="227" name="文本框 226"/>
              <p:cNvSpPr txBox="1"/>
              <p:nvPr/>
            </p:nvSpPr>
            <p:spPr>
              <a:xfrm>
                <a:off x="10173914" y="2584611"/>
                <a:ext cx="877078" cy="307777"/>
              </a:xfrm>
              <a:prstGeom prst="rect">
                <a:avLst/>
              </a:prstGeom>
              <a:noFill/>
            </p:spPr>
            <p:txBody>
              <a:bodyPr wrap="square" rtlCol="0">
                <a:spAutoFit/>
              </a:bodyPr>
              <a:lstStyle/>
              <a:p>
                <a:r>
                  <a:rPr lang="en-US" altLang="zh-CN" sz="1400" b="1" dirty="0"/>
                  <a:t>rank 1</a:t>
                </a:r>
                <a:endParaRPr lang="zh-CN" altLang="en-US" sz="1400" b="1" dirty="0"/>
              </a:p>
            </p:txBody>
          </p:sp>
        </p:grpSp>
        <p:cxnSp>
          <p:nvCxnSpPr>
            <p:cNvPr id="228" name="直接箭头连接符 227"/>
            <p:cNvCxnSpPr/>
            <p:nvPr/>
          </p:nvCxnSpPr>
          <p:spPr>
            <a:xfrm>
              <a:off x="12605" y="4919"/>
              <a:ext cx="1448" cy="340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9" name="直接箭头连接符 228"/>
            <p:cNvCxnSpPr/>
            <p:nvPr/>
          </p:nvCxnSpPr>
          <p:spPr>
            <a:xfrm flipV="1">
              <a:off x="12567" y="3833"/>
              <a:ext cx="1581" cy="134"/>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0" name="直接箭头连接符 229"/>
            <p:cNvCxnSpPr/>
            <p:nvPr/>
          </p:nvCxnSpPr>
          <p:spPr>
            <a:xfrm flipV="1">
              <a:off x="9884" y="6356"/>
              <a:ext cx="784" cy="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20"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42672" y="-57391"/>
            <a:ext cx="8027035" cy="1568450"/>
          </a:xfrm>
          <a:prstGeom prst="rect">
            <a:avLst/>
          </a:prstGeom>
        </p:spPr>
        <p:txBody>
          <a:bodyPr wrap="none">
            <a:spAutoFit/>
          </a:bodyPr>
          <a:lstStyle/>
          <a:p>
            <a:pPr algn="l">
              <a:buClrTx/>
              <a:buSzTx/>
              <a:buFontTx/>
            </a:pPr>
            <a:r>
              <a:rPr lang="en-US" altLang="zh-CN" sz="4800" b="1" kern="100" dirty="0">
                <a:solidFill>
                  <a:schemeClr val="accent1"/>
                </a:solidFill>
                <a:latin typeface="+mn-ea"/>
                <a:cs typeface="Times New Roman" panose="02020603050405020304" pitchFamily="18" charset="0"/>
                <a:sym typeface="+mn-ea"/>
              </a:rPr>
              <a:t>Difficulty of the competition</a:t>
            </a:r>
            <a:endParaRPr lang="en-US" altLang="zh-CN" sz="4800" b="1" kern="100" dirty="0">
              <a:solidFill>
                <a:schemeClr val="accent1"/>
              </a:solidFill>
              <a:latin typeface="+mn-ea"/>
              <a:cs typeface="Times New Roman" panose="02020603050405020304" pitchFamily="18" charset="0"/>
            </a:endParaRPr>
          </a:p>
          <a:p>
            <a:endParaRPr lang="en-US" altLang="zh-CN" sz="4800" b="1" kern="100" dirty="0">
              <a:solidFill>
                <a:schemeClr val="accent1"/>
              </a:solidFill>
              <a:latin typeface="+mn-ea"/>
              <a:cs typeface="Times New Roman" panose="02020603050405020304" pitchFamily="18" charset="0"/>
            </a:endParaRPr>
          </a:p>
        </p:txBody>
      </p:sp>
      <p:pic>
        <p:nvPicPr>
          <p:cNvPr id="7" name="Picture 1"/>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977371"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Methodology</a:t>
            </a:r>
          </a:p>
        </p:txBody>
      </p:sp>
      <p:grpSp>
        <p:nvGrpSpPr>
          <p:cNvPr id="5" name="Group 13"/>
          <p:cNvGrpSpPr>
            <a:grpSpLocks noChangeAspect="1"/>
          </p:cNvGrpSpPr>
          <p:nvPr>
            <p:custDataLst>
              <p:tags r:id="rId1"/>
            </p:custDataLst>
          </p:nvPr>
        </p:nvGrpSpPr>
        <p:grpSpPr bwMode="auto">
          <a:xfrm>
            <a:off x="4225466" y="2706139"/>
            <a:ext cx="328183" cy="327403"/>
            <a:chOff x="3665" y="2074"/>
            <a:chExt cx="421" cy="420"/>
          </a:xfrm>
          <a:solidFill>
            <a:schemeClr val="accent1"/>
          </a:solidFill>
        </p:grpSpPr>
        <p:sp>
          <p:nvSpPr>
            <p:cNvPr id="6" name="Freeform 14"/>
            <p:cNvSpPr>
              <a:spLocks noEditPoints="1"/>
            </p:cNvSpPr>
            <p:nvPr>
              <p:custDataLst>
                <p:tags r:id="rId7"/>
              </p:custDataLst>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7" name="Freeform 15"/>
            <p:cNvSpPr/>
            <p:nvPr>
              <p:custDataLst>
                <p:tags r:id="rId8"/>
              </p:custDataLst>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9" name="Group 13"/>
          <p:cNvGrpSpPr>
            <a:grpSpLocks noChangeAspect="1"/>
          </p:cNvGrpSpPr>
          <p:nvPr>
            <p:custDataLst>
              <p:tags r:id="rId2"/>
            </p:custDataLst>
          </p:nvPr>
        </p:nvGrpSpPr>
        <p:grpSpPr bwMode="auto">
          <a:xfrm>
            <a:off x="4225466" y="3182921"/>
            <a:ext cx="328183" cy="327403"/>
            <a:chOff x="3665" y="2074"/>
            <a:chExt cx="421" cy="420"/>
          </a:xfrm>
          <a:solidFill>
            <a:schemeClr val="accent1"/>
          </a:solidFill>
        </p:grpSpPr>
        <p:sp>
          <p:nvSpPr>
            <p:cNvPr id="10" name="Freeform 14"/>
            <p:cNvSpPr>
              <a:spLocks noEditPoints="1"/>
            </p:cNvSpPr>
            <p:nvPr>
              <p:custDataLst>
                <p:tags r:id="rId5"/>
              </p:custDataLst>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15"/>
            <p:cNvSpPr/>
            <p:nvPr>
              <p:custDataLst>
                <p:tags r:id="rId6"/>
              </p:custDataLst>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sp>
        <p:nvSpPr>
          <p:cNvPr id="26" name="文本框 25"/>
          <p:cNvSpPr txBox="1"/>
          <p:nvPr>
            <p:custDataLst>
              <p:tags r:id="rId3"/>
            </p:custDataLst>
          </p:nvPr>
        </p:nvSpPr>
        <p:spPr>
          <a:xfrm>
            <a:off x="4553585" y="2657475"/>
            <a:ext cx="8938895" cy="398780"/>
          </a:xfrm>
          <a:prstGeom prst="rect">
            <a:avLst/>
          </a:prstGeom>
          <a:noFill/>
        </p:spPr>
        <p:txBody>
          <a:bodyPr wrap="square" rtlCol="0">
            <a:spAutoFit/>
          </a:bodyPr>
          <a:lstStyle/>
          <a:p>
            <a:pPr algn="l">
              <a:buClrTx/>
              <a:buSzTx/>
              <a:buFontTx/>
            </a:pPr>
            <a:r>
              <a:rPr lang="en-US" altLang="zh-CN" sz="2000" b="1" kern="100" dirty="0">
                <a:solidFill>
                  <a:schemeClr val="accent1"/>
                </a:solidFill>
                <a:latin typeface="+mn-ea"/>
                <a:cs typeface="Times New Roman" panose="02020603050405020304" pitchFamily="18" charset="0"/>
              </a:rPr>
              <a:t>Feature Engineering</a:t>
            </a:r>
          </a:p>
        </p:txBody>
      </p:sp>
      <p:sp>
        <p:nvSpPr>
          <p:cNvPr id="27" name="文本框 26"/>
          <p:cNvSpPr txBox="1"/>
          <p:nvPr>
            <p:custDataLst>
              <p:tags r:id="rId4"/>
            </p:custDataLst>
          </p:nvPr>
        </p:nvSpPr>
        <p:spPr>
          <a:xfrm>
            <a:off x="4566920" y="3174365"/>
            <a:ext cx="8938895" cy="398780"/>
          </a:xfrm>
          <a:prstGeom prst="rect">
            <a:avLst/>
          </a:prstGeom>
          <a:noFill/>
        </p:spPr>
        <p:txBody>
          <a:bodyPr wrap="square" rtlCol="0">
            <a:spAutoFit/>
          </a:bodyPr>
          <a:lstStyle/>
          <a:p>
            <a:pPr algn="l">
              <a:buClrTx/>
              <a:buSzTx/>
              <a:buFontTx/>
            </a:pPr>
            <a:r>
              <a:rPr lang="en-US" altLang="zh-CN" sz="2000" b="1" kern="100" dirty="0">
                <a:solidFill>
                  <a:schemeClr val="accent1"/>
                </a:solidFill>
                <a:latin typeface="+mn-ea"/>
                <a:cs typeface="Times New Roman" panose="02020603050405020304" pitchFamily="18" charset="0"/>
                <a:sym typeface="+mn-ea"/>
              </a:rPr>
              <a:t>Multi-window Fusion</a:t>
            </a:r>
            <a:endParaRPr lang="en-US" altLang="zh-CN" sz="2000" b="1" kern="100" dirty="0">
              <a:solidFill>
                <a:schemeClr val="accent1"/>
              </a:solidFill>
              <a:latin typeface="+mn-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710" y="1572895"/>
            <a:ext cx="12301220" cy="4561205"/>
          </a:xfrm>
          <a:prstGeom prst="rect">
            <a:avLst/>
          </a:prstGeom>
          <a:solidFill>
            <a:schemeClr val="accent4">
              <a:lumMod val="40000"/>
              <a:lumOff val="6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4" name="矩形 3"/>
          <p:cNvSpPr/>
          <p:nvPr/>
        </p:nvSpPr>
        <p:spPr>
          <a:xfrm>
            <a:off x="0" y="1128405"/>
            <a:ext cx="12192000" cy="444438"/>
          </a:xfrm>
          <a:prstGeom prst="rect">
            <a:avLst/>
          </a:prstGeom>
          <a:gradFill>
            <a:gsLst>
              <a:gs pos="26000">
                <a:srgbClr val="FFE699">
                  <a:alpha val="51000"/>
                </a:srgbClr>
              </a:gs>
              <a:gs pos="60000">
                <a:srgbClr val="FFE699">
                  <a:alpha val="68000"/>
                </a:srgbClr>
              </a:gs>
              <a:gs pos="100000">
                <a:srgbClr val="2F2F2F">
                  <a:alpha val="0"/>
                </a:srgbClr>
              </a:gs>
              <a:gs pos="44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nvGrpSpPr>
          <p:cNvPr id="6" name="组合 5"/>
          <p:cNvGrpSpPr/>
          <p:nvPr/>
        </p:nvGrpSpPr>
        <p:grpSpPr>
          <a:xfrm>
            <a:off x="4781362" y="1143954"/>
            <a:ext cx="360000" cy="360000"/>
            <a:chOff x="4359372" y="1220810"/>
            <a:chExt cx="360000" cy="360000"/>
          </a:xfrm>
        </p:grpSpPr>
        <p:sp>
          <p:nvSpPr>
            <p:cNvPr id="7" name="椭圆 6"/>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8" name="燕尾形 7"/>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9" name="燕尾形 8"/>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sp>
        <p:nvSpPr>
          <p:cNvPr id="10" name="文本框 9"/>
          <p:cNvSpPr txBox="1"/>
          <p:nvPr/>
        </p:nvSpPr>
        <p:spPr>
          <a:xfrm>
            <a:off x="1333086" y="1165660"/>
            <a:ext cx="152082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Visual Charts</a:t>
            </a:r>
          </a:p>
        </p:txBody>
      </p:sp>
      <p:sp>
        <p:nvSpPr>
          <p:cNvPr id="11" name="文本框 10"/>
          <p:cNvSpPr txBox="1"/>
          <p:nvPr/>
        </p:nvSpPr>
        <p:spPr>
          <a:xfrm>
            <a:off x="7343895" y="1165939"/>
            <a:ext cx="2236470" cy="33718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1600" b="1" noProof="0" dirty="0">
                <a:ln>
                  <a:noFill/>
                </a:ln>
                <a:effectLst/>
                <a:uLnTx/>
                <a:uFillTx/>
                <a:latin typeface="微软雅黑" panose="020B0503020204020204" charset="-122"/>
                <a:ea typeface="微软雅黑" panose="020B0503020204020204" charset="-122"/>
                <a:sym typeface="+mn-ea"/>
              </a:rPr>
              <a:t>Feature Engineering</a:t>
            </a:r>
            <a:endParaRPr kumimoji="1"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endParaRPr>
          </a:p>
        </p:txBody>
      </p:sp>
      <p:cxnSp>
        <p:nvCxnSpPr>
          <p:cNvPr id="17" name="直线连接符 16"/>
          <p:cNvCxnSpPr/>
          <p:nvPr/>
        </p:nvCxnSpPr>
        <p:spPr>
          <a:xfrm flipH="1">
            <a:off x="4937220" y="1814772"/>
            <a:ext cx="0" cy="4212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5979756" y="3369310"/>
            <a:ext cx="52158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6538722" y="3100070"/>
            <a:ext cx="0" cy="269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676656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682561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680085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695134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723138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753237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708850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a:off x="803148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728091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a:off x="812292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a:off x="842391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817245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a:off x="839724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a:off x="869823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844677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7778242" y="3100070"/>
            <a:ext cx="0" cy="269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9017762" y="3100070"/>
            <a:ext cx="0" cy="269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10256012" y="3100070"/>
            <a:ext cx="0" cy="269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a:off x="859409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a:off x="874458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888174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907415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910717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920407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934123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9533636"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944283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957999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9772396"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a:off x="9919716"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980859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a:off x="9966071"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a:off x="10138156"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712216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718121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715645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730694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a:off x="758698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7444105"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7636510"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97" name="左大括号 196"/>
          <p:cNvSpPr/>
          <p:nvPr/>
        </p:nvSpPr>
        <p:spPr>
          <a:xfrm rot="16200000">
            <a:off x="8292076" y="2895719"/>
            <a:ext cx="213376" cy="1237996"/>
          </a:xfrm>
          <a:prstGeom prst="leftBrace">
            <a:avLst>
              <a:gd name="adj1" fmla="val 100275"/>
              <a:gd name="adj2" fmla="val 50000"/>
            </a:avLst>
          </a:prstGeom>
          <a:ln w="1905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8" name="文本框 197"/>
          <p:cNvSpPr txBox="1"/>
          <p:nvPr/>
        </p:nvSpPr>
        <p:spPr>
          <a:xfrm>
            <a:off x="7767320" y="3666226"/>
            <a:ext cx="1259840" cy="230832"/>
          </a:xfrm>
          <a:prstGeom prst="rect">
            <a:avLst/>
          </a:prstGeom>
          <a:noFill/>
        </p:spPr>
        <p:txBody>
          <a:bodyPr wrap="square" rtlCol="0">
            <a:spAutoFit/>
          </a:bodyPr>
          <a:lstStyle/>
          <a:p>
            <a:r>
              <a:rPr lang="en-US" altLang="zh-CN" sz="900" b="1" i="1" dirty="0"/>
              <a:t>Observation window</a:t>
            </a:r>
            <a:endParaRPr lang="zh-CN" altLang="en-US" sz="900" b="1" i="1" dirty="0"/>
          </a:p>
        </p:txBody>
      </p:sp>
      <p:sp>
        <p:nvSpPr>
          <p:cNvPr id="199" name="文本框 198"/>
          <p:cNvSpPr txBox="1"/>
          <p:nvPr/>
        </p:nvSpPr>
        <p:spPr>
          <a:xfrm>
            <a:off x="10688584" y="3386456"/>
            <a:ext cx="506984" cy="230832"/>
          </a:xfrm>
          <a:prstGeom prst="rect">
            <a:avLst/>
          </a:prstGeom>
          <a:noFill/>
        </p:spPr>
        <p:txBody>
          <a:bodyPr wrap="square" rtlCol="0">
            <a:spAutoFit/>
          </a:bodyPr>
          <a:lstStyle/>
          <a:p>
            <a:r>
              <a:rPr lang="en-US" altLang="zh-CN" sz="900" b="1" i="1" dirty="0"/>
              <a:t>Time</a:t>
            </a:r>
            <a:endParaRPr lang="zh-CN" altLang="en-US" sz="900" b="1" i="1" dirty="0"/>
          </a:p>
        </p:txBody>
      </p:sp>
      <p:cxnSp>
        <p:nvCxnSpPr>
          <p:cNvPr id="200" name="直接连接符 199"/>
          <p:cNvCxnSpPr/>
          <p:nvPr/>
        </p:nvCxnSpPr>
        <p:spPr>
          <a:xfrm>
            <a:off x="6043803"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a:off x="6344793"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a:off x="6093333"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6180328"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6399403"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6304788"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469253" y="3241675"/>
            <a:ext cx="0" cy="1104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a:stCxn id="208" idx="2"/>
          </p:cNvCxnSpPr>
          <p:nvPr/>
        </p:nvCxnSpPr>
        <p:spPr>
          <a:xfrm flipH="1">
            <a:off x="8184642" y="2492430"/>
            <a:ext cx="374142" cy="765338"/>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8" name="表格 207"/>
          <p:cNvGraphicFramePr>
            <a:graphicFrameLocks noGrp="1"/>
          </p:cNvGraphicFramePr>
          <p:nvPr/>
        </p:nvGraphicFramePr>
        <p:xfrm>
          <a:off x="6186216" y="1914449"/>
          <a:ext cx="4745137" cy="577981"/>
        </p:xfrm>
        <a:graphic>
          <a:graphicData uri="http://schemas.openxmlformats.org/drawingml/2006/table">
            <a:tbl>
              <a:tblPr>
                <a:tableStyleId>{8EC20E35-A176-4012-BC5E-935CFFF8708E}</a:tableStyleId>
              </a:tblPr>
              <a:tblGrid>
                <a:gridCol w="738133">
                  <a:extLst>
                    <a:ext uri="{9D8B030D-6E8A-4147-A177-3AD203B41FA5}">
                      <a16:colId xmlns:a16="http://schemas.microsoft.com/office/drawing/2014/main" val="20000"/>
                    </a:ext>
                  </a:extLst>
                </a:gridCol>
                <a:gridCol w="460134">
                  <a:extLst>
                    <a:ext uri="{9D8B030D-6E8A-4147-A177-3AD203B41FA5}">
                      <a16:colId xmlns:a16="http://schemas.microsoft.com/office/drawing/2014/main" val="20001"/>
                    </a:ext>
                  </a:extLst>
                </a:gridCol>
                <a:gridCol w="448945">
                  <a:extLst>
                    <a:ext uri="{9D8B030D-6E8A-4147-A177-3AD203B41FA5}">
                      <a16:colId xmlns:a16="http://schemas.microsoft.com/office/drawing/2014/main" val="20002"/>
                    </a:ext>
                  </a:extLst>
                </a:gridCol>
                <a:gridCol w="406159">
                  <a:extLst>
                    <a:ext uri="{9D8B030D-6E8A-4147-A177-3AD203B41FA5}">
                      <a16:colId xmlns:a16="http://schemas.microsoft.com/office/drawing/2014/main" val="20003"/>
                    </a:ext>
                  </a:extLst>
                </a:gridCol>
                <a:gridCol w="503555">
                  <a:extLst>
                    <a:ext uri="{9D8B030D-6E8A-4147-A177-3AD203B41FA5}">
                      <a16:colId xmlns:a16="http://schemas.microsoft.com/office/drawing/2014/main" val="20004"/>
                    </a:ext>
                  </a:extLst>
                </a:gridCol>
                <a:gridCol w="399071">
                  <a:extLst>
                    <a:ext uri="{9D8B030D-6E8A-4147-A177-3AD203B41FA5}">
                      <a16:colId xmlns:a16="http://schemas.microsoft.com/office/drawing/2014/main" val="20005"/>
                    </a:ext>
                  </a:extLst>
                </a:gridCol>
                <a:gridCol w="771272">
                  <a:extLst>
                    <a:ext uri="{9D8B030D-6E8A-4147-A177-3AD203B41FA5}">
                      <a16:colId xmlns:a16="http://schemas.microsoft.com/office/drawing/2014/main" val="20006"/>
                    </a:ext>
                  </a:extLst>
                </a:gridCol>
                <a:gridCol w="575909">
                  <a:extLst>
                    <a:ext uri="{9D8B030D-6E8A-4147-A177-3AD203B41FA5}">
                      <a16:colId xmlns:a16="http://schemas.microsoft.com/office/drawing/2014/main" val="20007"/>
                    </a:ext>
                  </a:extLst>
                </a:gridCol>
                <a:gridCol w="441959">
                  <a:extLst>
                    <a:ext uri="{9D8B030D-6E8A-4147-A177-3AD203B41FA5}">
                      <a16:colId xmlns:a16="http://schemas.microsoft.com/office/drawing/2014/main" val="20008"/>
                    </a:ext>
                  </a:extLst>
                </a:gridCol>
              </a:tblGrid>
              <a:tr h="227461">
                <a:tc>
                  <a:txBody>
                    <a:bodyPr/>
                    <a:lstStyle/>
                    <a:p>
                      <a:pPr algn="ctr" fontAlgn="ctr"/>
                      <a:r>
                        <a:rPr lang="en-US" sz="700" b="1" i="1" u="none" strike="noStrike" dirty="0" err="1">
                          <a:effectLst/>
                        </a:rPr>
                        <a:t>serial_number</a:t>
                      </a:r>
                      <a:endParaRPr lang="en-US" sz="700" b="1" i="1" u="none" strike="noStrike" dirty="0">
                        <a:solidFill>
                          <a:srgbClr val="000000"/>
                        </a:solidFill>
                        <a:effectLst/>
                        <a:latin typeface="等线" panose="02010600030101010101" charset="-122"/>
                        <a:ea typeface="等线" panose="02010600030101010101" charset="-122"/>
                      </a:endParaRP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l" fontAlgn="ctr"/>
                      <a:r>
                        <a:rPr lang="en-US" sz="700" b="1" i="1" dirty="0" err="1">
                          <a:effectLst/>
                        </a:rPr>
                        <a:t>ChannelId</a:t>
                      </a:r>
                      <a:endParaRPr lang="en-US" altLang="zh-CN" sz="1100" b="0" i="0">
                        <a:solidFill>
                          <a:srgbClr val="000000"/>
                        </a:solidFill>
                        <a:latin typeface="宋体" panose="02010600030101010101" pitchFamily="2" charset="-122"/>
                        <a:ea typeface="宋体" panose="02010600030101010101" pitchFamily="2" charset="-122"/>
                      </a:endParaRPr>
                    </a:p>
                  </a:txBody>
                  <a:tcPr marL="4127" marR="4127" marT="4127"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err="1">
                          <a:effectLst/>
                        </a:rPr>
                        <a:t>rankid</a:t>
                      </a:r>
                      <a:endParaRPr lang="en-US" sz="700" b="1" i="1" u="none" strike="noStrike" dirty="0">
                        <a:solidFill>
                          <a:srgbClr val="000000"/>
                        </a:solidFill>
                        <a:effectLst/>
                        <a:latin typeface="等线" panose="02010600030101010101" charset="-122"/>
                        <a:ea typeface="等线" panose="02010600030101010101" charset="-122"/>
                      </a:endParaRP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err="1">
                          <a:effectLst/>
                        </a:rPr>
                        <a:t>bankid</a:t>
                      </a:r>
                      <a:endParaRPr lang="en-US" sz="700" b="1" i="1" u="none" strike="noStrike" dirty="0">
                        <a:solidFill>
                          <a:srgbClr val="000000"/>
                        </a:solidFill>
                        <a:effectLst/>
                        <a:latin typeface="等线" panose="02010600030101010101" charset="-122"/>
                        <a:ea typeface="等线" panose="02010600030101010101" charset="-122"/>
                      </a:endParaRP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a:effectLst/>
                        </a:rPr>
                        <a:t>row</a:t>
                      </a:r>
                      <a:endParaRPr lang="en-US" sz="700" b="1" i="1" u="none" strike="noStrike" dirty="0">
                        <a:solidFill>
                          <a:srgbClr val="000000"/>
                        </a:solidFill>
                        <a:effectLst/>
                        <a:latin typeface="等线" panose="02010600030101010101" charset="-122"/>
                        <a:ea typeface="等线" panose="02010600030101010101" charset="-122"/>
                      </a:endParaRP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a:effectLst/>
                        </a:rPr>
                        <a:t>col</a:t>
                      </a:r>
                      <a:endParaRPr lang="en-US" sz="700" b="1" i="1" u="none" strike="noStrike" dirty="0">
                        <a:solidFill>
                          <a:srgbClr val="000000"/>
                        </a:solidFill>
                        <a:effectLst/>
                        <a:latin typeface="等线" panose="02010600030101010101" charset="-122"/>
                        <a:ea typeface="等线" panose="02010600030101010101" charset="-122"/>
                      </a:endParaRP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a:solidFill>
                            <a:srgbClr val="000000"/>
                          </a:solidFill>
                          <a:effectLst/>
                          <a:latin typeface="等线" panose="02010600030101010101" charset="-122"/>
                          <a:ea typeface="等线" panose="02010600030101010101" charset="-122"/>
                        </a:rPr>
                        <a:t>LogTime</a:t>
                      </a: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u="none" strike="noStrike" dirty="0">
                          <a:solidFill>
                            <a:srgbClr val="000000"/>
                          </a:solidFill>
                          <a:effectLst/>
                          <a:latin typeface="等线" panose="02010600030101010101" charset="-122"/>
                          <a:ea typeface="等线" panose="02010600030101010101" charset="-122"/>
                        </a:rPr>
                        <a:t>manufacturer</a:t>
                      </a:r>
                    </a:p>
                  </a:txBody>
                  <a:tcPr marL="7620" marR="7620" marT="7620" marB="0" anchor="ctr">
                    <a:lnB w="12700" cap="flat" cmpd="sng" algn="ctr">
                      <a:solidFill>
                        <a:schemeClr val="tx1"/>
                      </a:solidFill>
                      <a:prstDash val="solid"/>
                      <a:round/>
                      <a:headEnd type="none" w="med" len="med"/>
                      <a:tailEnd type="none" w="med" len="med"/>
                    </a:lnB>
                  </a:tcPr>
                </a:tc>
                <a:tc>
                  <a:txBody>
                    <a:bodyPr/>
                    <a:lstStyle/>
                    <a:p>
                      <a:pPr algn="ctr" fontAlgn="ctr"/>
                      <a:r>
                        <a:rPr lang="en-US" sz="700" b="1" i="1" dirty="0">
                          <a:solidFill>
                            <a:srgbClr val="000000"/>
                          </a:solidFill>
                          <a:effectLst/>
                          <a:latin typeface="等线" panose="02010600030101010101" charset="-122"/>
                          <a:ea typeface="等线" panose="02010600030101010101" charset="-122"/>
                        </a:rPr>
                        <a:t>region</a:t>
                      </a:r>
                    </a:p>
                  </a:txBody>
                  <a:tcPr marL="4127" marR="4127" marT="4127"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5260">
                <a:tc>
                  <a:txBody>
                    <a:bodyPr/>
                    <a:lstStyle/>
                    <a:p>
                      <a:pPr algn="ctr" fontAlgn="ctr"/>
                      <a:r>
                        <a:rPr lang="en-US" sz="700" u="none" strike="noStrike" dirty="0">
                          <a:effectLst/>
                        </a:rPr>
                        <a:t>sn_1</a:t>
                      </a:r>
                      <a:endParaRPr lang="en-US"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2</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1</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2</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US" altLang="zh-CN" sz="700" b="0" i="0" dirty="0">
                          <a:effectLst/>
                        </a:rPr>
                        <a:t>129329</a:t>
                      </a:r>
                      <a:endParaRPr lang="en-US" altLang="zh-CN" sz="1100" b="0" i="0">
                        <a:solidFill>
                          <a:srgbClr val="000000"/>
                        </a:solidFill>
                        <a:latin typeface="宋体" panose="02010600030101010101" pitchFamily="2" charset="-122"/>
                        <a:ea typeface="宋体" panose="02010600030101010101" pitchFamily="2" charset="-122"/>
                      </a:endParaRPr>
                    </a:p>
                  </a:txBody>
                  <a:tcPr marL="4127" marR="4127" marT="4127"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744</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dirty="0">
                          <a:effectLst/>
                          <a:sym typeface="+mn-ea"/>
                        </a:rPr>
                        <a:t>1705898605</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B</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700" u="none" strike="noStrike" dirty="0">
                          <a:effectLst/>
                        </a:rPr>
                        <a:t>0</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5260">
                <a:tc>
                  <a:txBody>
                    <a:bodyPr/>
                    <a:lstStyle/>
                    <a:p>
                      <a:pPr algn="ctr" fontAlgn="ctr"/>
                      <a:r>
                        <a:rPr lang="en-US" sz="700" u="none" strike="noStrike">
                          <a:effectLst/>
                        </a:rPr>
                        <a:t>sn_1</a:t>
                      </a:r>
                    </a:p>
                  </a:txBody>
                  <a:tcPr marL="7620" marR="7620" marT="7620" marB="0" anchor="ctr">
                    <a:lnT>
                      <a:noFill/>
                    </a:lnT>
                  </a:tcPr>
                </a:tc>
                <a:tc>
                  <a:txBody>
                    <a:bodyPr/>
                    <a:lstStyle/>
                    <a:p>
                      <a:pPr algn="ctr" fontAlgn="ctr"/>
                      <a:r>
                        <a:rPr lang="en-US" altLang="zh-CN" sz="700" u="none" strike="noStrike">
                          <a:effectLst/>
                        </a:rPr>
                        <a:t>2</a:t>
                      </a:r>
                      <a:endParaRPr lang="en-US" altLang="zh-CN" sz="700" b="0" i="0" u="none" strike="noStrike">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ctr" fontAlgn="ctr"/>
                      <a:r>
                        <a:rPr lang="en-US" altLang="zh-CN" sz="700" u="none" strike="noStrike">
                          <a:effectLst/>
                        </a:rPr>
                        <a:t>1</a:t>
                      </a:r>
                      <a:endParaRPr lang="en-US" altLang="zh-CN" sz="700" b="0" i="0" u="none" strike="noStrike">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ctr" fontAlgn="ctr"/>
                      <a:r>
                        <a:rPr lang="en-US" altLang="zh-CN" sz="700" u="none" strike="noStrike" dirty="0">
                          <a:effectLst/>
                        </a:rPr>
                        <a:t>2</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r" fontAlgn="ctr"/>
                      <a:r>
                        <a:rPr lang="en-US" altLang="zh-CN" sz="700" b="0" i="0" dirty="0">
                          <a:effectLst/>
                        </a:rPr>
                        <a:t>129329</a:t>
                      </a:r>
                      <a:endParaRPr lang="en-US" altLang="zh-CN" sz="1100" b="0" i="0">
                        <a:solidFill>
                          <a:srgbClr val="000000"/>
                        </a:solidFill>
                        <a:latin typeface="宋体" panose="02010600030101010101" pitchFamily="2" charset="-122"/>
                        <a:ea typeface="宋体" panose="02010600030101010101" pitchFamily="2" charset="-122"/>
                      </a:endParaRPr>
                    </a:p>
                  </a:txBody>
                  <a:tcPr marL="4127" marR="4127" marT="4127" marB="0" anchor="ctr">
                    <a:lnT>
                      <a:noFill/>
                    </a:lnT>
                  </a:tcPr>
                </a:tc>
                <a:tc>
                  <a:txBody>
                    <a:bodyPr/>
                    <a:lstStyle/>
                    <a:p>
                      <a:pPr algn="ctr" fontAlgn="ctr"/>
                      <a:r>
                        <a:rPr lang="en-US" altLang="zh-CN" sz="700" u="none" strike="noStrike" dirty="0">
                          <a:effectLst/>
                        </a:rPr>
                        <a:t>744</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ctr" fontAlgn="ctr"/>
                      <a:r>
                        <a:rPr lang="en-US" altLang="zh-CN" sz="700" dirty="0">
                          <a:effectLst/>
                          <a:sym typeface="+mn-ea"/>
                        </a:rPr>
                        <a:t>1705898729</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ctr" fontAlgn="ctr"/>
                      <a:r>
                        <a:rPr lang="en-US" altLang="zh-CN" sz="700" u="none" strike="noStrike" dirty="0">
                          <a:effectLst/>
                        </a:rPr>
                        <a:t>B</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T>
                      <a:noFill/>
                    </a:lnT>
                  </a:tcPr>
                </a:tc>
                <a:tc>
                  <a:txBody>
                    <a:bodyPr/>
                    <a:lstStyle/>
                    <a:p>
                      <a:pPr algn="ctr" fontAlgn="ctr"/>
                      <a:r>
                        <a:rPr lang="en-US" altLang="zh-CN" sz="700" u="none" strike="noStrike" dirty="0">
                          <a:effectLst/>
                        </a:rPr>
                        <a:t>0</a:t>
                      </a:r>
                      <a:endParaRPr lang="en-US" altLang="zh-CN" sz="700" b="0" i="0" u="none" strike="noStrike" dirty="0">
                        <a:solidFill>
                          <a:srgbClr val="000000"/>
                        </a:solidFill>
                        <a:effectLst/>
                        <a:latin typeface="等线" panose="02010600030101010101" charset="-122"/>
                        <a:ea typeface="等线" panose="02010600030101010101" charset="-122"/>
                      </a:endParaRPr>
                    </a:p>
                  </a:txBody>
                  <a:tcPr marL="7620" marR="7620" marT="7620" marB="0" anchor="ctr">
                    <a:lnT>
                      <a:noFill/>
                    </a:lnT>
                  </a:tcPr>
                </a:tc>
                <a:extLst>
                  <a:ext uri="{0D108BD9-81ED-4DB2-BD59-A6C34878D82A}">
                    <a16:rowId xmlns:a16="http://schemas.microsoft.com/office/drawing/2014/main" val="10002"/>
                  </a:ext>
                </a:extLst>
              </a:tr>
            </a:tbl>
          </a:graphicData>
        </a:graphic>
      </p:graphicFrame>
      <p:pic>
        <p:nvPicPr>
          <p:cNvPr id="2" name="图片 1"/>
          <p:cNvPicPr>
            <a:picLocks noChangeAspect="1"/>
          </p:cNvPicPr>
          <p:nvPr>
            <p:custDataLst>
              <p:tags r:id="rId1"/>
            </p:custDataLst>
          </p:nvPr>
        </p:nvPicPr>
        <p:blipFill>
          <a:blip r:embed="rId6"/>
          <a:stretch>
            <a:fillRect/>
          </a:stretch>
        </p:blipFill>
        <p:spPr>
          <a:xfrm>
            <a:off x="401955" y="4180205"/>
            <a:ext cx="4224655" cy="1960880"/>
          </a:xfrm>
          <a:prstGeom prst="rect">
            <a:avLst/>
          </a:prstGeom>
        </p:spPr>
      </p:pic>
      <p:sp>
        <p:nvSpPr>
          <p:cNvPr id="5" name="文本框 4"/>
          <p:cNvSpPr txBox="1"/>
          <p:nvPr/>
        </p:nvSpPr>
        <p:spPr>
          <a:xfrm>
            <a:off x="5069840" y="3576955"/>
            <a:ext cx="4878070" cy="2898140"/>
          </a:xfrm>
          <a:prstGeom prst="rect">
            <a:avLst/>
          </a:prstGeom>
        </p:spPr>
        <p:txBody>
          <a:bodyPr wrap="square">
            <a:spAutoFit/>
          </a:bodyPr>
          <a:lstStyle/>
          <a:p>
            <a:pPr marL="0" lvl="1" indent="0" algn="l">
              <a:lnSpc>
                <a:spcPct val="170000"/>
              </a:lnSpc>
              <a:spcBef>
                <a:spcPts val="500"/>
              </a:spcBef>
              <a:buClrTx/>
              <a:buSzTx/>
              <a:buFont typeface="BatangChe" panose="02030609000101010101" charset="-127"/>
              <a:buNone/>
              <a:defRPr/>
            </a:pPr>
            <a:r>
              <a:rPr kumimoji="1" lang="en-US" altLang="zh-CN" sz="1600" b="1" noProof="0" dirty="0">
                <a:ln>
                  <a:noFill/>
                </a:ln>
                <a:effectLst/>
                <a:uLnTx/>
                <a:uFillTx/>
                <a:latin typeface="微软雅黑" panose="020B0503020204020204" charset="-122"/>
                <a:ea typeface="微软雅黑" panose="020B0503020204020204" charset="-122"/>
              </a:rPr>
              <a:t>Key Observation:</a:t>
            </a:r>
          </a:p>
          <a:p>
            <a:pPr marL="285750" lvl="1" indent="-285750" algn="l">
              <a:lnSpc>
                <a:spcPct val="170000"/>
              </a:lnSpc>
              <a:spcBef>
                <a:spcPts val="500"/>
              </a:spcBef>
              <a:buClrTx/>
              <a:buSzTx/>
              <a:buFont typeface="BatangChe" panose="02030609000101010101" charset="-127"/>
              <a:buChar char="-"/>
              <a:defRPr/>
            </a:pPr>
            <a:r>
              <a:rPr kumimoji="1" lang="en-US" altLang="zh-CN" sz="1400" noProof="0" dirty="0">
                <a:ln>
                  <a:noFill/>
                </a:ln>
                <a:effectLst/>
                <a:uLnTx/>
                <a:uFillTx/>
                <a:latin typeface="微软雅黑" panose="020B0503020204020204" charset="-122"/>
                <a:ea typeface="微软雅黑" panose="020B0503020204020204" charset="-122"/>
              </a:rPr>
              <a:t>The error distribution exhibits significant</a:t>
            </a:r>
            <a:r>
              <a:rPr kumimoji="1" lang="en-US" altLang="zh-CN" sz="1400" b="1" noProof="0" dirty="0">
                <a:ln>
                  <a:noFill/>
                </a:ln>
                <a:solidFill>
                  <a:srgbClr val="FF0000"/>
                </a:solidFill>
                <a:effectLst/>
                <a:uLnTx/>
                <a:uFillTx/>
                <a:latin typeface="微软雅黑" panose="020B0503020204020204" charset="-122"/>
                <a:ea typeface="微软雅黑" panose="020B0503020204020204" charset="-122"/>
              </a:rPr>
              <a:t> clustering </a:t>
            </a:r>
            <a:r>
              <a:rPr kumimoji="1" lang="en-US" altLang="zh-CN" sz="1400" noProof="0" dirty="0">
                <a:ln>
                  <a:noFill/>
                </a:ln>
                <a:effectLst/>
                <a:uLnTx/>
                <a:uFillTx/>
                <a:latin typeface="微软雅黑" panose="020B0503020204020204" charset="-122"/>
                <a:ea typeface="微软雅黑" panose="020B0503020204020204" charset="-122"/>
              </a:rPr>
              <a:t>rather than random scattering.</a:t>
            </a:r>
          </a:p>
          <a:p>
            <a:pPr marL="285750" lvl="1" indent="-285750" algn="l">
              <a:lnSpc>
                <a:spcPct val="170000"/>
              </a:lnSpc>
              <a:spcBef>
                <a:spcPts val="500"/>
              </a:spcBef>
              <a:buClrTx/>
              <a:buSzTx/>
              <a:buFont typeface="BatangChe" panose="02030609000101010101" charset="-127"/>
              <a:buChar char="-"/>
              <a:defRPr/>
            </a:pPr>
            <a:r>
              <a:rPr kumimoji="1" lang="en-US" altLang="zh-CN" sz="1400" noProof="0" dirty="0">
                <a:ln>
                  <a:noFill/>
                </a:ln>
                <a:effectLst/>
                <a:uLnTx/>
                <a:uFillTx/>
                <a:latin typeface="微软雅黑" panose="020B0503020204020204" charset="-122"/>
                <a:ea typeface="微软雅黑" panose="020B0503020204020204" charset="-122"/>
              </a:rPr>
              <a:t>There are clearly concentrated areas of row/column/regional errors.</a:t>
            </a:r>
          </a:p>
          <a:p>
            <a:pPr marL="285750" lvl="1" indent="-285750" algn="l">
              <a:lnSpc>
                <a:spcPct val="170000"/>
              </a:lnSpc>
              <a:spcBef>
                <a:spcPts val="500"/>
              </a:spcBef>
              <a:buClrTx/>
              <a:buSzTx/>
              <a:buFont typeface="BatangChe" panose="02030609000101010101" charset="-127"/>
              <a:buChar char="-"/>
              <a:defRPr/>
            </a:pPr>
            <a:r>
              <a:rPr kumimoji="1" lang="en-US" altLang="zh-CN" sz="1400" noProof="0" dirty="0">
                <a:ln>
                  <a:noFill/>
                </a:ln>
                <a:effectLst/>
                <a:uLnTx/>
                <a:uFillTx/>
                <a:latin typeface="微软雅黑" panose="020B0503020204020204" charset="-122"/>
                <a:ea typeface="微软雅黑" panose="020B0503020204020204" charset="-122"/>
              </a:rPr>
              <a:t>Error logs form a</a:t>
            </a:r>
            <a:r>
              <a:rPr kumimoji="1" lang="en-US" altLang="zh-CN" sz="1400" b="1" noProof="0" dirty="0">
                <a:ln>
                  <a:noFill/>
                </a:ln>
                <a:solidFill>
                  <a:srgbClr val="FF0000"/>
                </a:solidFill>
                <a:effectLst/>
                <a:uLnTx/>
                <a:uFillTx/>
                <a:latin typeface="微软雅黑" panose="020B0503020204020204" charset="-122"/>
                <a:ea typeface="微软雅黑" panose="020B0503020204020204" charset="-122"/>
              </a:rPr>
              <a:t> time series</a:t>
            </a:r>
            <a:r>
              <a:rPr kumimoji="1" lang="en-US" altLang="zh-CN" sz="1400" noProof="0" dirty="0">
                <a:ln>
                  <a:noFill/>
                </a:ln>
                <a:effectLst/>
                <a:uLnTx/>
                <a:uFillTx/>
                <a:latin typeface="微软雅黑" panose="020B0503020204020204" charset="-122"/>
                <a:ea typeface="微软雅黑" panose="020B0503020204020204" charset="-122"/>
              </a:rPr>
              <a:t>, requiring capture of dynamic patterns within sliding windows.</a:t>
            </a:r>
          </a:p>
        </p:txBody>
      </p:sp>
      <p:pic>
        <p:nvPicPr>
          <p:cNvPr id="29" name="图片 28"/>
          <p:cNvPicPr>
            <a:picLocks noChangeAspect="1"/>
          </p:cNvPicPr>
          <p:nvPr>
            <p:custDataLst>
              <p:tags r:id="rId2"/>
            </p:custDataLst>
          </p:nvPr>
        </p:nvPicPr>
        <p:blipFill>
          <a:blip r:embed="rId7"/>
          <a:stretch>
            <a:fillRect/>
          </a:stretch>
        </p:blipFill>
        <p:spPr>
          <a:xfrm>
            <a:off x="487045" y="1656715"/>
            <a:ext cx="4069715" cy="2603500"/>
          </a:xfrm>
          <a:prstGeom prst="rect">
            <a:avLst/>
          </a:prstGeom>
        </p:spPr>
      </p:pic>
      <p:sp>
        <p:nvSpPr>
          <p:cNvPr id="30" name="椭圆 29"/>
          <p:cNvSpPr/>
          <p:nvPr/>
        </p:nvSpPr>
        <p:spPr>
          <a:xfrm>
            <a:off x="941070" y="2567940"/>
            <a:ext cx="1782445" cy="1510030"/>
          </a:xfrm>
          <a:prstGeom prst="ellipse">
            <a:avLst/>
          </a:prstGeom>
          <a:noFill/>
          <a:ln w="381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椭圆 30"/>
          <p:cNvSpPr/>
          <p:nvPr/>
        </p:nvSpPr>
        <p:spPr>
          <a:xfrm>
            <a:off x="1089025" y="1700530"/>
            <a:ext cx="1527810" cy="791845"/>
          </a:xfrm>
          <a:prstGeom prst="ellipse">
            <a:avLst/>
          </a:prstGeom>
          <a:noFill/>
          <a:ln w="3810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右箭头 31"/>
          <p:cNvSpPr/>
          <p:nvPr/>
        </p:nvSpPr>
        <p:spPr>
          <a:xfrm>
            <a:off x="9533890" y="4450715"/>
            <a:ext cx="670560" cy="1242060"/>
          </a:xfrm>
          <a:prstGeom prst="rightArrow">
            <a:avLst/>
          </a:prstGeom>
          <a:solidFill>
            <a:schemeClr val="accent4">
              <a:lumMod val="40000"/>
              <a:lumOff val="6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 name="文本框 32"/>
          <p:cNvSpPr txBox="1"/>
          <p:nvPr/>
        </p:nvSpPr>
        <p:spPr>
          <a:xfrm>
            <a:off x="10227945" y="4750435"/>
            <a:ext cx="1932305" cy="642620"/>
          </a:xfrm>
          <a:prstGeom prst="roundRect">
            <a:avLst/>
          </a:prstGeom>
          <a:solidFill>
            <a:srgbClr val="FFE699">
              <a:alpha val="24000"/>
            </a:srgbClr>
          </a:solidFill>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effectLst/>
                <a:uLnTx/>
                <a:uFillTx/>
                <a:latin typeface="微软雅黑" panose="020B0503020204020204" charset="-122"/>
                <a:ea typeface="微软雅黑" panose="020B0503020204020204" charset="-122"/>
              </a:rPr>
              <a:t> </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Machine Learning </a:t>
            </a:r>
          </a:p>
        </p:txBody>
      </p:sp>
      <p:cxnSp>
        <p:nvCxnSpPr>
          <p:cNvPr id="20"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0" y="4445"/>
            <a:ext cx="8938895" cy="829945"/>
          </a:xfrm>
          <a:prstGeom prst="rect">
            <a:avLst/>
          </a:prstGeom>
          <a:noFill/>
        </p:spPr>
        <p:txBody>
          <a:bodyPr wrap="square" rtlCol="0">
            <a:spAutoFit/>
          </a:bodyPr>
          <a:lstStyle/>
          <a:p>
            <a:pPr algn="l">
              <a:buClrTx/>
              <a:buSzTx/>
              <a:buFontTx/>
            </a:pPr>
            <a:r>
              <a:rPr lang="en-US" altLang="zh-CN" sz="4800" b="1" kern="100" dirty="0">
                <a:solidFill>
                  <a:schemeClr val="accent1"/>
                </a:solidFill>
                <a:latin typeface="+mn-ea"/>
                <a:cs typeface="Times New Roman" panose="02020603050405020304" pitchFamily="18" charset="0"/>
              </a:rPr>
              <a:t>Feature Engineering</a:t>
            </a:r>
          </a:p>
        </p:txBody>
      </p:sp>
      <p:pic>
        <p:nvPicPr>
          <p:cNvPr id="13" name="Picture 1"/>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481"/>
          <p:cNvCxnSpPr/>
          <p:nvPr/>
        </p:nvCxnSpPr>
        <p:spPr bwMode="auto">
          <a:xfrm>
            <a:off x="68620" y="2316801"/>
            <a:ext cx="11938000" cy="0"/>
          </a:xfrm>
          <a:prstGeom prst="line">
            <a:avLst/>
          </a:prstGeom>
          <a:solidFill>
            <a:schemeClr val="accent1"/>
          </a:solidFill>
          <a:ln w="9525" cap="flat" cmpd="sng" algn="ctr">
            <a:solidFill>
              <a:schemeClr val="bg1">
                <a:lumMod val="75000"/>
              </a:schemeClr>
            </a:solidFill>
            <a:prstDash val="lgDash"/>
            <a:round/>
            <a:headEnd type="none" w="med" len="med"/>
            <a:tailEnd type="none" w="med" len="med"/>
          </a:ln>
          <a:effectLst/>
        </p:spPr>
      </p:cxnSp>
      <p:sp>
        <p:nvSpPr>
          <p:cNvPr id="8" name="圆角矩形 7"/>
          <p:cNvSpPr/>
          <p:nvPr/>
        </p:nvSpPr>
        <p:spPr bwMode="auto">
          <a:xfrm>
            <a:off x="95250" y="1875790"/>
            <a:ext cx="5060950" cy="4488815"/>
          </a:xfrm>
          <a:prstGeom prst="roundRect">
            <a:avLst>
              <a:gd name="adj" fmla="val 2650"/>
            </a:avLst>
          </a:prstGeom>
          <a:noFill/>
          <a:ln w="9525" cap="flat" cmpd="sng" algn="ctr">
            <a:solidFill>
              <a:schemeClr val="accent2">
                <a:lumMod val="60000"/>
                <a:lumOff val="40000"/>
              </a:schemeClr>
            </a:solidFill>
            <a:prstDash val="lgDash"/>
            <a:round/>
            <a:headEnd type="none" w="med" len="med"/>
            <a:tailEnd type="none" w="med" len="med"/>
          </a:ln>
          <a:effectLst/>
        </p:spPr>
        <p:txBody>
          <a:bodyPr vert="horz" wrap="square" lIns="0" tIns="0" rIns="0" bIns="0" numCol="1" rtlCol="0" anchor="t" anchorCtr="0" compatLnSpc="1"/>
          <a:lstStyle/>
          <a:p>
            <a:pPr algn="ctr"/>
            <a:endParaRPr lang="zh-CN" altLang="en-US" sz="1400" dirty="0">
              <a:latin typeface="微软雅黑" panose="020B0503020204020204" charset="-122"/>
              <a:ea typeface="微软雅黑" panose="020B0503020204020204" charset="-122"/>
              <a:cs typeface="Calibri" panose="020F0502020204030204" charset="0"/>
            </a:endParaRPr>
          </a:p>
        </p:txBody>
      </p:sp>
      <p:sp>
        <p:nvSpPr>
          <p:cNvPr id="9" name="矩形 8"/>
          <p:cNvSpPr/>
          <p:nvPr/>
        </p:nvSpPr>
        <p:spPr>
          <a:xfrm>
            <a:off x="270510" y="2403475"/>
            <a:ext cx="1700530" cy="427355"/>
          </a:xfrm>
          <a:prstGeom prst="rect">
            <a:avLst/>
          </a:prstGeom>
        </p:spPr>
        <p:txBody>
          <a:bodyPr wrap="none">
            <a:noAutofit/>
          </a:bodyPr>
          <a:lstStyle/>
          <a:p>
            <a:pPr indent="0" algn="l" fontAlgn="auto">
              <a:lnSpc>
                <a:spcPct val="100000"/>
              </a:lnSpc>
            </a:pPr>
            <a:r>
              <a:rPr lang="en-US" altLang="zh-CN" sz="1200" b="1" kern="0" dirty="0">
                <a:latin typeface="微软雅黑" panose="020B0503020204020204" charset="-122"/>
                <a:ea typeface="微软雅黑" panose="020B0503020204020204" charset="-122"/>
              </a:rPr>
              <a:t>Statistical Features </a:t>
            </a:r>
          </a:p>
          <a:p>
            <a:pPr indent="0" algn="l" fontAlgn="auto">
              <a:lnSpc>
                <a:spcPct val="100000"/>
              </a:lnSpc>
            </a:pPr>
            <a:r>
              <a:rPr lang="en-US" altLang="zh-CN" sz="1200" b="1" kern="0" dirty="0">
                <a:latin typeface="微软雅黑" panose="020B0503020204020204" charset="-122"/>
                <a:ea typeface="微软雅黑" panose="020B0503020204020204" charset="-122"/>
              </a:rPr>
              <a:t>(Window Aggregation)</a:t>
            </a:r>
          </a:p>
        </p:txBody>
      </p:sp>
      <p:sp>
        <p:nvSpPr>
          <p:cNvPr id="10" name="矩形 9"/>
          <p:cNvSpPr/>
          <p:nvPr/>
        </p:nvSpPr>
        <p:spPr>
          <a:xfrm>
            <a:off x="2641600" y="2403475"/>
            <a:ext cx="2727325" cy="460375"/>
          </a:xfrm>
          <a:prstGeom prst="rect">
            <a:avLst/>
          </a:prstGeom>
        </p:spPr>
        <p:txBody>
          <a:bodyPr wrap="square">
            <a:spAutoFit/>
          </a:bodyPr>
          <a:lstStyle/>
          <a:p>
            <a:pPr algn="l">
              <a:buClrTx/>
              <a:buSzTx/>
              <a:buFontTx/>
            </a:pPr>
            <a:r>
              <a:rPr lang="en-US" altLang="zh-CN" sz="1200" b="1" kern="0" dirty="0">
                <a:latin typeface="微软雅黑" panose="020B0503020204020204" charset="-122"/>
                <a:ea typeface="微软雅黑" panose="020B0503020204020204" charset="-122"/>
              </a:rPr>
              <a:t>Intra-Window Dynamic Features </a:t>
            </a:r>
          </a:p>
          <a:p>
            <a:pPr algn="l">
              <a:buClrTx/>
              <a:buSzTx/>
              <a:buFontTx/>
            </a:pPr>
            <a:r>
              <a:rPr lang="en-US" altLang="zh-CN" sz="1200" b="1" kern="0" dirty="0">
                <a:latin typeface="微软雅黑" panose="020B0503020204020204" charset="-122"/>
                <a:ea typeface="微软雅黑" panose="020B0503020204020204" charset="-122"/>
              </a:rPr>
              <a:t>(First Order/Change)</a:t>
            </a:r>
          </a:p>
        </p:txBody>
      </p:sp>
      <p:sp>
        <p:nvSpPr>
          <p:cNvPr id="11" name="矩形 10"/>
          <p:cNvSpPr/>
          <p:nvPr/>
        </p:nvSpPr>
        <p:spPr>
          <a:xfrm>
            <a:off x="6040213" y="1870691"/>
            <a:ext cx="2545080" cy="398780"/>
          </a:xfrm>
          <a:prstGeom prst="rect">
            <a:avLst/>
          </a:prstGeom>
        </p:spPr>
        <p:txBody>
          <a:bodyPr wrap="none">
            <a:spAutoFit/>
          </a:bodyPr>
          <a:lstStyle/>
          <a:p>
            <a:pPr algn="l"/>
            <a:r>
              <a:rPr lang="en-US" altLang="zh-CN" sz="2000" b="1" kern="0" dirty="0">
                <a:latin typeface="微软雅黑" panose="020B0503020204020204" charset="-122"/>
                <a:ea typeface="微软雅黑" panose="020B0503020204020204" charset="-122"/>
              </a:rPr>
              <a:t>Label construction</a:t>
            </a:r>
          </a:p>
        </p:txBody>
      </p:sp>
      <p:sp>
        <p:nvSpPr>
          <p:cNvPr id="12" name="文本框 11"/>
          <p:cNvSpPr txBox="1"/>
          <p:nvPr/>
        </p:nvSpPr>
        <p:spPr>
          <a:xfrm>
            <a:off x="68580" y="2830830"/>
            <a:ext cx="2819400" cy="2625090"/>
          </a:xfrm>
          <a:prstGeom prst="rect">
            <a:avLst/>
          </a:prstGeom>
          <a:noFill/>
        </p:spPr>
        <p:txBody>
          <a:bodyPr wrap="square" rtlCol="0">
            <a:noAutofit/>
          </a:bodyPr>
          <a:lstStyle/>
          <a:p>
            <a:pPr marL="342900" indent="-342900" algn="l">
              <a:buClrTx/>
              <a:buSzTx/>
              <a:buFontTx/>
              <a:buAutoNum type="arabicPeriod"/>
            </a:pPr>
            <a:r>
              <a:rPr lang="en-US" altLang="zh-CN" sz="1350">
                <a:latin typeface="微软雅黑" panose="020B0503020204020204" charset="-122"/>
                <a:ea typeface="微软雅黑" panose="020B0503020204020204" charset="-122"/>
                <a:cs typeface="微软雅黑" panose="020B0503020204020204" charset="-122"/>
              </a:rPr>
              <a:t>Error Count &amp; Types: Total logs &amp; CE/SCRUB counts (Reflects Error Activity).</a:t>
            </a:r>
          </a:p>
          <a:p>
            <a:pPr marL="342900" indent="-342900" algn="l">
              <a:buClrTx/>
              <a:buSzTx/>
              <a:buFontTx/>
              <a:buAutoNum type="arabicPeriod"/>
            </a:pPr>
            <a:endParaRPr lang="en-US" altLang="zh-CN" sz="1350">
              <a:latin typeface="微软雅黑" panose="020B0503020204020204" charset="-122"/>
              <a:ea typeface="微软雅黑" panose="020B0503020204020204" charset="-122"/>
              <a:cs typeface="微软雅黑" panose="020B0503020204020204" charset="-122"/>
            </a:endParaRPr>
          </a:p>
          <a:p>
            <a:pPr marL="342900" indent="-342900" algn="l">
              <a:buClrTx/>
              <a:buSzTx/>
              <a:buFontTx/>
              <a:buAutoNum type="arabicPeriod"/>
            </a:pPr>
            <a:r>
              <a:rPr lang="en-US" altLang="zh-CN" sz="1350">
                <a:latin typeface="微软雅黑" panose="020B0503020204020204" charset="-122"/>
                <a:ea typeface="微软雅黑" panose="020B0503020204020204" charset="-122"/>
                <a:cs typeface="微软雅黑" panose="020B0503020204020204" charset="-122"/>
              </a:rPr>
              <a:t>Underlying Error Severity: Total/Max Burst/DQ (Measures Error Severity).</a:t>
            </a:r>
          </a:p>
          <a:p>
            <a:pPr marL="342900" indent="-342900" algn="l">
              <a:buClrTx/>
              <a:buSzTx/>
              <a:buFontTx/>
              <a:buAutoNum type="arabicPeriod"/>
            </a:pPr>
            <a:endParaRPr lang="en-US" altLang="zh-CN" sz="1350">
              <a:latin typeface="微软雅黑" panose="020B0503020204020204" charset="-122"/>
              <a:ea typeface="微软雅黑" panose="020B0503020204020204" charset="-122"/>
              <a:cs typeface="微软雅黑" panose="020B0503020204020204" charset="-122"/>
            </a:endParaRPr>
          </a:p>
          <a:p>
            <a:pPr marL="342900" indent="-342900" algn="l">
              <a:buClrTx/>
              <a:buSzTx/>
              <a:buFontTx/>
              <a:buAutoNum type="arabicPeriod"/>
            </a:pPr>
            <a:r>
              <a:rPr lang="en-US" altLang="zh-CN" sz="1350">
                <a:latin typeface="微软雅黑" panose="020B0503020204020204" charset="-122"/>
                <a:ea typeface="微软雅黑" panose="020B0503020204020204" charset="-122"/>
                <a:cs typeface="微软雅黑" panose="020B0503020204020204" charset="-122"/>
              </a:rPr>
              <a:t>Hardware Location Concentration (Nunique): Unique ID counts per level (Identifies Fault Localization)</a:t>
            </a:r>
          </a:p>
          <a:p>
            <a:pPr marL="342900" indent="-342900" algn="l">
              <a:buClrTx/>
              <a:buSzTx/>
              <a:buFontTx/>
              <a:buAutoNum type="arabicPeriod"/>
            </a:pPr>
            <a:endParaRPr lang="en-US" altLang="zh-CN" sz="1350">
              <a:latin typeface="微软雅黑" panose="020B0503020204020204" charset="-122"/>
              <a:ea typeface="微软雅黑" panose="020B0503020204020204" charset="-122"/>
              <a:cs typeface="微软雅黑" panose="020B0503020204020204" charset="-122"/>
            </a:endParaRPr>
          </a:p>
          <a:p>
            <a:pPr marL="342900" indent="-342900" algn="l">
              <a:buClrTx/>
              <a:buSzTx/>
              <a:buFontTx/>
              <a:buAutoNum type="arabicPeriod"/>
            </a:pPr>
            <a:r>
              <a:rPr lang="en-US" altLang="zh-CN" sz="1350">
                <a:latin typeface="微软雅黑" panose="020B0503020204020204" charset="-122"/>
                <a:ea typeface="微软雅黑" panose="020B0503020204020204" charset="-122"/>
                <a:cs typeface="微软雅黑" panose="020B0503020204020204" charset="-122"/>
                <a:sym typeface="+mn-ea"/>
              </a:rPr>
              <a:t>Automated Fault Mode Recognition: Bank/Row/Cell level modes (Aids Diagnosis Type).</a:t>
            </a:r>
            <a:endParaRPr lang="en-US" altLang="zh-CN" sz="1350" b="0" i="0">
              <a:latin typeface="微软雅黑" panose="020B0503020204020204" charset="-122"/>
              <a:ea typeface="微软雅黑" panose="020B0503020204020204" charset="-122"/>
              <a:cs typeface="微软雅黑" panose="020B0503020204020204" charset="-122"/>
            </a:endParaRPr>
          </a:p>
          <a:p>
            <a:pPr marL="342900" indent="-342900">
              <a:buFontTx/>
              <a:buAutoNum type="arabicPeriod"/>
            </a:pPr>
            <a:endParaRPr lang="en-US" altLang="zh-CN" sz="1350" kern="0" dirty="0">
              <a:latin typeface="微软雅黑" panose="020B0503020204020204" charset="-122"/>
              <a:ea typeface="微软雅黑" panose="020B0503020204020204" charset="-122"/>
            </a:endParaRPr>
          </a:p>
          <a:p>
            <a:pPr marL="342900" indent="-342900">
              <a:buFontTx/>
              <a:buAutoNum type="arabicPeriod"/>
            </a:pPr>
            <a:endParaRPr lang="en-US" altLang="zh-CN" sz="1350" kern="0" dirty="0">
              <a:latin typeface="微软雅黑" panose="020B0503020204020204" charset="-122"/>
              <a:ea typeface="微软雅黑" panose="020B0503020204020204" charset="-122"/>
            </a:endParaRPr>
          </a:p>
        </p:txBody>
      </p:sp>
      <p:sp>
        <p:nvSpPr>
          <p:cNvPr id="13" name="文本框 12"/>
          <p:cNvSpPr txBox="1"/>
          <p:nvPr/>
        </p:nvSpPr>
        <p:spPr>
          <a:xfrm>
            <a:off x="2746375" y="2863850"/>
            <a:ext cx="2353945" cy="3622675"/>
          </a:xfrm>
          <a:prstGeom prst="rect">
            <a:avLst/>
          </a:prstGeom>
          <a:noFill/>
        </p:spPr>
        <p:txBody>
          <a:bodyPr wrap="square" rtlCol="0">
            <a:spAutoFit/>
          </a:bodyPr>
          <a:lstStyle/>
          <a:p>
            <a:pPr marL="342900" indent="-342900" algn="l">
              <a:buClrTx/>
              <a:buSzTx/>
              <a:buFontTx/>
              <a:buAutoNum type="arabicPeriod"/>
            </a:pPr>
            <a:r>
              <a:rPr lang="zh-CN" altLang="en-US" sz="1350">
                <a:latin typeface="微软雅黑" panose="020B0503020204020204" charset="-122"/>
                <a:ea typeface="微软雅黑" panose="020B0503020204020204" charset="-122"/>
                <a:cs typeface="微软雅黑" panose="020B0503020204020204" charset="-122"/>
                <a:sym typeface="+mn-ea"/>
              </a:rPr>
              <a:t>1. </a:t>
            </a:r>
            <a:r>
              <a:rPr lang="en-US" altLang="zh-CN" sz="1350">
                <a:latin typeface="微软雅黑" panose="020B0503020204020204" charset="-122"/>
                <a:ea typeface="微软雅黑" panose="020B0503020204020204" charset="-122"/>
                <a:cs typeface="微软雅黑" panose="020B0503020204020204" charset="-122"/>
                <a:sym typeface="+mn-ea"/>
              </a:rPr>
              <a:t>Error Frequency Change: Stats on time diffs between logs (Captures Frequency Fluctuation/Acceleration).</a:t>
            </a:r>
          </a:p>
          <a:p>
            <a:pPr marL="342900" indent="-342900" algn="l">
              <a:buClrTx/>
              <a:buSzTx/>
              <a:buFontTx/>
              <a:buAutoNum type="arabicPeriod"/>
            </a:pPr>
            <a:endParaRPr lang="en-US" altLang="zh-CN" sz="1350">
              <a:latin typeface="微软雅黑" panose="020B0503020204020204" charset="-122"/>
              <a:ea typeface="微软雅黑" panose="020B0503020204020204" charset="-122"/>
              <a:cs typeface="微软雅黑" panose="020B0503020204020204" charset="-122"/>
              <a:sym typeface="+mn-ea"/>
            </a:endParaRPr>
          </a:p>
          <a:p>
            <a:pPr marL="342900" indent="-342900" algn="l">
              <a:buClrTx/>
              <a:buSzTx/>
              <a:buFontTx/>
              <a:buAutoNum type="arabicPeriod"/>
            </a:pPr>
            <a:r>
              <a:rPr lang="en-US" altLang="zh-CN" sz="1350">
                <a:latin typeface="微软雅黑" panose="020B0503020204020204" charset="-122"/>
                <a:ea typeface="微软雅黑" panose="020B0503020204020204" charset="-122"/>
                <a:cs typeface="微软雅黑" panose="020B0503020204020204" charset="-122"/>
                <a:sym typeface="+mn-ea"/>
              </a:rPr>
              <a:t>Error Severity Change Rate: Stats on Burst/DQ count diffs (Indicates Error Severity Deterioration).</a:t>
            </a:r>
          </a:p>
          <a:p>
            <a:pPr marL="342900" indent="-342900" algn="l">
              <a:buClrTx/>
              <a:buSzTx/>
              <a:buFontTx/>
              <a:buAutoNum type="arabicPeriod"/>
            </a:pPr>
            <a:endParaRPr lang="zh-CN" altLang="en-US" sz="1350">
              <a:latin typeface="微软雅黑" panose="020B0503020204020204" charset="-122"/>
              <a:ea typeface="微软雅黑" panose="020B0503020204020204" charset="-122"/>
              <a:cs typeface="微软雅黑" panose="020B0503020204020204" charset="-122"/>
            </a:endParaRPr>
          </a:p>
          <a:p>
            <a:pPr marL="342900" indent="-342900">
              <a:buAutoNum type="arabicPeriod"/>
            </a:pPr>
            <a:endParaRPr lang="en-US" altLang="zh-CN" sz="1350" kern="0" dirty="0">
              <a:latin typeface="微软雅黑" panose="020B0503020204020204" charset="-122"/>
              <a:ea typeface="微软雅黑" panose="020B0503020204020204" charset="-122"/>
            </a:endParaRPr>
          </a:p>
          <a:p>
            <a:pPr marL="342900" indent="-342900">
              <a:buAutoNum type="arabicPeriod"/>
            </a:pPr>
            <a:endParaRPr lang="en-US" altLang="zh-CN" sz="1350" kern="0" dirty="0">
              <a:latin typeface="微软雅黑" panose="020B0503020204020204" charset="-122"/>
              <a:ea typeface="微软雅黑" panose="020B0503020204020204" charset="-122"/>
            </a:endParaRPr>
          </a:p>
          <a:p>
            <a:pPr marL="342900" indent="-342900">
              <a:buAutoNum type="arabicPeriod"/>
            </a:pPr>
            <a:endParaRPr lang="en-US" altLang="zh-CN" sz="1350" kern="0" dirty="0">
              <a:latin typeface="微软雅黑" panose="020B0503020204020204" charset="-122"/>
              <a:ea typeface="微软雅黑" panose="020B0503020204020204" charset="-122"/>
            </a:endParaRPr>
          </a:p>
        </p:txBody>
      </p:sp>
      <p:sp>
        <p:nvSpPr>
          <p:cNvPr id="14" name="文本框 13"/>
          <p:cNvSpPr txBox="1"/>
          <p:nvPr/>
        </p:nvSpPr>
        <p:spPr>
          <a:xfrm>
            <a:off x="5156200" y="2211070"/>
            <a:ext cx="4128135" cy="3969385"/>
          </a:xfrm>
          <a:prstGeom prst="rect">
            <a:avLst/>
          </a:prstGeom>
          <a:noFill/>
        </p:spPr>
        <p:txBody>
          <a:bodyPr wrap="square" rtlCol="0">
            <a:spAutoFit/>
          </a:bodyPr>
          <a:lstStyle/>
          <a:p>
            <a:pPr marL="285750" indent="-285750" algn="l">
              <a:lnSpc>
                <a:spcPct val="150000"/>
              </a:lnSpc>
              <a:buClrTx/>
              <a:buSzTx/>
              <a:buFont typeface="Arial" panose="020B0604020202020204" pitchFamily="34" charset="0"/>
              <a:buChar char="•"/>
            </a:pPr>
            <a:r>
              <a:rPr lang="en-US" altLang="zh-CN" sz="1200" kern="0" dirty="0">
                <a:latin typeface="微软雅黑" panose="020B0503020204020204" charset="-122"/>
                <a:ea typeface="微软雅黑" panose="020B0503020204020204" charset="-122"/>
              </a:rPr>
              <a:t>Identifying Positive Sample Windows: The positive sample window preceding a failure is identified, with the window closest to the failure event labeled as 1.</a:t>
            </a:r>
          </a:p>
          <a:p>
            <a:pPr marL="285750" indent="-285750" algn="l">
              <a:lnSpc>
                <a:spcPct val="150000"/>
              </a:lnSpc>
              <a:buClrTx/>
              <a:buSzTx/>
              <a:buFont typeface="Arial" panose="020B0604020202020204" pitchFamily="34" charset="0"/>
              <a:buChar char="•"/>
            </a:pPr>
            <a:r>
              <a:rPr lang="en-US" altLang="zh-CN" sz="1200" kern="0" dirty="0">
                <a:latin typeface="微软雅黑" panose="020B0503020204020204" charset="-122"/>
                <a:ea typeface="微软雅黑" panose="020B0503020204020204" charset="-122"/>
              </a:rPr>
              <a:t>Linear Decay: Starting from the window labeled as 1, we trace back in time, and for earlier feature windows, their label values decrease linearly, with the label linearly decaying to a minimum of 0.5.</a:t>
            </a:r>
          </a:p>
          <a:p>
            <a:pPr marL="285750" indent="-285750" algn="l">
              <a:lnSpc>
                <a:spcPct val="150000"/>
              </a:lnSpc>
              <a:buClrTx/>
              <a:buSzTx/>
              <a:buFont typeface="Arial" panose="020B0604020202020204" pitchFamily="34" charset="0"/>
              <a:buChar char="•"/>
            </a:pPr>
            <a:r>
              <a:rPr lang="en-US" altLang="zh-CN" sz="1200" kern="0" dirty="0">
                <a:latin typeface="微软雅黑" panose="020B0503020204020204" charset="-122"/>
                <a:ea typeface="微软雅黑" panose="020B0503020204020204" charset="-122"/>
              </a:rPr>
              <a:t>Negative Sample Labels: All other feature windows that do not fall into the above positive sample windows (including all windows from SNs that never experienced a failure, and windows from failing SNs that are far removed in time from the failure event) are assigned a label of 0.</a:t>
            </a:r>
          </a:p>
        </p:txBody>
      </p:sp>
      <p:sp>
        <p:nvSpPr>
          <p:cNvPr id="19" name="矩形 18"/>
          <p:cNvSpPr/>
          <p:nvPr/>
        </p:nvSpPr>
        <p:spPr>
          <a:xfrm>
            <a:off x="9256395" y="1906905"/>
            <a:ext cx="2799080" cy="4498340"/>
          </a:xfrm>
          <a:prstGeom prst="rect">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0" name="矩形 19"/>
          <p:cNvSpPr/>
          <p:nvPr/>
        </p:nvSpPr>
        <p:spPr>
          <a:xfrm>
            <a:off x="68580" y="1374775"/>
            <a:ext cx="12023725" cy="444500"/>
          </a:xfrm>
          <a:prstGeom prst="rect">
            <a:avLst/>
          </a:prstGeom>
          <a:gradFill>
            <a:gsLst>
              <a:gs pos="26000">
                <a:srgbClr val="FFE699">
                  <a:alpha val="51000"/>
                </a:srgbClr>
              </a:gs>
              <a:gs pos="60000">
                <a:srgbClr val="FFE699">
                  <a:alpha val="68000"/>
                </a:srgbClr>
              </a:gs>
              <a:gs pos="100000">
                <a:srgbClr val="2F2F2F">
                  <a:alpha val="0"/>
                </a:srgbClr>
              </a:gs>
              <a:gs pos="44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grpSp>
        <p:nvGrpSpPr>
          <p:cNvPr id="21" name="组合 20"/>
          <p:cNvGrpSpPr/>
          <p:nvPr/>
        </p:nvGrpSpPr>
        <p:grpSpPr>
          <a:xfrm>
            <a:off x="4776952" y="1414102"/>
            <a:ext cx="360000" cy="360000"/>
            <a:chOff x="4359372" y="1220810"/>
            <a:chExt cx="360000" cy="360000"/>
          </a:xfrm>
        </p:grpSpPr>
        <p:sp>
          <p:nvSpPr>
            <p:cNvPr id="22" name="椭圆 21"/>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23" name="燕尾形 22"/>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24" name="燕尾形 23"/>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sp>
        <p:nvSpPr>
          <p:cNvPr id="25" name="文本框 24"/>
          <p:cNvSpPr txBox="1"/>
          <p:nvPr/>
        </p:nvSpPr>
        <p:spPr>
          <a:xfrm>
            <a:off x="662888" y="1431287"/>
            <a:ext cx="387096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Statistical correlation characteristics</a:t>
            </a:r>
          </a:p>
        </p:txBody>
      </p:sp>
      <p:sp>
        <p:nvSpPr>
          <p:cNvPr id="26" name="文本框 25"/>
          <p:cNvSpPr txBox="1"/>
          <p:nvPr/>
        </p:nvSpPr>
        <p:spPr>
          <a:xfrm>
            <a:off x="6032181" y="1419182"/>
            <a:ext cx="207200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Label construction</a:t>
            </a:r>
          </a:p>
        </p:txBody>
      </p:sp>
      <p:sp>
        <p:nvSpPr>
          <p:cNvPr id="27" name="文本框 26"/>
          <p:cNvSpPr txBox="1"/>
          <p:nvPr/>
        </p:nvSpPr>
        <p:spPr>
          <a:xfrm>
            <a:off x="9173845" y="1419225"/>
            <a:ext cx="335661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Comparison and Testing</a:t>
            </a:r>
          </a:p>
        </p:txBody>
      </p:sp>
      <p:grpSp>
        <p:nvGrpSpPr>
          <p:cNvPr id="28" name="组合 27"/>
          <p:cNvGrpSpPr/>
          <p:nvPr/>
        </p:nvGrpSpPr>
        <p:grpSpPr>
          <a:xfrm>
            <a:off x="8760219" y="1374731"/>
            <a:ext cx="360000" cy="360000"/>
            <a:chOff x="4359372" y="1220810"/>
            <a:chExt cx="360000" cy="360000"/>
          </a:xfrm>
        </p:grpSpPr>
        <p:sp>
          <p:nvSpPr>
            <p:cNvPr id="29" name="椭圆 28"/>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30" name="燕尾形 29"/>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31" name="燕尾形 30"/>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sp>
        <p:nvSpPr>
          <p:cNvPr id="32" name="圆角矩形 31"/>
          <p:cNvSpPr/>
          <p:nvPr/>
        </p:nvSpPr>
        <p:spPr bwMode="auto">
          <a:xfrm>
            <a:off x="5200650" y="1889760"/>
            <a:ext cx="3975735" cy="4511040"/>
          </a:xfrm>
          <a:prstGeom prst="roundRect">
            <a:avLst>
              <a:gd name="adj" fmla="val 2650"/>
            </a:avLst>
          </a:prstGeom>
          <a:noFill/>
          <a:ln w="9525" cap="flat" cmpd="sng" algn="ctr">
            <a:solidFill>
              <a:schemeClr val="accent2">
                <a:lumMod val="60000"/>
                <a:lumOff val="40000"/>
              </a:schemeClr>
            </a:solidFill>
            <a:prstDash val="lgDash"/>
            <a:round/>
            <a:headEnd type="none" w="med" len="med"/>
            <a:tailEnd type="none" w="med" len="med"/>
          </a:ln>
          <a:effectLst/>
        </p:spPr>
        <p:txBody>
          <a:bodyPr vert="horz" wrap="square" lIns="0" tIns="0" rIns="0" bIns="0" numCol="1" rtlCol="0" anchor="t" anchorCtr="0" compatLnSpc="1"/>
          <a:lstStyle/>
          <a:p>
            <a:pPr algn="ctr"/>
            <a:endParaRPr lang="zh-CN" altLang="en-US" sz="1400" dirty="0">
              <a:latin typeface="微软雅黑" panose="020B0503020204020204" charset="-122"/>
              <a:ea typeface="微软雅黑" panose="020B0503020204020204" charset="-122"/>
              <a:cs typeface="Calibri" panose="020F0502020204030204" charset="0"/>
            </a:endParaRPr>
          </a:p>
        </p:txBody>
      </p:sp>
      <p:grpSp>
        <p:nvGrpSpPr>
          <p:cNvPr id="33" name="组合 32"/>
          <p:cNvGrpSpPr/>
          <p:nvPr/>
        </p:nvGrpSpPr>
        <p:grpSpPr>
          <a:xfrm>
            <a:off x="9338310" y="4034790"/>
            <a:ext cx="2668410" cy="2278634"/>
            <a:chOff x="12847" y="5938"/>
            <a:chExt cx="6085" cy="3207"/>
          </a:xfrm>
        </p:grpSpPr>
        <p:cxnSp>
          <p:nvCxnSpPr>
            <p:cNvPr id="34" name="直线连接符 33"/>
            <p:cNvCxnSpPr/>
            <p:nvPr/>
          </p:nvCxnSpPr>
          <p:spPr>
            <a:xfrm rot="10800000">
              <a:off x="13072" y="5938"/>
              <a:ext cx="5669" cy="0"/>
            </a:xfrm>
            <a:prstGeom prst="line">
              <a:avLst/>
            </a:prstGeom>
            <a:solidFill>
              <a:srgbClr val="FFE699">
                <a:alpha val="80000"/>
              </a:srgbClr>
            </a:solidFill>
            <a:ln w="38100">
              <a:solidFill>
                <a:srgbClr val="FFE699">
                  <a:alpha val="80000"/>
                </a:srgb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左箭头 34"/>
            <p:cNvSpPr/>
            <p:nvPr/>
          </p:nvSpPr>
          <p:spPr>
            <a:xfrm rot="16200000" flipV="1">
              <a:off x="15700" y="5021"/>
              <a:ext cx="412" cy="2245"/>
            </a:xfrm>
            <a:prstGeom prst="leftArrow">
              <a:avLst/>
            </a:prstGeom>
            <a:solidFill>
              <a:srgbClr val="FFE69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36" name="文本框 35"/>
            <p:cNvSpPr txBox="1"/>
            <p:nvPr/>
          </p:nvSpPr>
          <p:spPr>
            <a:xfrm>
              <a:off x="12847" y="6509"/>
              <a:ext cx="6085" cy="2636"/>
            </a:xfrm>
            <a:prstGeom prst="roundRect">
              <a:avLst/>
            </a:prstGeom>
            <a:solidFill>
              <a:srgbClr val="FFE699">
                <a:alpha val="24000"/>
              </a:srgbClr>
            </a:solidFill>
          </p:spPr>
          <p:txBody>
            <a:bodyPr wrap="square" lIns="90000" rtlCol="0" anchor="ctr">
              <a:noAutofit/>
            </a:bodyPr>
            <a:lstStyle>
              <a:defPPr>
                <a:defRPr lang="zh-CN"/>
              </a:defPPr>
              <a:lvl1pPr algn="ctr">
                <a:defRPr kumimoji="1" sz="1600">
                  <a:solidFill>
                    <a:schemeClr val="bg1"/>
                  </a:solidFill>
                  <a:latin typeface="楷体" panose="02010609060101010101" pitchFamily="49" charset="-122"/>
                  <a:ea typeface="楷体" panose="02010609060101010101" pitchFamily="49" charset="-122"/>
                </a:defRPr>
              </a:lvl1pPr>
            </a:lstStyle>
            <a:p>
              <a:pPr marL="285750" indent="-285750" algn="l">
                <a:lnSpc>
                  <a:spcPct val="150000"/>
                </a:lnSpc>
                <a:buClrTx/>
                <a:buSzTx/>
                <a:buFont typeface="Arial" panose="020B0604020202020204" pitchFamily="34" charset="0"/>
                <a:buChar char="•"/>
              </a:pPr>
              <a:endParaRPr kumimoji="0" lang="en-US" altLang="zh-CN" sz="1200" b="0" i="0" u="none" strike="noStrike" kern="0" cap="none" spc="0" normalizeH="0" baseline="0" dirty="0">
                <a:solidFill>
                  <a:schemeClr val="tx1"/>
                </a:solidFill>
                <a:latin typeface="微软雅黑" panose="020B0503020204020204" charset="-122"/>
                <a:ea typeface="微软雅黑" panose="020B0503020204020204" charset="-122"/>
              </a:endParaRPr>
            </a:p>
          </p:txBody>
        </p:sp>
      </p:grpSp>
      <p:sp>
        <p:nvSpPr>
          <p:cNvPr id="37" name="文本框 36"/>
          <p:cNvSpPr txBox="1"/>
          <p:nvPr/>
        </p:nvSpPr>
        <p:spPr>
          <a:xfrm>
            <a:off x="9314815" y="2322195"/>
            <a:ext cx="2777490" cy="398780"/>
          </a:xfrm>
          <a:prstGeom prst="rect">
            <a:avLst/>
          </a:prstGeom>
          <a:noFill/>
        </p:spPr>
        <p:txBody>
          <a:bodyPr wrap="square" rtlCol="0">
            <a:spAutoFit/>
          </a:bodyPr>
          <a:lstStyle/>
          <a:p>
            <a:pPr lvl="0">
              <a:defRPr/>
            </a:pPr>
            <a:r>
              <a:rPr kumimoji="1" lang="en-US" altLang="zh-CN" sz="1000" dirty="0">
                <a:latin typeface="微软雅黑" panose="020B0503020204020204" charset="-122"/>
                <a:ea typeface="微软雅黑" panose="020B0503020204020204" charset="-122"/>
              </a:rPr>
              <a:t>Internal Structure: Implemented through the development of a LightGBM model.</a:t>
            </a:r>
            <a:endParaRPr kumimoji="1" lang="zh-CN" altLang="en-US" sz="1000" dirty="0">
              <a:latin typeface="微软雅黑" panose="020B0503020204020204" charset="-122"/>
              <a:ea typeface="微软雅黑" panose="020B0503020204020204" charset="-122"/>
            </a:endParaRPr>
          </a:p>
        </p:txBody>
      </p:sp>
      <p:grpSp>
        <p:nvGrpSpPr>
          <p:cNvPr id="38" name="组合 37"/>
          <p:cNvGrpSpPr/>
          <p:nvPr/>
        </p:nvGrpSpPr>
        <p:grpSpPr>
          <a:xfrm>
            <a:off x="9883406" y="2766527"/>
            <a:ext cx="1582656" cy="1122354"/>
            <a:chOff x="6034117" y="2724169"/>
            <a:chExt cx="5688560" cy="3309712"/>
          </a:xfrm>
        </p:grpSpPr>
        <p:pic>
          <p:nvPicPr>
            <p:cNvPr id="39" name="图片 38"/>
            <p:cNvPicPr>
              <a:picLocks noChangeAspect="1"/>
            </p:cNvPicPr>
            <p:nvPr>
              <p:custDataLst>
                <p:tags r:id="rId2"/>
              </p:custDataLst>
            </p:nvPr>
          </p:nvPicPr>
          <p:blipFill>
            <a:blip r:embed="rId4"/>
            <a:stretch>
              <a:fillRect/>
            </a:stretch>
          </p:blipFill>
          <p:spPr>
            <a:xfrm>
              <a:off x="6158368" y="2791048"/>
              <a:ext cx="1429255" cy="1260000"/>
            </a:xfrm>
            <a:prstGeom prst="rect">
              <a:avLst/>
            </a:prstGeom>
          </p:spPr>
        </p:pic>
        <p:pic>
          <p:nvPicPr>
            <p:cNvPr id="40" name="图片 39"/>
            <p:cNvPicPr>
              <a:picLocks noChangeAspect="1"/>
            </p:cNvPicPr>
            <p:nvPr/>
          </p:nvPicPr>
          <p:blipFill>
            <a:blip r:embed="rId4"/>
            <a:stretch>
              <a:fillRect/>
            </a:stretch>
          </p:blipFill>
          <p:spPr>
            <a:xfrm>
              <a:off x="8176190" y="2791048"/>
              <a:ext cx="1429255" cy="1260000"/>
            </a:xfrm>
            <a:prstGeom prst="rect">
              <a:avLst/>
            </a:prstGeom>
          </p:spPr>
        </p:pic>
        <p:pic>
          <p:nvPicPr>
            <p:cNvPr id="41" name="图片 40"/>
            <p:cNvPicPr>
              <a:picLocks noChangeAspect="1"/>
            </p:cNvPicPr>
            <p:nvPr/>
          </p:nvPicPr>
          <p:blipFill>
            <a:blip r:embed="rId4"/>
            <a:stretch>
              <a:fillRect/>
            </a:stretch>
          </p:blipFill>
          <p:spPr>
            <a:xfrm>
              <a:off x="10194013" y="2791048"/>
              <a:ext cx="1429255" cy="1260000"/>
            </a:xfrm>
            <a:prstGeom prst="rect">
              <a:avLst/>
            </a:prstGeom>
          </p:spPr>
        </p:pic>
        <p:pic>
          <p:nvPicPr>
            <p:cNvPr id="42" name="图片 41"/>
            <p:cNvPicPr>
              <a:picLocks noChangeAspect="1"/>
            </p:cNvPicPr>
            <p:nvPr/>
          </p:nvPicPr>
          <p:blipFill>
            <a:blip r:embed="rId4"/>
            <a:stretch>
              <a:fillRect/>
            </a:stretch>
          </p:blipFill>
          <p:spPr>
            <a:xfrm>
              <a:off x="6158368" y="4683881"/>
              <a:ext cx="1429255" cy="1260000"/>
            </a:xfrm>
            <a:prstGeom prst="rect">
              <a:avLst/>
            </a:prstGeom>
          </p:spPr>
        </p:pic>
        <p:pic>
          <p:nvPicPr>
            <p:cNvPr id="43" name="图片 42"/>
            <p:cNvPicPr>
              <a:picLocks noChangeAspect="1"/>
            </p:cNvPicPr>
            <p:nvPr/>
          </p:nvPicPr>
          <p:blipFill>
            <a:blip r:embed="rId4"/>
            <a:stretch>
              <a:fillRect/>
            </a:stretch>
          </p:blipFill>
          <p:spPr>
            <a:xfrm>
              <a:off x="10226570" y="4683881"/>
              <a:ext cx="1429255" cy="1260000"/>
            </a:xfrm>
            <a:prstGeom prst="rect">
              <a:avLst/>
            </a:prstGeom>
          </p:spPr>
        </p:pic>
        <p:sp>
          <p:nvSpPr>
            <p:cNvPr id="44" name="圆角矩形 43"/>
            <p:cNvSpPr/>
            <p:nvPr/>
          </p:nvSpPr>
          <p:spPr>
            <a:xfrm>
              <a:off x="6034117" y="2724169"/>
              <a:ext cx="1728000" cy="1440000"/>
            </a:xfrm>
            <a:prstGeom prst="roundRect">
              <a:avLst/>
            </a:prstGeom>
            <a:noFill/>
            <a:ln>
              <a:solidFill>
                <a:srgbClr val="FC863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45" name="圆角矩形 44"/>
            <p:cNvSpPr/>
            <p:nvPr/>
          </p:nvSpPr>
          <p:spPr>
            <a:xfrm>
              <a:off x="8014397" y="2724169"/>
              <a:ext cx="1728000" cy="1440000"/>
            </a:xfrm>
            <a:prstGeom prst="roundRect">
              <a:avLst/>
            </a:prstGeom>
            <a:noFill/>
            <a:ln>
              <a:solidFill>
                <a:srgbClr val="FC863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46" name="圆角矩形 45"/>
            <p:cNvSpPr/>
            <p:nvPr/>
          </p:nvSpPr>
          <p:spPr>
            <a:xfrm>
              <a:off x="9994677" y="2724169"/>
              <a:ext cx="1728000" cy="1440000"/>
            </a:xfrm>
            <a:prstGeom prst="roundRect">
              <a:avLst/>
            </a:prstGeom>
            <a:noFill/>
            <a:ln>
              <a:solidFill>
                <a:srgbClr val="FC863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47" name="圆角矩形 46"/>
            <p:cNvSpPr/>
            <p:nvPr/>
          </p:nvSpPr>
          <p:spPr>
            <a:xfrm>
              <a:off x="9994677" y="4593881"/>
              <a:ext cx="1728000" cy="1440000"/>
            </a:xfrm>
            <a:prstGeom prst="roundRect">
              <a:avLst/>
            </a:prstGeom>
            <a:noFill/>
            <a:ln>
              <a:solidFill>
                <a:srgbClr val="FC863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48" name="圆角矩形 47"/>
            <p:cNvSpPr/>
            <p:nvPr/>
          </p:nvSpPr>
          <p:spPr>
            <a:xfrm>
              <a:off x="6034117" y="4593881"/>
              <a:ext cx="1728000" cy="1440000"/>
            </a:xfrm>
            <a:prstGeom prst="roundRect">
              <a:avLst/>
            </a:prstGeom>
            <a:noFill/>
            <a:ln>
              <a:solidFill>
                <a:srgbClr val="FC863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cxnSp>
          <p:nvCxnSpPr>
            <p:cNvPr id="49" name="直线箭头连接符 48"/>
            <p:cNvCxnSpPr>
              <a:stCxn id="44" idx="3"/>
              <a:endCxn id="45" idx="1"/>
            </p:cNvCxnSpPr>
            <p:nvPr/>
          </p:nvCxnSpPr>
          <p:spPr>
            <a:xfrm>
              <a:off x="7762117" y="3444169"/>
              <a:ext cx="25228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49"/>
            <p:cNvCxnSpPr>
              <a:stCxn id="45" idx="3"/>
              <a:endCxn id="46" idx="1"/>
            </p:cNvCxnSpPr>
            <p:nvPr/>
          </p:nvCxnSpPr>
          <p:spPr>
            <a:xfrm>
              <a:off x="9742397" y="3444169"/>
              <a:ext cx="25228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a:stCxn id="46" idx="2"/>
              <a:endCxn id="47" idx="0"/>
            </p:cNvCxnSpPr>
            <p:nvPr/>
          </p:nvCxnSpPr>
          <p:spPr>
            <a:xfrm>
              <a:off x="10858677" y="4164169"/>
              <a:ext cx="0" cy="4297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51"/>
            <p:cNvCxnSpPr>
              <a:stCxn id="47" idx="1"/>
              <a:endCxn id="48" idx="3"/>
            </p:cNvCxnSpPr>
            <p:nvPr/>
          </p:nvCxnSpPr>
          <p:spPr>
            <a:xfrm flipH="1">
              <a:off x="7762117" y="5313881"/>
              <a:ext cx="223256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8625667" y="4975327"/>
              <a:ext cx="595306" cy="37897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endParaRPr kumimoji="1"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cxnSp>
        <p:nvCxnSpPr>
          <p:cNvPr id="2"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0" y="4445"/>
            <a:ext cx="8938895" cy="829945"/>
          </a:xfrm>
          <a:prstGeom prst="rect">
            <a:avLst/>
          </a:prstGeom>
          <a:noFill/>
        </p:spPr>
        <p:txBody>
          <a:bodyPr wrap="square" rtlCol="0">
            <a:spAutoFit/>
          </a:bodyPr>
          <a:lstStyle/>
          <a:p>
            <a:pPr algn="l">
              <a:buClrTx/>
              <a:buSzTx/>
              <a:buFontTx/>
            </a:pPr>
            <a:r>
              <a:rPr lang="en-US" altLang="zh-CN" sz="4800" b="1" kern="100" dirty="0">
                <a:solidFill>
                  <a:schemeClr val="accent1"/>
                </a:solidFill>
                <a:latin typeface="+mn-ea"/>
                <a:cs typeface="Times New Roman" panose="02020603050405020304" pitchFamily="18" charset="0"/>
              </a:rPr>
              <a:t>Feature Engineering</a:t>
            </a:r>
          </a:p>
        </p:txBody>
      </p:sp>
      <p:sp>
        <p:nvSpPr>
          <p:cNvPr id="4" name="文本框 3"/>
          <p:cNvSpPr txBox="1"/>
          <p:nvPr/>
        </p:nvSpPr>
        <p:spPr>
          <a:xfrm>
            <a:off x="9246235" y="4521835"/>
            <a:ext cx="2835910" cy="1536700"/>
          </a:xfrm>
          <a:prstGeom prst="rect">
            <a:avLst/>
          </a:prstGeom>
          <a:noFill/>
        </p:spPr>
        <p:txBody>
          <a:bodyPr wrap="square" rtlCol="0">
            <a:noAutofit/>
          </a:bodyPr>
          <a:lstStyle/>
          <a:p>
            <a:pPr marL="285750" indent="-285750" algn="l">
              <a:lnSpc>
                <a:spcPct val="150000"/>
              </a:lnSpc>
              <a:buClrTx/>
              <a:buSzTx/>
              <a:buFont typeface="Arial" panose="020B0604020202020204" pitchFamily="34" charset="0"/>
              <a:buChar char="•"/>
            </a:pPr>
            <a:r>
              <a:rPr lang="en-US" altLang="zh-CN" sz="1200" kern="0" dirty="0">
                <a:latin typeface="微软雅黑" panose="020B0503020204020204" charset="-122"/>
                <a:ea typeface="微软雅黑" panose="020B0503020204020204" charset="-122"/>
                <a:sym typeface="+mn-ea"/>
              </a:rPr>
              <a:t>After testing on the dataset and continuously optimizing the features and parameters used by the model, as well as employing five-fold cross-validation, (stage 1 score: 0.21)</a:t>
            </a:r>
            <a:endParaRPr kumimoji="0" lang="en-US" altLang="zh-CN" sz="1200" b="0" i="0" u="none" strike="noStrike" kern="0" cap="none" spc="0" normalizeH="0" baseline="0" dirty="0">
              <a:solidFill>
                <a:schemeClr val="tx1"/>
              </a:solidFill>
              <a:latin typeface="微软雅黑" panose="020B0503020204020204" charset="-122"/>
              <a:ea typeface="微软雅黑" panose="020B0503020204020204" charset="-122"/>
            </a:endParaRPr>
          </a:p>
          <a:p>
            <a:pPr marL="285750" indent="-285750" algn="l">
              <a:lnSpc>
                <a:spcPct val="150000"/>
              </a:lnSpc>
              <a:buClrTx/>
              <a:buSzTx/>
              <a:buFont typeface="Arial" panose="020B0604020202020204" pitchFamily="34" charset="0"/>
              <a:buChar char="•"/>
            </a:pPr>
            <a:endParaRPr lang="en-US" altLang="zh-CN" sz="1200" kern="0" dirty="0">
              <a:latin typeface="微软雅黑" panose="020B0503020204020204" charset="-122"/>
              <a:ea typeface="微软雅黑" panose="020B0503020204020204" charset="-122"/>
            </a:endParaRPr>
          </a:p>
        </p:txBody>
      </p:sp>
      <p:sp>
        <p:nvSpPr>
          <p:cNvPr id="7" name="文本框 6"/>
          <p:cNvSpPr txBox="1"/>
          <p:nvPr/>
        </p:nvSpPr>
        <p:spPr>
          <a:xfrm>
            <a:off x="914400" y="1925320"/>
            <a:ext cx="6096000" cy="337185"/>
          </a:xfrm>
          <a:prstGeom prst="rect">
            <a:avLst/>
          </a:prstGeom>
          <a:noFill/>
        </p:spPr>
        <p:txBody>
          <a:bodyPr wrap="square" rtlCol="0">
            <a:spAutoFit/>
          </a:bodyPr>
          <a:lstStyle/>
          <a:p>
            <a:pPr algn="l">
              <a:spcBef>
                <a:spcPts val="0"/>
              </a:spcBef>
              <a:spcAft>
                <a:spcPts val="0"/>
              </a:spcAft>
              <a:buClrTx/>
              <a:buSzTx/>
              <a:buFontTx/>
              <a:defRPr/>
            </a:pPr>
            <a:r>
              <a:rPr kumimoji="1" lang="en-US" altLang="zh-CN" sz="1600" b="1" noProof="0" dirty="0">
                <a:ln>
                  <a:noFill/>
                </a:ln>
                <a:effectLst/>
                <a:uLnTx/>
                <a:uFillTx/>
                <a:latin typeface="微软雅黑" panose="020B0503020204020204" charset="-122"/>
                <a:ea typeface="微软雅黑" panose="020B0503020204020204" charset="-122"/>
                <a:sym typeface="+mn-ea"/>
              </a:rPr>
              <a:t>From logs to predictable signals</a:t>
            </a:r>
            <a:endParaRPr kumimoji="1" lang="en-US" altLang="zh-CN" sz="1600" b="1" noProof="0" dirty="0">
              <a:ln>
                <a:noFill/>
              </a:ln>
              <a:effectLst/>
              <a:uLnTx/>
              <a:uFillTx/>
              <a:latin typeface="微软雅黑" panose="020B0503020204020204" charset="-122"/>
              <a:ea typeface="微软雅黑" panose="020B0503020204020204" charset="-122"/>
            </a:endParaRPr>
          </a:p>
        </p:txBody>
      </p:sp>
      <p:graphicFrame>
        <p:nvGraphicFramePr>
          <p:cNvPr id="60" name="表格 59"/>
          <p:cNvGraphicFramePr/>
          <p:nvPr/>
        </p:nvGraphicFramePr>
        <p:xfrm>
          <a:off x="853440" y="3329940"/>
          <a:ext cx="10485120" cy="140398"/>
        </p:xfrm>
        <a:graphic>
          <a:graphicData uri="http://schemas.openxmlformats.org/drawingml/2006/table">
            <a:tbl>
              <a:tblPr/>
              <a:tblGrid>
                <a:gridCol w="5242560">
                  <a:extLst>
                    <a:ext uri="{9D8B030D-6E8A-4147-A177-3AD203B41FA5}">
                      <a16:colId xmlns:a16="http://schemas.microsoft.com/office/drawing/2014/main" val="20000"/>
                    </a:ext>
                  </a:extLst>
                </a:gridCol>
                <a:gridCol w="5242560">
                  <a:extLst>
                    <a:ext uri="{9D8B030D-6E8A-4147-A177-3AD203B41FA5}">
                      <a16:colId xmlns:a16="http://schemas.microsoft.com/office/drawing/2014/main" val="20001"/>
                    </a:ext>
                  </a:extLst>
                </a:gridCol>
              </a:tblGrid>
              <a:tr h="0">
                <a:tc>
                  <a:txBody>
                    <a:bodyPr/>
                    <a:lstStyle/>
                    <a:p>
                      <a:pPr>
                        <a:lnSpc>
                          <a:spcPts val="600"/>
                        </a:lnSpc>
                      </a:pPr>
                      <a:endParaRPr lang="en-US" altLang="zh-CN" sz="1100" b="0" i="0">
                        <a:solidFill>
                          <a:srgbClr val="1A1C1E"/>
                        </a:solidFill>
                        <a:latin typeface="Google Sans Text"/>
                        <a:ea typeface="Google Sans Text"/>
                      </a:endParaRPr>
                    </a:p>
                  </a:txBody>
                  <a:tcPr marL="46037" marR="46037" marT="23177" marB="23177" anchor="ctr">
                    <a:lnL>
                      <a:noFill/>
                    </a:lnL>
                    <a:lnR>
                      <a:noFill/>
                    </a:lnR>
                    <a:lnT>
                      <a:noFill/>
                    </a:lnT>
                    <a:lnB>
                      <a:noFill/>
                    </a:lnB>
                    <a:noFill/>
                  </a:tcPr>
                </a:tc>
                <a:tc>
                  <a:txBody>
                    <a:bodyPr/>
                    <a:lstStyle/>
                    <a:p>
                      <a:pPr>
                        <a:lnSpc>
                          <a:spcPts val="600"/>
                        </a:lnSpc>
                      </a:pPr>
                      <a:endParaRPr sz="1100" b="0" i="0">
                        <a:solidFill>
                          <a:srgbClr val="1A1C1E"/>
                        </a:solidFill>
                        <a:latin typeface="Google Sans Text"/>
                        <a:ea typeface="Google Sans Text"/>
                      </a:endParaRPr>
                    </a:p>
                  </a:txBody>
                  <a:tcPr marL="46037" marR="46037" marT="23177" marB="23177"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sp>
        <p:nvSpPr>
          <p:cNvPr id="61" name="文本框 60"/>
          <p:cNvSpPr txBox="1"/>
          <p:nvPr/>
        </p:nvSpPr>
        <p:spPr>
          <a:xfrm>
            <a:off x="9372600" y="1913890"/>
            <a:ext cx="335661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Comparison and Testing</a:t>
            </a:r>
          </a:p>
        </p:txBody>
      </p:sp>
      <p:pic>
        <p:nvPicPr>
          <p:cNvPr id="5" name="Picture 1"/>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5730" y="734060"/>
            <a:ext cx="11918315" cy="5989955"/>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grpSp>
        <p:nvGrpSpPr>
          <p:cNvPr id="8" name="组合 7"/>
          <p:cNvGrpSpPr/>
          <p:nvPr/>
        </p:nvGrpSpPr>
        <p:grpSpPr>
          <a:xfrm>
            <a:off x="4262749" y="1419656"/>
            <a:ext cx="1468301" cy="2661920"/>
            <a:chOff x="3847256" y="1697999"/>
            <a:chExt cx="1468301" cy="2661920"/>
          </a:xfrm>
        </p:grpSpPr>
        <p:sp>
          <p:nvSpPr>
            <p:cNvPr id="12" name="梯形 11"/>
            <p:cNvSpPr/>
            <p:nvPr/>
          </p:nvSpPr>
          <p:spPr>
            <a:xfrm rot="5400000">
              <a:off x="3250446" y="2294808"/>
              <a:ext cx="2661920" cy="1468301"/>
            </a:xfrm>
            <a:prstGeom prst="trapezoid">
              <a:avLst>
                <a:gd name="adj" fmla="val 62705"/>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3907122" y="2890248"/>
              <a:ext cx="1356689" cy="306705"/>
            </a:xfrm>
            <a:prstGeom prst="rect">
              <a:avLst/>
            </a:prstGeom>
            <a:noFill/>
          </p:spPr>
          <p:txBody>
            <a:bodyPr wrap="square" rtlCol="0">
              <a:spAutoFit/>
            </a:bodyPr>
            <a:lstStyle/>
            <a:p>
              <a:r>
                <a:rPr lang="en-US" altLang="zh-CN" sz="1400" b="1" i="1" dirty="0">
                  <a:latin typeface="微软雅黑" panose="020B0503020204020204" charset="-122"/>
                  <a:ea typeface="微软雅黑" panose="020B0503020204020204" charset="-122"/>
                </a:rPr>
                <a:t>LGMB Model</a:t>
              </a:r>
              <a:endParaRPr lang="zh-CN" altLang="en-US" sz="1400" b="1" i="1" dirty="0">
                <a:latin typeface="微软雅黑" panose="020B0503020204020204" charset="-122"/>
                <a:ea typeface="微软雅黑" panose="020B0503020204020204" charset="-122"/>
              </a:endParaRPr>
            </a:p>
          </p:txBody>
        </p:sp>
      </p:grpSp>
      <p:cxnSp>
        <p:nvCxnSpPr>
          <p:cNvPr id="14" name="直接箭头连接符 13"/>
          <p:cNvCxnSpPr>
            <a:endCxn id="21" idx="1"/>
          </p:cNvCxnSpPr>
          <p:nvPr/>
        </p:nvCxnSpPr>
        <p:spPr>
          <a:xfrm>
            <a:off x="5731050" y="2750616"/>
            <a:ext cx="1322705" cy="76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554741" y="2519782"/>
            <a:ext cx="1768566" cy="460375"/>
          </a:xfrm>
          <a:prstGeom prst="rect">
            <a:avLst/>
          </a:prstGeom>
          <a:noFill/>
        </p:spPr>
        <p:txBody>
          <a:bodyPr wrap="square" rtlCol="0">
            <a:spAutoFit/>
          </a:bodyPr>
          <a:lstStyle/>
          <a:p>
            <a:pPr algn="ctr"/>
            <a:r>
              <a:rPr lang="zh-CN" altLang="en-US" sz="1200" dirty="0">
                <a:latin typeface="微软雅黑" panose="020B0503020204020204" charset="-122"/>
                <a:ea typeface="微软雅黑" panose="020B0503020204020204" charset="-122"/>
              </a:rPr>
              <a:t>多窗口</a:t>
            </a:r>
          </a:p>
          <a:p>
            <a:pPr algn="ctr"/>
            <a:r>
              <a:rPr lang="zh-CN" altLang="en-US" sz="1200" dirty="0">
                <a:latin typeface="微软雅黑" panose="020B0503020204020204" charset="-122"/>
                <a:ea typeface="微软雅黑" panose="020B0503020204020204" charset="-122"/>
              </a:rPr>
              <a:t>融合</a:t>
            </a:r>
          </a:p>
        </p:txBody>
      </p:sp>
      <p:grpSp>
        <p:nvGrpSpPr>
          <p:cNvPr id="40" name="组合 39"/>
          <p:cNvGrpSpPr/>
          <p:nvPr/>
        </p:nvGrpSpPr>
        <p:grpSpPr>
          <a:xfrm>
            <a:off x="802939" y="994244"/>
            <a:ext cx="1424640" cy="3533135"/>
            <a:chOff x="41241" y="1118815"/>
            <a:chExt cx="1404601" cy="3533135"/>
          </a:xfrm>
        </p:grpSpPr>
        <p:sp>
          <p:nvSpPr>
            <p:cNvPr id="16" name="流程图: 磁盘 15"/>
            <p:cNvSpPr/>
            <p:nvPr/>
          </p:nvSpPr>
          <p:spPr>
            <a:xfrm>
              <a:off x="41241" y="1118815"/>
              <a:ext cx="1107440" cy="924560"/>
            </a:xfrm>
            <a:prstGeom prst="flowChartMagneticDisk">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i="1" dirty="0">
                  <a:solidFill>
                    <a:schemeClr val="tx1"/>
                  </a:solidFill>
                  <a:latin typeface="微软雅黑" panose="020B0503020204020204" charset="-122"/>
                  <a:ea typeface="微软雅黑" panose="020B0503020204020204" charset="-122"/>
                </a:rPr>
                <a:t>Memory Address Log</a:t>
              </a:r>
              <a:endParaRPr lang="zh-CN" altLang="en-US" sz="1200" i="1" dirty="0">
                <a:solidFill>
                  <a:schemeClr val="tx1"/>
                </a:solidFill>
                <a:latin typeface="微软雅黑" panose="020B0503020204020204" charset="-122"/>
                <a:ea typeface="微软雅黑" panose="020B0503020204020204" charset="-122"/>
              </a:endParaRPr>
            </a:p>
          </p:txBody>
        </p:sp>
        <p:sp>
          <p:nvSpPr>
            <p:cNvPr id="17" name="流程图: 磁盘 16"/>
            <p:cNvSpPr/>
            <p:nvPr/>
          </p:nvSpPr>
          <p:spPr>
            <a:xfrm>
              <a:off x="41241" y="2423102"/>
              <a:ext cx="1107440" cy="924560"/>
            </a:xfrm>
            <a:prstGeom prst="flowChartMagneticDisk">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i="1" dirty="0">
                  <a:solidFill>
                    <a:schemeClr val="tx1"/>
                  </a:solidFill>
                  <a:latin typeface="微软雅黑" panose="020B0503020204020204" charset="-122"/>
                  <a:ea typeface="微软雅黑" panose="020B0503020204020204" charset="-122"/>
                </a:rPr>
                <a:t>MCE Log</a:t>
              </a:r>
              <a:endParaRPr lang="zh-CN" altLang="en-US" sz="1200" i="1" dirty="0">
                <a:solidFill>
                  <a:schemeClr val="tx1"/>
                </a:solidFill>
                <a:latin typeface="微软雅黑" panose="020B0503020204020204" charset="-122"/>
                <a:ea typeface="微软雅黑" panose="020B0503020204020204" charset="-122"/>
              </a:endParaRPr>
            </a:p>
          </p:txBody>
        </p:sp>
        <p:sp>
          <p:nvSpPr>
            <p:cNvPr id="39" name="流程图: 磁盘 38"/>
            <p:cNvSpPr/>
            <p:nvPr/>
          </p:nvSpPr>
          <p:spPr>
            <a:xfrm>
              <a:off x="41241" y="3727390"/>
              <a:ext cx="1107440" cy="924560"/>
            </a:xfrm>
            <a:prstGeom prst="flowChartMagneticDisk">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i="1" dirty="0">
                  <a:solidFill>
                    <a:schemeClr val="tx1"/>
                  </a:solidFill>
                  <a:latin typeface="微软雅黑" panose="020B0503020204020204" charset="-122"/>
                  <a:ea typeface="微软雅黑" panose="020B0503020204020204" charset="-122"/>
                </a:rPr>
                <a:t>Kernel Log</a:t>
              </a:r>
              <a:endParaRPr lang="zh-CN" altLang="en-US" sz="1200" i="1" dirty="0">
                <a:solidFill>
                  <a:schemeClr val="tx1"/>
                </a:solidFill>
                <a:latin typeface="微软雅黑" panose="020B0503020204020204" charset="-122"/>
                <a:ea typeface="微软雅黑" panose="020B0503020204020204" charset="-122"/>
              </a:endParaRPr>
            </a:p>
          </p:txBody>
        </p:sp>
        <p:cxnSp>
          <p:nvCxnSpPr>
            <p:cNvPr id="22" name="连接符: 肘形 21"/>
            <p:cNvCxnSpPr>
              <a:stCxn id="16" idx="4"/>
              <a:endCxn id="41" idx="1"/>
            </p:cNvCxnSpPr>
            <p:nvPr/>
          </p:nvCxnSpPr>
          <p:spPr>
            <a:xfrm>
              <a:off x="1148460" y="1581261"/>
              <a:ext cx="297382" cy="1299210"/>
            </a:xfrm>
            <a:prstGeom prst="bentConnector3">
              <a:avLst>
                <a:gd name="adj1" fmla="val 5000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文本框 51"/>
          <p:cNvSpPr txBox="1"/>
          <p:nvPr/>
        </p:nvSpPr>
        <p:spPr>
          <a:xfrm>
            <a:off x="3670300" y="4625340"/>
            <a:ext cx="3312795" cy="1769745"/>
          </a:xfrm>
          <a:prstGeom prst="rect">
            <a:avLst/>
          </a:prstGeom>
          <a:noFill/>
        </p:spPr>
        <p:txBody>
          <a:bodyPr wrap="square" rtlCol="0">
            <a:spAutoFit/>
          </a:bodyPr>
          <a:lstStyle/>
          <a:p>
            <a:pPr>
              <a:lnSpc>
                <a:spcPct val="130000"/>
              </a:lnSpc>
            </a:pPr>
            <a:r>
              <a:rPr lang="en-US" altLang="zh-CN" sz="1200" b="1" i="1" dirty="0">
                <a:latin typeface="微软雅黑" panose="020B0503020204020204" charset="-122"/>
                <a:ea typeface="微软雅黑" panose="020B0503020204020204" charset="-122"/>
              </a:rPr>
              <a:t>Stage 1(Machine Learnning): </a:t>
            </a:r>
          </a:p>
          <a:p>
            <a:pPr>
              <a:lnSpc>
                <a:spcPct val="130000"/>
              </a:lnSpc>
            </a:pPr>
            <a:r>
              <a:rPr lang="en-US" altLang="zh-CN" sz="1200" dirty="0">
                <a:latin typeface="微软雅黑" panose="020B0503020204020204" charset="-122"/>
                <a:ea typeface="微软雅黑" panose="020B0503020204020204" charset="-122"/>
              </a:rPr>
              <a:t>Using a regression model, based on the information within a machine's specified window and historical log data, we determine the probability of the machine experiencing a failure within the next 7 days following that window.</a:t>
            </a:r>
          </a:p>
        </p:txBody>
      </p:sp>
      <p:sp>
        <p:nvSpPr>
          <p:cNvPr id="53" name="文本框 52"/>
          <p:cNvSpPr txBox="1"/>
          <p:nvPr/>
        </p:nvSpPr>
        <p:spPr>
          <a:xfrm>
            <a:off x="6698615" y="4629150"/>
            <a:ext cx="3015615" cy="1529715"/>
          </a:xfrm>
          <a:prstGeom prst="rect">
            <a:avLst/>
          </a:prstGeom>
          <a:noFill/>
        </p:spPr>
        <p:txBody>
          <a:bodyPr wrap="square" rtlCol="0">
            <a:spAutoFit/>
          </a:bodyPr>
          <a:lstStyle/>
          <a:p>
            <a:pPr algn="just">
              <a:lnSpc>
                <a:spcPct val="130000"/>
              </a:lnSpc>
            </a:pPr>
            <a:r>
              <a:rPr lang="en-US" altLang="zh-CN" sz="1200" b="1" i="1" dirty="0">
                <a:latin typeface="微软雅黑" panose="020B0503020204020204" charset="-122"/>
                <a:ea typeface="微软雅黑" panose="020B0503020204020204" charset="-122"/>
              </a:rPr>
              <a:t>Stage 2( Multi-window fusion Stage):</a:t>
            </a:r>
          </a:p>
          <a:p>
            <a:pPr algn="just">
              <a:lnSpc>
                <a:spcPct val="130000"/>
              </a:lnSpc>
            </a:pPr>
            <a:r>
              <a:rPr lang="en-US" altLang="zh-CN" sz="1200" dirty="0">
                <a:latin typeface="微软雅黑" panose="020B0503020204020204" charset="-122"/>
                <a:ea typeface="微软雅黑" panose="020B0503020204020204" charset="-122"/>
              </a:rPr>
              <a:t>Further utilize the regression model to derive judgment results across multiple windows. Achieve the fusion of multi-perspective results across different sliding windows.</a:t>
            </a:r>
          </a:p>
        </p:txBody>
      </p:sp>
      <p:graphicFrame>
        <p:nvGraphicFramePr>
          <p:cNvPr id="36" name="表格 35"/>
          <p:cNvGraphicFramePr>
            <a:graphicFrameLocks noGrp="1"/>
          </p:cNvGraphicFramePr>
          <p:nvPr/>
        </p:nvGraphicFramePr>
        <p:xfrm>
          <a:off x="9229206" y="1561836"/>
          <a:ext cx="2683174" cy="1854200"/>
        </p:xfrm>
        <a:graphic>
          <a:graphicData uri="http://schemas.openxmlformats.org/drawingml/2006/table">
            <a:tbl>
              <a:tblPr firstRow="1" bandRow="1">
                <a:tableStyleId>{5C22544A-7EE6-4342-B048-85BDC9FD1C3A}</a:tableStyleId>
              </a:tblPr>
              <a:tblGrid>
                <a:gridCol w="1341587">
                  <a:extLst>
                    <a:ext uri="{9D8B030D-6E8A-4147-A177-3AD203B41FA5}">
                      <a16:colId xmlns:a16="http://schemas.microsoft.com/office/drawing/2014/main" val="20000"/>
                    </a:ext>
                  </a:extLst>
                </a:gridCol>
                <a:gridCol w="1341587">
                  <a:extLst>
                    <a:ext uri="{9D8B030D-6E8A-4147-A177-3AD203B41FA5}">
                      <a16:colId xmlns:a16="http://schemas.microsoft.com/office/drawing/2014/main" val="20001"/>
                    </a:ext>
                  </a:extLst>
                </a:gridCol>
              </a:tblGrid>
              <a:tr h="370840">
                <a:tc>
                  <a:txBody>
                    <a:bodyPr/>
                    <a:lstStyle/>
                    <a:p>
                      <a:pPr algn="ctr"/>
                      <a:r>
                        <a:rPr lang="en-US" altLang="zh-CN" sz="1200" dirty="0">
                          <a:solidFill>
                            <a:schemeClr val="bg1"/>
                          </a:solidFill>
                          <a:latin typeface="微软雅黑" panose="020B0503020204020204" charset="-122"/>
                          <a:ea typeface="微软雅黑" panose="020B0503020204020204" charset="-122"/>
                        </a:rPr>
                        <a:t>Serial Number</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tx1">
                        <a:lumMod val="95000"/>
                        <a:lumOff val="5000"/>
                      </a:schemeClr>
                    </a:solidFill>
                  </a:tcPr>
                </a:tc>
                <a:tc>
                  <a:txBody>
                    <a:bodyPr/>
                    <a:lstStyle/>
                    <a:p>
                      <a:pPr algn="ctr"/>
                      <a:r>
                        <a:rPr lang="en-US" altLang="zh-CN" sz="1200" dirty="0">
                          <a:solidFill>
                            <a:schemeClr val="bg1"/>
                          </a:solidFill>
                          <a:latin typeface="微软雅黑" panose="020B0503020204020204" charset="-122"/>
                          <a:ea typeface="微软雅黑" panose="020B0503020204020204" charset="-122"/>
                        </a:rPr>
                        <a:t>Fault Time</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tx1">
                        <a:lumMod val="95000"/>
                        <a:lumOff val="5000"/>
                      </a:schemeClr>
                    </a:solidFill>
                  </a:tcPr>
                </a:tc>
                <a:extLst>
                  <a:ext uri="{0D108BD9-81ED-4DB2-BD59-A6C34878D82A}">
                    <a16:rowId xmlns:a16="http://schemas.microsoft.com/office/drawing/2014/main" val="10000"/>
                  </a:ext>
                </a:extLst>
              </a:tr>
              <a:tr h="370840">
                <a:tc>
                  <a:txBody>
                    <a:bodyPr/>
                    <a:lstStyle/>
                    <a:p>
                      <a:pPr algn="ctr" fontAlgn="ctr"/>
                      <a:r>
                        <a:rPr lang="en-US" altLang="zh-CN" sz="1200" b="1" i="1" dirty="0"/>
                        <a:t>sn_32644</a:t>
                      </a:r>
                    </a:p>
                  </a:txBody>
                  <a:tcPr marL="4127" marR="4127" marT="4127" marB="0" anchor="ctr">
                    <a:solidFill>
                      <a:schemeClr val="bg1">
                        <a:lumMod val="85000"/>
                      </a:schemeClr>
                    </a:solidFill>
                  </a:tcPr>
                </a:tc>
                <a:tc>
                  <a:txBody>
                    <a:bodyPr/>
                    <a:lstStyle/>
                    <a:p>
                      <a:pPr algn="ctr" fontAlgn="ctr">
                        <a:buClrTx/>
                        <a:buSzTx/>
                        <a:buFontTx/>
                      </a:pPr>
                      <a:r>
                        <a:rPr lang="en-US" altLang="zh-CN" sz="1200" b="1" i="1" dirty="0"/>
                        <a:t>1722945465</a:t>
                      </a:r>
                    </a:p>
                  </a:txBody>
                  <a:tcPr marL="4127" marR="4127" marT="4127" marB="0" anchor="ctr">
                    <a:solidFill>
                      <a:schemeClr val="bg1">
                        <a:lumMod val="85000"/>
                      </a:schemeClr>
                    </a:solidFill>
                  </a:tcPr>
                </a:tc>
                <a:extLst>
                  <a:ext uri="{0D108BD9-81ED-4DB2-BD59-A6C34878D82A}">
                    <a16:rowId xmlns:a16="http://schemas.microsoft.com/office/drawing/2014/main" val="10001"/>
                  </a:ext>
                </a:extLst>
              </a:tr>
              <a:tr h="370840">
                <a:tc>
                  <a:txBody>
                    <a:bodyPr/>
                    <a:lstStyle/>
                    <a:p>
                      <a:pPr algn="ctr" fontAlgn="ctr"/>
                      <a:r>
                        <a:rPr lang="en-US" altLang="zh-CN" sz="1200" b="1" i="1" dirty="0"/>
                        <a:t>sn_53527</a:t>
                      </a:r>
                    </a:p>
                  </a:txBody>
                  <a:tcPr marL="4127" marR="4127" marT="4127" marB="0" anchor="ctr">
                    <a:solidFill>
                      <a:schemeClr val="bg1">
                        <a:lumMod val="85000"/>
                      </a:schemeClr>
                    </a:solidFill>
                  </a:tcPr>
                </a:tc>
                <a:tc>
                  <a:txBody>
                    <a:bodyPr/>
                    <a:lstStyle/>
                    <a:p>
                      <a:pPr algn="ctr" fontAlgn="ctr">
                        <a:buClrTx/>
                        <a:buSzTx/>
                        <a:buFontTx/>
                      </a:pPr>
                      <a:r>
                        <a:rPr lang="en-US" altLang="zh-CN" sz="1200" b="1" i="1" dirty="0"/>
                        <a:t>1725607371</a:t>
                      </a:r>
                    </a:p>
                  </a:txBody>
                  <a:tcPr marL="4127" marR="4127" marT="4127" marB="0" anchor="ctr">
                    <a:solidFill>
                      <a:schemeClr val="bg1">
                        <a:lumMod val="85000"/>
                      </a:schemeClr>
                    </a:solidFill>
                  </a:tcPr>
                </a:tc>
                <a:extLst>
                  <a:ext uri="{0D108BD9-81ED-4DB2-BD59-A6C34878D82A}">
                    <a16:rowId xmlns:a16="http://schemas.microsoft.com/office/drawing/2014/main" val="10002"/>
                  </a:ext>
                </a:extLst>
              </a:tr>
              <a:tr h="370840">
                <a:tc>
                  <a:txBody>
                    <a:bodyPr/>
                    <a:lstStyle/>
                    <a:p>
                      <a:pPr algn="ctr" fontAlgn="ctr"/>
                      <a:r>
                        <a:rPr lang="en-US" altLang="zh-CN" sz="1200" b="1" i="1" dirty="0"/>
                        <a:t>....</a:t>
                      </a:r>
                    </a:p>
                  </a:txBody>
                  <a:tcPr marL="4127" marR="4127" marT="4127" marB="0" anchor="ctr">
                    <a:solidFill>
                      <a:schemeClr val="bg1">
                        <a:lumMod val="85000"/>
                      </a:schemeClr>
                    </a:solidFill>
                  </a:tcPr>
                </a:tc>
                <a:tc>
                  <a:txBody>
                    <a:bodyPr/>
                    <a:lstStyle/>
                    <a:p>
                      <a:pPr algn="ctr" fontAlgn="ctr">
                        <a:buClrTx/>
                        <a:buSzTx/>
                        <a:buFontTx/>
                      </a:pPr>
                      <a:r>
                        <a:rPr lang="en-US" altLang="zh-CN" sz="1200" b="1" i="1" dirty="0"/>
                        <a:t>....</a:t>
                      </a:r>
                    </a:p>
                  </a:txBody>
                  <a:tcPr marL="4127" marR="4127" marT="4127" marB="0" anchor="ctr">
                    <a:solidFill>
                      <a:schemeClr val="bg1">
                        <a:lumMod val="85000"/>
                      </a:schemeClr>
                    </a:solidFill>
                  </a:tcPr>
                </a:tc>
                <a:extLst>
                  <a:ext uri="{0D108BD9-81ED-4DB2-BD59-A6C34878D82A}">
                    <a16:rowId xmlns:a16="http://schemas.microsoft.com/office/drawing/2014/main" val="10003"/>
                  </a:ext>
                </a:extLst>
              </a:tr>
              <a:tr h="370840">
                <a:tc>
                  <a:txBody>
                    <a:bodyPr/>
                    <a:lstStyle/>
                    <a:p>
                      <a:pPr algn="ctr" fontAlgn="ctr"/>
                      <a:r>
                        <a:rPr lang="en-US" altLang="zh-CN" sz="1200" b="1" i="1" dirty="0"/>
                        <a:t>sn_65571</a:t>
                      </a:r>
                    </a:p>
                  </a:txBody>
                  <a:tcPr marL="4127" marR="4127" marT="4127" marB="0" anchor="ctr">
                    <a:solidFill>
                      <a:schemeClr val="bg1">
                        <a:lumMod val="85000"/>
                      </a:schemeClr>
                    </a:solidFill>
                  </a:tcPr>
                </a:tc>
                <a:tc>
                  <a:txBody>
                    <a:bodyPr/>
                    <a:lstStyle/>
                    <a:p>
                      <a:pPr algn="ctr" fontAlgn="ctr">
                        <a:buClrTx/>
                        <a:buSzTx/>
                        <a:buFontTx/>
                      </a:pPr>
                      <a:r>
                        <a:rPr lang="en-US" altLang="zh-CN" sz="1200" b="1" i="1" dirty="0"/>
                        <a:t>1723834531</a:t>
                      </a:r>
                    </a:p>
                  </a:txBody>
                  <a:tcPr marL="4127" marR="4127" marT="4127"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41" name="矩形: 圆角 40"/>
          <p:cNvSpPr/>
          <p:nvPr/>
        </p:nvSpPr>
        <p:spPr>
          <a:xfrm>
            <a:off x="2227616" y="2387045"/>
            <a:ext cx="1628210" cy="736944"/>
          </a:xfrm>
          <a:prstGeom prst="round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charset="-122"/>
                <a:ea typeface="微软雅黑" panose="020B0503020204020204" charset="-122"/>
              </a:rPr>
              <a:t>Feature Engineering</a:t>
            </a:r>
            <a:endParaRPr lang="zh-CN" altLang="en-US" sz="1400" b="1" dirty="0">
              <a:solidFill>
                <a:schemeClr val="tx1"/>
              </a:solidFill>
              <a:latin typeface="微软雅黑" panose="020B0503020204020204" charset="-122"/>
              <a:ea typeface="微软雅黑" panose="020B0503020204020204" charset="-122"/>
            </a:endParaRPr>
          </a:p>
        </p:txBody>
      </p:sp>
      <p:cxnSp>
        <p:nvCxnSpPr>
          <p:cNvPr id="48" name="直接箭头连接符 47"/>
          <p:cNvCxnSpPr>
            <a:endCxn id="41" idx="1"/>
          </p:cNvCxnSpPr>
          <p:nvPr/>
        </p:nvCxnSpPr>
        <p:spPr>
          <a:xfrm flipV="1">
            <a:off x="1926179" y="2755517"/>
            <a:ext cx="301437" cy="52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连接符: 肘形 50"/>
          <p:cNvCxnSpPr>
            <a:endCxn id="41" idx="1"/>
          </p:cNvCxnSpPr>
          <p:nvPr/>
        </p:nvCxnSpPr>
        <p:spPr>
          <a:xfrm flipV="1">
            <a:off x="1926179" y="2755517"/>
            <a:ext cx="301437" cy="130958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41" idx="3"/>
          </p:cNvCxnSpPr>
          <p:nvPr/>
        </p:nvCxnSpPr>
        <p:spPr>
          <a:xfrm flipV="1">
            <a:off x="3855826" y="2751072"/>
            <a:ext cx="407035" cy="50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矩形: 圆角 66"/>
          <p:cNvSpPr/>
          <p:nvPr/>
        </p:nvSpPr>
        <p:spPr>
          <a:xfrm>
            <a:off x="683034" y="878600"/>
            <a:ext cx="3285359" cy="3772834"/>
          </a:xfrm>
          <a:prstGeom prst="roundRect">
            <a:avLst>
              <a:gd name="adj" fmla="val 8274"/>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82"/>
          <p:cNvSpPr/>
          <p:nvPr/>
        </p:nvSpPr>
        <p:spPr>
          <a:xfrm>
            <a:off x="4111056" y="878600"/>
            <a:ext cx="1772143" cy="3772834"/>
          </a:xfrm>
          <a:prstGeom prst="roundRect">
            <a:avLst>
              <a:gd name="adj" fmla="val 8274"/>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83"/>
          <p:cNvSpPr/>
          <p:nvPr/>
        </p:nvSpPr>
        <p:spPr>
          <a:xfrm>
            <a:off x="6970761" y="878600"/>
            <a:ext cx="1772143" cy="3772834"/>
          </a:xfrm>
          <a:prstGeom prst="roundRect">
            <a:avLst>
              <a:gd name="adj" fmla="val 8274"/>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p:cNvSpPr txBox="1"/>
          <p:nvPr/>
        </p:nvSpPr>
        <p:spPr>
          <a:xfrm>
            <a:off x="640715" y="4680585"/>
            <a:ext cx="3215005" cy="1290320"/>
          </a:xfrm>
          <a:prstGeom prst="rect">
            <a:avLst/>
          </a:prstGeom>
          <a:noFill/>
        </p:spPr>
        <p:txBody>
          <a:bodyPr wrap="square" rtlCol="0">
            <a:spAutoFit/>
          </a:bodyPr>
          <a:lstStyle/>
          <a:p>
            <a:pPr>
              <a:lnSpc>
                <a:spcPct val="130000"/>
              </a:lnSpc>
            </a:pPr>
            <a:r>
              <a:rPr lang="en-US" altLang="zh-CN" sz="1200" b="1" i="1" dirty="0">
                <a:latin typeface="微软雅黑" panose="020B0503020204020204" charset="-122"/>
                <a:ea typeface="微软雅黑" panose="020B0503020204020204" charset="-122"/>
              </a:rPr>
              <a:t>Stage 0(Feature Engineering Stage): </a:t>
            </a:r>
            <a:r>
              <a:rPr lang="en-US" altLang="zh-CN" sz="1200" dirty="0">
                <a:latin typeface="微软雅黑" panose="020B0503020204020204" charset="-122"/>
                <a:ea typeface="微软雅黑" panose="020B0503020204020204" charset="-122"/>
              </a:rPr>
              <a:t>Real-time extraction of frequency statistics and principle-based features from logs to form the training/testing data.</a:t>
            </a:r>
          </a:p>
        </p:txBody>
      </p:sp>
      <p:sp>
        <p:nvSpPr>
          <p:cNvPr id="21" name="矩形: 圆角 28"/>
          <p:cNvSpPr/>
          <p:nvPr/>
        </p:nvSpPr>
        <p:spPr>
          <a:xfrm>
            <a:off x="7053711" y="2389692"/>
            <a:ext cx="1628210" cy="736944"/>
          </a:xfrm>
          <a:prstGeom prst="round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charset="-122"/>
                <a:ea typeface="微软雅黑" panose="020B0503020204020204" charset="-122"/>
              </a:rPr>
              <a:t>Voting </a:t>
            </a:r>
          </a:p>
          <a:p>
            <a:pPr algn="ctr"/>
            <a:r>
              <a:rPr lang="en-US" altLang="zh-CN" sz="1400" b="1" dirty="0">
                <a:solidFill>
                  <a:schemeClr val="tx1"/>
                </a:solidFill>
                <a:latin typeface="微软雅黑" panose="020B0503020204020204" charset="-122"/>
                <a:ea typeface="微软雅黑" panose="020B0503020204020204" charset="-122"/>
              </a:rPr>
              <a:t>Moudle</a:t>
            </a:r>
          </a:p>
        </p:txBody>
      </p:sp>
      <p:sp>
        <p:nvSpPr>
          <p:cNvPr id="37" name="箭头: 右 36"/>
          <p:cNvSpPr/>
          <p:nvPr/>
        </p:nvSpPr>
        <p:spPr>
          <a:xfrm>
            <a:off x="8681886" y="2568913"/>
            <a:ext cx="567027" cy="338554"/>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0" y="4445"/>
            <a:ext cx="8938895" cy="829945"/>
          </a:xfrm>
          <a:prstGeom prst="rect">
            <a:avLst/>
          </a:prstGeom>
          <a:noFill/>
        </p:spPr>
        <p:txBody>
          <a:bodyPr wrap="square" rtlCol="0">
            <a:spAutoFit/>
          </a:bodyPr>
          <a:lstStyle/>
          <a:p>
            <a:pPr algn="l"/>
            <a:r>
              <a:rPr lang="en-US" altLang="zh-CN" sz="4800" b="1" kern="100" dirty="0">
                <a:solidFill>
                  <a:schemeClr val="accent1"/>
                </a:solidFill>
                <a:latin typeface="+mn-ea"/>
                <a:cs typeface="Times New Roman" panose="02020603050405020304" pitchFamily="18" charset="0"/>
                <a:sym typeface="+mn-ea"/>
              </a:rPr>
              <a:t>Multi-window Fusion</a:t>
            </a:r>
            <a:endParaRPr lang="en-US" altLang="zh-CN" sz="4800" b="1" kern="100" dirty="0">
              <a:solidFill>
                <a:schemeClr val="accent1"/>
              </a:solidFill>
              <a:latin typeface="+mn-ea"/>
              <a:cs typeface="Times New Roman" panose="02020603050405020304" pitchFamily="18" charset="0"/>
            </a:endParaRPr>
          </a:p>
        </p:txBody>
      </p:sp>
      <p:pic>
        <p:nvPicPr>
          <p:cNvPr id="7" name="Picture 1"/>
          <p:cNvPicPr>
            <a:picLocks noChangeAspect="1" noChangeArrowheads="1"/>
          </p:cNvPicPr>
          <p:nvPr>
            <p:custDataLst>
              <p:tags r:id="rId1"/>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25730" y="734060"/>
            <a:ext cx="11918315" cy="5989955"/>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pic>
        <p:nvPicPr>
          <p:cNvPr id="22" name="图片 21"/>
          <p:cNvPicPr>
            <a:picLocks noChangeAspect="1"/>
          </p:cNvPicPr>
          <p:nvPr>
            <p:custDataLst>
              <p:tags r:id="rId1"/>
            </p:custDataLst>
          </p:nvPr>
        </p:nvPicPr>
        <p:blipFill>
          <a:blip r:embed="rId5"/>
          <a:stretch>
            <a:fillRect/>
          </a:stretch>
        </p:blipFill>
        <p:spPr>
          <a:xfrm>
            <a:off x="4848225" y="1637030"/>
            <a:ext cx="3565525" cy="2440940"/>
          </a:xfrm>
          <a:prstGeom prst="rect">
            <a:avLst/>
          </a:prstGeom>
        </p:spPr>
      </p:pic>
      <p:sp>
        <p:nvSpPr>
          <p:cNvPr id="38" name="文本框 37"/>
          <p:cNvSpPr txBox="1"/>
          <p:nvPr/>
        </p:nvSpPr>
        <p:spPr>
          <a:xfrm>
            <a:off x="5186045" y="4709160"/>
            <a:ext cx="6732905" cy="1557655"/>
          </a:xfrm>
          <a:prstGeom prst="roundRect">
            <a:avLst/>
          </a:prstGeom>
          <a:solidFill>
            <a:srgbClr val="FFE699">
              <a:alpha val="24000"/>
            </a:srgbClr>
          </a:solidFill>
        </p:spPr>
        <p:txBody>
          <a:bodyPr wrap="square" lIns="90000" rtlCol="0" anchor="ctr">
            <a:noAutofit/>
          </a:bodyPr>
          <a:lstStyle>
            <a:defPPr>
              <a:defRPr lang="zh-CN"/>
            </a:defPPr>
            <a:lvl1pPr algn="ctr">
              <a:defRPr kumimoji="1" sz="1600">
                <a:solidFill>
                  <a:schemeClr val="bg1"/>
                </a:solidFill>
                <a:latin typeface="楷体" panose="02010609060101010101" pitchFamily="49" charset="-122"/>
                <a:ea typeface="楷体" panose="02010609060101010101" pitchFamily="49" charset="-122"/>
              </a:defRPr>
            </a:lvl1pPr>
          </a:lstStyle>
          <a:p>
            <a:pPr>
              <a:defRPr/>
            </a:pPr>
            <a:endParaRPr kumimoji="1" lang="zh-CN" altLang="en-US" sz="16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5258435" y="4790440"/>
            <a:ext cx="6658610" cy="1476375"/>
          </a:xfrm>
          <a:prstGeom prst="rect">
            <a:avLst/>
          </a:prstGeom>
          <a:noFill/>
        </p:spPr>
        <p:txBody>
          <a:bodyPr wrap="square" rtlCol="0">
            <a:spAutoFit/>
          </a:bodyPr>
          <a:lstStyle/>
          <a:p>
            <a:r>
              <a:rPr lang="en-US" altLang="zh-CN"/>
              <a:t>Capture different scale patterns: Using multiple sliding Windows of different lengths (such as the 2727s, 2000s, 3600s you are using) is to attempt to capture event patterns at different time scales. Short Windows may capture sudden anomalies, while long Windows may capture slowly accumulating trends.</a:t>
            </a:r>
          </a:p>
        </p:txBody>
      </p:sp>
      <p:grpSp>
        <p:nvGrpSpPr>
          <p:cNvPr id="8" name="组合 7"/>
          <p:cNvGrpSpPr/>
          <p:nvPr/>
        </p:nvGrpSpPr>
        <p:grpSpPr>
          <a:xfrm>
            <a:off x="252791" y="1051981"/>
            <a:ext cx="4633346" cy="5280940"/>
            <a:chOff x="639" y="515"/>
            <a:chExt cx="7838" cy="9347"/>
          </a:xfrm>
        </p:grpSpPr>
        <p:grpSp>
          <p:nvGrpSpPr>
            <p:cNvPr id="42" name="组合 41"/>
            <p:cNvGrpSpPr/>
            <p:nvPr/>
          </p:nvGrpSpPr>
          <p:grpSpPr>
            <a:xfrm>
              <a:off x="878" y="1367"/>
              <a:ext cx="2312" cy="4192"/>
              <a:chOff x="3847256" y="1697999"/>
              <a:chExt cx="1468301" cy="2661920"/>
            </a:xfrm>
          </p:grpSpPr>
          <p:sp>
            <p:nvSpPr>
              <p:cNvPr id="4" name="梯形 3"/>
              <p:cNvSpPr/>
              <p:nvPr/>
            </p:nvSpPr>
            <p:spPr>
              <a:xfrm rot="5400000">
                <a:off x="3250446" y="2294808"/>
                <a:ext cx="2661920" cy="1468301"/>
              </a:xfrm>
              <a:prstGeom prst="trapezoid">
                <a:avLst>
                  <a:gd name="adj" fmla="val 62705"/>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3907122" y="2890248"/>
                <a:ext cx="1356689" cy="344725"/>
              </a:xfrm>
              <a:prstGeom prst="rect">
                <a:avLst/>
              </a:prstGeom>
              <a:noFill/>
            </p:spPr>
            <p:txBody>
              <a:bodyPr wrap="square" rtlCol="0">
                <a:spAutoFit/>
              </a:bodyPr>
              <a:lstStyle/>
              <a:p>
                <a:r>
                  <a:rPr lang="en-US" altLang="zh-CN" sz="1400" b="1" i="1" dirty="0">
                    <a:latin typeface="微软雅黑" panose="020B0503020204020204" charset="-122"/>
                    <a:ea typeface="微软雅黑" panose="020B0503020204020204" charset="-122"/>
                  </a:rPr>
                  <a:t>LGMB Model</a:t>
                </a:r>
                <a:endParaRPr lang="zh-CN" altLang="en-US" sz="1400" b="1" i="1" dirty="0">
                  <a:latin typeface="微软雅黑" panose="020B0503020204020204" charset="-122"/>
                  <a:ea typeface="微软雅黑" panose="020B0503020204020204" charset="-122"/>
                </a:endParaRPr>
              </a:p>
            </p:txBody>
          </p:sp>
        </p:grpSp>
        <p:cxnSp>
          <p:nvCxnSpPr>
            <p:cNvPr id="28" name="直接箭头连接符 27"/>
            <p:cNvCxnSpPr>
              <a:endCxn id="29" idx="1"/>
            </p:cNvCxnSpPr>
            <p:nvPr/>
          </p:nvCxnSpPr>
          <p:spPr>
            <a:xfrm>
              <a:off x="3190" y="3463"/>
              <a:ext cx="2083" cy="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913" y="3029"/>
              <a:ext cx="2785" cy="815"/>
            </a:xfrm>
            <a:prstGeom prst="rect">
              <a:avLst/>
            </a:prstGeom>
            <a:noFill/>
          </p:spPr>
          <p:txBody>
            <a:bodyPr wrap="square" rtlCol="0">
              <a:spAutoFit/>
            </a:bodyPr>
            <a:lstStyle/>
            <a:p>
              <a:pPr algn="ctr"/>
              <a:r>
                <a:rPr lang="en-US" altLang="zh-CN" sz="1200" dirty="0">
                  <a:latin typeface="微软雅黑" panose="020B0503020204020204" charset="-122"/>
                  <a:ea typeface="微软雅黑" panose="020B0503020204020204" charset="-122"/>
                </a:rPr>
                <a:t>Multi-window Fusion</a:t>
              </a:r>
            </a:p>
          </p:txBody>
        </p:sp>
        <p:sp>
          <p:nvSpPr>
            <p:cNvPr id="83" name="矩形: 圆角 82"/>
            <p:cNvSpPr/>
            <p:nvPr/>
          </p:nvSpPr>
          <p:spPr>
            <a:xfrm>
              <a:off x="639" y="515"/>
              <a:ext cx="2733" cy="5941"/>
            </a:xfrm>
            <a:prstGeom prst="roundRect">
              <a:avLst>
                <a:gd name="adj" fmla="val 8274"/>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p:cNvSpPr/>
            <p:nvPr/>
          </p:nvSpPr>
          <p:spPr>
            <a:xfrm>
              <a:off x="5273" y="515"/>
              <a:ext cx="2661" cy="5941"/>
            </a:xfrm>
            <a:prstGeom prst="roundRect">
              <a:avLst>
                <a:gd name="adj" fmla="val 8274"/>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5273" y="2894"/>
              <a:ext cx="2564" cy="1161"/>
            </a:xfrm>
            <a:prstGeom prst="round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charset="-122"/>
                  <a:ea typeface="微软雅黑" panose="020B0503020204020204" charset="-122"/>
                </a:rPr>
                <a:t>Voting </a:t>
              </a:r>
            </a:p>
            <a:p>
              <a:pPr algn="ctr"/>
              <a:r>
                <a:rPr lang="en-US" altLang="zh-CN" sz="1400" b="1" dirty="0">
                  <a:solidFill>
                    <a:schemeClr val="tx1"/>
                  </a:solidFill>
                  <a:latin typeface="微软雅黑" panose="020B0503020204020204" charset="-122"/>
                  <a:ea typeface="微软雅黑" panose="020B0503020204020204" charset="-122"/>
                </a:rPr>
                <a:t>Moudle</a:t>
              </a:r>
            </a:p>
          </p:txBody>
        </p:sp>
        <p:sp>
          <p:nvSpPr>
            <p:cNvPr id="6" name="圆角矩形 5"/>
            <p:cNvSpPr/>
            <p:nvPr/>
          </p:nvSpPr>
          <p:spPr>
            <a:xfrm>
              <a:off x="3270" y="7015"/>
              <a:ext cx="4405" cy="724"/>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a:latin typeface="微软雅黑" panose="020B0503020204020204" charset="-122"/>
                  <a:ea typeface="微软雅黑" panose="020B0503020204020204" charset="-122"/>
                  <a:cs typeface="微软雅黑" panose="020B0503020204020204" charset="-122"/>
                  <a:sym typeface="+mn-ea"/>
                </a:rPr>
                <a:t>S</a:t>
              </a:r>
              <a:r>
                <a:rPr lang="zh-CN" altLang="en-US" sz="1600" b="1">
                  <a:latin typeface="微软雅黑" panose="020B0503020204020204" charset="-122"/>
                  <a:ea typeface="微软雅黑" panose="020B0503020204020204" charset="-122"/>
                  <a:cs typeface="微软雅黑" panose="020B0503020204020204" charset="-122"/>
                  <a:sym typeface="+mn-ea"/>
                </a:rPr>
                <a:t>liding Windows</a:t>
              </a:r>
              <a:r>
                <a:rPr lang="zh-CN" altLang="en-US" sz="1600" b="1">
                  <a:latin typeface="微软雅黑" panose="020B0503020204020204" charset="-122"/>
                  <a:ea typeface="微软雅黑" panose="020B0503020204020204" charset="-122"/>
                  <a:cs typeface="微软雅黑" panose="020B0503020204020204" charset="-122"/>
                </a:rPr>
                <a:t>2000S</a:t>
              </a:r>
              <a:endParaRPr lang="en-US" altLang="zh-CN" sz="1600" b="1">
                <a:latin typeface="微软雅黑" panose="020B0503020204020204" charset="-122"/>
                <a:ea typeface="微软雅黑" panose="020B0503020204020204" charset="-122"/>
                <a:cs typeface="微软雅黑" panose="020B0503020204020204" charset="-122"/>
              </a:endParaRPr>
            </a:p>
          </p:txBody>
        </p:sp>
        <p:sp>
          <p:nvSpPr>
            <p:cNvPr id="10" name="右大括号 9"/>
            <p:cNvSpPr/>
            <p:nvPr/>
          </p:nvSpPr>
          <p:spPr>
            <a:xfrm>
              <a:off x="7933" y="7015"/>
              <a:ext cx="544" cy="2845"/>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cxnSp>
          <p:nvCxnSpPr>
            <p:cNvPr id="2" name="直接连接符 1"/>
            <p:cNvCxnSpPr/>
            <p:nvPr/>
          </p:nvCxnSpPr>
          <p:spPr>
            <a:xfrm>
              <a:off x="1948" y="6448"/>
              <a:ext cx="12" cy="2094"/>
            </a:xfrm>
            <a:prstGeom prst="line">
              <a:avLst/>
            </a:prstGeom>
            <a:ln w="76200" cmpd="sng">
              <a:solidFill>
                <a:srgbClr val="1C266B"/>
              </a:solidFill>
              <a:prstDash val="solid"/>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flipV="1">
              <a:off x="1908" y="8529"/>
              <a:ext cx="983" cy="40"/>
            </a:xfrm>
            <a:prstGeom prst="straightConnector1">
              <a:avLst/>
            </a:prstGeom>
            <a:ln w="76200">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
          <p:nvSpPr>
            <p:cNvPr id="18" name="圆角矩形 17"/>
            <p:cNvSpPr/>
            <p:nvPr/>
          </p:nvSpPr>
          <p:spPr>
            <a:xfrm>
              <a:off x="3271" y="8076"/>
              <a:ext cx="4405" cy="724"/>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a:latin typeface="微软雅黑" panose="020B0503020204020204" charset="-122"/>
                  <a:ea typeface="微软雅黑" panose="020B0503020204020204" charset="-122"/>
                  <a:cs typeface="微软雅黑" panose="020B0503020204020204" charset="-122"/>
                  <a:sym typeface="+mn-ea"/>
                </a:rPr>
                <a:t>S</a:t>
              </a:r>
              <a:r>
                <a:rPr lang="zh-CN" altLang="en-US" sz="1600" b="1">
                  <a:latin typeface="微软雅黑" panose="020B0503020204020204" charset="-122"/>
                  <a:ea typeface="微软雅黑" panose="020B0503020204020204" charset="-122"/>
                  <a:cs typeface="微软雅黑" panose="020B0503020204020204" charset="-122"/>
                  <a:sym typeface="+mn-ea"/>
                </a:rPr>
                <a:t>liding Windows</a:t>
              </a:r>
              <a:r>
                <a:rPr lang="en-US" altLang="zh-CN" sz="1600" b="1">
                  <a:latin typeface="微软雅黑" panose="020B0503020204020204" charset="-122"/>
                  <a:ea typeface="微软雅黑" panose="020B0503020204020204" charset="-122"/>
                  <a:cs typeface="微软雅黑" panose="020B0503020204020204" charset="-122"/>
                </a:rPr>
                <a:t>2727</a:t>
              </a:r>
              <a:r>
                <a:rPr lang="zh-CN" altLang="en-US" sz="1600" b="1">
                  <a:latin typeface="微软雅黑" panose="020B0503020204020204" charset="-122"/>
                  <a:ea typeface="微软雅黑" panose="020B0503020204020204" charset="-122"/>
                  <a:cs typeface="微软雅黑" panose="020B0503020204020204" charset="-122"/>
                </a:rPr>
                <a:t>S</a:t>
              </a:r>
              <a:endParaRPr lang="en-US" altLang="zh-CN" sz="1600" b="1">
                <a:latin typeface="微软雅黑" panose="020B0503020204020204" charset="-122"/>
                <a:ea typeface="微软雅黑" panose="020B0503020204020204" charset="-122"/>
                <a:cs typeface="微软雅黑" panose="020B0503020204020204" charset="-122"/>
              </a:endParaRPr>
            </a:p>
          </p:txBody>
        </p:sp>
        <p:sp>
          <p:nvSpPr>
            <p:cNvPr id="19" name="圆角矩形 18"/>
            <p:cNvSpPr/>
            <p:nvPr/>
          </p:nvSpPr>
          <p:spPr>
            <a:xfrm>
              <a:off x="3271" y="9138"/>
              <a:ext cx="4405" cy="724"/>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a:latin typeface="微软雅黑" panose="020B0503020204020204" charset="-122"/>
                  <a:ea typeface="微软雅黑" panose="020B0503020204020204" charset="-122"/>
                  <a:cs typeface="微软雅黑" panose="020B0503020204020204" charset="-122"/>
                  <a:sym typeface="+mn-ea"/>
                </a:rPr>
                <a:t>S</a:t>
              </a:r>
              <a:r>
                <a:rPr lang="zh-CN" altLang="en-US" sz="1600" b="1">
                  <a:latin typeface="微软雅黑" panose="020B0503020204020204" charset="-122"/>
                  <a:ea typeface="微软雅黑" panose="020B0503020204020204" charset="-122"/>
                  <a:cs typeface="微软雅黑" panose="020B0503020204020204" charset="-122"/>
                  <a:sym typeface="+mn-ea"/>
                </a:rPr>
                <a:t>liding Windows</a:t>
              </a:r>
              <a:r>
                <a:rPr lang="en-US" altLang="zh-CN" sz="1600" b="1">
                  <a:latin typeface="微软雅黑" panose="020B0503020204020204" charset="-122"/>
                  <a:ea typeface="微软雅黑" panose="020B0503020204020204" charset="-122"/>
                  <a:cs typeface="微软雅黑" panose="020B0503020204020204" charset="-122"/>
                </a:rPr>
                <a:t>3600</a:t>
              </a:r>
              <a:r>
                <a:rPr lang="zh-CN" altLang="en-US" sz="1600" b="1">
                  <a:latin typeface="微软雅黑" panose="020B0503020204020204" charset="-122"/>
                  <a:ea typeface="微软雅黑" panose="020B0503020204020204" charset="-122"/>
                  <a:cs typeface="微软雅黑" panose="020B0503020204020204" charset="-122"/>
                </a:rPr>
                <a:t>S</a:t>
              </a:r>
              <a:endParaRPr lang="en-US" altLang="zh-CN" sz="1600" b="1">
                <a:latin typeface="微软雅黑" panose="020B0503020204020204" charset="-122"/>
                <a:ea typeface="微软雅黑" panose="020B0503020204020204" charset="-122"/>
                <a:cs typeface="微软雅黑" panose="020B0503020204020204" charset="-122"/>
              </a:endParaRPr>
            </a:p>
          </p:txBody>
        </p:sp>
      </p:grpSp>
      <p:cxnSp>
        <p:nvCxnSpPr>
          <p:cNvPr id="16"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27" y="-37706"/>
            <a:ext cx="6084570" cy="829945"/>
          </a:xfrm>
          <a:prstGeom prst="rect">
            <a:avLst/>
          </a:prstGeom>
        </p:spPr>
        <p:txBody>
          <a:bodyPr wrap="none">
            <a:spAutoFit/>
          </a:bodyPr>
          <a:lstStyle/>
          <a:p>
            <a:pPr algn="l"/>
            <a:r>
              <a:rPr lang="en-US" altLang="zh-CN" sz="4800" b="1" kern="100" dirty="0">
                <a:solidFill>
                  <a:schemeClr val="accent1"/>
                </a:solidFill>
                <a:latin typeface="+mn-ea"/>
                <a:cs typeface="Times New Roman" panose="02020603050405020304" pitchFamily="18" charset="0"/>
                <a:sym typeface="+mn-ea"/>
              </a:rPr>
              <a:t>Multi-window Fusion</a:t>
            </a:r>
            <a:endParaRPr lang="en-US" altLang="zh-CN" sz="4800" b="1" kern="100" dirty="0">
              <a:solidFill>
                <a:schemeClr val="accent1"/>
              </a:solidFill>
              <a:latin typeface="+mn-ea"/>
              <a:cs typeface="Times New Roman" panose="02020603050405020304" pitchFamily="18" charset="0"/>
            </a:endParaRPr>
          </a:p>
        </p:txBody>
      </p:sp>
      <p:pic>
        <p:nvPicPr>
          <p:cNvPr id="9" name="图片 8"/>
          <p:cNvPicPr>
            <a:picLocks noChangeAspect="1"/>
          </p:cNvPicPr>
          <p:nvPr>
            <p:custDataLst>
              <p:tags r:id="rId2"/>
            </p:custDataLst>
          </p:nvPr>
        </p:nvPicPr>
        <p:blipFill>
          <a:blip r:embed="rId6"/>
          <a:stretch>
            <a:fillRect/>
          </a:stretch>
        </p:blipFill>
        <p:spPr>
          <a:xfrm>
            <a:off x="8531860" y="1715135"/>
            <a:ext cx="3387090" cy="2423160"/>
          </a:xfrm>
          <a:prstGeom prst="rect">
            <a:avLst/>
          </a:prstGeom>
        </p:spPr>
      </p:pic>
      <p:pic>
        <p:nvPicPr>
          <p:cNvPr id="12" name="Picture 1"/>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16696"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Experiments</a:t>
            </a:r>
          </a:p>
        </p:txBody>
      </p:sp>
      <p:grpSp>
        <p:nvGrpSpPr>
          <p:cNvPr id="5" name="Group 13"/>
          <p:cNvGrpSpPr>
            <a:grpSpLocks noChangeAspect="1"/>
          </p:cNvGrpSpPr>
          <p:nvPr/>
        </p:nvGrpSpPr>
        <p:grpSpPr bwMode="auto">
          <a:xfrm>
            <a:off x="4225466" y="2706139"/>
            <a:ext cx="328183" cy="327403"/>
            <a:chOff x="3665" y="2074"/>
            <a:chExt cx="421" cy="420"/>
          </a:xfrm>
          <a:solidFill>
            <a:schemeClr val="accent1"/>
          </a:solidFill>
        </p:grpSpPr>
        <p:sp>
          <p:nvSpPr>
            <p:cNvPr id="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9" name="Group 13"/>
          <p:cNvGrpSpPr>
            <a:grpSpLocks noChangeAspect="1"/>
          </p:cNvGrpSpPr>
          <p:nvPr/>
        </p:nvGrpSpPr>
        <p:grpSpPr bwMode="auto">
          <a:xfrm>
            <a:off x="4225466" y="3182921"/>
            <a:ext cx="328183" cy="327403"/>
            <a:chOff x="3665" y="2074"/>
            <a:chExt cx="421" cy="420"/>
          </a:xfrm>
          <a:solidFill>
            <a:schemeClr val="accent1"/>
          </a:solidFill>
        </p:grpSpPr>
        <p:sp>
          <p:nvSpPr>
            <p:cNvPr id="10"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sp>
        <p:nvSpPr>
          <p:cNvPr id="12" name="文本框 11"/>
          <p:cNvSpPr txBox="1"/>
          <p:nvPr/>
        </p:nvSpPr>
        <p:spPr>
          <a:xfrm>
            <a:off x="4641850" y="2691765"/>
            <a:ext cx="6096000" cy="398780"/>
          </a:xfrm>
          <a:prstGeom prst="rect">
            <a:avLst/>
          </a:prstGeom>
          <a:noFill/>
        </p:spPr>
        <p:txBody>
          <a:bodyPr wrap="square" rtlCol="0" anchor="t">
            <a:spAutoFit/>
          </a:bodyPr>
          <a:lstStyle/>
          <a:p>
            <a:pPr marL="0" marR="0" lvl="0" algn="l" defTabSz="914400" rtl="0" eaLnBrk="1" fontAlgn="auto" latinLnBrk="0" hangingPunct="1">
              <a:lnSpc>
                <a:spcPct val="100000"/>
              </a:lnSpc>
              <a:spcBef>
                <a:spcPts val="0"/>
              </a:spcBef>
              <a:buClrTx/>
              <a:buSzTx/>
              <a:buFontTx/>
              <a:buNone/>
            </a:pPr>
            <a:r>
              <a:rPr lang="en-US" altLang="zh-CN" sz="2000" b="1" kern="100" dirty="0">
                <a:solidFill>
                  <a:schemeClr val="accent1"/>
                </a:solidFill>
                <a:latin typeface="+mn-ea"/>
                <a:cs typeface="Times New Roman" panose="02020603050405020304" pitchFamily="18" charset="0"/>
                <a:sym typeface="+mn-ea"/>
              </a:rPr>
              <a:t>Voting Model Design</a:t>
            </a:r>
          </a:p>
        </p:txBody>
      </p:sp>
      <p:sp>
        <p:nvSpPr>
          <p:cNvPr id="23" name="文本框 22"/>
          <p:cNvSpPr txBox="1"/>
          <p:nvPr/>
        </p:nvSpPr>
        <p:spPr>
          <a:xfrm>
            <a:off x="4651375" y="3145790"/>
            <a:ext cx="9865995" cy="398780"/>
          </a:xfrm>
          <a:prstGeom prst="rect">
            <a:avLst/>
          </a:prstGeom>
          <a:noFill/>
        </p:spPr>
        <p:txBody>
          <a:bodyPr wrap="square" rtlCol="0" anchor="t">
            <a:spAutoFit/>
          </a:bodyPr>
          <a:lstStyle/>
          <a:p>
            <a:pPr marL="0" marR="0" lvl="0" algn="l" defTabSz="914400" rtl="0" eaLnBrk="1" fontAlgn="auto" latinLnBrk="0" hangingPunct="1">
              <a:lnSpc>
                <a:spcPct val="100000"/>
              </a:lnSpc>
              <a:spcBef>
                <a:spcPts val="0"/>
              </a:spcBef>
              <a:buClrTx/>
              <a:buSzTx/>
              <a:buFontTx/>
              <a:buNone/>
            </a:pPr>
            <a:r>
              <a:rPr lang="en-US" altLang="zh-CN" sz="2000" b="1" kern="100" dirty="0">
                <a:solidFill>
                  <a:schemeClr val="accent1"/>
                </a:solidFill>
                <a:latin typeface="+mn-ea"/>
                <a:cs typeface="Times New Roman" panose="02020603050405020304" pitchFamily="18" charset="0"/>
                <a:sym typeface="+mn-ea"/>
              </a:rPr>
              <a:t>Final Score Variation 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bwMode="auto">
          <a:xfrm>
            <a:off x="345440" y="1247775"/>
            <a:ext cx="5136515" cy="5229860"/>
          </a:xfrm>
          <a:prstGeom prst="roundRect">
            <a:avLst>
              <a:gd name="adj" fmla="val 2650"/>
            </a:avLst>
          </a:prstGeom>
          <a:noFill/>
          <a:ln w="9525" cap="flat" cmpd="sng" algn="ctr">
            <a:solidFill>
              <a:schemeClr val="accent2">
                <a:lumMod val="60000"/>
                <a:lumOff val="40000"/>
              </a:schemeClr>
            </a:solidFill>
            <a:prstDash val="lgDash"/>
            <a:round/>
            <a:headEnd type="none" w="med" len="med"/>
            <a:tailEnd type="none" w="med" len="med"/>
          </a:ln>
          <a:effectLst/>
        </p:spPr>
        <p:txBody>
          <a:bodyPr vert="horz" wrap="square" lIns="0" tIns="0" rIns="0" bIns="0" numCol="1" rtlCol="0" anchor="t" anchorCtr="0" compatLnSpc="1"/>
          <a:lstStyle/>
          <a:p>
            <a:pPr algn="ctr"/>
            <a:endParaRPr lang="zh-CN" altLang="en-US" sz="1400" dirty="0">
              <a:latin typeface="微软雅黑" panose="020B0503020204020204" charset="-122"/>
              <a:ea typeface="微软雅黑" panose="020B0503020204020204" charset="-122"/>
              <a:cs typeface="Calibri" panose="020F0502020204030204" charset="0"/>
            </a:endParaRPr>
          </a:p>
        </p:txBody>
      </p:sp>
      <p:sp>
        <p:nvSpPr>
          <p:cNvPr id="20" name="矩形 19"/>
          <p:cNvSpPr/>
          <p:nvPr/>
        </p:nvSpPr>
        <p:spPr>
          <a:xfrm>
            <a:off x="345505" y="793878"/>
            <a:ext cx="11756268" cy="444438"/>
          </a:xfrm>
          <a:prstGeom prst="rect">
            <a:avLst/>
          </a:prstGeom>
          <a:gradFill>
            <a:gsLst>
              <a:gs pos="26000">
                <a:srgbClr val="FFE699">
                  <a:alpha val="51000"/>
                </a:srgbClr>
              </a:gs>
              <a:gs pos="60000">
                <a:srgbClr val="FFE699">
                  <a:alpha val="68000"/>
                </a:srgbClr>
              </a:gs>
              <a:gs pos="100000">
                <a:srgbClr val="2F2F2F">
                  <a:alpha val="0"/>
                </a:srgbClr>
              </a:gs>
              <a:gs pos="44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grpSp>
        <p:nvGrpSpPr>
          <p:cNvPr id="21" name="组合 20"/>
          <p:cNvGrpSpPr/>
          <p:nvPr/>
        </p:nvGrpSpPr>
        <p:grpSpPr>
          <a:xfrm>
            <a:off x="5849467" y="842602"/>
            <a:ext cx="360000" cy="360000"/>
            <a:chOff x="4359372" y="1220810"/>
            <a:chExt cx="360000" cy="360000"/>
          </a:xfrm>
        </p:grpSpPr>
        <p:sp>
          <p:nvSpPr>
            <p:cNvPr id="22" name="椭圆 21"/>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23" name="燕尾形 22"/>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24" name="燕尾形 23"/>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sp>
        <p:nvSpPr>
          <p:cNvPr id="25" name="文本框 24"/>
          <p:cNvSpPr txBox="1"/>
          <p:nvPr/>
        </p:nvSpPr>
        <p:spPr>
          <a:xfrm>
            <a:off x="1813508" y="842642"/>
            <a:ext cx="234124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Voting Model Design</a:t>
            </a:r>
          </a:p>
        </p:txBody>
      </p:sp>
      <p:sp>
        <p:nvSpPr>
          <p:cNvPr id="2" name="文本框 1"/>
          <p:cNvSpPr txBox="1"/>
          <p:nvPr/>
        </p:nvSpPr>
        <p:spPr>
          <a:xfrm>
            <a:off x="485140" y="1310005"/>
            <a:ext cx="4996815" cy="1390015"/>
          </a:xfrm>
          <a:prstGeom prst="rect">
            <a:avLst/>
          </a:prstGeom>
          <a:noFill/>
        </p:spPr>
        <p:txBody>
          <a:bodyPr wrap="square" rtlCol="0">
            <a:noAutofit/>
          </a:bodyPr>
          <a:lstStyle/>
          <a:p>
            <a:pPr algn="l">
              <a:buClrTx/>
              <a:buSzTx/>
              <a:buFontTx/>
            </a:pPr>
            <a:r>
              <a:rPr lang="en-US" altLang="zh-CN" sz="1800" b="1">
                <a:latin typeface="微软雅黑" panose="020B0503020204020204" charset="-122"/>
                <a:ea typeface="微软雅黑" panose="020B0503020204020204" charset="-122"/>
                <a:cs typeface="微软雅黑" panose="020B0503020204020204" charset="-122"/>
              </a:rPr>
              <a:t>Phase 1: Candidate SN Screening:</a:t>
            </a:r>
          </a:p>
          <a:p>
            <a:r>
              <a:rPr lang="en-US" altLang="zh-CN" sz="1400">
                <a:latin typeface="微软雅黑" panose="020B0503020204020204" charset="-122"/>
                <a:ea typeface="微软雅黑" panose="020B0503020204020204" charset="-122"/>
                <a:cs typeface="微软雅黑" panose="020B0503020204020204" charset="-122"/>
              </a:rPr>
              <a:t> Initially screen likely failing SNs. Calculate cumulative weighted votes per SN from base models. This significantly cuts candidate SNs (around 78% retention), focusing on higher-probability failures and filtering low-confidence predictions.</a:t>
            </a:r>
          </a:p>
        </p:txBody>
      </p:sp>
      <p:sp>
        <p:nvSpPr>
          <p:cNvPr id="6" name="文本框 5"/>
          <p:cNvSpPr txBox="1"/>
          <p:nvPr/>
        </p:nvSpPr>
        <p:spPr>
          <a:xfrm>
            <a:off x="398780" y="2905125"/>
            <a:ext cx="5171440" cy="1445260"/>
          </a:xfrm>
          <a:prstGeom prst="rect">
            <a:avLst/>
          </a:prstGeom>
          <a:noFill/>
        </p:spPr>
        <p:txBody>
          <a:bodyPr wrap="square" rtlCol="0">
            <a:spAutoFit/>
          </a:bodyPr>
          <a:lstStyle/>
          <a:p>
            <a:pPr algn="l">
              <a:buClrTx/>
              <a:buSzTx/>
              <a:buFontTx/>
            </a:pPr>
            <a:r>
              <a:rPr lang="en-US" altLang="zh-CN" sz="1800" b="1">
                <a:latin typeface="微软雅黑" panose="020B0503020204020204" charset="-122"/>
                <a:ea typeface="微软雅黑" panose="020B0503020204020204" charset="-122"/>
                <a:cs typeface="微软雅黑" panose="020B0503020204020204" charset="-122"/>
              </a:rPr>
              <a:t>Phase 2: Timestamp Clustering and Voting:</a:t>
            </a:r>
          </a:p>
          <a:p>
            <a:pPr algn="l">
              <a:buClrTx/>
              <a:buSzTx/>
              <a:buFontTx/>
            </a:pPr>
            <a:r>
              <a:rPr lang="en-US" altLang="zh-CN" sz="1400">
                <a:latin typeface="微软雅黑" panose="020B0503020204020204" charset="-122"/>
                <a:ea typeface="微软雅黑" panose="020B0503020204020204" charset="-122"/>
                <a:cs typeface="微软雅黑" panose="020B0503020204020204" charset="-122"/>
              </a:rPr>
              <a:t>Merge similar predictions and find initial failure time.  Collect all models' predicted timestamps per SN, cluster them, select the highest-scoring cluster.  The median timestamp of this best cluster is the SN's preliminary predicted time, fusing models and initially locating failure.</a:t>
            </a:r>
          </a:p>
        </p:txBody>
      </p:sp>
      <p:sp>
        <p:nvSpPr>
          <p:cNvPr id="7" name="文本框 6"/>
          <p:cNvSpPr txBox="1"/>
          <p:nvPr/>
        </p:nvSpPr>
        <p:spPr>
          <a:xfrm>
            <a:off x="485775" y="4705350"/>
            <a:ext cx="5050790" cy="1445260"/>
          </a:xfrm>
          <a:prstGeom prst="rect">
            <a:avLst/>
          </a:prstGeom>
          <a:noFill/>
        </p:spPr>
        <p:txBody>
          <a:bodyPr wrap="square" rtlCol="0">
            <a:spAutoFit/>
          </a:bodyPr>
          <a:lstStyle/>
          <a:p>
            <a:pPr algn="l">
              <a:buClrTx/>
              <a:buSzTx/>
              <a:buFontTx/>
            </a:pPr>
            <a:r>
              <a:rPr lang="en-US" altLang="zh-CN" sz="1800" b="1">
                <a:latin typeface="微软雅黑" panose="020B0503020204020204" charset="-122"/>
                <a:ea typeface="微软雅黑" panose="020B0503020204020204" charset="-122"/>
                <a:cs typeface="微软雅黑" panose="020B0503020204020204" charset="-122"/>
              </a:rPr>
              <a:t>Phase 3: Timestamp Refinement:</a:t>
            </a:r>
            <a:r>
              <a:rPr lang="en-US" altLang="zh-CN" sz="1400">
                <a:latin typeface="微软雅黑" panose="020B0503020204020204" charset="-122"/>
                <a:ea typeface="微软雅黑" panose="020B0503020204020204" charset="-122"/>
                <a:cs typeface="微软雅黑" panose="020B0503020204020204" charset="-122"/>
              </a:rPr>
              <a:t> </a:t>
            </a:r>
          </a:p>
          <a:p>
            <a:pPr algn="l">
              <a:buClrTx/>
              <a:buSzTx/>
              <a:buFontTx/>
            </a:pPr>
            <a:r>
              <a:rPr lang="en-US" altLang="zh-CN" sz="1400">
                <a:latin typeface="微软雅黑" panose="020B0503020204020204" charset="-122"/>
                <a:ea typeface="微软雅黑" panose="020B0503020204020204" charset="-122"/>
                <a:cs typeface="微软雅黑" panose="020B0503020204020204" charset="-122"/>
              </a:rPr>
              <a:t>Refine initial time using original model predictions. Using Phase 2's median time as a reference, find nearby predictions (within +/- 3600s) from all original models (used 93.1% of the time). If no nearby predictions exist, use a weighted average to calculate the final timestamp.</a:t>
            </a:r>
          </a:p>
        </p:txBody>
      </p:sp>
      <p:sp>
        <p:nvSpPr>
          <p:cNvPr id="11" name="文本框 10"/>
          <p:cNvSpPr txBox="1"/>
          <p:nvPr/>
        </p:nvSpPr>
        <p:spPr>
          <a:xfrm>
            <a:off x="7597723" y="842642"/>
            <a:ext cx="285242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Correlation Analysis Chart</a:t>
            </a:r>
          </a:p>
        </p:txBody>
      </p:sp>
      <p:cxnSp>
        <p:nvCxnSpPr>
          <p:cNvPr id="3"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0" y="-24130"/>
            <a:ext cx="6096000" cy="829945"/>
          </a:xfrm>
          <a:prstGeom prst="rect">
            <a:avLst/>
          </a:prstGeom>
          <a:noFill/>
        </p:spPr>
        <p:txBody>
          <a:bodyPr wrap="square" rtlCol="0" anchor="t">
            <a:spAutoFit/>
          </a:bodyPr>
          <a:lstStyle/>
          <a:p>
            <a:pPr marL="0" marR="0" lvl="0" algn="l" defTabSz="914400" rtl="0" eaLnBrk="1" fontAlgn="auto" latinLnBrk="0" hangingPunct="1">
              <a:lnSpc>
                <a:spcPct val="100000"/>
              </a:lnSpc>
              <a:spcBef>
                <a:spcPts val="0"/>
              </a:spcBef>
              <a:buClrTx/>
              <a:buSzTx/>
              <a:buFontTx/>
              <a:buNone/>
            </a:pPr>
            <a:r>
              <a:rPr lang="en-US" altLang="zh-CN" sz="4800" b="1" kern="100" dirty="0">
                <a:solidFill>
                  <a:schemeClr val="accent1"/>
                </a:solidFill>
                <a:latin typeface="+mn-ea"/>
                <a:cs typeface="Times New Roman" panose="02020603050405020304" pitchFamily="18" charset="0"/>
                <a:sym typeface="+mn-ea"/>
              </a:rPr>
              <a:t>Voting Model Design</a:t>
            </a:r>
          </a:p>
        </p:txBody>
      </p:sp>
      <p:pic>
        <p:nvPicPr>
          <p:cNvPr id="14" name="图片 13"/>
          <p:cNvPicPr>
            <a:picLocks noChangeAspect="1"/>
          </p:cNvPicPr>
          <p:nvPr>
            <p:custDataLst>
              <p:tags r:id="rId1"/>
            </p:custDataLst>
          </p:nvPr>
        </p:nvPicPr>
        <p:blipFill>
          <a:blip r:embed="rId6"/>
          <a:stretch>
            <a:fillRect/>
          </a:stretch>
        </p:blipFill>
        <p:spPr>
          <a:xfrm>
            <a:off x="5849620" y="1513840"/>
            <a:ext cx="3152775" cy="2523490"/>
          </a:xfrm>
          <a:prstGeom prst="rect">
            <a:avLst/>
          </a:prstGeom>
        </p:spPr>
      </p:pic>
      <p:pic>
        <p:nvPicPr>
          <p:cNvPr id="15" name="图片 14"/>
          <p:cNvPicPr>
            <a:picLocks noChangeAspect="1"/>
          </p:cNvPicPr>
          <p:nvPr>
            <p:custDataLst>
              <p:tags r:id="rId2"/>
            </p:custDataLst>
          </p:nvPr>
        </p:nvPicPr>
        <p:blipFill>
          <a:blip r:embed="rId7"/>
          <a:stretch>
            <a:fillRect/>
          </a:stretch>
        </p:blipFill>
        <p:spPr>
          <a:xfrm>
            <a:off x="8374380" y="1391920"/>
            <a:ext cx="3589655" cy="2692400"/>
          </a:xfrm>
          <a:prstGeom prst="rect">
            <a:avLst/>
          </a:prstGeom>
        </p:spPr>
      </p:pic>
      <p:pic>
        <p:nvPicPr>
          <p:cNvPr id="16" name="图片 15"/>
          <p:cNvPicPr>
            <a:picLocks noChangeAspect="1"/>
          </p:cNvPicPr>
          <p:nvPr>
            <p:custDataLst>
              <p:tags r:id="rId3"/>
            </p:custDataLst>
          </p:nvPr>
        </p:nvPicPr>
        <p:blipFill>
          <a:blip r:embed="rId8"/>
          <a:stretch>
            <a:fillRect/>
          </a:stretch>
        </p:blipFill>
        <p:spPr>
          <a:xfrm>
            <a:off x="5622290" y="4037330"/>
            <a:ext cx="6405245" cy="2399030"/>
          </a:xfrm>
          <a:prstGeom prst="rect">
            <a:avLst/>
          </a:prstGeom>
        </p:spPr>
      </p:pic>
      <p:pic>
        <p:nvPicPr>
          <p:cNvPr id="4" name="Picture 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9039225" y="2813050"/>
            <a:ext cx="690245" cy="531495"/>
            <a:chOff x="14092" y="3821"/>
            <a:chExt cx="1244" cy="1025"/>
          </a:xfrm>
        </p:grpSpPr>
        <p:sp>
          <p:nvSpPr>
            <p:cNvPr id="13" name="手杖形箭头 12"/>
            <p:cNvSpPr/>
            <p:nvPr/>
          </p:nvSpPr>
          <p:spPr>
            <a:xfrm rot="10020000" flipH="1">
              <a:off x="14346" y="3821"/>
              <a:ext cx="990" cy="927"/>
            </a:xfrm>
            <a:prstGeom prst="utur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ysClr val="windowText" lastClr="000000"/>
                  </a:solidFill>
                </a:ln>
                <a:solidFill>
                  <a:schemeClr val="tx1"/>
                </a:solidFill>
              </a:endParaRPr>
            </a:p>
          </p:txBody>
        </p:sp>
        <p:sp>
          <p:nvSpPr>
            <p:cNvPr id="15" name="矩形 14"/>
            <p:cNvSpPr/>
            <p:nvPr/>
          </p:nvSpPr>
          <p:spPr>
            <a:xfrm>
              <a:off x="14092" y="3896"/>
              <a:ext cx="608" cy="95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n>
                  <a:solidFill>
                    <a:sysClr val="windowText" lastClr="000000"/>
                  </a:solidFill>
                </a:ln>
              </a:endParaRPr>
            </a:p>
          </p:txBody>
        </p:sp>
      </p:grpSp>
      <p:sp>
        <p:nvSpPr>
          <p:cNvPr id="44" name="矩形 43"/>
          <p:cNvSpPr/>
          <p:nvPr/>
        </p:nvSpPr>
        <p:spPr>
          <a:xfrm>
            <a:off x="160177" y="1126891"/>
            <a:ext cx="11518900" cy="444500"/>
          </a:xfrm>
          <a:prstGeom prst="rect">
            <a:avLst/>
          </a:prstGeom>
          <a:gradFill>
            <a:gsLst>
              <a:gs pos="21000">
                <a:srgbClr val="FFE699">
                  <a:alpha val="51000"/>
                </a:srgbClr>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5" name="文本框 4"/>
          <p:cNvSpPr txBox="1"/>
          <p:nvPr/>
        </p:nvSpPr>
        <p:spPr>
          <a:xfrm>
            <a:off x="1341708" y="1169708"/>
            <a:ext cx="306260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Final Score Variation Results</a:t>
            </a:r>
          </a:p>
        </p:txBody>
      </p:sp>
      <p:sp>
        <p:nvSpPr>
          <p:cNvPr id="6" name="文本框 5"/>
          <p:cNvSpPr txBox="1"/>
          <p:nvPr/>
        </p:nvSpPr>
        <p:spPr>
          <a:xfrm>
            <a:off x="7118801" y="1167543"/>
            <a:ext cx="323532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Effectiveness of the Approach</a:t>
            </a:r>
          </a:p>
        </p:txBody>
      </p:sp>
      <p:cxnSp>
        <p:nvCxnSpPr>
          <p:cNvPr id="8" name="直线连接符 7"/>
          <p:cNvCxnSpPr/>
          <p:nvPr/>
        </p:nvCxnSpPr>
        <p:spPr>
          <a:xfrm flipH="1">
            <a:off x="5554598" y="1474982"/>
            <a:ext cx="0" cy="4896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523230" y="1505585"/>
            <a:ext cx="6783705" cy="81534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algn="l">
              <a:spcBef>
                <a:spcPts val="0"/>
              </a:spcBef>
              <a:spcAft>
                <a:spcPts val="0"/>
              </a:spcAft>
              <a:buClrTx/>
              <a:buSzTx/>
              <a:buFontTx/>
              <a:buNone/>
              <a:defRPr/>
            </a:pPr>
            <a:r>
              <a:rPr lang="en-US" altLang="zh-CN" sz="1600" b="1" noProof="0" dirty="0">
                <a:ln>
                  <a:noFill/>
                </a:ln>
                <a:effectLst/>
                <a:uLnTx/>
                <a:uFillTx/>
                <a:latin typeface="微软雅黑" panose="020B0503020204020204" charset="-122"/>
                <a:ea typeface="微软雅黑" panose="020B0503020204020204" charset="-122"/>
              </a:rPr>
              <a:t>Hybrid Correction of Multi-Time Phase and Multi-Model Strategies for Fund Prediction</a:t>
            </a:r>
          </a:p>
        </p:txBody>
      </p:sp>
      <p:sp>
        <p:nvSpPr>
          <p:cNvPr id="28" name="文本框 27"/>
          <p:cNvSpPr txBox="1"/>
          <p:nvPr>
            <p:custDataLst>
              <p:tags r:id="rId1"/>
            </p:custDataLst>
          </p:nvPr>
        </p:nvSpPr>
        <p:spPr>
          <a:xfrm>
            <a:off x="6075045" y="3225165"/>
            <a:ext cx="5639435" cy="1553845"/>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Restructured Observation Window: </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Explored more potential first-order, second-order, statistically correlated, and trend-related features to improve model accuracy and correct baseline version prediction results.</a:t>
            </a:r>
          </a:p>
        </p:txBody>
      </p:sp>
      <p:sp>
        <p:nvSpPr>
          <p:cNvPr id="30" name="文本框 29"/>
          <p:cNvSpPr txBox="1"/>
          <p:nvPr>
            <p:custDataLst>
              <p:tags r:id="rId2"/>
            </p:custDataLst>
          </p:nvPr>
        </p:nvSpPr>
        <p:spPr>
          <a:xfrm>
            <a:off x="6132195" y="5154930"/>
            <a:ext cx="5902325" cy="81534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b="1" noProof="0" dirty="0">
                <a:ln>
                  <a:noFill/>
                </a:ln>
                <a:effectLst/>
                <a:uLnTx/>
                <a:uFillTx/>
                <a:latin typeface="微软雅黑" panose="020B0503020204020204" charset="-122"/>
                <a:ea typeface="微软雅黑" panose="020B0503020204020204" charset="-122"/>
                <a:sym typeface="+mn-ea"/>
              </a:rPr>
              <a:t>M</a:t>
            </a:r>
            <a:r>
              <a:rPr lang="zh-CN" altLang="en-US" b="1" noProof="0" dirty="0">
                <a:ln>
                  <a:noFill/>
                </a:ln>
                <a:effectLst/>
                <a:uLnTx/>
                <a:uFillTx/>
                <a:latin typeface="微软雅黑" panose="020B0503020204020204" charset="-122"/>
                <a:ea typeface="微软雅黑" panose="020B0503020204020204" charset="-122"/>
                <a:sym typeface="+mn-ea"/>
              </a:rPr>
              <a:t>odel Voting Results</a:t>
            </a:r>
            <a:r>
              <a:rPr lang="zh-CN" altLang="en-US" b="1" noProof="0" dirty="0">
                <a:ln>
                  <a:noFill/>
                </a:ln>
                <a:effectLst/>
                <a:uLnTx/>
                <a:uFillTx/>
                <a:latin typeface="微软雅黑" panose="020B0503020204020204" charset="-122"/>
                <a:ea typeface="微软雅黑" panose="020B0503020204020204" charset="-122"/>
              </a:rPr>
              <a:t>M: </a:t>
            </a:r>
            <a:r>
              <a:rPr lang="en-US" altLang="zh-CN" dirty="0">
                <a:latin typeface="微软雅黑" panose="020B0503020204020204" charset="-122"/>
                <a:ea typeface="微软雅黑" panose="020B0503020204020204" charset="-122"/>
              </a:rPr>
              <a:t>Increased model robustness through multi-window model fusion voting.</a:t>
            </a:r>
          </a:p>
        </p:txBody>
      </p:sp>
      <p:cxnSp>
        <p:nvCxnSpPr>
          <p:cNvPr id="31" name="直线连接符 30"/>
          <p:cNvCxnSpPr/>
          <p:nvPr>
            <p:custDataLst>
              <p:tags r:id="rId3"/>
            </p:custDataLst>
          </p:nvPr>
        </p:nvCxnSpPr>
        <p:spPr>
          <a:xfrm>
            <a:off x="6303443" y="3330173"/>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线连接符 31"/>
          <p:cNvCxnSpPr/>
          <p:nvPr>
            <p:custDataLst>
              <p:tags r:id="rId4"/>
            </p:custDataLst>
          </p:nvPr>
        </p:nvCxnSpPr>
        <p:spPr>
          <a:xfrm>
            <a:off x="6372658" y="5209024"/>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custDataLst>
              <p:tags r:id="rId5"/>
            </p:custDataLst>
          </p:nvPr>
        </p:nvSpPr>
        <p:spPr>
          <a:xfrm>
            <a:off x="5762586" y="2478321"/>
            <a:ext cx="415682" cy="415682"/>
          </a:xfrm>
          <a:prstGeom prst="ellipse">
            <a:avLst/>
          </a:prstGeom>
          <a:solidFill>
            <a:srgbClr val="FFE699">
              <a:alpha val="57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rPr>
              <a:t>1</a:t>
            </a:r>
          </a:p>
        </p:txBody>
      </p:sp>
      <p:sp>
        <p:nvSpPr>
          <p:cNvPr id="35" name="椭圆 34"/>
          <p:cNvSpPr/>
          <p:nvPr>
            <p:custDataLst>
              <p:tags r:id="rId6"/>
            </p:custDataLst>
          </p:nvPr>
        </p:nvSpPr>
        <p:spPr>
          <a:xfrm>
            <a:off x="5762586" y="3678163"/>
            <a:ext cx="415682" cy="415682"/>
          </a:xfrm>
          <a:prstGeom prst="ellipse">
            <a:avLst/>
          </a:prstGeom>
          <a:solidFill>
            <a:srgbClr val="FFE699">
              <a:alpha val="57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rPr>
              <a:t>2</a:t>
            </a:r>
          </a:p>
        </p:txBody>
      </p:sp>
      <p:sp>
        <p:nvSpPr>
          <p:cNvPr id="37" name="椭圆 36"/>
          <p:cNvSpPr/>
          <p:nvPr>
            <p:custDataLst>
              <p:tags r:id="rId7"/>
            </p:custDataLst>
          </p:nvPr>
        </p:nvSpPr>
        <p:spPr>
          <a:xfrm>
            <a:off x="5762586" y="5317094"/>
            <a:ext cx="415682" cy="415682"/>
          </a:xfrm>
          <a:prstGeom prst="ellipse">
            <a:avLst/>
          </a:prstGeom>
          <a:solidFill>
            <a:srgbClr val="FFE699">
              <a:alpha val="57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rPr>
              <a:t>3</a:t>
            </a:r>
          </a:p>
        </p:txBody>
      </p:sp>
      <p:sp>
        <p:nvSpPr>
          <p:cNvPr id="38" name="文本框 37"/>
          <p:cNvSpPr txBox="1"/>
          <p:nvPr>
            <p:custDataLst>
              <p:tags r:id="rId8"/>
            </p:custDataLst>
          </p:nvPr>
        </p:nvSpPr>
        <p:spPr>
          <a:xfrm>
            <a:off x="6059805" y="2172335"/>
            <a:ext cx="5353685" cy="106172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Restructured Feature Engineering: </a:t>
            </a:r>
            <a:r>
              <a:rPr kumimoji="1" lang="en-US" altLang="zh-CN" sz="1600" i="0" u="none" strike="noStrike" kern="1200" cap="none" spc="0" normalizeH="0" baseline="0" dirty="0">
                <a:latin typeface="微软雅黑" panose="020B0503020204020204" charset="-122"/>
                <a:ea typeface="微软雅黑" panose="020B0503020204020204" charset="-122"/>
              </a:rPr>
              <a:t>Rebuilt feature engineering, reformulating the labels for a regression task.</a:t>
            </a:r>
          </a:p>
        </p:txBody>
      </p:sp>
      <p:grpSp>
        <p:nvGrpSpPr>
          <p:cNvPr id="45" name="组合 44"/>
          <p:cNvGrpSpPr/>
          <p:nvPr/>
        </p:nvGrpSpPr>
        <p:grpSpPr>
          <a:xfrm>
            <a:off x="5194258" y="1169549"/>
            <a:ext cx="360000" cy="360000"/>
            <a:chOff x="4359372" y="1220810"/>
            <a:chExt cx="360000" cy="360000"/>
          </a:xfrm>
        </p:grpSpPr>
        <p:sp>
          <p:nvSpPr>
            <p:cNvPr id="46" name="椭圆 45"/>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47" name="燕尾形 46"/>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48" name="燕尾形 47"/>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graphicFrame>
        <p:nvGraphicFramePr>
          <p:cNvPr id="3" name="表格 2"/>
          <p:cNvGraphicFramePr>
            <a:graphicFrameLocks noGrp="1"/>
          </p:cNvGraphicFramePr>
          <p:nvPr>
            <p:custDataLst>
              <p:tags r:id="rId9"/>
            </p:custDataLst>
          </p:nvPr>
        </p:nvGraphicFramePr>
        <p:xfrm>
          <a:off x="160020" y="4220210"/>
          <a:ext cx="5299710" cy="1660525"/>
        </p:xfrm>
        <a:graphic>
          <a:graphicData uri="http://schemas.openxmlformats.org/drawingml/2006/table">
            <a:tbl>
              <a:tblPr firstRow="1" firstCol="1" bandRow="1">
                <a:tableStyleId>{5C22544A-7EE6-4342-B048-85BDC9FD1C3A}</a:tableStyleId>
              </a:tblPr>
              <a:tblGrid>
                <a:gridCol w="3140075">
                  <a:extLst>
                    <a:ext uri="{9D8B030D-6E8A-4147-A177-3AD203B41FA5}">
                      <a16:colId xmlns:a16="http://schemas.microsoft.com/office/drawing/2014/main" val="20000"/>
                    </a:ext>
                  </a:extLst>
                </a:gridCol>
                <a:gridCol w="2159635">
                  <a:extLst>
                    <a:ext uri="{9D8B030D-6E8A-4147-A177-3AD203B41FA5}">
                      <a16:colId xmlns:a16="http://schemas.microsoft.com/office/drawing/2014/main" val="20001"/>
                    </a:ext>
                  </a:extLst>
                </a:gridCol>
              </a:tblGrid>
              <a:tr h="344170">
                <a:tc>
                  <a:txBody>
                    <a:bodyPr/>
                    <a:lstStyle/>
                    <a:p>
                      <a:pPr indent="304800" algn="l">
                        <a:lnSpc>
                          <a:spcPts val="2000"/>
                        </a:lnSpc>
                        <a:buClrTx/>
                        <a:buSzTx/>
                        <a:buFontTx/>
                      </a:pPr>
                      <a:r>
                        <a:rPr lang="en-US" altLang="zh-CN" sz="1600" kern="100" dirty="0">
                          <a:effectLst/>
                          <a:latin typeface="微软雅黑" panose="020B0503020204020204" charset="-122"/>
                          <a:ea typeface="微软雅黑" panose="020B0503020204020204" charset="-122"/>
                          <a:sym typeface="+mn-ea"/>
                        </a:rPr>
                        <a:t>Experiment Strategies</a:t>
                      </a:r>
                      <a:endParaRPr lang="en-US" altLang="zh-CN" sz="1600" kern="100" dirty="0">
                        <a:effectLst/>
                        <a:latin typeface="微软雅黑" panose="020B0503020204020204" charset="-122"/>
                        <a:ea typeface="微软雅黑" panose="020B0503020204020204" charset="-122"/>
                      </a:endParaRPr>
                    </a:p>
                  </a:txBody>
                  <a:tcPr marL="68580" marR="68580" marT="0" marB="0"/>
                </a:tc>
                <a:tc>
                  <a:txBody>
                    <a:bodyPr/>
                    <a:lstStyle/>
                    <a:p>
                      <a:pPr indent="304800" algn="l">
                        <a:lnSpc>
                          <a:spcPts val="2000"/>
                        </a:lnSpc>
                        <a:buClrTx/>
                        <a:buSzTx/>
                        <a:buFontTx/>
                      </a:pPr>
                      <a:r>
                        <a:rPr lang="en-US" altLang="zh-CN" sz="1600" kern="100" dirty="0">
                          <a:effectLst/>
                          <a:latin typeface="微软雅黑" panose="020B0503020204020204" charset="-122"/>
                          <a:ea typeface="微软雅黑" panose="020B0503020204020204" charset="-122"/>
                          <a:sym typeface="+mn-ea"/>
                        </a:rPr>
                        <a:t>Stage 1 Results</a:t>
                      </a:r>
                      <a:endParaRPr lang="en-US" altLang="zh-CN" sz="1600" kern="100" dirty="0">
                        <a:effectLst/>
                        <a:latin typeface="微软雅黑" panose="020B0503020204020204" charset="-122"/>
                        <a:ea typeface="微软雅黑" panose="020B0503020204020204" charset="-122"/>
                      </a:endParaRPr>
                    </a:p>
                  </a:txBody>
                  <a:tcPr marL="68580" marR="68580" marT="0" marB="0"/>
                </a:tc>
                <a:extLst>
                  <a:ext uri="{0D108BD9-81ED-4DB2-BD59-A6C34878D82A}">
                    <a16:rowId xmlns:a16="http://schemas.microsoft.com/office/drawing/2014/main" val="10000"/>
                  </a:ext>
                </a:extLst>
              </a:tr>
              <a:tr h="254000">
                <a:tc>
                  <a:txBody>
                    <a:bodyPr/>
                    <a:lstStyle/>
                    <a:p>
                      <a:pPr indent="304800" algn="l">
                        <a:lnSpc>
                          <a:spcPts val="2000"/>
                        </a:lnSpc>
                      </a:pPr>
                      <a:r>
                        <a:rPr lang="en-US" altLang="zh-CN" sz="1600" kern="100">
                          <a:effectLst/>
                          <a:latin typeface="微软雅黑" panose="020B0503020204020204" charset="-122"/>
                          <a:ea typeface="微软雅黑" panose="020B0503020204020204" charset="-122"/>
                        </a:rPr>
                        <a:t>lgbm+3600s window</a:t>
                      </a:r>
                    </a:p>
                  </a:txBody>
                  <a:tcPr marL="68580" marR="68580" marT="0" marB="0"/>
                </a:tc>
                <a:tc>
                  <a:txBody>
                    <a:bodyPr/>
                    <a:lstStyle/>
                    <a:p>
                      <a:pPr indent="304800" algn="l">
                        <a:lnSpc>
                          <a:spcPts val="2000"/>
                        </a:lnSpc>
                      </a:pPr>
                      <a:r>
                        <a:rPr lang="en-US" sz="1600" kern="100">
                          <a:effectLst/>
                          <a:latin typeface="微软雅黑" panose="020B0503020204020204" charset="-122"/>
                          <a:ea typeface="微软雅黑" panose="020B0503020204020204" charset="-122"/>
                        </a:rPr>
                        <a:t>0.188</a:t>
                      </a:r>
                      <a:endParaRPr lang="zh-CN" sz="1600" kern="10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1"/>
                  </a:ext>
                </a:extLst>
              </a:tr>
              <a:tr h="25527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rPr>
                        <a:t>lgbm+2727s window</a:t>
                      </a:r>
                    </a:p>
                  </a:txBody>
                  <a:tcPr marL="68580" marR="68580" marT="0" marB="0"/>
                </a:tc>
                <a:tc>
                  <a:txBody>
                    <a:bodyPr/>
                    <a:lstStyle/>
                    <a:p>
                      <a:pPr indent="304800" algn="l">
                        <a:lnSpc>
                          <a:spcPts val="2000"/>
                        </a:lnSpc>
                      </a:pPr>
                      <a:r>
                        <a:rPr lang="en-US" sz="1600" kern="100" dirty="0">
                          <a:effectLst/>
                          <a:latin typeface="微软雅黑" panose="020B0503020204020204" charset="-122"/>
                          <a:ea typeface="微软雅黑" panose="020B0503020204020204" charset="-122"/>
                        </a:rPr>
                        <a:t>0.190</a:t>
                      </a:r>
                      <a:endParaRPr lang="zh-CN" sz="1600" kern="100" dirty="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2"/>
                  </a:ext>
                </a:extLst>
              </a:tr>
              <a:tr h="25527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rPr>
                        <a:t>lgbm+2000s </a:t>
                      </a:r>
                      <a:r>
                        <a:rPr lang="en-US" altLang="zh-CN" sz="1600" kern="100" dirty="0">
                          <a:effectLst/>
                          <a:latin typeface="微软雅黑" panose="020B0503020204020204" charset="-122"/>
                          <a:ea typeface="微软雅黑" panose="020B0503020204020204" charset="-122"/>
                          <a:sym typeface="+mn-ea"/>
                        </a:rPr>
                        <a:t>window</a:t>
                      </a:r>
                      <a:endParaRPr lang="zh-CN" altLang="en-US" sz="1600" kern="100" dirty="0">
                        <a:effectLst/>
                        <a:latin typeface="微软雅黑" panose="020B0503020204020204" charset="-122"/>
                        <a:ea typeface="微软雅黑" panose="020B0503020204020204" charset="-122"/>
                      </a:endParaRPr>
                    </a:p>
                  </a:txBody>
                  <a:tcPr marL="68580" marR="68580" marT="0" marB="0"/>
                </a:tc>
                <a:tc>
                  <a:txBody>
                    <a:bodyPr/>
                    <a:lstStyle/>
                    <a:p>
                      <a:pPr indent="304800" algn="l">
                        <a:lnSpc>
                          <a:spcPts val="2000"/>
                        </a:lnSpc>
                      </a:pPr>
                      <a:r>
                        <a:rPr lang="en-US" sz="1600" kern="100">
                          <a:effectLst/>
                          <a:latin typeface="微软雅黑" panose="020B0503020204020204" charset="-122"/>
                          <a:ea typeface="微软雅黑" panose="020B0503020204020204" charset="-122"/>
                        </a:rPr>
                        <a:t>0.186</a:t>
                      </a:r>
                      <a:endParaRPr lang="zh-CN" sz="1600" kern="10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3"/>
                  </a:ext>
                </a:extLst>
              </a:tr>
              <a:tr h="25527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rPr>
                        <a:t>Baseline prediction</a:t>
                      </a:r>
                    </a:p>
                  </a:txBody>
                  <a:tcPr marL="68580" marR="68580" marT="0" marB="0"/>
                </a:tc>
                <a:tc>
                  <a:txBody>
                    <a:bodyPr/>
                    <a:lstStyle/>
                    <a:p>
                      <a:pPr indent="304800" algn="l">
                        <a:lnSpc>
                          <a:spcPts val="2000"/>
                        </a:lnSpc>
                      </a:pPr>
                      <a:r>
                        <a:rPr lang="en-US" sz="1600" kern="100">
                          <a:effectLst/>
                          <a:latin typeface="微软雅黑" panose="020B0503020204020204" charset="-122"/>
                          <a:ea typeface="微软雅黑" panose="020B0503020204020204" charset="-122"/>
                        </a:rPr>
                        <a:t>NAN</a:t>
                      </a:r>
                      <a:endParaRPr lang="zh-CN" sz="1600" kern="10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4"/>
                  </a:ext>
                </a:extLst>
              </a:tr>
              <a:tr h="296545">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cs typeface="宋体" panose="02010600030101010101" pitchFamily="2" charset="-122"/>
                        </a:rPr>
                        <a:t>Multi-window voting</a:t>
                      </a:r>
                    </a:p>
                  </a:txBody>
                  <a:tcPr marL="68580" marR="68580" marT="0" marB="0"/>
                </a:tc>
                <a:tc>
                  <a:txBody>
                    <a:bodyPr/>
                    <a:lstStyle/>
                    <a:p>
                      <a:pPr indent="304800" algn="l">
                        <a:lnSpc>
                          <a:spcPts val="2000"/>
                        </a:lnSpc>
                      </a:pPr>
                      <a:r>
                        <a:rPr lang="en-US" sz="1600" kern="100" dirty="0">
                          <a:effectLst/>
                          <a:latin typeface="微软雅黑" panose="020B0503020204020204" charset="-122"/>
                          <a:ea typeface="微软雅黑" panose="020B0503020204020204" charset="-122"/>
                        </a:rPr>
                        <a:t>0.191</a:t>
                      </a:r>
                      <a:endParaRPr lang="zh-CN" sz="1600" kern="100" dirty="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5"/>
                  </a:ext>
                </a:extLst>
              </a:tr>
            </a:tbl>
          </a:graphicData>
        </a:graphic>
      </p:graphicFrame>
      <p:sp>
        <p:nvSpPr>
          <p:cNvPr id="49" name="文本框 48"/>
          <p:cNvSpPr txBox="1"/>
          <p:nvPr/>
        </p:nvSpPr>
        <p:spPr>
          <a:xfrm>
            <a:off x="962623" y="3951554"/>
            <a:ext cx="3688689" cy="307777"/>
          </a:xfrm>
          <a:prstGeom prst="rect">
            <a:avLst/>
          </a:prstGeom>
          <a:noFill/>
        </p:spPr>
        <p:txBody>
          <a:bodyPr wrap="square">
            <a:spAutoFit/>
          </a:bodyPr>
          <a:lstStyle/>
          <a:p>
            <a:endParaRPr lang="zh-CN" altLang="en-US" sz="1400" dirty="0">
              <a:latin typeface="微软雅黑" panose="020B0503020204020204" charset="-122"/>
              <a:ea typeface="微软雅黑" panose="020B0503020204020204" charset="-122"/>
            </a:endParaRPr>
          </a:p>
        </p:txBody>
      </p:sp>
      <p:sp>
        <p:nvSpPr>
          <p:cNvPr id="50" name="文本框 49"/>
          <p:cNvSpPr txBox="1"/>
          <p:nvPr/>
        </p:nvSpPr>
        <p:spPr>
          <a:xfrm>
            <a:off x="-481167" y="3525192"/>
            <a:ext cx="6313170" cy="56896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indent="0" algn="ctr">
              <a:buNone/>
            </a:pPr>
            <a:r>
              <a:rPr lang="en-US" altLang="zh-CN" sz="1600" b="1" noProof="0" dirty="0">
                <a:ln>
                  <a:noFill/>
                </a:ln>
                <a:effectLst/>
                <a:uLnTx/>
                <a:uFillTx/>
                <a:latin typeface="微软雅黑" panose="020B0503020204020204" charset="-122"/>
                <a:ea typeface="微软雅黑" panose="020B0503020204020204" charset="-122"/>
              </a:rPr>
              <a:t>Score Trend of Different Strategies</a:t>
            </a:r>
            <a:endParaRPr lang="en-US" altLang="zh-CN" sz="1600" dirty="0">
              <a:latin typeface="微软雅黑" panose="020B0503020204020204" charset="-122"/>
              <a:ea typeface="微软雅黑" panose="020B0503020204020204" charset="-122"/>
            </a:endParaRPr>
          </a:p>
        </p:txBody>
      </p:sp>
      <p:cxnSp>
        <p:nvCxnSpPr>
          <p:cNvPr id="53" name="直线连接符 52"/>
          <p:cNvCxnSpPr/>
          <p:nvPr/>
        </p:nvCxnSpPr>
        <p:spPr>
          <a:xfrm>
            <a:off x="377399" y="6006548"/>
            <a:ext cx="4896869" cy="0"/>
          </a:xfrm>
          <a:prstGeom prst="line">
            <a:avLst/>
          </a:prstGeom>
          <a:ln w="38100"/>
        </p:spPr>
        <p:style>
          <a:lnRef idx="1">
            <a:schemeClr val="accent2"/>
          </a:lnRef>
          <a:fillRef idx="0">
            <a:schemeClr val="accent2"/>
          </a:fillRef>
          <a:effectRef idx="0">
            <a:schemeClr val="accent2"/>
          </a:effectRef>
          <a:fontRef idx="minor">
            <a:schemeClr val="tx1"/>
          </a:fontRef>
        </p:style>
      </p:cxnSp>
      <p:graphicFrame>
        <p:nvGraphicFramePr>
          <p:cNvPr id="12" name="表格 11"/>
          <p:cNvGraphicFramePr>
            <a:graphicFrameLocks noGrp="1"/>
          </p:cNvGraphicFramePr>
          <p:nvPr>
            <p:custDataLst>
              <p:tags r:id="rId10"/>
            </p:custDataLst>
          </p:nvPr>
        </p:nvGraphicFramePr>
        <p:xfrm>
          <a:off x="132080" y="1856105"/>
          <a:ext cx="5287645" cy="1680210"/>
        </p:xfrm>
        <a:graphic>
          <a:graphicData uri="http://schemas.openxmlformats.org/drawingml/2006/table">
            <a:tbl>
              <a:tblPr firstRow="1" firstCol="1" bandRow="1">
                <a:tableStyleId>{5C22544A-7EE6-4342-B048-85BDC9FD1C3A}</a:tableStyleId>
              </a:tblPr>
              <a:tblGrid>
                <a:gridCol w="3155315">
                  <a:extLst>
                    <a:ext uri="{9D8B030D-6E8A-4147-A177-3AD203B41FA5}">
                      <a16:colId xmlns:a16="http://schemas.microsoft.com/office/drawing/2014/main" val="20000"/>
                    </a:ext>
                  </a:extLst>
                </a:gridCol>
                <a:gridCol w="2132330">
                  <a:extLst>
                    <a:ext uri="{9D8B030D-6E8A-4147-A177-3AD203B41FA5}">
                      <a16:colId xmlns:a16="http://schemas.microsoft.com/office/drawing/2014/main" val="20001"/>
                    </a:ext>
                  </a:extLst>
                </a:gridCol>
              </a:tblGrid>
              <a:tr h="358140">
                <a:tc>
                  <a:txBody>
                    <a:bodyPr/>
                    <a:lstStyle/>
                    <a:p>
                      <a:pPr indent="304800" algn="l">
                        <a:lnSpc>
                          <a:spcPts val="2000"/>
                        </a:lnSpc>
                        <a:buClrTx/>
                        <a:buSzTx/>
                        <a:buFontTx/>
                      </a:pPr>
                      <a:r>
                        <a:rPr lang="en-US" altLang="zh-CN" sz="1600" kern="100" dirty="0">
                          <a:effectLst/>
                          <a:latin typeface="微软雅黑" panose="020B0503020204020204" charset="-122"/>
                          <a:ea typeface="微软雅黑" panose="020B0503020204020204" charset="-122"/>
                        </a:rPr>
                        <a:t>Experiment Strategies</a:t>
                      </a:r>
                    </a:p>
                  </a:txBody>
                  <a:tcPr marL="68580" marR="68580" marT="0" marB="0"/>
                </a:tc>
                <a:tc>
                  <a:txBody>
                    <a:bodyPr/>
                    <a:lstStyle/>
                    <a:p>
                      <a:pPr indent="304800" algn="l">
                        <a:lnSpc>
                          <a:spcPts val="2000"/>
                        </a:lnSpc>
                        <a:buClrTx/>
                        <a:buSzTx/>
                        <a:buFontTx/>
                      </a:pPr>
                      <a:r>
                        <a:rPr lang="en-US" altLang="zh-CN" sz="1600" kern="100" dirty="0">
                          <a:effectLst/>
                          <a:latin typeface="微软雅黑" panose="020B0503020204020204" charset="-122"/>
                          <a:ea typeface="微软雅黑" panose="020B0503020204020204" charset="-122"/>
                        </a:rPr>
                        <a:t>Stage 1 Results</a:t>
                      </a:r>
                    </a:p>
                  </a:txBody>
                  <a:tcPr marL="68580" marR="68580" marT="0" marB="0"/>
                </a:tc>
                <a:extLst>
                  <a:ext uri="{0D108BD9-81ED-4DB2-BD59-A6C34878D82A}">
                    <a16:rowId xmlns:a16="http://schemas.microsoft.com/office/drawing/2014/main" val="10000"/>
                  </a:ext>
                </a:extLst>
              </a:tr>
              <a:tr h="306070">
                <a:tc>
                  <a:txBody>
                    <a:bodyPr/>
                    <a:lstStyle/>
                    <a:p>
                      <a:pPr indent="304800" algn="l">
                        <a:lnSpc>
                          <a:spcPts val="2000"/>
                        </a:lnSpc>
                      </a:pPr>
                      <a:r>
                        <a:rPr lang="en-US" altLang="zh-CN" sz="1600" kern="100">
                          <a:effectLst/>
                          <a:latin typeface="微软雅黑" panose="020B0503020204020204" charset="-122"/>
                          <a:ea typeface="微软雅黑" panose="020B0503020204020204" charset="-122"/>
                        </a:rPr>
                        <a:t>lgbm+3600s </a:t>
                      </a:r>
                      <a:r>
                        <a:rPr lang="en-US" altLang="zh-CN" sz="1600" kern="100">
                          <a:effectLst/>
                          <a:latin typeface="微软雅黑" panose="020B0503020204020204" charset="-122"/>
                          <a:ea typeface="微软雅黑" panose="020B0503020204020204" charset="-122"/>
                          <a:sym typeface="+mn-ea"/>
                        </a:rPr>
                        <a:t>window</a:t>
                      </a:r>
                      <a:endParaRPr lang="zh-CN" altLang="en-US" sz="1600" kern="100">
                        <a:effectLst/>
                        <a:latin typeface="微软雅黑" panose="020B0503020204020204" charset="-122"/>
                        <a:ea typeface="微软雅黑" panose="020B0503020204020204" charset="-122"/>
                      </a:endParaRPr>
                    </a:p>
                  </a:txBody>
                  <a:tcPr marL="68580" marR="68580" marT="0" marB="0"/>
                </a:tc>
                <a:tc>
                  <a:txBody>
                    <a:bodyPr/>
                    <a:lstStyle/>
                    <a:p>
                      <a:pPr indent="304800" algn="l">
                        <a:lnSpc>
                          <a:spcPts val="2000"/>
                        </a:lnSpc>
                      </a:pPr>
                      <a:r>
                        <a:rPr lang="en-US" sz="1600" kern="100">
                          <a:effectLst/>
                          <a:latin typeface="微软雅黑" panose="020B0503020204020204" charset="-122"/>
                          <a:ea typeface="微软雅黑" panose="020B0503020204020204" charset="-122"/>
                        </a:rPr>
                        <a:t>0.236</a:t>
                      </a:r>
                      <a:endParaRPr lang="zh-CN" sz="1600" kern="10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1"/>
                  </a:ext>
                </a:extLst>
              </a:tr>
              <a:tr h="25400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rPr>
                        <a:t>lgbm+2727s </a:t>
                      </a:r>
                      <a:r>
                        <a:rPr lang="en-US" altLang="zh-CN" sz="1600" kern="100">
                          <a:effectLst/>
                          <a:latin typeface="微软雅黑" panose="020B0503020204020204" charset="-122"/>
                          <a:ea typeface="微软雅黑" panose="020B0503020204020204" charset="-122"/>
                          <a:sym typeface="+mn-ea"/>
                        </a:rPr>
                        <a:t>window</a:t>
                      </a:r>
                      <a:endParaRPr lang="en-US" altLang="zh-CN" sz="1600" kern="100" dirty="0">
                        <a:effectLst/>
                        <a:latin typeface="微软雅黑" panose="020B0503020204020204" charset="-122"/>
                        <a:ea typeface="微软雅黑" panose="020B0503020204020204" charset="-122"/>
                      </a:endParaRPr>
                    </a:p>
                  </a:txBody>
                  <a:tcPr marL="68580" marR="68580" marT="0" marB="0"/>
                </a:tc>
                <a:tc>
                  <a:txBody>
                    <a:bodyPr/>
                    <a:lstStyle/>
                    <a:p>
                      <a:pPr indent="304800" algn="l">
                        <a:lnSpc>
                          <a:spcPts val="2000"/>
                        </a:lnSpc>
                      </a:pPr>
                      <a:r>
                        <a:rPr lang="en-US" sz="1600" kern="100" dirty="0">
                          <a:effectLst/>
                          <a:latin typeface="微软雅黑" panose="020B0503020204020204" charset="-122"/>
                          <a:ea typeface="微软雅黑" panose="020B0503020204020204" charset="-122"/>
                        </a:rPr>
                        <a:t>0.251</a:t>
                      </a:r>
                      <a:endParaRPr lang="zh-CN" sz="1600" kern="100" dirty="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2"/>
                  </a:ext>
                </a:extLst>
              </a:tr>
              <a:tr h="25400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rPr>
                        <a:t>lgbm+2000s window</a:t>
                      </a:r>
                    </a:p>
                  </a:txBody>
                  <a:tcPr marL="68580" marR="68580" marT="0" marB="0"/>
                </a:tc>
                <a:tc>
                  <a:txBody>
                    <a:bodyPr/>
                    <a:lstStyle/>
                    <a:p>
                      <a:pPr indent="304800" algn="l">
                        <a:lnSpc>
                          <a:spcPts val="2000"/>
                        </a:lnSpc>
                      </a:pPr>
                      <a:r>
                        <a:rPr lang="en-US" sz="1600" kern="100">
                          <a:effectLst/>
                          <a:latin typeface="微软雅黑" panose="020B0503020204020204" charset="-122"/>
                          <a:ea typeface="微软雅黑" panose="020B0503020204020204" charset="-122"/>
                        </a:rPr>
                        <a:t>0.205</a:t>
                      </a:r>
                      <a:endParaRPr lang="zh-CN" sz="1600" kern="10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3"/>
                  </a:ext>
                </a:extLst>
              </a:tr>
              <a:tr h="25400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sym typeface="+mn-ea"/>
                        </a:rPr>
                        <a:t>Baseline prediction</a:t>
                      </a:r>
                      <a:endParaRPr lang="zh-CN" altLang="en-US" sz="1600" kern="100" dirty="0">
                        <a:effectLst/>
                        <a:latin typeface="微软雅黑" panose="020B0503020204020204" charset="-122"/>
                        <a:ea typeface="微软雅黑" panose="020B0503020204020204" charset="-122"/>
                      </a:endParaRPr>
                    </a:p>
                  </a:txBody>
                  <a:tcPr marL="68580" marR="68580" marT="0" marB="0"/>
                </a:tc>
                <a:tc>
                  <a:txBody>
                    <a:bodyPr/>
                    <a:lstStyle/>
                    <a:p>
                      <a:pPr indent="304800" algn="l">
                        <a:lnSpc>
                          <a:spcPts val="2000"/>
                        </a:lnSpc>
                      </a:pPr>
                      <a:r>
                        <a:rPr lang="en-US" altLang="zh-CN" sz="1600" kern="100">
                          <a:effectLst/>
                          <a:latin typeface="微软雅黑" panose="020B0503020204020204" charset="-122"/>
                          <a:ea typeface="微软雅黑" panose="020B0503020204020204" charset="-122"/>
                          <a:cs typeface="宋体" panose="02010600030101010101" pitchFamily="2" charset="-122"/>
                        </a:rPr>
                        <a:t>0.207</a:t>
                      </a:r>
                    </a:p>
                  </a:txBody>
                  <a:tcPr marL="68580" marR="68580" marT="0" marB="0"/>
                </a:tc>
                <a:extLst>
                  <a:ext uri="{0D108BD9-81ED-4DB2-BD59-A6C34878D82A}">
                    <a16:rowId xmlns:a16="http://schemas.microsoft.com/office/drawing/2014/main" val="10004"/>
                  </a:ext>
                </a:extLst>
              </a:tr>
              <a:tr h="254000">
                <a:tc>
                  <a:txBody>
                    <a:bodyPr/>
                    <a:lstStyle/>
                    <a:p>
                      <a:pPr indent="304800" algn="l">
                        <a:lnSpc>
                          <a:spcPts val="2000"/>
                        </a:lnSpc>
                      </a:pPr>
                      <a:r>
                        <a:rPr lang="en-US" altLang="zh-CN" sz="1600" kern="100" dirty="0">
                          <a:effectLst/>
                          <a:latin typeface="微软雅黑" panose="020B0503020204020204" charset="-122"/>
                          <a:ea typeface="微软雅黑" panose="020B0503020204020204" charset="-122"/>
                          <a:cs typeface="宋体" panose="02010600030101010101" pitchFamily="2" charset="-122"/>
                          <a:sym typeface="+mn-ea"/>
                        </a:rPr>
                        <a:t>Multi-window voting</a:t>
                      </a:r>
                      <a:endParaRPr lang="zh-CN" sz="1600" kern="100" dirty="0">
                        <a:effectLst/>
                        <a:latin typeface="微软雅黑" panose="020B0503020204020204" charset="-122"/>
                        <a:ea typeface="微软雅黑" panose="020B0503020204020204" charset="-122"/>
                        <a:cs typeface="宋体" panose="02010600030101010101" pitchFamily="2" charset="-122"/>
                      </a:endParaRPr>
                    </a:p>
                  </a:txBody>
                  <a:tcPr marL="68580" marR="68580" marT="0" marB="0"/>
                </a:tc>
                <a:tc>
                  <a:txBody>
                    <a:bodyPr/>
                    <a:lstStyle/>
                    <a:p>
                      <a:pPr indent="304800" algn="l">
                        <a:lnSpc>
                          <a:spcPts val="2000"/>
                        </a:lnSpc>
                      </a:pPr>
                      <a:r>
                        <a:rPr lang="en-US" sz="1600" kern="100" dirty="0">
                          <a:effectLst/>
                          <a:latin typeface="微软雅黑" panose="020B0503020204020204" charset="-122"/>
                          <a:ea typeface="微软雅黑" panose="020B0503020204020204" charset="-122"/>
                        </a:rPr>
                        <a:t>0.260</a:t>
                      </a:r>
                      <a:endParaRPr lang="zh-CN" sz="1600" kern="100" dirty="0">
                        <a:effectLst/>
                        <a:latin typeface="微软雅黑" panose="020B0503020204020204" charset="-122"/>
                        <a:ea typeface="微软雅黑" panose="020B0503020204020204" charset="-122"/>
                        <a:cs typeface="宋体" panose="02010600030101010101" pitchFamily="2" charset="-122"/>
                      </a:endParaRPr>
                    </a:p>
                  </a:txBody>
                  <a:tcPr marL="68580" marR="68580" marT="0" marB="0"/>
                </a:tc>
                <a:extLst>
                  <a:ext uri="{0D108BD9-81ED-4DB2-BD59-A6C34878D82A}">
                    <a16:rowId xmlns:a16="http://schemas.microsoft.com/office/drawing/2014/main" val="10005"/>
                  </a:ext>
                </a:extLst>
              </a:tr>
            </a:tbl>
          </a:graphicData>
        </a:graphic>
      </p:graphicFrame>
      <p:sp>
        <p:nvSpPr>
          <p:cNvPr id="20" name="矩形 19"/>
          <p:cNvSpPr/>
          <p:nvPr/>
        </p:nvSpPr>
        <p:spPr>
          <a:xfrm>
            <a:off x="8955405" y="5798820"/>
            <a:ext cx="386080" cy="60388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文本框 20"/>
          <p:cNvSpPr txBox="1"/>
          <p:nvPr/>
        </p:nvSpPr>
        <p:spPr>
          <a:xfrm>
            <a:off x="9749155" y="5811520"/>
            <a:ext cx="2950210" cy="337185"/>
          </a:xfrm>
          <a:prstGeom prst="rect">
            <a:avLst/>
          </a:prstGeom>
          <a:noFill/>
        </p:spPr>
        <p:txBody>
          <a:bodyPr wrap="square" rtlCol="0">
            <a:spAutoFit/>
          </a:bodyPr>
          <a:lstStyle/>
          <a:p>
            <a:pPr algn="l">
              <a:spcBef>
                <a:spcPts val="0"/>
              </a:spcBef>
              <a:spcAft>
                <a:spcPts val="0"/>
              </a:spcAft>
              <a:buClrTx/>
              <a:buSzTx/>
              <a:buFont typeface="Arial" panose="020B0604020202020204" pitchFamily="34" charset="0"/>
              <a:defRPr/>
            </a:pPr>
            <a:r>
              <a:rPr kumimoji="1" lang="en-US" altLang="zh-CN" sz="1600" dirty="0">
                <a:highlight>
                  <a:srgbClr val="FFFF00"/>
                </a:highlight>
                <a:latin typeface="微软雅黑" panose="020B0503020204020204" charset="-122"/>
                <a:ea typeface="微软雅黑" panose="020B0503020204020204" charset="-122"/>
              </a:rPr>
              <a:t>Improve 0.009</a:t>
            </a:r>
            <a:r>
              <a:rPr kumimoji="1" lang="zh-CN" altLang="en-US" sz="1600" dirty="0">
                <a:highlight>
                  <a:srgbClr val="FFFF00"/>
                </a:highlight>
                <a:latin typeface="微软雅黑" panose="020B0503020204020204" charset="-122"/>
                <a:ea typeface="微软雅黑" panose="020B0503020204020204" charset="-122"/>
              </a:rPr>
              <a:t> stage_1</a:t>
            </a:r>
          </a:p>
        </p:txBody>
      </p:sp>
      <p:sp>
        <p:nvSpPr>
          <p:cNvPr id="22" name="文本框 21"/>
          <p:cNvSpPr txBox="1"/>
          <p:nvPr/>
        </p:nvSpPr>
        <p:spPr>
          <a:xfrm>
            <a:off x="9751060" y="6176645"/>
            <a:ext cx="2580640" cy="337185"/>
          </a:xfrm>
          <a:prstGeom prst="rect">
            <a:avLst/>
          </a:prstGeom>
          <a:noFill/>
        </p:spPr>
        <p:txBody>
          <a:bodyPr wrap="square" rtlCol="0">
            <a:spAutoFit/>
          </a:bodyPr>
          <a:lstStyle/>
          <a:p>
            <a:r>
              <a:rPr kumimoji="1" lang="en-US" altLang="zh-CN" sz="1600" dirty="0">
                <a:highlight>
                  <a:srgbClr val="FFFF00"/>
                </a:highlight>
                <a:latin typeface="微软雅黑" panose="020B0503020204020204" charset="-122"/>
                <a:ea typeface="微软雅黑" panose="020B0503020204020204" charset="-122"/>
                <a:sym typeface="+mn-ea"/>
              </a:rPr>
              <a:t>Improve </a:t>
            </a:r>
            <a:r>
              <a:rPr kumimoji="1" lang="en-US" altLang="zh-CN" sz="1600" noProof="0" dirty="0">
                <a:ln>
                  <a:noFill/>
                </a:ln>
                <a:effectLst/>
                <a:highlight>
                  <a:srgbClr val="FFFF00"/>
                </a:highlight>
                <a:uLnTx/>
                <a:uFillTx/>
                <a:latin typeface="微软雅黑" panose="020B0503020204020204" charset="-122"/>
                <a:ea typeface="微软雅黑" panose="020B0503020204020204" charset="-122"/>
              </a:rPr>
              <a:t>0.001</a:t>
            </a:r>
            <a:r>
              <a:rPr kumimoji="1" lang="zh-CN" altLang="en-US" sz="1600" noProof="0" dirty="0">
                <a:ln>
                  <a:noFill/>
                </a:ln>
                <a:effectLst/>
                <a:highlight>
                  <a:srgbClr val="FFFF00"/>
                </a:highlight>
                <a:uLnTx/>
                <a:uFillTx/>
                <a:latin typeface="微软雅黑" panose="020B0503020204020204" charset="-122"/>
                <a:ea typeface="微软雅黑" panose="020B0503020204020204" charset="-122"/>
              </a:rPr>
              <a:t> stage_2</a:t>
            </a:r>
          </a:p>
        </p:txBody>
      </p:sp>
      <p:grpSp>
        <p:nvGrpSpPr>
          <p:cNvPr id="26" name="组合 25"/>
          <p:cNvGrpSpPr/>
          <p:nvPr/>
        </p:nvGrpSpPr>
        <p:grpSpPr>
          <a:xfrm>
            <a:off x="9131300" y="4470400"/>
            <a:ext cx="648335" cy="558800"/>
            <a:chOff x="14092" y="3821"/>
            <a:chExt cx="1244" cy="1025"/>
          </a:xfrm>
        </p:grpSpPr>
        <p:sp>
          <p:nvSpPr>
            <p:cNvPr id="27" name="手杖形箭头 26"/>
            <p:cNvSpPr/>
            <p:nvPr/>
          </p:nvSpPr>
          <p:spPr>
            <a:xfrm rot="10020000" flipH="1">
              <a:off x="14346" y="3821"/>
              <a:ext cx="990" cy="927"/>
            </a:xfrm>
            <a:prstGeom prst="utur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9" name="矩形 28"/>
            <p:cNvSpPr/>
            <p:nvPr/>
          </p:nvSpPr>
          <p:spPr>
            <a:xfrm>
              <a:off x="14092" y="3896"/>
              <a:ext cx="608" cy="95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3" name="文本框 32"/>
          <p:cNvSpPr txBox="1"/>
          <p:nvPr/>
        </p:nvSpPr>
        <p:spPr>
          <a:xfrm>
            <a:off x="9816465" y="4392295"/>
            <a:ext cx="2419985" cy="337185"/>
          </a:xfrm>
          <a:prstGeom prst="rect">
            <a:avLst/>
          </a:prstGeom>
          <a:noFill/>
        </p:spPr>
        <p:txBody>
          <a:bodyPr wrap="square" rtlCol="0">
            <a:spAutoFit/>
          </a:bodyPr>
          <a:lstStyle/>
          <a:p>
            <a:pPr algn="l">
              <a:spcBef>
                <a:spcPts val="0"/>
              </a:spcBef>
              <a:spcAft>
                <a:spcPts val="0"/>
              </a:spcAft>
              <a:buClrTx/>
              <a:buSzTx/>
              <a:buFont typeface="Arial" panose="020B0604020202020204" pitchFamily="34" charset="0"/>
              <a:defRPr/>
            </a:pPr>
            <a:r>
              <a:rPr kumimoji="1" lang="en-US" altLang="zh-CN" sz="1600" dirty="0">
                <a:highlight>
                  <a:srgbClr val="FFFF00"/>
                </a:highlight>
                <a:latin typeface="微软雅黑" panose="020B0503020204020204" charset="-122"/>
                <a:ea typeface="微软雅黑" panose="020B0503020204020204" charset="-122"/>
                <a:sym typeface="+mn-ea"/>
              </a:rPr>
              <a:t>Improve </a:t>
            </a:r>
            <a:r>
              <a:rPr kumimoji="1" lang="en-US" altLang="zh-CN" sz="1600" dirty="0">
                <a:highlight>
                  <a:srgbClr val="FFFF00"/>
                </a:highlight>
                <a:latin typeface="微软雅黑" panose="020B0503020204020204" charset="-122"/>
                <a:ea typeface="微软雅黑" panose="020B0503020204020204" charset="-122"/>
              </a:rPr>
              <a:t>0.015</a:t>
            </a:r>
            <a:r>
              <a:rPr kumimoji="1" lang="zh-CN" altLang="en-US" sz="1600" dirty="0">
                <a:highlight>
                  <a:srgbClr val="FFFF00"/>
                </a:highlight>
                <a:latin typeface="微软雅黑" panose="020B0503020204020204" charset="-122"/>
                <a:ea typeface="微软雅黑" panose="020B0503020204020204" charset="-122"/>
              </a:rPr>
              <a:t> stage_1</a:t>
            </a:r>
          </a:p>
        </p:txBody>
      </p:sp>
      <p:sp>
        <p:nvSpPr>
          <p:cNvPr id="36" name="文本框 35"/>
          <p:cNvSpPr txBox="1"/>
          <p:nvPr/>
        </p:nvSpPr>
        <p:spPr>
          <a:xfrm>
            <a:off x="9852025" y="4759325"/>
            <a:ext cx="2454910" cy="337185"/>
          </a:xfrm>
          <a:prstGeom prst="rect">
            <a:avLst/>
          </a:prstGeom>
          <a:noFill/>
        </p:spPr>
        <p:txBody>
          <a:bodyPr wrap="square" rtlCol="0">
            <a:spAutoFit/>
          </a:bodyPr>
          <a:lstStyle/>
          <a:p>
            <a:r>
              <a:rPr kumimoji="1" lang="en-US" altLang="zh-CN" sz="1600" dirty="0">
                <a:highlight>
                  <a:srgbClr val="FFFF00"/>
                </a:highlight>
                <a:latin typeface="微软雅黑" panose="020B0503020204020204" charset="-122"/>
                <a:ea typeface="微软雅黑" panose="020B0503020204020204" charset="-122"/>
                <a:sym typeface="+mn-ea"/>
              </a:rPr>
              <a:t>Improve </a:t>
            </a:r>
            <a:r>
              <a:rPr kumimoji="1" lang="en-US" altLang="zh-CN" sz="1600" noProof="0" dirty="0">
                <a:ln>
                  <a:noFill/>
                </a:ln>
                <a:effectLst/>
                <a:highlight>
                  <a:srgbClr val="FFFF00"/>
                </a:highlight>
                <a:uLnTx/>
                <a:uFillTx/>
                <a:latin typeface="微软雅黑" panose="020B0503020204020204" charset="-122"/>
                <a:ea typeface="微软雅黑" panose="020B0503020204020204" charset="-122"/>
              </a:rPr>
              <a:t>0.002 </a:t>
            </a:r>
            <a:r>
              <a:rPr kumimoji="1" lang="zh-CN" altLang="en-US" sz="1600" noProof="0" dirty="0">
                <a:ln>
                  <a:noFill/>
                </a:ln>
                <a:effectLst/>
                <a:highlight>
                  <a:srgbClr val="FFFF00"/>
                </a:highlight>
                <a:uLnTx/>
                <a:uFillTx/>
                <a:latin typeface="微软雅黑" panose="020B0503020204020204" charset="-122"/>
                <a:ea typeface="微软雅黑" panose="020B0503020204020204" charset="-122"/>
              </a:rPr>
              <a:t>stage_2</a:t>
            </a:r>
          </a:p>
        </p:txBody>
      </p:sp>
      <p:sp>
        <p:nvSpPr>
          <p:cNvPr id="39" name="文本框 38"/>
          <p:cNvSpPr txBox="1"/>
          <p:nvPr/>
        </p:nvSpPr>
        <p:spPr>
          <a:xfrm>
            <a:off x="9776460" y="2896870"/>
            <a:ext cx="2341880" cy="337185"/>
          </a:xfrm>
          <a:prstGeom prst="rect">
            <a:avLst/>
          </a:prstGeom>
          <a:noFill/>
        </p:spPr>
        <p:txBody>
          <a:bodyPr wrap="square" rtlCol="0">
            <a:spAutoFit/>
          </a:bodyPr>
          <a:lstStyle/>
          <a:p>
            <a:pPr algn="l">
              <a:spcBef>
                <a:spcPts val="0"/>
              </a:spcBef>
              <a:spcAft>
                <a:spcPts val="0"/>
              </a:spcAft>
              <a:buClrTx/>
              <a:buSzTx/>
              <a:buFont typeface="Arial" panose="020B0604020202020204" pitchFamily="34" charset="0"/>
              <a:defRPr/>
            </a:pPr>
            <a:r>
              <a:rPr kumimoji="1" lang="en-US" altLang="zh-CN" sz="1600" dirty="0">
                <a:highlight>
                  <a:srgbClr val="FFFF00"/>
                </a:highlight>
                <a:latin typeface="微软雅黑" panose="020B0503020204020204" charset="-122"/>
                <a:ea typeface="微软雅黑" panose="020B0503020204020204" charset="-122"/>
                <a:sym typeface="+mn-ea"/>
              </a:rPr>
              <a:t>Improve</a:t>
            </a:r>
            <a:r>
              <a:rPr kumimoji="1" lang="en-US" altLang="zh-CN" sz="1600" dirty="0">
                <a:highlight>
                  <a:srgbClr val="FFFF00"/>
                </a:highlight>
                <a:latin typeface="微软雅黑" panose="020B0503020204020204" charset="-122"/>
                <a:ea typeface="微软雅黑" panose="020B0503020204020204" charset="-122"/>
              </a:rPr>
              <a:t>0.019</a:t>
            </a:r>
            <a:r>
              <a:rPr kumimoji="1" lang="zh-CN" altLang="en-US" sz="1600" dirty="0">
                <a:highlight>
                  <a:srgbClr val="FFFF00"/>
                </a:highlight>
                <a:latin typeface="微软雅黑" panose="020B0503020204020204" charset="-122"/>
                <a:ea typeface="微软雅黑" panose="020B0503020204020204" charset="-122"/>
              </a:rPr>
              <a:t> stage_1</a:t>
            </a:r>
          </a:p>
        </p:txBody>
      </p:sp>
      <p:cxnSp>
        <p:nvCxnSpPr>
          <p:cNvPr id="2"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9100820" y="5814060"/>
            <a:ext cx="648335" cy="558800"/>
            <a:chOff x="14092" y="3821"/>
            <a:chExt cx="1244" cy="1025"/>
          </a:xfrm>
        </p:grpSpPr>
        <p:sp>
          <p:nvSpPr>
            <p:cNvPr id="14" name="手杖形箭头 13"/>
            <p:cNvSpPr/>
            <p:nvPr/>
          </p:nvSpPr>
          <p:spPr>
            <a:xfrm rot="10020000" flipH="1">
              <a:off x="14346" y="3821"/>
              <a:ext cx="990" cy="927"/>
            </a:xfrm>
            <a:prstGeom prst="utur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7" name="矩形 16"/>
            <p:cNvSpPr/>
            <p:nvPr/>
          </p:nvSpPr>
          <p:spPr>
            <a:xfrm>
              <a:off x="14092" y="3896"/>
              <a:ext cx="608" cy="95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3" name="文本框 22"/>
          <p:cNvSpPr txBox="1"/>
          <p:nvPr/>
        </p:nvSpPr>
        <p:spPr>
          <a:xfrm>
            <a:off x="-36195" y="-43815"/>
            <a:ext cx="9865995" cy="829945"/>
          </a:xfrm>
          <a:prstGeom prst="rect">
            <a:avLst/>
          </a:prstGeom>
          <a:noFill/>
        </p:spPr>
        <p:txBody>
          <a:bodyPr wrap="square" rtlCol="0" anchor="t">
            <a:spAutoFit/>
          </a:bodyPr>
          <a:lstStyle/>
          <a:p>
            <a:pPr marL="0" marR="0" lvl="0" algn="l" defTabSz="914400" rtl="0" eaLnBrk="1" fontAlgn="auto" latinLnBrk="0" hangingPunct="1">
              <a:lnSpc>
                <a:spcPct val="100000"/>
              </a:lnSpc>
              <a:spcBef>
                <a:spcPts val="0"/>
              </a:spcBef>
              <a:buClrTx/>
              <a:buSzTx/>
              <a:buFontTx/>
              <a:buNone/>
            </a:pPr>
            <a:r>
              <a:rPr lang="en-US" altLang="zh-CN" sz="4800" b="1" kern="100" dirty="0">
                <a:solidFill>
                  <a:schemeClr val="accent1"/>
                </a:solidFill>
                <a:latin typeface="+mn-ea"/>
                <a:cs typeface="Times New Roman" panose="02020603050405020304" pitchFamily="18" charset="0"/>
                <a:sym typeface="+mn-ea"/>
              </a:rPr>
              <a:t>Final Score Variation Results</a:t>
            </a:r>
          </a:p>
        </p:txBody>
      </p:sp>
      <p:pic>
        <p:nvPicPr>
          <p:cNvPr id="7" name="Picture 1"/>
          <p:cNvPicPr>
            <a:picLocks noChangeAspect="1" noChangeArrowheads="1"/>
          </p:cNvPicPr>
          <p:nvPr>
            <p:custDataLst>
              <p:tags r:id="rId11"/>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16696"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Conclusions</a:t>
            </a:r>
          </a:p>
        </p:txBody>
      </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28270" y="955040"/>
            <a:ext cx="11943080" cy="444500"/>
          </a:xfrm>
          <a:prstGeom prst="rect">
            <a:avLst/>
          </a:prstGeom>
          <a:gradFill>
            <a:gsLst>
              <a:gs pos="21000">
                <a:srgbClr val="FFE699">
                  <a:alpha val="51000"/>
                </a:srgbClr>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5" name="矩形 4"/>
          <p:cNvSpPr/>
          <p:nvPr/>
        </p:nvSpPr>
        <p:spPr>
          <a:xfrm>
            <a:off x="-75565" y="1480185"/>
            <a:ext cx="12192000" cy="4921885"/>
          </a:xfrm>
          <a:prstGeom prst="rect">
            <a:avLst/>
          </a:prstGeom>
          <a:solidFill>
            <a:schemeClr val="accent4">
              <a:lumMod val="40000"/>
              <a:lumOff val="60000"/>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1029288" y="999528"/>
            <a:ext cx="4072255" cy="337185"/>
          </a:xfrm>
          <a:prstGeom prst="rect">
            <a:avLst/>
          </a:prstGeom>
          <a:noFill/>
        </p:spPr>
        <p:txBody>
          <a:bodyPr wrap="none" rtlCol="0">
            <a:spAutoFit/>
          </a:bodyPr>
          <a:lstStyle/>
          <a:p>
            <a:pPr algn="l">
              <a:defRPr/>
            </a:pPr>
            <a:r>
              <a:rPr kumimoji="1" lang="zh-CN" altLang="en-US" sz="1600" b="1" noProof="0" dirty="0">
                <a:ln>
                  <a:noFill/>
                </a:ln>
                <a:effectLst/>
                <a:uLnTx/>
                <a:uFillTx/>
                <a:latin typeface="微软雅黑" panose="020B0503020204020204" charset="-122"/>
                <a:ea typeface="微软雅黑" panose="020B0503020204020204" charset="-122"/>
              </a:rPr>
              <a:t>Attempted but ineffective approaches</a:t>
            </a:r>
            <a:endParaRPr lang="en-US" altLang="zh-CN" sz="1600" dirty="0">
              <a:latin typeface="微软雅黑" panose="020B0503020204020204" charset="-122"/>
              <a:ea typeface="微软雅黑" panose="020B0503020204020204" charset="-122"/>
            </a:endParaRPr>
          </a:p>
        </p:txBody>
      </p:sp>
      <p:sp>
        <p:nvSpPr>
          <p:cNvPr id="8" name="文本框 7"/>
          <p:cNvSpPr txBox="1"/>
          <p:nvPr/>
        </p:nvSpPr>
        <p:spPr>
          <a:xfrm>
            <a:off x="7120706" y="973233"/>
            <a:ext cx="2695575"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Exploration and Outlook</a:t>
            </a:r>
          </a:p>
        </p:txBody>
      </p:sp>
      <p:cxnSp>
        <p:nvCxnSpPr>
          <p:cNvPr id="9" name="直线连接符 8"/>
          <p:cNvCxnSpPr/>
          <p:nvPr>
            <p:custDataLst>
              <p:tags r:id="rId1"/>
            </p:custDataLst>
          </p:nvPr>
        </p:nvCxnSpPr>
        <p:spPr>
          <a:xfrm flipH="1">
            <a:off x="5509807" y="1311787"/>
            <a:ext cx="0" cy="4896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燕尾形 9"/>
          <p:cNvSpPr/>
          <p:nvPr/>
        </p:nvSpPr>
        <p:spPr>
          <a:xfrm>
            <a:off x="5385520" y="950909"/>
            <a:ext cx="248575" cy="444438"/>
          </a:xfrm>
          <a:prstGeom prst="chevron">
            <a:avLst>
              <a:gd name="adj" fmla="val 746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11" name="文本框 10"/>
          <p:cNvSpPr txBox="1"/>
          <p:nvPr>
            <p:custDataLst>
              <p:tags r:id="rId2"/>
            </p:custDataLst>
          </p:nvPr>
        </p:nvSpPr>
        <p:spPr>
          <a:xfrm>
            <a:off x="6034714" y="2722361"/>
            <a:ext cx="4505319" cy="106172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dirty="0">
                <a:latin typeface="微软雅黑" panose="020B0503020204020204" charset="-122"/>
                <a:ea typeface="微软雅黑" panose="020B0503020204020204" charset="-122"/>
              </a:rPr>
              <a:t>Target Alignment Optimization:</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 Optimize the labels/loss function to more directly align with the SN-level F1 metric.</a:t>
            </a:r>
          </a:p>
        </p:txBody>
      </p:sp>
      <p:sp>
        <p:nvSpPr>
          <p:cNvPr id="12" name="文本框 11"/>
          <p:cNvSpPr txBox="1"/>
          <p:nvPr>
            <p:custDataLst>
              <p:tags r:id="rId3"/>
            </p:custDataLst>
          </p:nvPr>
        </p:nvSpPr>
        <p:spPr>
          <a:xfrm>
            <a:off x="6061710" y="3924300"/>
            <a:ext cx="5653405" cy="130810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rPr>
              <a:t>Model Feature Deepening: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i="0" u="none" strike="noStrike" kern="1200" cap="none" spc="0" normalizeH="0" baseline="0" noProof="0" dirty="0">
                <a:ln>
                  <a:noFill/>
                </a:ln>
                <a:effectLst/>
                <a:uLnTx/>
                <a:uFillTx/>
                <a:latin typeface="微软雅黑" panose="020B0503020204020204" charset="-122"/>
                <a:ea typeface="微软雅黑" panose="020B0503020204020204" charset="-122"/>
              </a:rPr>
              <a:t>Model: Attempted multi-model ensembling/fusion.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i="0" u="none" strike="noStrike" kern="1200" cap="none" spc="0" normalizeH="0" baseline="0" noProof="0" dirty="0">
                <a:ln>
                  <a:noFill/>
                </a:ln>
                <a:effectLst/>
                <a:uLnTx/>
                <a:uFillTx/>
                <a:latin typeface="微软雅黑" panose="020B0503020204020204" charset="-122"/>
                <a:ea typeface="微软雅黑" panose="020B0503020204020204" charset="-122"/>
              </a:rPr>
              <a:t>Features: Refined/expanded features (cross-window, global).</a:t>
            </a:r>
          </a:p>
        </p:txBody>
      </p:sp>
      <p:sp>
        <p:nvSpPr>
          <p:cNvPr id="13" name="文本框 12"/>
          <p:cNvSpPr txBox="1"/>
          <p:nvPr>
            <p:custDataLst>
              <p:tags r:id="rId4"/>
            </p:custDataLst>
          </p:nvPr>
        </p:nvSpPr>
        <p:spPr>
          <a:xfrm>
            <a:off x="6043295" y="5347970"/>
            <a:ext cx="5382895" cy="106172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rPr>
              <a:t>External Information Fusion:</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 Consider incorporating system-level information such as server load and temperature.</a:t>
            </a:r>
          </a:p>
        </p:txBody>
      </p:sp>
      <p:cxnSp>
        <p:nvCxnSpPr>
          <p:cNvPr id="14" name="直线连接符 13"/>
          <p:cNvCxnSpPr/>
          <p:nvPr>
            <p:custDataLst>
              <p:tags r:id="rId5"/>
            </p:custDataLst>
          </p:nvPr>
        </p:nvCxnSpPr>
        <p:spPr>
          <a:xfrm>
            <a:off x="6248833" y="2621513"/>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custDataLst>
              <p:tags r:id="rId6"/>
            </p:custDataLst>
          </p:nvPr>
        </p:nvCxnSpPr>
        <p:spPr>
          <a:xfrm>
            <a:off x="6247563" y="3853299"/>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custDataLst>
              <p:tags r:id="rId7"/>
            </p:custDataLst>
          </p:nvPr>
        </p:nvCxnSpPr>
        <p:spPr>
          <a:xfrm>
            <a:off x="6321858" y="5303667"/>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椭圆 17"/>
          <p:cNvSpPr/>
          <p:nvPr>
            <p:custDataLst>
              <p:tags r:id="rId8"/>
            </p:custDataLst>
          </p:nvPr>
        </p:nvSpPr>
        <p:spPr>
          <a:xfrm>
            <a:off x="5648286" y="1863641"/>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1</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9" name="椭圆 18"/>
          <p:cNvSpPr/>
          <p:nvPr>
            <p:custDataLst>
              <p:tags r:id="rId9"/>
            </p:custDataLst>
          </p:nvPr>
        </p:nvSpPr>
        <p:spPr>
          <a:xfrm>
            <a:off x="5688291" y="3091423"/>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2</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0" name="椭圆 19"/>
          <p:cNvSpPr/>
          <p:nvPr>
            <p:custDataLst>
              <p:tags r:id="rId10"/>
            </p:custDataLst>
          </p:nvPr>
        </p:nvSpPr>
        <p:spPr>
          <a:xfrm>
            <a:off x="5636856" y="4321642"/>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3</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1" name="椭圆 20"/>
          <p:cNvSpPr/>
          <p:nvPr>
            <p:custDataLst>
              <p:tags r:id="rId11"/>
            </p:custDataLst>
          </p:nvPr>
        </p:nvSpPr>
        <p:spPr>
          <a:xfrm>
            <a:off x="5642571" y="5531724"/>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4</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2" name="文本框 21"/>
          <p:cNvSpPr txBox="1"/>
          <p:nvPr>
            <p:custDataLst>
              <p:tags r:id="rId12"/>
            </p:custDataLst>
          </p:nvPr>
        </p:nvSpPr>
        <p:spPr>
          <a:xfrm>
            <a:off x="6007735" y="1605915"/>
            <a:ext cx="5094605" cy="106172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lvl="0" indent="0">
              <a:buNone/>
              <a:defRPr/>
            </a:pPr>
            <a:r>
              <a:rPr lang="en-US" altLang="zh-CN" b="1" dirty="0">
                <a:latin typeface="微软雅黑" panose="020B0503020204020204" charset="-122"/>
                <a:ea typeface="微软雅黑" panose="020B0503020204020204" charset="-122"/>
              </a:rPr>
              <a:t>Validation Strategy Upgrade: </a:t>
            </a:r>
            <a:r>
              <a:rPr lang="en-US" altLang="zh-CN" dirty="0">
                <a:latin typeface="微软雅黑" panose="020B0503020204020204" charset="-122"/>
                <a:ea typeface="微软雅黑" panose="020B0503020204020204" charset="-122"/>
              </a:rPr>
              <a:t>Explore time-based cross-validation to better reflect real-world deployment scenarios.</a:t>
            </a:r>
          </a:p>
        </p:txBody>
      </p:sp>
      <p:cxnSp>
        <p:nvCxnSpPr>
          <p:cNvPr id="23" name="直线连接符 22"/>
          <p:cNvCxnSpPr/>
          <p:nvPr/>
        </p:nvCxnSpPr>
        <p:spPr>
          <a:xfrm flipH="1">
            <a:off x="128126" y="1391460"/>
            <a:ext cx="0" cy="4896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13"/>
            </p:custDataLst>
          </p:nvPr>
        </p:nvSpPr>
        <p:spPr>
          <a:xfrm>
            <a:off x="667385" y="2609215"/>
            <a:ext cx="5010785" cy="130810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dirty="0">
                <a:latin typeface="微软雅黑" panose="020B0503020204020204" charset="-122"/>
                <a:ea typeface="微软雅黑" panose="020B0503020204020204" charset="-122"/>
              </a:rPr>
              <a:t>Window Aggregation Features:</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 The model heavily relies on window statistical features (count, Nunique, difference), without deeply exploring sequence models.</a:t>
            </a:r>
          </a:p>
        </p:txBody>
      </p:sp>
      <p:sp>
        <p:nvSpPr>
          <p:cNvPr id="25" name="文本框 24"/>
          <p:cNvSpPr txBox="1"/>
          <p:nvPr>
            <p:custDataLst>
              <p:tags r:id="rId14"/>
            </p:custDataLst>
          </p:nvPr>
        </p:nvSpPr>
        <p:spPr>
          <a:xfrm>
            <a:off x="680720" y="3834130"/>
            <a:ext cx="4868545" cy="1553845"/>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Core Feature Engineering: </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Focuses on bit-level analysis (burst/dq) and hardware-level Nunique (fault_mode), potentially with redundancy or insufficient interaction exploration.</a:t>
            </a:r>
          </a:p>
        </p:txBody>
      </p:sp>
      <p:sp>
        <p:nvSpPr>
          <p:cNvPr id="26" name="椭圆 25"/>
          <p:cNvSpPr/>
          <p:nvPr>
            <p:custDataLst>
              <p:tags r:id="rId15"/>
            </p:custDataLst>
          </p:nvPr>
        </p:nvSpPr>
        <p:spPr>
          <a:xfrm>
            <a:off x="246285" y="1849334"/>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1</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7" name="椭圆 26"/>
          <p:cNvSpPr/>
          <p:nvPr>
            <p:custDataLst>
              <p:tags r:id="rId16"/>
            </p:custDataLst>
          </p:nvPr>
        </p:nvSpPr>
        <p:spPr>
          <a:xfrm>
            <a:off x="259620" y="3127916"/>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2</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8" name="椭圆 27"/>
          <p:cNvSpPr/>
          <p:nvPr>
            <p:custDataLst>
              <p:tags r:id="rId17"/>
            </p:custDataLst>
          </p:nvPr>
        </p:nvSpPr>
        <p:spPr>
          <a:xfrm>
            <a:off x="255175" y="4338450"/>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3</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29" name="椭圆 28"/>
          <p:cNvSpPr/>
          <p:nvPr>
            <p:custDataLst>
              <p:tags r:id="rId18"/>
            </p:custDataLst>
          </p:nvPr>
        </p:nvSpPr>
        <p:spPr>
          <a:xfrm>
            <a:off x="255175" y="5628542"/>
            <a:ext cx="415682" cy="415682"/>
          </a:xfrm>
          <a:prstGeom prst="ellipse">
            <a:avLst/>
          </a:prstGeom>
          <a:solidFill>
            <a:srgbClr val="FFE699">
              <a:alpha val="45000"/>
            </a:srgbClr>
          </a:solidFill>
          <a:ln w="19050">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rPr>
              <a:t>4</a:t>
            </a:r>
            <a:endParaRPr kumimoji="1" lang="zh-CN" altLang="en-US" sz="18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30" name="文本框 29"/>
          <p:cNvSpPr txBox="1"/>
          <p:nvPr>
            <p:custDataLst>
              <p:tags r:id="rId19"/>
            </p:custDataLst>
          </p:nvPr>
        </p:nvSpPr>
        <p:spPr>
          <a:xfrm>
            <a:off x="675779" y="1425510"/>
            <a:ext cx="4736982" cy="130810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b="1" dirty="0">
                <a:latin typeface="微软雅黑" panose="020B0503020204020204" charset="-122"/>
                <a:ea typeface="微软雅黑" panose="020B0503020204020204" charset="-122"/>
              </a:rPr>
              <a:t>Regression Label Exploration: </a:t>
            </a:r>
            <a:r>
              <a:rPr lang="en-US" altLang="zh-CN" dirty="0">
                <a:latin typeface="微软雅黑" panose="020B0503020204020204" charset="-122"/>
                <a:ea typeface="微软雅黑" panose="020B0503020204020204" charset="-122"/>
              </a:rPr>
              <a:t>Employed a [1.0, 0.5] linearly decaying label, but there is a disconnect between the regression target and the final SN-level F1 metric.</a:t>
            </a:r>
          </a:p>
        </p:txBody>
      </p:sp>
      <p:sp>
        <p:nvSpPr>
          <p:cNvPr id="31" name="文本框 30"/>
          <p:cNvSpPr txBox="1"/>
          <p:nvPr>
            <p:custDataLst>
              <p:tags r:id="rId20"/>
            </p:custDataLst>
          </p:nvPr>
        </p:nvSpPr>
        <p:spPr>
          <a:xfrm>
            <a:off x="639445" y="5340985"/>
            <a:ext cx="5022215" cy="1308100"/>
          </a:xfrm>
          <a:prstGeom prst="rect">
            <a:avLst/>
          </a:prstGeom>
          <a:noFill/>
        </p:spPr>
        <p:txBody>
          <a:bodyPr wrap="square" lIns="288000" tIns="180000" rIns="72000" bIns="144000" rtlCol="0">
            <a:spAutoFit/>
          </a:bodyPr>
          <a:lstStyle>
            <a:defPPr>
              <a:defRPr lang="zh-CN"/>
            </a:defPPr>
            <a:lvl1pPr marL="285750" indent="-285750">
              <a:buFont typeface="Arial" panose="020B0604020202020204" pitchFamily="34" charset="0"/>
              <a:buChar char="•"/>
              <a:defRPr kumimoji="1" sz="1600">
                <a:latin typeface="楷体" panose="02010609060101010101" pitchFamily="49" charset="-122"/>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1"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rPr>
              <a:t>Static Sampling Strategy:</a:t>
            </a:r>
            <a:r>
              <a:rPr kumimoji="1" lang="en-US" altLang="zh-CN" sz="1600" b="0" i="0" u="none" strike="noStrike" kern="1200" cap="none" spc="0" normalizeH="0" baseline="0" noProof="0" dirty="0">
                <a:ln>
                  <a:noFill/>
                </a:ln>
                <a:effectLst/>
                <a:uLnTx/>
                <a:uFillTx/>
                <a:latin typeface="微软雅黑" panose="020B0503020204020204" charset="-122"/>
                <a:ea typeface="微软雅黑" panose="020B0503020204020204" charset="-122"/>
              </a:rPr>
              <a:t> Employed coarse file-level sampling with sample number limits, without attempting dynamic or hard sample mining.</a:t>
            </a:r>
          </a:p>
        </p:txBody>
      </p:sp>
      <p:cxnSp>
        <p:nvCxnSpPr>
          <p:cNvPr id="32" name="直线连接符 31"/>
          <p:cNvCxnSpPr/>
          <p:nvPr>
            <p:custDataLst>
              <p:tags r:id="rId21"/>
            </p:custDataLst>
          </p:nvPr>
        </p:nvCxnSpPr>
        <p:spPr>
          <a:xfrm>
            <a:off x="505167" y="2621232"/>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p:custDataLst>
              <p:tags r:id="rId22"/>
            </p:custDataLst>
          </p:nvPr>
        </p:nvCxnSpPr>
        <p:spPr>
          <a:xfrm>
            <a:off x="504532" y="3854527"/>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custDataLst>
              <p:tags r:id="rId23"/>
            </p:custDataLst>
          </p:nvPr>
        </p:nvCxnSpPr>
        <p:spPr>
          <a:xfrm>
            <a:off x="322859" y="5312619"/>
            <a:ext cx="4824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5329807" y="1003594"/>
            <a:ext cx="360000" cy="360000"/>
            <a:chOff x="4359372" y="1220810"/>
            <a:chExt cx="360000" cy="360000"/>
          </a:xfrm>
        </p:grpSpPr>
        <p:sp>
          <p:nvSpPr>
            <p:cNvPr id="42" name="椭圆 41"/>
            <p:cNvSpPr/>
            <p:nvPr/>
          </p:nvSpPr>
          <p:spPr>
            <a:xfrm>
              <a:off x="4359372" y="1220810"/>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43" name="燕尾形 42"/>
            <p:cNvSpPr/>
            <p:nvPr/>
          </p:nvSpPr>
          <p:spPr>
            <a:xfrm>
              <a:off x="4418557" y="1319469"/>
              <a:ext cx="165716" cy="162682"/>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sp>
          <p:nvSpPr>
            <p:cNvPr id="44" name="燕尾形 43"/>
            <p:cNvSpPr/>
            <p:nvPr/>
          </p:nvSpPr>
          <p:spPr>
            <a:xfrm>
              <a:off x="4563861" y="1337525"/>
              <a:ext cx="118974" cy="126571"/>
            </a:xfrm>
            <a:prstGeom prst="chevron">
              <a:avLst/>
            </a:prstGeom>
            <a:solidFill>
              <a:srgbClr val="F65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endParaRPr>
            </a:p>
          </p:txBody>
        </p:sp>
      </p:grpSp>
      <p:cxnSp>
        <p:nvCxnSpPr>
          <p:cNvPr id="4" name="直接连接符 20"/>
          <p:cNvCxnSpPr/>
          <p:nvPr userDrawn="1"/>
        </p:nvCxnSpPr>
        <p:spPr>
          <a:xfrm>
            <a:off x="0" y="793470"/>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7" y="3569"/>
            <a:ext cx="3616696"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Conclusions</a:t>
            </a:r>
          </a:p>
        </p:txBody>
      </p:sp>
      <p:pic>
        <p:nvPicPr>
          <p:cNvPr id="2" name="Picture 1"/>
          <p:cNvPicPr>
            <a:picLocks noChangeAspect="1" noChangeArrowheads="1"/>
          </p:cNvPicPr>
          <p:nvPr>
            <p:custDataLst>
              <p:tags r:id="rId24"/>
            </p:custDataLst>
          </p:nvPr>
        </p:nvPicPr>
        <p:blipFill>
          <a:blip r:embed="rId26" cstate="print">
            <a:extLst>
              <a:ext uri="{28A0092B-C50C-407E-A947-70E740481C1C}">
                <a14:useLocalDpi xmlns:a14="http://schemas.microsoft.com/office/drawing/2010/main" val="0"/>
              </a:ext>
            </a:extLst>
          </a:blip>
          <a:srcRect/>
          <a:stretch>
            <a:fillRect/>
          </a:stretch>
        </p:blipFill>
        <p:spPr bwMode="auto">
          <a:xfrm>
            <a:off x="9152255" y="53340"/>
            <a:ext cx="2969260" cy="719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3144301" y="2551100"/>
            <a:ext cx="5584420" cy="17558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ICID" val="{a8330443-0447-45b4-b48c-d3e81761c157}"/>
</p:tagLst>
</file>

<file path=ppt/tags/tag2.xml><?xml version="1.0" encoding="utf-8"?>
<p:tagLst xmlns:a="http://schemas.openxmlformats.org/drawingml/2006/main" xmlns:r="http://schemas.openxmlformats.org/officeDocument/2006/relationships" xmlns:p="http://schemas.openxmlformats.org/presentationml/2006/main">
  <p:tag name="PICID" val="{90a6b1d1-b967-42cb-8232-43d5d186f0ab}"/>
</p:tagLst>
</file>

<file path=ppt/tags/tag3.xml><?xml version="1.0" encoding="utf-8"?>
<p:tagLst xmlns:a="http://schemas.openxmlformats.org/drawingml/2006/main" xmlns:r="http://schemas.openxmlformats.org/officeDocument/2006/relationships" xmlns:p="http://schemas.openxmlformats.org/presentationml/2006/main">
  <p:tag name="PICID" val="{abe9d03b-d7f4-4260-90ad-056e9b5eb4d5}"/>
</p:tagLst>
</file>

<file path=ppt/tags/tag4.xml><?xml version="1.0" encoding="utf-8"?>
<p:tagLst xmlns:a="http://schemas.openxmlformats.org/drawingml/2006/main" xmlns:r="http://schemas.openxmlformats.org/officeDocument/2006/relationships" xmlns:p="http://schemas.openxmlformats.org/presentationml/2006/main">
  <p:tag name="PICID" val="{d8c00dce-31c3-431d-b0e5-4c16bc90cb00}"/>
</p:tagLst>
</file>

<file path=ppt/tags/tag5.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6.xml><?xml version="1.0" encoding="utf-8"?>
<p:tagLst xmlns:a="http://schemas.openxmlformats.org/drawingml/2006/main" xmlns:r="http://schemas.openxmlformats.org/officeDocument/2006/relationships" xmlns:p="http://schemas.openxmlformats.org/presentationml/2006/main">
  <p:tag name="PICID" val="{0be9699f-36d9-4f4e-9168-b0641bf85b76}"/>
</p:tagLst>
</file>

<file path=ppt/tags/tag7.xml><?xml version="1.0" encoding="utf-8"?>
<p:tagLst xmlns:a="http://schemas.openxmlformats.org/drawingml/2006/main" xmlns:r="http://schemas.openxmlformats.org/officeDocument/2006/relationships" xmlns:p="http://schemas.openxmlformats.org/presentationml/2006/main">
  <p:tag name="PICID" val="{514ae035-11fc-4916-a492-991de32e7883}"/>
</p:tagLst>
</file>

<file path=ppt/tags/tag8.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9.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72.1,&quot;left&quot;:332.71385826771655,&quot;top&quot;:209.25,&quot;width&quot;:730.7361417322834}"/>
</p:tagLst>
</file>

<file path=ppt/tags/tag18.xml><?xml version="1.0" encoding="utf-8"?>
<p:tagLst xmlns:a="http://schemas.openxmlformats.org/drawingml/2006/main" xmlns:r="http://schemas.openxmlformats.org/officeDocument/2006/relationships" xmlns:p="http://schemas.openxmlformats.org/presentationml/2006/main">
  <p:tag name="PICID" val="{128b7503-1524-4c42-b91d-503ff40f6858}"/>
</p:tagLst>
</file>

<file path=ppt/tags/tag19.xml><?xml version="1.0" encoding="utf-8"?>
<p:tagLst xmlns:a="http://schemas.openxmlformats.org/drawingml/2006/main" xmlns:r="http://schemas.openxmlformats.org/officeDocument/2006/relationships" xmlns:p="http://schemas.openxmlformats.org/presentationml/2006/main">
  <p:tag name="PICID" val="{4a253351-905c-4497-b958-034b122b6ea8}"/>
</p:tagLst>
</file>

<file path=ppt/tags/tag20.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21.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22.xml><?xml version="1.0" encoding="utf-8"?>
<p:tagLst xmlns:a="http://schemas.openxmlformats.org/drawingml/2006/main" xmlns:r="http://schemas.openxmlformats.org/officeDocument/2006/relationships" xmlns:p="http://schemas.openxmlformats.org/presentationml/2006/main">
  <p:tag name="PICID" val="{ee96d425-e5f0-4a3a-8789-6a8a8b9d4a22}"/>
</p:tagLst>
</file>

<file path=ppt/tags/tag23.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24.xml><?xml version="1.0" encoding="utf-8"?>
<p:tagLst xmlns:a="http://schemas.openxmlformats.org/drawingml/2006/main" xmlns:r="http://schemas.openxmlformats.org/officeDocument/2006/relationships" xmlns:p="http://schemas.openxmlformats.org/presentationml/2006/main">
  <p:tag name="PICID" val="{cb2040e5-2b78-482d-bba9-bc6f4ef2e98a}"/>
</p:tagLst>
</file>

<file path=ppt/tags/tag25.xml><?xml version="1.0" encoding="utf-8"?>
<p:tagLst xmlns:a="http://schemas.openxmlformats.org/drawingml/2006/main" xmlns:r="http://schemas.openxmlformats.org/officeDocument/2006/relationships" xmlns:p="http://schemas.openxmlformats.org/presentationml/2006/main">
  <p:tag name="PICID" val="{7e9bfa0b-b595-448e-9366-0f8d0e5099ab}"/>
</p:tagLst>
</file>

<file path=ppt/tags/tag26.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27.xml><?xml version="1.0" encoding="utf-8"?>
<p:tagLst xmlns:a="http://schemas.openxmlformats.org/drawingml/2006/main" xmlns:r="http://schemas.openxmlformats.org/officeDocument/2006/relationships" xmlns:p="http://schemas.openxmlformats.org/presentationml/2006/main">
  <p:tag name="PICID" val="{b3c07a16-f6cb-48cb-a062-cdc61297ef69}"/>
</p:tagLst>
</file>

<file path=ppt/tags/tag28.xml><?xml version="1.0" encoding="utf-8"?>
<p:tagLst xmlns:a="http://schemas.openxmlformats.org/drawingml/2006/main" xmlns:r="http://schemas.openxmlformats.org/officeDocument/2006/relationships" xmlns:p="http://schemas.openxmlformats.org/presentationml/2006/main">
  <p:tag name="PICID" val="{d468016e-6683-4e53-a882-670a390b349e}"/>
</p:tagLst>
</file>

<file path=ppt/tags/tag29.xml><?xml version="1.0" encoding="utf-8"?>
<p:tagLst xmlns:a="http://schemas.openxmlformats.org/drawingml/2006/main" xmlns:r="http://schemas.openxmlformats.org/officeDocument/2006/relationships" xmlns:p="http://schemas.openxmlformats.org/presentationml/2006/main">
  <p:tag name="PICID" val="{4304ced0-39a1-4257-abcc-7a02276d8dd0}"/>
</p:tagLst>
</file>

<file path=ppt/tags/tag30.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67.1307086614173,&quot;left&quot;:449.74692913385826,&quot;top&quot;:150.82141732283463,&quot;width&quot;:435.1296850393701}"/>
</p:tagLst>
</file>

<file path=ppt/tags/tag39.xml><?xml version="1.0" encoding="utf-8"?>
<p:tagLst xmlns:a="http://schemas.openxmlformats.org/drawingml/2006/main" xmlns:r="http://schemas.openxmlformats.org/officeDocument/2006/relationships" xmlns:p="http://schemas.openxmlformats.org/presentationml/2006/main">
  <p:tag name="TABLE_ENDDRAG_ORIGIN_RECT" val="417*147"/>
  <p:tag name="TABLE_ENDDRAG_RECT" val="10*321*417*147"/>
</p:tagLst>
</file>

<file path=ppt/tags/tag40.xml><?xml version="1.0" encoding="utf-8"?>
<p:tagLst xmlns:a="http://schemas.openxmlformats.org/drawingml/2006/main" xmlns:r="http://schemas.openxmlformats.org/officeDocument/2006/relationships" xmlns:p="http://schemas.openxmlformats.org/presentationml/2006/main">
  <p:tag name="TABLE_ENDDRAG_ORIGIN_RECT" val="416*132"/>
  <p:tag name="TABLE_ENDDRAG_RECT" val="10*146*416*132"/>
</p:tagLst>
</file>

<file path=ppt/tags/tag41.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27.45968503937013,&quot;left&quot;:19.39251968503937,&quot;top&quot;:103.29031496062991,&quot;width&quot;:903.0574803149606}"/>
</p:tagLst>
</file>

<file path=ppt/tags/tag65.xml><?xml version="1.0" encoding="utf-8"?>
<p:tagLst xmlns:a="http://schemas.openxmlformats.org/drawingml/2006/main" xmlns:r="http://schemas.openxmlformats.org/officeDocument/2006/relationships" xmlns:p="http://schemas.openxmlformats.org/presentationml/2006/main">
  <p:tag name="PICID" val="{74053ae9-0e55-445d-9eb8-84122e18668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1717</Words>
  <Application>Microsoft Office PowerPoint</Application>
  <PresentationFormat>宽屏</PresentationFormat>
  <Paragraphs>302</Paragraphs>
  <Slides>16</Slides>
  <Notes>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16</vt:i4>
      </vt:variant>
    </vt:vector>
  </HeadingPairs>
  <TitlesOfParts>
    <vt:vector size="30" baseType="lpstr">
      <vt:lpstr>BatangChe</vt:lpstr>
      <vt:lpstr>CIDFont</vt:lpstr>
      <vt:lpstr>Gill Sans</vt:lpstr>
      <vt:lpstr>Google Sans Text</vt:lpstr>
      <vt:lpstr>Lucida Grande</vt:lpstr>
      <vt:lpstr>等线</vt:lpstr>
      <vt:lpstr>宋体</vt:lpstr>
      <vt:lpstr>微软雅黑</vt:lpstr>
      <vt:lpstr>Arial</vt:lpstr>
      <vt:lpstr>Calibri</vt:lpstr>
      <vt:lpstr>Candara</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 Menglin</dc:creator>
  <cp:lastModifiedBy>Hongyi Xie</cp:lastModifiedBy>
  <cp:revision>29</cp:revision>
  <dcterms:created xsi:type="dcterms:W3CDTF">2024-08-12T00:43:00Z</dcterms:created>
  <dcterms:modified xsi:type="dcterms:W3CDTF">2025-05-06T06:55:28Z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(2)+pvTOeuSSWkLCNKegJkdyToWwwhF/G3/epmj/ZrjqmIRGNbgrRaTzKZRz6IPic3Q/MsDdjEV
Pp8rzkUjkUQcl8n7gVXMSe/UkybsM2c5qRPQIpXfTjyUJQZDUAq+X8njzQU6V5iZ+pnbB3zf
SSjhUWx8/jUcAkI5nguoQIAG1ziun/aYE+5pdKmnoagJ8f+PeMzNUfJeMRGTli+gX5rbdBaK
TYC/6ZPi7dXfOzX6HC</vt:lpwstr>
  </property>
  <property fmtid="{D5CDD505-2E9C-101B-9397-08002B2CF9AE}" pid="3" name="_2015_ms_pID_7253431">
    <vt:lpwstr>4Mx6C8o6lYYRvLlr6qXq9aWMPtsfQ9etLA6kj0r8IwOFaTLFh1QQzt
rFMfarMsc1s/eUEeHtAy8IUyzX+ynGt7OyTcUrQM24xAB+zt3GVguijXcdqecPEMU6c2mRBv
H4NjZ5tX+LCmZXio7BAeO7sKhLiC+XijIhGv4rJxVx0Ei8Oui9C22yuftsL9Yf7+Nts=</vt:lpwstr>
  </property>
  <property fmtid="{D5CDD505-2E9C-101B-9397-08002B2CF9AE}" pid="4" name="ICV">
    <vt:lpwstr>DA7DCCD0BEB648269D8C7F131B8CD04A_13</vt:lpwstr>
  </property>
  <property fmtid="{D5CDD505-2E9C-101B-9397-08002B2CF9AE}" pid="5" name="KSOProductBuildVer">
    <vt:lpwstr>2052-12.1.0.20784</vt:lpwstr>
  </property>
</Properties>
</file>
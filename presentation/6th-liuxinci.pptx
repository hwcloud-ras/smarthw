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a:tcStyle>
        <a:tcBdr/>
        <a:fill>
          <a:solidFill>
            <a:srgbClr val="FFFFFF"/>
          </a:solidFill>
        </a:fill>
      </a:tcStyle>
    </a:band2H>
    <a:firstCo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62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Shape 34"/>
          <p:cNvSpPr>
            <a:spLocks noGrp="1" noRot="1" noChangeAspect="1"/>
          </p:cNvSpPr>
          <p:nvPr>
            <p:ph type="sldImg"/>
          </p:nvPr>
        </p:nvSpPr>
        <p:spPr>
          <a:xfrm>
            <a:off x="1143000" y="685800"/>
            <a:ext cx="4572000" cy="3429000"/>
          </a:xfrm>
          <a:prstGeom prst="rect">
            <a:avLst/>
          </a:prstGeom>
        </p:spPr>
        <p:txBody>
          <a:bodyPr/>
          <a:lstStyle/>
          <a:p>
            <a:endParaRPr/>
          </a:p>
        </p:txBody>
      </p:sp>
      <p:sp>
        <p:nvSpPr>
          <p:cNvPr id="35" name="Shape 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7"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4"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5" name="Google Shape;19;p3"/>
          <p:cNvSpPr/>
          <p:nvPr/>
        </p:nvSpPr>
        <p:spPr>
          <a:xfrm>
            <a:off x="0" y="-2364"/>
            <a:ext cx="12192000" cy="669853"/>
          </a:xfrm>
          <a:prstGeom prst="rect">
            <a:avLst/>
          </a:prstGeom>
          <a:solidFill>
            <a:srgbClr val="F0F0F0"/>
          </a:solidFill>
          <a:ln w="12700">
            <a:miter lim="400000"/>
          </a:ln>
        </p:spPr>
        <p:txBody>
          <a:bodyPr lIns="0" tIns="0" rIns="0" bIns="0" anchor="ctr"/>
          <a:lstStyle/>
          <a:p>
            <a:pPr algn="ctr">
              <a:defRPr sz="1300">
                <a:solidFill>
                  <a:srgbClr val="FFFFFF"/>
                </a:solidFill>
                <a:latin typeface="Calibri"/>
                <a:ea typeface="Calibri"/>
                <a:cs typeface="Calibri"/>
                <a:sym typeface="Calibri"/>
              </a:defRPr>
            </a:pPr>
            <a:endParaRPr/>
          </a:p>
        </p:txBody>
      </p:sp>
      <p:sp>
        <p:nvSpPr>
          <p:cNvPr id="26" name="标题文本"/>
          <p:cNvSpPr txBox="1">
            <a:spLocks noGrp="1"/>
          </p:cNvSpPr>
          <p:nvPr>
            <p:ph type="title"/>
          </p:nvPr>
        </p:nvSpPr>
        <p:spPr>
          <a:xfrm>
            <a:off x="300092" y="-7385"/>
            <a:ext cx="10672708" cy="668545"/>
          </a:xfrm>
          <a:prstGeom prst="rect">
            <a:avLst/>
          </a:prstGeom>
        </p:spPr>
        <p:txBody>
          <a:bodyPr/>
          <a:lstStyle>
            <a:lvl1pPr>
              <a:defRPr sz="3000">
                <a:solidFill>
                  <a:srgbClr val="064C85"/>
                </a:solidFill>
              </a:defRPr>
            </a:lvl1pPr>
          </a:lstStyle>
          <a:p>
            <a:r>
              <a:t>标题文本</a:t>
            </a:r>
          </a:p>
        </p:txBody>
      </p:sp>
      <p:sp>
        <p:nvSpPr>
          <p:cNvPr id="27" name="正文级别 1…"/>
          <p:cNvSpPr txBox="1">
            <a:spLocks noGrp="1"/>
          </p:cNvSpPr>
          <p:nvPr>
            <p:ph type="body" idx="1"/>
          </p:nvPr>
        </p:nvSpPr>
        <p:spPr>
          <a:xfrm>
            <a:off x="321365" y="950981"/>
            <a:ext cx="11467512" cy="5310302"/>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28" name="Google Shape;23;p3"/>
          <p:cNvSpPr txBox="1">
            <a:spLocks noGrp="1"/>
          </p:cNvSpPr>
          <p:nvPr>
            <p:ph type="body" sz="quarter" idx="21"/>
          </p:nvPr>
        </p:nvSpPr>
        <p:spPr>
          <a:xfrm>
            <a:off x="321364" y="6291353"/>
            <a:ext cx="11467514" cy="259753"/>
          </a:xfrm>
          <a:prstGeom prst="rect">
            <a:avLst/>
          </a:prstGeom>
        </p:spPr>
        <p:txBody>
          <a:bodyPr/>
          <a:lstStyle/>
          <a:p>
            <a:pPr marL="228600" indent="0">
              <a:buClrTx/>
              <a:buSzTx/>
              <a:buFontTx/>
              <a:buNone/>
              <a:defRPr sz="900"/>
            </a:pPr>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oogle Shape;12;p1"/>
          <p:cNvSpPr/>
          <p:nvPr/>
        </p:nvSpPr>
        <p:spPr>
          <a:xfrm>
            <a:off x="-1" y="6569825"/>
            <a:ext cx="3196609" cy="288176"/>
          </a:xfrm>
          <a:prstGeom prst="rect">
            <a:avLst/>
          </a:prstGeom>
          <a:solidFill>
            <a:srgbClr val="064C85"/>
          </a:solidFill>
          <a:ln w="12700">
            <a:miter lim="400000"/>
          </a:ln>
        </p:spPr>
        <p:txBody>
          <a:bodyPr lIns="0" tIns="0" rIns="0" bIns="0" anchor="ctr"/>
          <a:lstStyle/>
          <a:p>
            <a:pPr algn="ctr">
              <a:defRPr sz="1300">
                <a:solidFill>
                  <a:srgbClr val="FFFFFF"/>
                </a:solidFill>
                <a:latin typeface="Calibri"/>
                <a:ea typeface="Calibri"/>
                <a:cs typeface="Calibri"/>
                <a:sym typeface="Calibri"/>
              </a:defRPr>
            </a:pPr>
            <a:endParaRPr/>
          </a:p>
        </p:txBody>
      </p:sp>
      <p:grpSp>
        <p:nvGrpSpPr>
          <p:cNvPr id="5" name="Google Shape;13;p1"/>
          <p:cNvGrpSpPr/>
          <p:nvPr/>
        </p:nvGrpSpPr>
        <p:grpSpPr>
          <a:xfrm>
            <a:off x="3196606" y="6569521"/>
            <a:ext cx="5943205" cy="288784"/>
            <a:chOff x="0" y="0"/>
            <a:chExt cx="5943203" cy="288783"/>
          </a:xfrm>
        </p:grpSpPr>
        <p:sp>
          <p:nvSpPr>
            <p:cNvPr id="3" name="矩形"/>
            <p:cNvSpPr/>
            <p:nvPr/>
          </p:nvSpPr>
          <p:spPr>
            <a:xfrm>
              <a:off x="0" y="304"/>
              <a:ext cx="5943204" cy="288176"/>
            </a:xfrm>
            <a:prstGeom prst="rect">
              <a:avLst/>
            </a:prstGeom>
            <a:solidFill>
              <a:srgbClr val="F0F0F0"/>
            </a:solidFill>
            <a:ln w="12700" cap="flat">
              <a:noFill/>
              <a:miter lim="400000"/>
            </a:ln>
            <a:effectLst/>
          </p:spPr>
          <p:txBody>
            <a:bodyPr wrap="square" lIns="0" tIns="0" rIns="0" bIns="0" numCol="1" anchor="ctr">
              <a:noAutofit/>
            </a:bodyPr>
            <a:lstStyle/>
            <a:p>
              <a:pPr algn="ctr"/>
              <a:endParaRPr/>
            </a:p>
          </p:txBody>
        </p:sp>
        <p:sp>
          <p:nvSpPr>
            <p:cNvPr id="4" name="SmartMem Competition"/>
            <p:cNvSpPr txBox="1"/>
            <p:nvPr/>
          </p:nvSpPr>
          <p:spPr>
            <a:xfrm>
              <a:off x="45724" y="0"/>
              <a:ext cx="5851755" cy="28878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699" tIns="45699" rIns="45699" bIns="45699" numCol="1" anchor="ctr">
              <a:spAutoFit/>
            </a:bodyPr>
            <a:lstStyle>
              <a:lvl1pPr algn="ctr">
                <a:defRPr>
                  <a:solidFill>
                    <a:srgbClr val="064C85"/>
                  </a:solidFill>
                </a:defRPr>
              </a:lvl1pPr>
            </a:lstStyle>
            <a:p>
              <a:r>
                <a:t>SmartMem Competition </a:t>
              </a:r>
            </a:p>
          </p:txBody>
        </p:sp>
      </p:grpSp>
      <p:sp>
        <p:nvSpPr>
          <p:cNvPr id="6" name="Google Shape;14;p1"/>
          <p:cNvSpPr/>
          <p:nvPr/>
        </p:nvSpPr>
        <p:spPr>
          <a:xfrm>
            <a:off x="9139810" y="6569825"/>
            <a:ext cx="3052190" cy="304801"/>
          </a:xfrm>
          <a:prstGeom prst="rect">
            <a:avLst/>
          </a:prstGeom>
          <a:solidFill>
            <a:srgbClr val="D9D9D9"/>
          </a:solidFill>
          <a:ln w="12700">
            <a:miter lim="400000"/>
          </a:ln>
        </p:spPr>
        <p:txBody>
          <a:bodyPr lIns="0" tIns="0" rIns="0" bIns="0" anchor="ctr"/>
          <a:lstStyle/>
          <a:p>
            <a:pPr algn="ctr">
              <a:defRPr sz="1300">
                <a:solidFill>
                  <a:srgbClr val="FFFFFF"/>
                </a:solidFill>
                <a:latin typeface="Calibri"/>
                <a:ea typeface="Calibri"/>
                <a:cs typeface="Calibri"/>
                <a:sym typeface="Calibri"/>
              </a:defRPr>
            </a:pPr>
            <a:endParaRPr/>
          </a:p>
        </p:txBody>
      </p:sp>
      <p:sp>
        <p:nvSpPr>
          <p:cNvPr id="7" name="幻灯片编号"/>
          <p:cNvSpPr txBox="1">
            <a:spLocks noGrp="1"/>
          </p:cNvSpPr>
          <p:nvPr>
            <p:ph type="sldNum" sz="quarter" idx="2"/>
          </p:nvPr>
        </p:nvSpPr>
        <p:spPr>
          <a:xfrm>
            <a:off x="9212944" y="6576516"/>
            <a:ext cx="279019" cy="265934"/>
          </a:xfrm>
          <a:prstGeom prst="rect">
            <a:avLst/>
          </a:prstGeom>
          <a:ln w="12700">
            <a:miter lim="400000"/>
          </a:ln>
        </p:spPr>
        <p:txBody>
          <a:bodyPr wrap="none" lIns="34275" tIns="34275" rIns="34275" bIns="34275" anchor="ctr">
            <a:spAutoFit/>
          </a:bodyPr>
          <a:lstStyle/>
          <a:p>
            <a:fld id="{86CB4B4D-7CA3-9044-876B-883B54F8677D}" type="slidenum">
              <a:t>‹#›</a:t>
            </a:fld>
            <a:endParaRPr/>
          </a:p>
        </p:txBody>
      </p:sp>
      <p:sp>
        <p:nvSpPr>
          <p:cNvPr id="8" name="Google Shape;16;p1"/>
          <p:cNvSpPr txBox="1"/>
          <p:nvPr/>
        </p:nvSpPr>
        <p:spPr>
          <a:xfrm>
            <a:off x="251852" y="6576514"/>
            <a:ext cx="2674602" cy="265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75" tIns="34275" rIns="34275" bIns="34275" anchor="ctr">
            <a:spAutoFit/>
          </a:bodyPr>
          <a:lstStyle>
            <a:lvl1pPr algn="ctr">
              <a:defRPr>
                <a:solidFill>
                  <a:srgbClr val="FFFFFF"/>
                </a:solidFill>
              </a:defRPr>
            </a:lvl1pPr>
          </a:lstStyle>
          <a:p>
            <a:r>
              <a:t>WWW 2025, Sydney, Australia</a:t>
            </a:r>
          </a:p>
        </p:txBody>
      </p:sp>
      <p:sp>
        <p:nvSpPr>
          <p:cNvPr id="9" name="标题文本"/>
          <p:cNvSpPr txBox="1">
            <a:spLocks noGrp="1"/>
          </p:cNvSpPr>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p>
            <a:r>
              <a:t>标题文本</a:t>
            </a:r>
          </a:p>
        </p:txBody>
      </p:sp>
      <p:sp>
        <p:nvSpPr>
          <p:cNvPr id="10" name="正文级别 1…"/>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ormAutofit/>
          </a:bodyPr>
          <a:lstStyle/>
          <a:p>
            <a:r>
              <a:t>正文级别 1</a:t>
            </a:r>
          </a:p>
          <a:p>
            <a:pPr lvl="1"/>
            <a:r>
              <a:t>正文级别 2</a:t>
            </a:r>
          </a:p>
          <a:p>
            <a:pPr lvl="2"/>
            <a:r>
              <a:t>正文级别 3</a:t>
            </a:r>
          </a:p>
          <a:p>
            <a:pPr lvl="3"/>
            <a:r>
              <a:t>正文级别 4</a:t>
            </a:r>
          </a:p>
          <a:p>
            <a:pPr lvl="4"/>
            <a:r>
              <a:t>正文级别 5</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9144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ndara"/>
          <a:ea typeface="Candara"/>
          <a:cs typeface="Candara"/>
          <a:sym typeface="Candara"/>
        </a:defRPr>
      </a:lvl1pPr>
      <a:lvl2pPr marL="0" marR="0" indent="0" algn="l" defTabSz="9144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ndara"/>
          <a:ea typeface="Candara"/>
          <a:cs typeface="Candara"/>
          <a:sym typeface="Candara"/>
        </a:defRPr>
      </a:lvl2pPr>
      <a:lvl3pPr marL="0" marR="0" indent="0" algn="l" defTabSz="9144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ndara"/>
          <a:ea typeface="Candara"/>
          <a:cs typeface="Candara"/>
          <a:sym typeface="Candara"/>
        </a:defRPr>
      </a:lvl3pPr>
      <a:lvl4pPr marL="0" marR="0" indent="0" algn="l" defTabSz="9144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ndara"/>
          <a:ea typeface="Candara"/>
          <a:cs typeface="Candara"/>
          <a:sym typeface="Candara"/>
        </a:defRPr>
      </a:lvl4pPr>
      <a:lvl5pPr marL="0" marR="0" indent="0" algn="l" defTabSz="9144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ndara"/>
          <a:ea typeface="Candara"/>
          <a:cs typeface="Candara"/>
          <a:sym typeface="Candara"/>
        </a:defRPr>
      </a:lvl5pPr>
      <a:lvl6pPr marL="0" marR="0" indent="0" algn="l" defTabSz="9144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ndara"/>
          <a:ea typeface="Candara"/>
          <a:cs typeface="Candara"/>
          <a:sym typeface="Candara"/>
        </a:defRPr>
      </a:lvl6pPr>
      <a:lvl7pPr marL="0" marR="0" indent="0" algn="l" defTabSz="9144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ndara"/>
          <a:ea typeface="Candara"/>
          <a:cs typeface="Candara"/>
          <a:sym typeface="Candara"/>
        </a:defRPr>
      </a:lvl7pPr>
      <a:lvl8pPr marL="0" marR="0" indent="0" algn="l" defTabSz="9144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ndara"/>
          <a:ea typeface="Candara"/>
          <a:cs typeface="Candara"/>
          <a:sym typeface="Candara"/>
        </a:defRPr>
      </a:lvl8pPr>
      <a:lvl9pPr marL="0" marR="0" indent="0" algn="l" defTabSz="914400" rtl="0" latinLnBrk="0">
        <a:lnSpc>
          <a:spcPct val="90000"/>
        </a:lnSpc>
        <a:spcBef>
          <a:spcPts val="0"/>
        </a:spcBef>
        <a:spcAft>
          <a:spcPts val="0"/>
        </a:spcAft>
        <a:buClrTx/>
        <a:buSzTx/>
        <a:buFontTx/>
        <a:buNone/>
        <a:tabLst/>
        <a:defRPr sz="3300" b="0" i="0" u="none" strike="noStrike" cap="none" spc="0" baseline="0">
          <a:solidFill>
            <a:srgbClr val="000000"/>
          </a:solidFill>
          <a:uFillTx/>
          <a:latin typeface="Candara"/>
          <a:ea typeface="Candara"/>
          <a:cs typeface="Candara"/>
          <a:sym typeface="Candara"/>
        </a:defRPr>
      </a:lvl9pPr>
    </p:titleStyle>
    <p:bodyStyle>
      <a:lvl1pPr marL="457200" marR="0" indent="-361950" algn="l" defTabSz="914400" rtl="0" latinLnBrk="0">
        <a:lnSpc>
          <a:spcPct val="90000"/>
        </a:lnSpc>
        <a:spcBef>
          <a:spcPts val="700"/>
        </a:spcBef>
        <a:spcAft>
          <a:spcPts val="0"/>
        </a:spcAft>
        <a:buClr>
          <a:srgbClr val="000000"/>
        </a:buClr>
        <a:buSzPts val="2100"/>
        <a:buFont typeface="Arial"/>
        <a:buChar char="•"/>
        <a:tabLst/>
        <a:defRPr sz="2100" b="0" i="0" u="none" strike="noStrike" cap="none" spc="0" baseline="0">
          <a:solidFill>
            <a:srgbClr val="000000"/>
          </a:solidFill>
          <a:uFillTx/>
          <a:latin typeface="Candara"/>
          <a:ea typeface="Candara"/>
          <a:cs typeface="Candara"/>
          <a:sym typeface="Candara"/>
        </a:defRPr>
      </a:lvl1pPr>
      <a:lvl2pPr marL="971550" marR="0" indent="-400050" algn="l" defTabSz="914400" rtl="0" latinLnBrk="0">
        <a:lnSpc>
          <a:spcPct val="90000"/>
        </a:lnSpc>
        <a:spcBef>
          <a:spcPts val="700"/>
        </a:spcBef>
        <a:spcAft>
          <a:spcPts val="0"/>
        </a:spcAft>
        <a:buClr>
          <a:srgbClr val="000000"/>
        </a:buClr>
        <a:buSzPts val="2100"/>
        <a:buFont typeface="Arial"/>
        <a:buChar char="•"/>
        <a:tabLst/>
        <a:defRPr sz="2100" b="0" i="0" u="none" strike="noStrike" cap="none" spc="0" baseline="0">
          <a:solidFill>
            <a:srgbClr val="000000"/>
          </a:solidFill>
          <a:uFillTx/>
          <a:latin typeface="Candara"/>
          <a:ea typeface="Candara"/>
          <a:cs typeface="Candara"/>
          <a:sym typeface="Candara"/>
        </a:defRPr>
      </a:lvl2pPr>
      <a:lvl3pPr marL="1501139" marR="0" indent="-453389" algn="l" defTabSz="914400" rtl="0" latinLnBrk="0">
        <a:lnSpc>
          <a:spcPct val="90000"/>
        </a:lnSpc>
        <a:spcBef>
          <a:spcPts val="700"/>
        </a:spcBef>
        <a:spcAft>
          <a:spcPts val="0"/>
        </a:spcAft>
        <a:buClr>
          <a:srgbClr val="000000"/>
        </a:buClr>
        <a:buSzPts val="2100"/>
        <a:buFont typeface="Arial"/>
        <a:buChar char="•"/>
        <a:tabLst/>
        <a:defRPr sz="2100" b="0" i="0" u="none" strike="noStrike" cap="none" spc="0" baseline="0">
          <a:solidFill>
            <a:srgbClr val="000000"/>
          </a:solidFill>
          <a:uFillTx/>
          <a:latin typeface="Candara"/>
          <a:ea typeface="Candara"/>
          <a:cs typeface="Candara"/>
          <a:sym typeface="Candara"/>
        </a:defRPr>
      </a:lvl3pPr>
      <a:lvl4pPr marL="2022230" marR="0" indent="-507755" algn="l" defTabSz="914400" rtl="0" latinLnBrk="0">
        <a:lnSpc>
          <a:spcPct val="90000"/>
        </a:lnSpc>
        <a:spcBef>
          <a:spcPts val="700"/>
        </a:spcBef>
        <a:spcAft>
          <a:spcPts val="0"/>
        </a:spcAft>
        <a:buClr>
          <a:srgbClr val="000000"/>
        </a:buClr>
        <a:buSzPts val="2100"/>
        <a:buFont typeface="Arial"/>
        <a:buChar char="•"/>
        <a:tabLst/>
        <a:defRPr sz="2100" b="0" i="0" u="none" strike="noStrike" cap="none" spc="0" baseline="0">
          <a:solidFill>
            <a:srgbClr val="000000"/>
          </a:solidFill>
          <a:uFillTx/>
          <a:latin typeface="Candara"/>
          <a:ea typeface="Candara"/>
          <a:cs typeface="Candara"/>
          <a:sym typeface="Candara"/>
        </a:defRPr>
      </a:lvl4pPr>
      <a:lvl5pPr marL="2479430" marR="0" indent="-507755" algn="l" defTabSz="914400" rtl="0" latinLnBrk="0">
        <a:lnSpc>
          <a:spcPct val="90000"/>
        </a:lnSpc>
        <a:spcBef>
          <a:spcPts val="700"/>
        </a:spcBef>
        <a:spcAft>
          <a:spcPts val="0"/>
        </a:spcAft>
        <a:buClr>
          <a:srgbClr val="000000"/>
        </a:buClr>
        <a:buSzPts val="2100"/>
        <a:buFont typeface="Arial"/>
        <a:buChar char="•"/>
        <a:tabLst/>
        <a:defRPr sz="2100" b="0" i="0" u="none" strike="noStrike" cap="none" spc="0" baseline="0">
          <a:solidFill>
            <a:srgbClr val="000000"/>
          </a:solidFill>
          <a:uFillTx/>
          <a:latin typeface="Candara"/>
          <a:ea typeface="Candara"/>
          <a:cs typeface="Candara"/>
          <a:sym typeface="Candara"/>
        </a:defRPr>
      </a:lvl5pPr>
      <a:lvl6pPr marL="2936630" marR="0" indent="-507755" algn="l" defTabSz="914400" rtl="0" latinLnBrk="0">
        <a:lnSpc>
          <a:spcPct val="90000"/>
        </a:lnSpc>
        <a:spcBef>
          <a:spcPts val="700"/>
        </a:spcBef>
        <a:spcAft>
          <a:spcPts val="0"/>
        </a:spcAft>
        <a:buClr>
          <a:srgbClr val="000000"/>
        </a:buClr>
        <a:buSzPts val="2100"/>
        <a:buFont typeface="Arial"/>
        <a:buChar char="•"/>
        <a:tabLst/>
        <a:defRPr sz="2100" b="0" i="0" u="none" strike="noStrike" cap="none" spc="0" baseline="0">
          <a:solidFill>
            <a:srgbClr val="000000"/>
          </a:solidFill>
          <a:uFillTx/>
          <a:latin typeface="Candara"/>
          <a:ea typeface="Candara"/>
          <a:cs typeface="Candara"/>
          <a:sym typeface="Candara"/>
        </a:defRPr>
      </a:lvl6pPr>
      <a:lvl7pPr marL="3393830" marR="0" indent="-507755" algn="l" defTabSz="914400" rtl="0" latinLnBrk="0">
        <a:lnSpc>
          <a:spcPct val="90000"/>
        </a:lnSpc>
        <a:spcBef>
          <a:spcPts val="700"/>
        </a:spcBef>
        <a:spcAft>
          <a:spcPts val="0"/>
        </a:spcAft>
        <a:buClr>
          <a:srgbClr val="000000"/>
        </a:buClr>
        <a:buSzPts val="2100"/>
        <a:buFont typeface="Arial"/>
        <a:buChar char="•"/>
        <a:tabLst/>
        <a:defRPr sz="2100" b="0" i="0" u="none" strike="noStrike" cap="none" spc="0" baseline="0">
          <a:solidFill>
            <a:srgbClr val="000000"/>
          </a:solidFill>
          <a:uFillTx/>
          <a:latin typeface="Candara"/>
          <a:ea typeface="Candara"/>
          <a:cs typeface="Candara"/>
          <a:sym typeface="Candara"/>
        </a:defRPr>
      </a:lvl7pPr>
      <a:lvl8pPr marL="3851030" marR="0" indent="-507755" algn="l" defTabSz="914400" rtl="0" latinLnBrk="0">
        <a:lnSpc>
          <a:spcPct val="90000"/>
        </a:lnSpc>
        <a:spcBef>
          <a:spcPts val="700"/>
        </a:spcBef>
        <a:spcAft>
          <a:spcPts val="0"/>
        </a:spcAft>
        <a:buClr>
          <a:srgbClr val="000000"/>
        </a:buClr>
        <a:buSzPts val="2100"/>
        <a:buFont typeface="Arial"/>
        <a:buChar char="•"/>
        <a:tabLst/>
        <a:defRPr sz="2100" b="0" i="0" u="none" strike="noStrike" cap="none" spc="0" baseline="0">
          <a:solidFill>
            <a:srgbClr val="000000"/>
          </a:solidFill>
          <a:uFillTx/>
          <a:latin typeface="Candara"/>
          <a:ea typeface="Candara"/>
          <a:cs typeface="Candara"/>
          <a:sym typeface="Candara"/>
        </a:defRPr>
      </a:lvl8pPr>
      <a:lvl9pPr marL="4308230" marR="0" indent="-507755" algn="l" defTabSz="914400" rtl="0" latinLnBrk="0">
        <a:lnSpc>
          <a:spcPct val="90000"/>
        </a:lnSpc>
        <a:spcBef>
          <a:spcPts val="700"/>
        </a:spcBef>
        <a:spcAft>
          <a:spcPts val="0"/>
        </a:spcAft>
        <a:buClr>
          <a:srgbClr val="000000"/>
        </a:buClr>
        <a:buSzPts val="2100"/>
        <a:buFont typeface="Arial"/>
        <a:buChar char="•"/>
        <a:tabLst/>
        <a:defRPr sz="2100" b="0" i="0" u="none" strike="noStrike" cap="none" spc="0" baseline="0">
          <a:solidFill>
            <a:srgbClr val="000000"/>
          </a:solidFill>
          <a:uFillTx/>
          <a:latin typeface="Candara"/>
          <a:ea typeface="Candara"/>
          <a:cs typeface="Candara"/>
          <a:sym typeface="Candara"/>
        </a:defRPr>
      </a:lvl9pPr>
    </p:bodyStyle>
    <p:otherStyle>
      <a:lvl1pPr marL="0" marR="0" indent="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Google Shape;15;p1"/>
          <p:cNvSpPr txBox="1">
            <a:spLocks noGrp="1"/>
          </p:cNvSpPr>
          <p:nvPr>
            <p:ph type="sldNum" sz="quarter" idx="2"/>
          </p:nvPr>
        </p:nvSpPr>
        <p:spPr>
          <a:xfrm>
            <a:off x="10497299" y="6573607"/>
            <a:ext cx="174492"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1</a:t>
            </a:fld>
            <a:endParaRPr/>
          </a:p>
        </p:txBody>
      </p:sp>
      <p:pic>
        <p:nvPicPr>
          <p:cNvPr id="38" name="Google Shape;30;p4" descr="Google Shape;30;p4"/>
          <p:cNvPicPr>
            <a:picLocks noChangeAspect="1"/>
          </p:cNvPicPr>
          <p:nvPr/>
        </p:nvPicPr>
        <p:blipFill>
          <a:blip r:embed="rId2"/>
          <a:stretch>
            <a:fillRect/>
          </a:stretch>
        </p:blipFill>
        <p:spPr>
          <a:xfrm>
            <a:off x="0" y="-8101"/>
            <a:ext cx="12192000" cy="2856105"/>
          </a:xfrm>
          <a:prstGeom prst="rect">
            <a:avLst/>
          </a:prstGeom>
          <a:ln w="12700">
            <a:miter lim="400000"/>
          </a:ln>
        </p:spPr>
      </p:pic>
      <p:sp>
        <p:nvSpPr>
          <p:cNvPr id="39" name="Google Shape;31;p4"/>
          <p:cNvSpPr/>
          <p:nvPr/>
        </p:nvSpPr>
        <p:spPr>
          <a:xfrm>
            <a:off x="0" y="6540403"/>
            <a:ext cx="12192000" cy="324578"/>
          </a:xfrm>
          <a:prstGeom prst="rect">
            <a:avLst/>
          </a:prstGeom>
          <a:solidFill>
            <a:srgbClr val="FFFFFF"/>
          </a:solidFill>
          <a:ln w="12700">
            <a:miter lim="400000"/>
          </a:ln>
        </p:spPr>
        <p:txBody>
          <a:bodyPr lIns="0" tIns="0" rIns="0" bIns="0" anchor="ctr"/>
          <a:lstStyle/>
          <a:p>
            <a:pPr algn="ctr">
              <a:defRPr sz="1800">
                <a:solidFill>
                  <a:srgbClr val="FFFFFF"/>
                </a:solidFill>
                <a:latin typeface="Calibri"/>
                <a:ea typeface="Calibri"/>
                <a:cs typeface="Calibri"/>
                <a:sym typeface="Calibri"/>
              </a:defRPr>
            </a:pPr>
            <a:endParaRPr/>
          </a:p>
        </p:txBody>
      </p:sp>
      <p:sp>
        <p:nvSpPr>
          <p:cNvPr id="40" name="Google Shape;32;p4"/>
          <p:cNvSpPr txBox="1"/>
          <p:nvPr/>
        </p:nvSpPr>
        <p:spPr>
          <a:xfrm>
            <a:off x="437090" y="4103579"/>
            <a:ext cx="11016607" cy="22914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p>
            <a:pPr algn="ctr">
              <a:lnSpc>
                <a:spcPct val="150000"/>
              </a:lnSpc>
              <a:defRPr sz="1800" b="1"/>
            </a:pPr>
            <a:r>
              <a:t>Team: TimeSeries Star</a:t>
            </a:r>
          </a:p>
          <a:p>
            <a:pPr algn="ctr">
              <a:lnSpc>
                <a:spcPct val="150000"/>
              </a:lnSpc>
              <a:spcBef>
                <a:spcPts val="700"/>
              </a:spcBef>
              <a:defRPr sz="1800" b="1"/>
            </a:pPr>
            <a:r>
              <a:t>Member</a:t>
            </a:r>
            <a:r>
              <a:rPr b="0"/>
              <a:t>: Xinci Liu, Wei Zhang</a:t>
            </a:r>
          </a:p>
          <a:p>
            <a:pPr algn="ctr">
              <a:lnSpc>
                <a:spcPct val="150000"/>
              </a:lnSpc>
              <a:spcBef>
                <a:spcPts val="700"/>
              </a:spcBef>
              <a:defRPr sz="1800" b="1"/>
            </a:pPr>
            <a:r>
              <a:t>Instructor</a:t>
            </a:r>
            <a:r>
              <a:rPr b="0"/>
              <a:t>: Xinyue Li</a:t>
            </a:r>
          </a:p>
          <a:p>
            <a:pPr algn="ctr">
              <a:lnSpc>
                <a:spcPct val="150000"/>
              </a:lnSpc>
              <a:spcBef>
                <a:spcPts val="700"/>
              </a:spcBef>
              <a:defRPr sz="1800" b="1"/>
            </a:pPr>
            <a:r>
              <a:t>Institute</a:t>
            </a:r>
            <a:r>
              <a:rPr b="0"/>
              <a:t>: City University of Hong Kong</a:t>
            </a:r>
          </a:p>
          <a:p>
            <a:pPr algn="ctr">
              <a:lnSpc>
                <a:spcPct val="150000"/>
              </a:lnSpc>
              <a:spcBef>
                <a:spcPts val="700"/>
              </a:spcBef>
              <a:defRPr sz="1800"/>
            </a:pPr>
            <a:r>
              <a:t>28</a:t>
            </a:r>
            <a:r>
              <a:rPr baseline="30000"/>
              <a:t>th</a:t>
            </a:r>
            <a:r>
              <a:t> April, 2025</a:t>
            </a:r>
          </a:p>
        </p:txBody>
      </p:sp>
      <p:sp>
        <p:nvSpPr>
          <p:cNvPr id="41" name="Google Shape;33;p4"/>
          <p:cNvSpPr txBox="1"/>
          <p:nvPr/>
        </p:nvSpPr>
        <p:spPr>
          <a:xfrm>
            <a:off x="-81276" y="2139621"/>
            <a:ext cx="12354552" cy="17410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b">
            <a:normAutofit/>
          </a:bodyPr>
          <a:lstStyle>
            <a:lvl1pPr algn="ctr">
              <a:lnSpc>
                <a:spcPct val="90000"/>
              </a:lnSpc>
              <a:defRPr sz="3200" b="1">
                <a:solidFill>
                  <a:srgbClr val="064C85"/>
                </a:solidFill>
                <a:latin typeface="Merriweather Sans"/>
                <a:ea typeface="Merriweather Sans"/>
                <a:cs typeface="Merriweather Sans"/>
                <a:sym typeface="Merriweather Sans"/>
              </a:defRPr>
            </a:lvl1pPr>
          </a:lstStyle>
          <a:p>
            <a:r>
              <a:t>WWW 2025 SmartMem Competition</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Google Shape;15;p1"/>
          <p:cNvSpPr txBox="1">
            <a:spLocks noGrp="1"/>
          </p:cNvSpPr>
          <p:nvPr>
            <p:ph type="sldNum" sz="quarter" idx="2"/>
          </p:nvPr>
        </p:nvSpPr>
        <p:spPr>
          <a:xfrm>
            <a:off x="10497299" y="6573607"/>
            <a:ext cx="174492"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2</a:t>
            </a:fld>
            <a:endParaRPr/>
          </a:p>
        </p:txBody>
      </p:sp>
      <p:sp>
        <p:nvSpPr>
          <p:cNvPr id="44" name="Google Shape;39;p5"/>
          <p:cNvSpPr txBox="1"/>
          <p:nvPr/>
        </p:nvSpPr>
        <p:spPr>
          <a:xfrm>
            <a:off x="580499" y="776374"/>
            <a:ext cx="11031002" cy="589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800" b="1">
                <a:latin typeface="Candara"/>
                <a:ea typeface="Candara"/>
                <a:cs typeface="Candara"/>
                <a:sym typeface="Candara"/>
              </a:defRPr>
            </a:lvl1pPr>
          </a:lstStyle>
          <a:p>
            <a:r>
              <a:t>Team Member Introduction</a:t>
            </a:r>
          </a:p>
        </p:txBody>
      </p:sp>
      <p:pic>
        <p:nvPicPr>
          <p:cNvPr id="45" name="Google Shape;40;p5" descr="Google Shape;40;p5"/>
          <p:cNvPicPr>
            <a:picLocks noChangeAspect="1"/>
          </p:cNvPicPr>
          <p:nvPr/>
        </p:nvPicPr>
        <p:blipFill>
          <a:blip r:embed="rId2"/>
          <a:stretch>
            <a:fillRect/>
          </a:stretch>
        </p:blipFill>
        <p:spPr>
          <a:xfrm>
            <a:off x="6134100" y="1684138"/>
            <a:ext cx="2324475" cy="3562777"/>
          </a:xfrm>
          <a:prstGeom prst="rect">
            <a:avLst/>
          </a:prstGeom>
          <a:ln w="12700">
            <a:miter lim="400000"/>
          </a:ln>
        </p:spPr>
      </p:pic>
      <p:sp>
        <p:nvSpPr>
          <p:cNvPr id="46" name="Google Shape;41;p5"/>
          <p:cNvSpPr txBox="1"/>
          <p:nvPr/>
        </p:nvSpPr>
        <p:spPr>
          <a:xfrm>
            <a:off x="3272113" y="2476874"/>
            <a:ext cx="2290500" cy="22725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1800" b="1">
                <a:latin typeface="Candara"/>
                <a:ea typeface="Candara"/>
                <a:cs typeface="Candara"/>
                <a:sym typeface="Candara"/>
              </a:defRPr>
            </a:pPr>
            <a:r>
              <a:t>Xinci Liu</a:t>
            </a:r>
          </a:p>
          <a:p>
            <a:endParaRPr b="1">
              <a:latin typeface="Candara"/>
              <a:ea typeface="Candara"/>
              <a:cs typeface="Candara"/>
              <a:sym typeface="Candara"/>
            </a:endParaRPr>
          </a:p>
          <a:p>
            <a:r>
              <a:t>PHD student in City University of Hong Kong.</a:t>
            </a:r>
          </a:p>
          <a:p>
            <a:endParaRPr/>
          </a:p>
          <a:p>
            <a:pPr>
              <a:defRPr b="1"/>
            </a:pPr>
            <a:r>
              <a:t>Research Interests</a:t>
            </a:r>
            <a:r>
              <a:rPr b="0"/>
              <a:t>: </a:t>
            </a:r>
          </a:p>
          <a:p>
            <a:r>
              <a:t>Multi-model learning, time-series prediction and </a:t>
            </a:r>
          </a:p>
          <a:p>
            <a:r>
              <a:t>deep learning in health-care datasets. </a:t>
            </a:r>
          </a:p>
        </p:txBody>
      </p:sp>
      <p:pic>
        <p:nvPicPr>
          <p:cNvPr id="47" name="Google Shape;42;p5" descr="Google Shape;42;p5"/>
          <p:cNvPicPr>
            <a:picLocks noChangeAspect="1"/>
          </p:cNvPicPr>
          <p:nvPr/>
        </p:nvPicPr>
        <p:blipFill>
          <a:blip r:embed="rId3"/>
          <a:stretch>
            <a:fillRect/>
          </a:stretch>
        </p:blipFill>
        <p:spPr>
          <a:xfrm>
            <a:off x="580499" y="1615600"/>
            <a:ext cx="2459732" cy="3699875"/>
          </a:xfrm>
          <a:prstGeom prst="rect">
            <a:avLst/>
          </a:prstGeom>
          <a:ln w="12700">
            <a:miter lim="400000"/>
          </a:ln>
        </p:spPr>
      </p:pic>
      <p:sp>
        <p:nvSpPr>
          <p:cNvPr id="48" name="Google Shape;43;p5"/>
          <p:cNvSpPr txBox="1"/>
          <p:nvPr/>
        </p:nvSpPr>
        <p:spPr>
          <a:xfrm>
            <a:off x="8817713" y="2416200"/>
            <a:ext cx="2290500" cy="20693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1800" b="1">
                <a:latin typeface="Candara"/>
                <a:ea typeface="Candara"/>
                <a:cs typeface="Candara"/>
                <a:sym typeface="Candara"/>
              </a:defRPr>
            </a:pPr>
            <a:r>
              <a:t>Wei Zhang</a:t>
            </a:r>
          </a:p>
          <a:p>
            <a:endParaRPr b="1">
              <a:latin typeface="Candara"/>
              <a:ea typeface="Candara"/>
              <a:cs typeface="Candara"/>
              <a:sym typeface="Candara"/>
            </a:endParaRPr>
          </a:p>
          <a:p>
            <a:r>
              <a:t>PHD student in City University of Hong Kong.</a:t>
            </a:r>
          </a:p>
          <a:p>
            <a:endParaRPr/>
          </a:p>
          <a:p>
            <a:pPr>
              <a:defRPr b="1"/>
            </a:pPr>
            <a:r>
              <a:t>Research Interests</a:t>
            </a:r>
            <a:r>
              <a:rPr b="0"/>
              <a:t>: medical imaging and multi-modal learning.</a:t>
            </a:r>
          </a:p>
        </p:txBody>
      </p:sp>
      <p:pic>
        <p:nvPicPr>
          <p:cNvPr id="49" name="Google Shape;44;p5" descr="Google Shape;44;p5"/>
          <p:cNvPicPr>
            <a:picLocks noChangeAspect="1"/>
          </p:cNvPicPr>
          <p:nvPr/>
        </p:nvPicPr>
        <p:blipFill>
          <a:blip r:embed="rId4"/>
          <a:stretch>
            <a:fillRect/>
          </a:stretch>
        </p:blipFill>
        <p:spPr>
          <a:xfrm>
            <a:off x="9614524" y="5074351"/>
            <a:ext cx="2577475" cy="1498875"/>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Google Shape;15;p1"/>
          <p:cNvSpPr txBox="1">
            <a:spLocks noGrp="1"/>
          </p:cNvSpPr>
          <p:nvPr>
            <p:ph type="sldNum" sz="quarter" idx="2"/>
          </p:nvPr>
        </p:nvSpPr>
        <p:spPr>
          <a:xfrm>
            <a:off x="10497299" y="6573607"/>
            <a:ext cx="174492"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3</a:t>
            </a:fld>
            <a:endParaRPr/>
          </a:p>
        </p:txBody>
      </p:sp>
      <p:sp>
        <p:nvSpPr>
          <p:cNvPr id="52" name="Google Shape;49;p6"/>
          <p:cNvSpPr/>
          <p:nvPr/>
        </p:nvSpPr>
        <p:spPr>
          <a:xfrm>
            <a:off x="1412398" y="1717991"/>
            <a:ext cx="2394910" cy="2394910"/>
          </a:xfrm>
          <a:prstGeom prst="ellipse">
            <a:avLst/>
          </a:prstGeom>
          <a:solidFill>
            <a:schemeClr val="accent1"/>
          </a:solidFill>
          <a:ln w="12700">
            <a:miter lim="400000"/>
          </a:ln>
          <a:effectLst>
            <a:outerShdw blurRad="101600" dist="101600" dir="5400000" rotWithShape="0">
              <a:srgbClr val="000000">
                <a:alpha val="40000"/>
              </a:srgbClr>
            </a:outerShdw>
          </a:effectLst>
        </p:spPr>
        <p:txBody>
          <a:bodyPr lIns="0" tIns="0" rIns="0" bIns="0" anchor="ctr"/>
          <a:lstStyle/>
          <a:p>
            <a:pPr algn="ctr">
              <a:defRPr sz="2400">
                <a:solidFill>
                  <a:srgbClr val="FFFFFF"/>
                </a:solidFill>
                <a:latin typeface="Calibri"/>
                <a:ea typeface="Calibri"/>
                <a:cs typeface="Calibri"/>
                <a:sym typeface="Calibri"/>
              </a:defRPr>
            </a:pPr>
            <a:endParaRPr/>
          </a:p>
        </p:txBody>
      </p:sp>
      <p:sp>
        <p:nvSpPr>
          <p:cNvPr id="53" name="Google Shape;50;p6"/>
          <p:cNvSpPr txBox="1"/>
          <p:nvPr/>
        </p:nvSpPr>
        <p:spPr>
          <a:xfrm>
            <a:off x="4159762" y="1752358"/>
            <a:ext cx="3578145" cy="7061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lvl1pPr>
              <a:defRPr sz="4800" b="1">
                <a:solidFill>
                  <a:schemeClr val="accent1"/>
                </a:solidFill>
                <a:latin typeface="Calibri"/>
                <a:ea typeface="Calibri"/>
                <a:cs typeface="Calibri"/>
                <a:sym typeface="Calibri"/>
              </a:defRPr>
            </a:lvl1pPr>
          </a:lstStyle>
          <a:p>
            <a:r>
              <a:t>Introduction</a:t>
            </a:r>
          </a:p>
        </p:txBody>
      </p:sp>
      <p:grpSp>
        <p:nvGrpSpPr>
          <p:cNvPr id="56" name="Google Shape;51;p6"/>
          <p:cNvGrpSpPr/>
          <p:nvPr/>
        </p:nvGrpSpPr>
        <p:grpSpPr>
          <a:xfrm>
            <a:off x="4225466" y="2706139"/>
            <a:ext cx="328184" cy="327404"/>
            <a:chOff x="0" y="0"/>
            <a:chExt cx="328182" cy="327403"/>
          </a:xfrm>
        </p:grpSpPr>
        <p:sp>
          <p:nvSpPr>
            <p:cNvPr id="54" name="Google Shape;52;p6"/>
            <p:cNvSpPr/>
            <p:nvPr/>
          </p:nvSpPr>
          <p:spPr>
            <a:xfrm>
              <a:off x="-1" y="-1"/>
              <a:ext cx="328185" cy="327405"/>
            </a:xfrm>
            <a:custGeom>
              <a:avLst/>
              <a:gdLst/>
              <a:ahLst/>
              <a:cxnLst>
                <a:cxn ang="0">
                  <a:pos x="wd2" y="hd2"/>
                </a:cxn>
                <a:cxn ang="5400000">
                  <a:pos x="wd2" y="hd2"/>
                </a:cxn>
                <a:cxn ang="10800000">
                  <a:pos x="wd2" y="hd2"/>
                </a:cxn>
                <a:cxn ang="16200000">
                  <a:pos x="wd2" y="hd2"/>
                </a:cxn>
              </a:cxnLst>
              <a:rect l="0" t="0" r="r" b="b"/>
              <a:pathLst>
                <a:path w="21600" h="21600" extrusionOk="0">
                  <a:moveTo>
                    <a:pt x="10815" y="21600"/>
                  </a:moveTo>
                  <a:cubicBezTo>
                    <a:pt x="4852" y="21600"/>
                    <a:pt x="0" y="16772"/>
                    <a:pt x="0" y="10800"/>
                  </a:cubicBezTo>
                  <a:cubicBezTo>
                    <a:pt x="0" y="4828"/>
                    <a:pt x="4852" y="0"/>
                    <a:pt x="10815" y="0"/>
                  </a:cubicBezTo>
                  <a:cubicBezTo>
                    <a:pt x="16748" y="0"/>
                    <a:pt x="21600" y="4828"/>
                    <a:pt x="21600" y="10800"/>
                  </a:cubicBezTo>
                  <a:cubicBezTo>
                    <a:pt x="21600" y="16772"/>
                    <a:pt x="16748" y="21600"/>
                    <a:pt x="10815" y="21600"/>
                  </a:cubicBezTo>
                  <a:close/>
                  <a:moveTo>
                    <a:pt x="10815" y="1238"/>
                  </a:moveTo>
                  <a:cubicBezTo>
                    <a:pt x="5531" y="1238"/>
                    <a:pt x="1236" y="5539"/>
                    <a:pt x="1236" y="10800"/>
                  </a:cubicBezTo>
                  <a:cubicBezTo>
                    <a:pt x="1236" y="16061"/>
                    <a:pt x="5531" y="20362"/>
                    <a:pt x="10815" y="20362"/>
                  </a:cubicBezTo>
                  <a:cubicBezTo>
                    <a:pt x="16069" y="20362"/>
                    <a:pt x="20364" y="16061"/>
                    <a:pt x="20364" y="10800"/>
                  </a:cubicBezTo>
                  <a:cubicBezTo>
                    <a:pt x="20364" y="5539"/>
                    <a:pt x="16069" y="1238"/>
                    <a:pt x="10815" y="1238"/>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sp>
          <p:nvSpPr>
            <p:cNvPr id="55" name="Google Shape;53;p6"/>
            <p:cNvSpPr/>
            <p:nvPr/>
          </p:nvSpPr>
          <p:spPr>
            <a:xfrm>
              <a:off x="74097" y="102277"/>
              <a:ext cx="179872" cy="125347"/>
            </a:xfrm>
            <a:custGeom>
              <a:avLst/>
              <a:gdLst/>
              <a:ahLst/>
              <a:cxnLst>
                <a:cxn ang="0">
                  <a:pos x="wd2" y="hd2"/>
                </a:cxn>
                <a:cxn ang="5400000">
                  <a:pos x="wd2" y="hd2"/>
                </a:cxn>
                <a:cxn ang="10800000">
                  <a:pos x="wd2" y="hd2"/>
                </a:cxn>
                <a:cxn ang="16200000">
                  <a:pos x="wd2" y="hd2"/>
                </a:cxn>
              </a:cxnLst>
              <a:rect l="0" t="0" r="r" b="b"/>
              <a:pathLst>
                <a:path w="21391" h="21439" extrusionOk="0">
                  <a:moveTo>
                    <a:pt x="7604" y="21439"/>
                  </a:moveTo>
                  <a:cubicBezTo>
                    <a:pt x="7269" y="21439"/>
                    <a:pt x="6990" y="21278"/>
                    <a:pt x="6767" y="20957"/>
                  </a:cubicBezTo>
                  <a:cubicBezTo>
                    <a:pt x="293" y="11643"/>
                    <a:pt x="293" y="11643"/>
                    <a:pt x="293" y="11643"/>
                  </a:cubicBezTo>
                  <a:cubicBezTo>
                    <a:pt x="-98" y="11000"/>
                    <a:pt x="-98" y="10037"/>
                    <a:pt x="293" y="9394"/>
                  </a:cubicBezTo>
                  <a:cubicBezTo>
                    <a:pt x="293" y="9394"/>
                    <a:pt x="293" y="9394"/>
                    <a:pt x="293" y="9394"/>
                  </a:cubicBezTo>
                  <a:cubicBezTo>
                    <a:pt x="739" y="8752"/>
                    <a:pt x="1465" y="8752"/>
                    <a:pt x="1911" y="9394"/>
                  </a:cubicBezTo>
                  <a:cubicBezTo>
                    <a:pt x="1911" y="9394"/>
                    <a:pt x="1911" y="9394"/>
                    <a:pt x="1911" y="9394"/>
                  </a:cubicBezTo>
                  <a:cubicBezTo>
                    <a:pt x="7604" y="17585"/>
                    <a:pt x="7604" y="17585"/>
                    <a:pt x="7604" y="17585"/>
                  </a:cubicBezTo>
                  <a:cubicBezTo>
                    <a:pt x="19437" y="481"/>
                    <a:pt x="19437" y="481"/>
                    <a:pt x="19437" y="481"/>
                  </a:cubicBezTo>
                  <a:cubicBezTo>
                    <a:pt x="19883" y="-161"/>
                    <a:pt x="20609" y="-161"/>
                    <a:pt x="21055" y="481"/>
                  </a:cubicBezTo>
                  <a:cubicBezTo>
                    <a:pt x="21055" y="481"/>
                    <a:pt x="21055" y="481"/>
                    <a:pt x="21055" y="481"/>
                  </a:cubicBezTo>
                  <a:cubicBezTo>
                    <a:pt x="21502" y="1124"/>
                    <a:pt x="21502" y="2087"/>
                    <a:pt x="21055" y="2730"/>
                  </a:cubicBezTo>
                  <a:cubicBezTo>
                    <a:pt x="21055" y="2730"/>
                    <a:pt x="21055" y="2730"/>
                    <a:pt x="21055" y="2730"/>
                  </a:cubicBezTo>
                  <a:cubicBezTo>
                    <a:pt x="8386" y="20957"/>
                    <a:pt x="8386" y="20957"/>
                    <a:pt x="8386" y="20957"/>
                  </a:cubicBezTo>
                  <a:cubicBezTo>
                    <a:pt x="8162" y="21278"/>
                    <a:pt x="7883" y="21439"/>
                    <a:pt x="7604" y="21439"/>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grpSp>
      <p:grpSp>
        <p:nvGrpSpPr>
          <p:cNvPr id="59" name="Google Shape;54;p6"/>
          <p:cNvGrpSpPr/>
          <p:nvPr/>
        </p:nvGrpSpPr>
        <p:grpSpPr>
          <a:xfrm>
            <a:off x="4225478" y="3703246"/>
            <a:ext cx="328184" cy="327404"/>
            <a:chOff x="0" y="0"/>
            <a:chExt cx="328182" cy="327403"/>
          </a:xfrm>
        </p:grpSpPr>
        <p:sp>
          <p:nvSpPr>
            <p:cNvPr id="57" name="Google Shape;55;p6"/>
            <p:cNvSpPr/>
            <p:nvPr/>
          </p:nvSpPr>
          <p:spPr>
            <a:xfrm>
              <a:off x="-1" y="-1"/>
              <a:ext cx="328185" cy="327405"/>
            </a:xfrm>
            <a:custGeom>
              <a:avLst/>
              <a:gdLst/>
              <a:ahLst/>
              <a:cxnLst>
                <a:cxn ang="0">
                  <a:pos x="wd2" y="hd2"/>
                </a:cxn>
                <a:cxn ang="5400000">
                  <a:pos x="wd2" y="hd2"/>
                </a:cxn>
                <a:cxn ang="10800000">
                  <a:pos x="wd2" y="hd2"/>
                </a:cxn>
                <a:cxn ang="16200000">
                  <a:pos x="wd2" y="hd2"/>
                </a:cxn>
              </a:cxnLst>
              <a:rect l="0" t="0" r="r" b="b"/>
              <a:pathLst>
                <a:path w="21600" h="21600" extrusionOk="0">
                  <a:moveTo>
                    <a:pt x="10815" y="21600"/>
                  </a:moveTo>
                  <a:cubicBezTo>
                    <a:pt x="4852" y="21600"/>
                    <a:pt x="0" y="16772"/>
                    <a:pt x="0" y="10800"/>
                  </a:cubicBezTo>
                  <a:cubicBezTo>
                    <a:pt x="0" y="4828"/>
                    <a:pt x="4852" y="0"/>
                    <a:pt x="10815" y="0"/>
                  </a:cubicBezTo>
                  <a:cubicBezTo>
                    <a:pt x="16748" y="0"/>
                    <a:pt x="21600" y="4828"/>
                    <a:pt x="21600" y="10800"/>
                  </a:cubicBezTo>
                  <a:cubicBezTo>
                    <a:pt x="21600" y="16772"/>
                    <a:pt x="16748" y="21600"/>
                    <a:pt x="10815" y="21600"/>
                  </a:cubicBezTo>
                  <a:close/>
                  <a:moveTo>
                    <a:pt x="10815" y="1238"/>
                  </a:moveTo>
                  <a:cubicBezTo>
                    <a:pt x="5531" y="1238"/>
                    <a:pt x="1236" y="5539"/>
                    <a:pt x="1236" y="10800"/>
                  </a:cubicBezTo>
                  <a:cubicBezTo>
                    <a:pt x="1236" y="16061"/>
                    <a:pt x="5531" y="20362"/>
                    <a:pt x="10815" y="20362"/>
                  </a:cubicBezTo>
                  <a:cubicBezTo>
                    <a:pt x="16069" y="20362"/>
                    <a:pt x="20364" y="16061"/>
                    <a:pt x="20364" y="10800"/>
                  </a:cubicBezTo>
                  <a:cubicBezTo>
                    <a:pt x="20364" y="5539"/>
                    <a:pt x="16069" y="1238"/>
                    <a:pt x="10815" y="1238"/>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sp>
          <p:nvSpPr>
            <p:cNvPr id="58" name="Google Shape;56;p6"/>
            <p:cNvSpPr/>
            <p:nvPr/>
          </p:nvSpPr>
          <p:spPr>
            <a:xfrm>
              <a:off x="74097" y="102277"/>
              <a:ext cx="179872" cy="125347"/>
            </a:xfrm>
            <a:custGeom>
              <a:avLst/>
              <a:gdLst/>
              <a:ahLst/>
              <a:cxnLst>
                <a:cxn ang="0">
                  <a:pos x="wd2" y="hd2"/>
                </a:cxn>
                <a:cxn ang="5400000">
                  <a:pos x="wd2" y="hd2"/>
                </a:cxn>
                <a:cxn ang="10800000">
                  <a:pos x="wd2" y="hd2"/>
                </a:cxn>
                <a:cxn ang="16200000">
                  <a:pos x="wd2" y="hd2"/>
                </a:cxn>
              </a:cxnLst>
              <a:rect l="0" t="0" r="r" b="b"/>
              <a:pathLst>
                <a:path w="21391" h="21439" extrusionOk="0">
                  <a:moveTo>
                    <a:pt x="7604" y="21439"/>
                  </a:moveTo>
                  <a:cubicBezTo>
                    <a:pt x="7269" y="21439"/>
                    <a:pt x="6990" y="21278"/>
                    <a:pt x="6767" y="20957"/>
                  </a:cubicBezTo>
                  <a:cubicBezTo>
                    <a:pt x="293" y="11643"/>
                    <a:pt x="293" y="11643"/>
                    <a:pt x="293" y="11643"/>
                  </a:cubicBezTo>
                  <a:cubicBezTo>
                    <a:pt x="-98" y="11000"/>
                    <a:pt x="-98" y="10037"/>
                    <a:pt x="293" y="9394"/>
                  </a:cubicBezTo>
                  <a:cubicBezTo>
                    <a:pt x="293" y="9394"/>
                    <a:pt x="293" y="9394"/>
                    <a:pt x="293" y="9394"/>
                  </a:cubicBezTo>
                  <a:cubicBezTo>
                    <a:pt x="739" y="8752"/>
                    <a:pt x="1465" y="8752"/>
                    <a:pt x="1911" y="9394"/>
                  </a:cubicBezTo>
                  <a:cubicBezTo>
                    <a:pt x="1911" y="9394"/>
                    <a:pt x="1911" y="9394"/>
                    <a:pt x="1911" y="9394"/>
                  </a:cubicBezTo>
                  <a:cubicBezTo>
                    <a:pt x="7604" y="17585"/>
                    <a:pt x="7604" y="17585"/>
                    <a:pt x="7604" y="17585"/>
                  </a:cubicBezTo>
                  <a:cubicBezTo>
                    <a:pt x="19437" y="481"/>
                    <a:pt x="19437" y="481"/>
                    <a:pt x="19437" y="481"/>
                  </a:cubicBezTo>
                  <a:cubicBezTo>
                    <a:pt x="19883" y="-161"/>
                    <a:pt x="20609" y="-161"/>
                    <a:pt x="21055" y="481"/>
                  </a:cubicBezTo>
                  <a:cubicBezTo>
                    <a:pt x="21055" y="481"/>
                    <a:pt x="21055" y="481"/>
                    <a:pt x="21055" y="481"/>
                  </a:cubicBezTo>
                  <a:cubicBezTo>
                    <a:pt x="21502" y="1124"/>
                    <a:pt x="21502" y="2087"/>
                    <a:pt x="21055" y="2730"/>
                  </a:cubicBezTo>
                  <a:cubicBezTo>
                    <a:pt x="21055" y="2730"/>
                    <a:pt x="21055" y="2730"/>
                    <a:pt x="21055" y="2730"/>
                  </a:cubicBezTo>
                  <a:cubicBezTo>
                    <a:pt x="8386" y="20957"/>
                    <a:pt x="8386" y="20957"/>
                    <a:pt x="8386" y="20957"/>
                  </a:cubicBezTo>
                  <a:cubicBezTo>
                    <a:pt x="8162" y="21278"/>
                    <a:pt x="7883" y="21439"/>
                    <a:pt x="7604" y="21439"/>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grpSp>
      <p:grpSp>
        <p:nvGrpSpPr>
          <p:cNvPr id="62" name="Google Shape;57;p6"/>
          <p:cNvGrpSpPr/>
          <p:nvPr/>
        </p:nvGrpSpPr>
        <p:grpSpPr>
          <a:xfrm>
            <a:off x="1856805" y="2215664"/>
            <a:ext cx="1487549" cy="1487480"/>
            <a:chOff x="0" y="0"/>
            <a:chExt cx="1487547" cy="1487479"/>
          </a:xfrm>
        </p:grpSpPr>
        <p:sp>
          <p:nvSpPr>
            <p:cNvPr id="60" name="Google Shape;58;p6"/>
            <p:cNvSpPr/>
            <p:nvPr/>
          </p:nvSpPr>
          <p:spPr>
            <a:xfrm>
              <a:off x="0" y="-1"/>
              <a:ext cx="1487548" cy="1487481"/>
            </a:xfrm>
            <a:custGeom>
              <a:avLst/>
              <a:gdLst/>
              <a:ahLst/>
              <a:cxnLst>
                <a:cxn ang="0">
                  <a:pos x="wd2" y="hd2"/>
                </a:cxn>
                <a:cxn ang="5400000">
                  <a:pos x="wd2" y="hd2"/>
                </a:cxn>
                <a:cxn ang="10800000">
                  <a:pos x="wd2" y="hd2"/>
                </a:cxn>
                <a:cxn ang="16200000">
                  <a:pos x="wd2" y="hd2"/>
                </a:cxn>
              </a:cxnLst>
              <a:rect l="0" t="0" r="r" b="b"/>
              <a:pathLst>
                <a:path w="21600" h="21600" extrusionOk="0">
                  <a:moveTo>
                    <a:pt x="13499" y="14851"/>
                  </a:moveTo>
                  <a:cubicBezTo>
                    <a:pt x="9772" y="14851"/>
                    <a:pt x="6749" y="11828"/>
                    <a:pt x="6749" y="8100"/>
                  </a:cubicBezTo>
                  <a:cubicBezTo>
                    <a:pt x="6749" y="4372"/>
                    <a:pt x="9772" y="1350"/>
                    <a:pt x="13499" y="1350"/>
                  </a:cubicBezTo>
                  <a:cubicBezTo>
                    <a:pt x="17227" y="1350"/>
                    <a:pt x="20249" y="4372"/>
                    <a:pt x="20249" y="8100"/>
                  </a:cubicBezTo>
                  <a:cubicBezTo>
                    <a:pt x="20249" y="11828"/>
                    <a:pt x="17227" y="14851"/>
                    <a:pt x="13499" y="14851"/>
                  </a:cubicBezTo>
                  <a:moveTo>
                    <a:pt x="3236" y="20043"/>
                  </a:moveTo>
                  <a:cubicBezTo>
                    <a:pt x="3019" y="20267"/>
                    <a:pt x="2718" y="20409"/>
                    <a:pt x="2382" y="20409"/>
                  </a:cubicBezTo>
                  <a:cubicBezTo>
                    <a:pt x="1724" y="20409"/>
                    <a:pt x="1191" y="19876"/>
                    <a:pt x="1191" y="19219"/>
                  </a:cubicBezTo>
                  <a:cubicBezTo>
                    <a:pt x="1191" y="18882"/>
                    <a:pt x="1332" y="18581"/>
                    <a:pt x="1557" y="18364"/>
                  </a:cubicBezTo>
                  <a:lnTo>
                    <a:pt x="1551" y="18359"/>
                  </a:lnTo>
                  <a:lnTo>
                    <a:pt x="6996" y="12914"/>
                  </a:lnTo>
                  <a:cubicBezTo>
                    <a:pt x="7472" y="13556"/>
                    <a:pt x="8039" y="14123"/>
                    <a:pt x="8680" y="14600"/>
                  </a:cubicBezTo>
                  <a:cubicBezTo>
                    <a:pt x="8680" y="14600"/>
                    <a:pt x="3236" y="20043"/>
                    <a:pt x="3236" y="20043"/>
                  </a:cubicBezTo>
                  <a:close/>
                  <a:moveTo>
                    <a:pt x="13499" y="0"/>
                  </a:moveTo>
                  <a:cubicBezTo>
                    <a:pt x="9026" y="0"/>
                    <a:pt x="5399" y="3626"/>
                    <a:pt x="5399" y="8100"/>
                  </a:cubicBezTo>
                  <a:cubicBezTo>
                    <a:pt x="5399" y="9467"/>
                    <a:pt x="5742" y="10754"/>
                    <a:pt x="6341" y="11885"/>
                  </a:cubicBezTo>
                  <a:lnTo>
                    <a:pt x="709" y="17516"/>
                  </a:lnTo>
                  <a:lnTo>
                    <a:pt x="713" y="17521"/>
                  </a:lnTo>
                  <a:cubicBezTo>
                    <a:pt x="274" y="17954"/>
                    <a:pt x="0" y="18553"/>
                    <a:pt x="0" y="19219"/>
                  </a:cubicBezTo>
                  <a:cubicBezTo>
                    <a:pt x="0" y="20534"/>
                    <a:pt x="1066" y="21600"/>
                    <a:pt x="2382" y="21600"/>
                  </a:cubicBezTo>
                  <a:cubicBezTo>
                    <a:pt x="3047" y="21600"/>
                    <a:pt x="3647" y="21327"/>
                    <a:pt x="4079" y="20886"/>
                  </a:cubicBezTo>
                  <a:lnTo>
                    <a:pt x="4078" y="20885"/>
                  </a:lnTo>
                  <a:lnTo>
                    <a:pt x="9708" y="15256"/>
                  </a:lnTo>
                  <a:cubicBezTo>
                    <a:pt x="10839" y="15857"/>
                    <a:pt x="12128" y="16201"/>
                    <a:pt x="13499" y="16201"/>
                  </a:cubicBezTo>
                  <a:cubicBezTo>
                    <a:pt x="17973" y="16201"/>
                    <a:pt x="21600" y="12574"/>
                    <a:pt x="21600" y="8100"/>
                  </a:cubicBezTo>
                  <a:cubicBezTo>
                    <a:pt x="21600" y="3626"/>
                    <a:pt x="17973" y="0"/>
                    <a:pt x="13499" y="0"/>
                  </a:cubicBezTo>
                </a:path>
              </a:pathLst>
            </a:custGeom>
            <a:solidFill>
              <a:srgbClr val="FFFFFF"/>
            </a:solidFill>
            <a:ln w="12700" cap="flat">
              <a:noFill/>
              <a:miter lim="400000"/>
            </a:ln>
            <a:effectLst/>
          </p:spPr>
          <p:txBody>
            <a:bodyPr wrap="square" lIns="0" tIns="0" rIns="0" bIns="0" numCol="1" anchor="ctr">
              <a:noAutofit/>
            </a:bodyPr>
            <a:lstStyle/>
            <a:p>
              <a:pPr algn="ctr">
                <a:defRPr sz="2000">
                  <a:solidFill>
                    <a:srgbClr val="FFFFFF"/>
                  </a:solidFill>
                  <a:latin typeface="Gill Sans"/>
                  <a:ea typeface="Gill Sans"/>
                  <a:cs typeface="Gill Sans"/>
                  <a:sym typeface="Gill Sans"/>
                </a:defRPr>
              </a:pPr>
              <a:endParaRPr/>
            </a:p>
          </p:txBody>
        </p:sp>
        <p:sp>
          <p:nvSpPr>
            <p:cNvPr id="61" name="Google Shape;59;p6"/>
            <p:cNvSpPr/>
            <p:nvPr/>
          </p:nvSpPr>
          <p:spPr>
            <a:xfrm>
              <a:off x="602644" y="231391"/>
              <a:ext cx="350897" cy="348367"/>
            </a:xfrm>
            <a:custGeom>
              <a:avLst/>
              <a:gdLst/>
              <a:ahLst/>
              <a:cxnLst>
                <a:cxn ang="0">
                  <a:pos x="wd2" y="hd2"/>
                </a:cxn>
                <a:cxn ang="5400000">
                  <a:pos x="wd2" y="hd2"/>
                </a:cxn>
                <a:cxn ang="10800000">
                  <a:pos x="wd2" y="hd2"/>
                </a:cxn>
                <a:cxn ang="16200000">
                  <a:pos x="wd2" y="hd2"/>
                </a:cxn>
              </a:cxnLst>
              <a:rect l="0" t="0" r="r" b="b"/>
              <a:pathLst>
                <a:path w="21600" h="21600" extrusionOk="0">
                  <a:moveTo>
                    <a:pt x="20161" y="0"/>
                  </a:moveTo>
                  <a:cubicBezTo>
                    <a:pt x="9025" y="0"/>
                    <a:pt x="0" y="9025"/>
                    <a:pt x="0" y="20160"/>
                  </a:cubicBezTo>
                  <a:cubicBezTo>
                    <a:pt x="0" y="20954"/>
                    <a:pt x="644" y="21600"/>
                    <a:pt x="1440" y="21600"/>
                  </a:cubicBezTo>
                  <a:cubicBezTo>
                    <a:pt x="2235" y="21600"/>
                    <a:pt x="2880" y="20954"/>
                    <a:pt x="2880" y="20160"/>
                  </a:cubicBezTo>
                  <a:cubicBezTo>
                    <a:pt x="2880" y="10618"/>
                    <a:pt x="10617" y="2880"/>
                    <a:pt x="20161" y="2880"/>
                  </a:cubicBezTo>
                  <a:cubicBezTo>
                    <a:pt x="20956" y="2880"/>
                    <a:pt x="21600" y="2234"/>
                    <a:pt x="21600" y="1440"/>
                  </a:cubicBezTo>
                  <a:cubicBezTo>
                    <a:pt x="21600" y="645"/>
                    <a:pt x="20956" y="0"/>
                    <a:pt x="20161" y="0"/>
                  </a:cubicBezTo>
                </a:path>
              </a:pathLst>
            </a:custGeom>
            <a:solidFill>
              <a:srgbClr val="FFFFFF"/>
            </a:solidFill>
            <a:ln w="12700" cap="flat">
              <a:noFill/>
              <a:miter lim="400000"/>
            </a:ln>
            <a:effectLst/>
          </p:spPr>
          <p:txBody>
            <a:bodyPr wrap="square" lIns="0" tIns="0" rIns="0" bIns="0" numCol="1" anchor="ctr">
              <a:noAutofit/>
            </a:bodyPr>
            <a:lstStyle/>
            <a:p>
              <a:pPr algn="ctr">
                <a:defRPr sz="2000">
                  <a:solidFill>
                    <a:srgbClr val="FFFFFF"/>
                  </a:solidFill>
                  <a:latin typeface="Gill Sans"/>
                  <a:ea typeface="Gill Sans"/>
                  <a:cs typeface="Gill Sans"/>
                  <a:sym typeface="Gill Sans"/>
                </a:defRPr>
              </a:pPr>
              <a:endParaRPr/>
            </a:p>
          </p:txBody>
        </p:sp>
      </p:grpSp>
      <p:sp>
        <p:nvSpPr>
          <p:cNvPr id="63" name="Google Shape;60;p6"/>
          <p:cNvSpPr txBox="1"/>
          <p:nvPr/>
        </p:nvSpPr>
        <p:spPr>
          <a:xfrm>
            <a:off x="4690624" y="2620274"/>
            <a:ext cx="5321401" cy="2405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b="1">
                <a:latin typeface="Candara"/>
                <a:ea typeface="Candara"/>
                <a:cs typeface="Candara"/>
                <a:sym typeface="Candara"/>
              </a:defRPr>
            </a:pPr>
            <a:r>
              <a:t>Problem Definition</a:t>
            </a:r>
          </a:p>
          <a:p>
            <a:endParaRPr sz="2100">
              <a:latin typeface="Candara"/>
              <a:ea typeface="Candara"/>
              <a:cs typeface="Candara"/>
              <a:sym typeface="Candara"/>
            </a:endParaRPr>
          </a:p>
          <a:p>
            <a:endParaRPr sz="2100">
              <a:latin typeface="Candara"/>
              <a:ea typeface="Candara"/>
              <a:cs typeface="Candara"/>
              <a:sym typeface="Candara"/>
            </a:endParaRPr>
          </a:p>
          <a:p>
            <a:pPr>
              <a:defRPr sz="2100" b="1">
                <a:latin typeface="Candara"/>
                <a:ea typeface="Candara"/>
                <a:cs typeface="Candara"/>
                <a:sym typeface="Candara"/>
              </a:defRPr>
            </a:pPr>
            <a:r>
              <a:t>Summary for  baseline solution</a:t>
            </a:r>
            <a:r>
              <a:rPr b="0"/>
              <a:t> </a:t>
            </a:r>
          </a:p>
          <a:p>
            <a:endParaRPr sz="2100">
              <a:latin typeface="Candara"/>
              <a:ea typeface="Candara"/>
              <a:cs typeface="Candara"/>
              <a:sym typeface="Candara"/>
            </a:endParaRPr>
          </a:p>
          <a:p>
            <a:endParaRPr sz="2100">
              <a:latin typeface="Candara"/>
              <a:ea typeface="Candara"/>
              <a:cs typeface="Candara"/>
              <a:sym typeface="Candara"/>
            </a:endParaRPr>
          </a:p>
          <a:p>
            <a:pPr>
              <a:defRPr sz="2100" b="1">
                <a:latin typeface="Candara"/>
                <a:ea typeface="Candara"/>
                <a:cs typeface="Candara"/>
                <a:sym typeface="Candara"/>
              </a:defRPr>
            </a:pPr>
            <a:r>
              <a:t>Our improvements to baseline solution</a:t>
            </a:r>
          </a:p>
        </p:txBody>
      </p:sp>
      <p:grpSp>
        <p:nvGrpSpPr>
          <p:cNvPr id="66" name="Google Shape;61;p6"/>
          <p:cNvGrpSpPr/>
          <p:nvPr/>
        </p:nvGrpSpPr>
        <p:grpSpPr>
          <a:xfrm>
            <a:off x="4225413" y="4700349"/>
            <a:ext cx="328301" cy="327401"/>
            <a:chOff x="0" y="0"/>
            <a:chExt cx="328299" cy="327400"/>
          </a:xfrm>
        </p:grpSpPr>
        <p:sp>
          <p:nvSpPr>
            <p:cNvPr id="64" name="Google Shape;62;p6"/>
            <p:cNvSpPr/>
            <p:nvPr/>
          </p:nvSpPr>
          <p:spPr>
            <a:xfrm>
              <a:off x="0" y="0"/>
              <a:ext cx="328301" cy="327401"/>
            </a:xfrm>
            <a:custGeom>
              <a:avLst/>
              <a:gdLst/>
              <a:ahLst/>
              <a:cxnLst>
                <a:cxn ang="0">
                  <a:pos x="wd2" y="hd2"/>
                </a:cxn>
                <a:cxn ang="5400000">
                  <a:pos x="wd2" y="hd2"/>
                </a:cxn>
                <a:cxn ang="10800000">
                  <a:pos x="wd2" y="hd2"/>
                </a:cxn>
                <a:cxn ang="16200000">
                  <a:pos x="wd2" y="hd2"/>
                </a:cxn>
              </a:cxnLst>
              <a:rect l="0" t="0" r="r" b="b"/>
              <a:pathLst>
                <a:path w="21600" h="21600" extrusionOk="0">
                  <a:moveTo>
                    <a:pt x="10815" y="21600"/>
                  </a:moveTo>
                  <a:cubicBezTo>
                    <a:pt x="4852" y="21600"/>
                    <a:pt x="0" y="16772"/>
                    <a:pt x="0" y="10800"/>
                  </a:cubicBezTo>
                  <a:cubicBezTo>
                    <a:pt x="0" y="4828"/>
                    <a:pt x="4852" y="0"/>
                    <a:pt x="10815" y="0"/>
                  </a:cubicBezTo>
                  <a:cubicBezTo>
                    <a:pt x="16748" y="0"/>
                    <a:pt x="21600" y="4828"/>
                    <a:pt x="21600" y="10800"/>
                  </a:cubicBezTo>
                  <a:cubicBezTo>
                    <a:pt x="21600" y="16772"/>
                    <a:pt x="16748" y="21600"/>
                    <a:pt x="10815" y="21600"/>
                  </a:cubicBezTo>
                  <a:close/>
                  <a:moveTo>
                    <a:pt x="10815" y="1238"/>
                  </a:moveTo>
                  <a:cubicBezTo>
                    <a:pt x="5531" y="1238"/>
                    <a:pt x="1236" y="5539"/>
                    <a:pt x="1236" y="10800"/>
                  </a:cubicBezTo>
                  <a:cubicBezTo>
                    <a:pt x="1236" y="16061"/>
                    <a:pt x="5531" y="20362"/>
                    <a:pt x="10815" y="20362"/>
                  </a:cubicBezTo>
                  <a:cubicBezTo>
                    <a:pt x="16069" y="20362"/>
                    <a:pt x="20364" y="16061"/>
                    <a:pt x="20364" y="10800"/>
                  </a:cubicBezTo>
                  <a:cubicBezTo>
                    <a:pt x="20364" y="5539"/>
                    <a:pt x="16069" y="1238"/>
                    <a:pt x="10815" y="1238"/>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sp>
          <p:nvSpPr>
            <p:cNvPr id="65" name="Google Shape;63;p6"/>
            <p:cNvSpPr/>
            <p:nvPr/>
          </p:nvSpPr>
          <p:spPr>
            <a:xfrm>
              <a:off x="74123" y="102034"/>
              <a:ext cx="179936" cy="125047"/>
            </a:xfrm>
            <a:custGeom>
              <a:avLst/>
              <a:gdLst/>
              <a:ahLst/>
              <a:cxnLst>
                <a:cxn ang="0">
                  <a:pos x="wd2" y="hd2"/>
                </a:cxn>
                <a:cxn ang="5400000">
                  <a:pos x="wd2" y="hd2"/>
                </a:cxn>
                <a:cxn ang="10800000">
                  <a:pos x="wd2" y="hd2"/>
                </a:cxn>
                <a:cxn ang="16200000">
                  <a:pos x="wd2" y="hd2"/>
                </a:cxn>
              </a:cxnLst>
              <a:rect l="0" t="0" r="r" b="b"/>
              <a:pathLst>
                <a:path w="21391" h="21439" extrusionOk="0">
                  <a:moveTo>
                    <a:pt x="7604" y="21439"/>
                  </a:moveTo>
                  <a:cubicBezTo>
                    <a:pt x="7269" y="21439"/>
                    <a:pt x="6990" y="21278"/>
                    <a:pt x="6767" y="20957"/>
                  </a:cubicBezTo>
                  <a:cubicBezTo>
                    <a:pt x="293" y="11643"/>
                    <a:pt x="293" y="11643"/>
                    <a:pt x="293" y="11643"/>
                  </a:cubicBezTo>
                  <a:cubicBezTo>
                    <a:pt x="-98" y="11000"/>
                    <a:pt x="-98" y="10037"/>
                    <a:pt x="293" y="9394"/>
                  </a:cubicBezTo>
                  <a:cubicBezTo>
                    <a:pt x="293" y="9394"/>
                    <a:pt x="293" y="9394"/>
                    <a:pt x="293" y="9394"/>
                  </a:cubicBezTo>
                  <a:cubicBezTo>
                    <a:pt x="739" y="8752"/>
                    <a:pt x="1465" y="8752"/>
                    <a:pt x="1911" y="9394"/>
                  </a:cubicBezTo>
                  <a:cubicBezTo>
                    <a:pt x="1911" y="9394"/>
                    <a:pt x="1911" y="9394"/>
                    <a:pt x="1911" y="9394"/>
                  </a:cubicBezTo>
                  <a:cubicBezTo>
                    <a:pt x="7604" y="17585"/>
                    <a:pt x="7604" y="17585"/>
                    <a:pt x="7604" y="17585"/>
                  </a:cubicBezTo>
                  <a:cubicBezTo>
                    <a:pt x="19437" y="481"/>
                    <a:pt x="19437" y="481"/>
                    <a:pt x="19437" y="481"/>
                  </a:cubicBezTo>
                  <a:cubicBezTo>
                    <a:pt x="19883" y="-161"/>
                    <a:pt x="20609" y="-161"/>
                    <a:pt x="21055" y="481"/>
                  </a:cubicBezTo>
                  <a:cubicBezTo>
                    <a:pt x="21055" y="481"/>
                    <a:pt x="21055" y="481"/>
                    <a:pt x="21055" y="481"/>
                  </a:cubicBezTo>
                  <a:cubicBezTo>
                    <a:pt x="21502" y="1124"/>
                    <a:pt x="21502" y="2087"/>
                    <a:pt x="21055" y="2730"/>
                  </a:cubicBezTo>
                  <a:cubicBezTo>
                    <a:pt x="21055" y="2730"/>
                    <a:pt x="21055" y="2730"/>
                    <a:pt x="21055" y="2730"/>
                  </a:cubicBezTo>
                  <a:cubicBezTo>
                    <a:pt x="8386" y="20957"/>
                    <a:pt x="8386" y="20957"/>
                    <a:pt x="8386" y="20957"/>
                  </a:cubicBezTo>
                  <a:cubicBezTo>
                    <a:pt x="8162" y="21278"/>
                    <a:pt x="7883" y="21439"/>
                    <a:pt x="7604" y="21439"/>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gr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Google Shape;15;p1"/>
          <p:cNvSpPr txBox="1">
            <a:spLocks noGrp="1"/>
          </p:cNvSpPr>
          <p:nvPr>
            <p:ph type="sldNum" sz="quarter" idx="2"/>
          </p:nvPr>
        </p:nvSpPr>
        <p:spPr>
          <a:xfrm>
            <a:off x="10497299" y="6573607"/>
            <a:ext cx="174492"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4</a:t>
            </a:fld>
            <a:endParaRPr/>
          </a:p>
        </p:txBody>
      </p:sp>
      <p:sp>
        <p:nvSpPr>
          <p:cNvPr id="69" name="Google Shape;69;p7"/>
          <p:cNvSpPr txBox="1"/>
          <p:nvPr/>
        </p:nvSpPr>
        <p:spPr>
          <a:xfrm>
            <a:off x="580499" y="776374"/>
            <a:ext cx="11031002" cy="589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800" b="1">
                <a:latin typeface="Candara"/>
                <a:ea typeface="Candara"/>
                <a:cs typeface="Candara"/>
                <a:sym typeface="Candara"/>
              </a:defRPr>
            </a:lvl1pPr>
          </a:lstStyle>
          <a:p>
            <a:r>
              <a:t>Problem Definition</a:t>
            </a:r>
          </a:p>
        </p:txBody>
      </p:sp>
      <p:sp>
        <p:nvSpPr>
          <p:cNvPr id="70" name="Google Shape;70;p7"/>
          <p:cNvSpPr txBox="1"/>
          <p:nvPr/>
        </p:nvSpPr>
        <p:spPr>
          <a:xfrm>
            <a:off x="580500" y="1332575"/>
            <a:ext cx="10277100" cy="1770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b="1">
                <a:latin typeface="Candara"/>
                <a:ea typeface="Candara"/>
                <a:cs typeface="Candara"/>
                <a:sym typeface="Candara"/>
              </a:defRPr>
            </a:pPr>
            <a:r>
              <a:t>Dynamic random-access memory (DRAM) module occasionally encounter Uncorrectable Error(UE) failure, which are among the primary causes of failures in data centers.  Our Project aims to forecast whether DRAM module will experience an UE failure with in the next K days.</a:t>
            </a:r>
          </a:p>
          <a:p>
            <a:pPr>
              <a:defRPr sz="2100">
                <a:latin typeface="Candara"/>
                <a:ea typeface="Candara"/>
                <a:cs typeface="Candara"/>
                <a:sym typeface="Candara"/>
              </a:defRPr>
            </a:pPr>
            <a:r>
              <a:t> </a:t>
            </a:r>
          </a:p>
        </p:txBody>
      </p:sp>
      <p:sp>
        <p:nvSpPr>
          <p:cNvPr id="71" name="Google Shape;71;p7"/>
          <p:cNvSpPr/>
          <p:nvPr/>
        </p:nvSpPr>
        <p:spPr>
          <a:xfrm flipV="1">
            <a:off x="1379600" y="4838674"/>
            <a:ext cx="7917600" cy="39901"/>
          </a:xfrm>
          <a:prstGeom prst="line">
            <a:avLst/>
          </a:prstGeom>
          <a:ln w="76200">
            <a:solidFill>
              <a:srgbClr val="44546A"/>
            </a:solidFill>
          </a:ln>
        </p:spPr>
        <p:txBody>
          <a:bodyPr lIns="0" tIns="0" rIns="0" bIns="0"/>
          <a:lstStyle/>
          <a:p>
            <a:endParaRPr/>
          </a:p>
        </p:txBody>
      </p:sp>
      <p:sp>
        <p:nvSpPr>
          <p:cNvPr id="72" name="Google Shape;72;p7"/>
          <p:cNvSpPr/>
          <p:nvPr/>
        </p:nvSpPr>
        <p:spPr>
          <a:xfrm flipH="1">
            <a:off x="1439575" y="4118800"/>
            <a:ext cx="1" cy="819900"/>
          </a:xfrm>
          <a:prstGeom prst="line">
            <a:avLst/>
          </a:prstGeom>
          <a:ln w="76200">
            <a:solidFill>
              <a:srgbClr val="44546A"/>
            </a:solidFill>
          </a:ln>
        </p:spPr>
        <p:txBody>
          <a:bodyPr lIns="0" tIns="0" rIns="0" bIns="0"/>
          <a:lstStyle/>
          <a:p>
            <a:endParaRPr/>
          </a:p>
        </p:txBody>
      </p:sp>
      <p:sp>
        <p:nvSpPr>
          <p:cNvPr id="73" name="Google Shape;73;p7"/>
          <p:cNvSpPr/>
          <p:nvPr/>
        </p:nvSpPr>
        <p:spPr>
          <a:xfrm>
            <a:off x="4558674" y="3159074"/>
            <a:ext cx="12301" cy="1779601"/>
          </a:xfrm>
          <a:prstGeom prst="line">
            <a:avLst/>
          </a:prstGeom>
          <a:ln w="76200">
            <a:solidFill>
              <a:srgbClr val="44546A"/>
            </a:solidFill>
          </a:ln>
        </p:spPr>
        <p:txBody>
          <a:bodyPr lIns="0" tIns="0" rIns="0" bIns="0"/>
          <a:lstStyle/>
          <a:p>
            <a:endParaRPr/>
          </a:p>
        </p:txBody>
      </p:sp>
      <p:sp>
        <p:nvSpPr>
          <p:cNvPr id="74" name="Google Shape;74;p7"/>
          <p:cNvSpPr/>
          <p:nvPr/>
        </p:nvSpPr>
        <p:spPr>
          <a:xfrm>
            <a:off x="5717099" y="3138975"/>
            <a:ext cx="3901" cy="1819801"/>
          </a:xfrm>
          <a:prstGeom prst="line">
            <a:avLst/>
          </a:prstGeom>
          <a:ln w="76200">
            <a:solidFill>
              <a:srgbClr val="44546A"/>
            </a:solidFill>
          </a:ln>
        </p:spPr>
        <p:txBody>
          <a:bodyPr lIns="0" tIns="0" rIns="0" bIns="0"/>
          <a:lstStyle/>
          <a:p>
            <a:endParaRPr/>
          </a:p>
        </p:txBody>
      </p:sp>
      <p:sp>
        <p:nvSpPr>
          <p:cNvPr id="75" name="Google Shape;75;p7"/>
          <p:cNvSpPr txBox="1"/>
          <p:nvPr/>
        </p:nvSpPr>
        <p:spPr>
          <a:xfrm>
            <a:off x="1708887" y="4938674"/>
            <a:ext cx="3738901" cy="500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100">
                <a:latin typeface="Candara"/>
                <a:ea typeface="Candara"/>
                <a:cs typeface="Candara"/>
                <a:sym typeface="Candara"/>
              </a:defRPr>
            </a:lvl1pPr>
          </a:lstStyle>
          <a:p>
            <a:r>
              <a:t>historical data</a:t>
            </a:r>
          </a:p>
        </p:txBody>
      </p:sp>
      <p:sp>
        <p:nvSpPr>
          <p:cNvPr id="76" name="Google Shape;76;p7"/>
          <p:cNvSpPr txBox="1"/>
          <p:nvPr/>
        </p:nvSpPr>
        <p:spPr>
          <a:xfrm>
            <a:off x="4558674" y="4818524"/>
            <a:ext cx="3419100" cy="1452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a:latin typeface="Candara"/>
                <a:ea typeface="Candara"/>
                <a:cs typeface="Candara"/>
                <a:sym typeface="Candara"/>
              </a:defRPr>
            </a:pPr>
            <a:r>
              <a:t>lead </a:t>
            </a:r>
          </a:p>
          <a:p>
            <a:pPr>
              <a:defRPr sz="2100">
                <a:latin typeface="Candara"/>
                <a:ea typeface="Candara"/>
                <a:cs typeface="Candara"/>
                <a:sym typeface="Candara"/>
              </a:defRPr>
            </a:pPr>
            <a:r>
              <a:t>prediction </a:t>
            </a:r>
          </a:p>
          <a:p>
            <a:pPr>
              <a:defRPr sz="2100">
                <a:latin typeface="Candara"/>
                <a:ea typeface="Candara"/>
                <a:cs typeface="Candara"/>
                <a:sym typeface="Candara"/>
              </a:defRPr>
            </a:pPr>
            <a:r>
              <a:t>window</a:t>
            </a:r>
          </a:p>
          <a:p>
            <a:pPr>
              <a:defRPr sz="2100">
                <a:latin typeface="Candara"/>
                <a:ea typeface="Candara"/>
                <a:cs typeface="Candara"/>
                <a:sym typeface="Candara"/>
              </a:defRPr>
            </a:pPr>
            <a:r>
              <a:t>15min</a:t>
            </a:r>
          </a:p>
        </p:txBody>
      </p:sp>
      <p:sp>
        <p:nvSpPr>
          <p:cNvPr id="77" name="Google Shape;77;p7"/>
          <p:cNvSpPr txBox="1"/>
          <p:nvPr/>
        </p:nvSpPr>
        <p:spPr>
          <a:xfrm>
            <a:off x="6134087" y="5058824"/>
            <a:ext cx="3738902" cy="500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100">
                <a:latin typeface="Candara"/>
                <a:ea typeface="Candara"/>
                <a:cs typeface="Candara"/>
                <a:sym typeface="Candara"/>
              </a:defRPr>
            </a:lvl1pPr>
          </a:lstStyle>
          <a:p>
            <a:r>
              <a:t>prediction window 7 days</a:t>
            </a:r>
          </a:p>
        </p:txBody>
      </p:sp>
      <p:sp>
        <p:nvSpPr>
          <p:cNvPr id="78" name="Google Shape;78;p7"/>
          <p:cNvSpPr txBox="1"/>
          <p:nvPr/>
        </p:nvSpPr>
        <p:spPr>
          <a:xfrm>
            <a:off x="1708899" y="2729325"/>
            <a:ext cx="2159401" cy="500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100" b="1">
                <a:latin typeface="Candara"/>
                <a:ea typeface="Candara"/>
                <a:cs typeface="Candara"/>
                <a:sym typeface="Candara"/>
              </a:defRPr>
            </a:lvl1pPr>
          </a:lstStyle>
          <a:p>
            <a:r>
              <a:t>Past</a:t>
            </a:r>
          </a:p>
        </p:txBody>
      </p:sp>
      <p:sp>
        <p:nvSpPr>
          <p:cNvPr id="79" name="Google Shape;79;p7"/>
          <p:cNvSpPr txBox="1"/>
          <p:nvPr/>
        </p:nvSpPr>
        <p:spPr>
          <a:xfrm>
            <a:off x="3974700" y="2729325"/>
            <a:ext cx="2159401" cy="500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100" b="1">
                <a:latin typeface="Candara"/>
                <a:ea typeface="Candara"/>
                <a:cs typeface="Candara"/>
                <a:sym typeface="Candara"/>
              </a:defRPr>
            </a:lvl1pPr>
          </a:lstStyle>
          <a:p>
            <a:r>
              <a:t>Present</a:t>
            </a:r>
          </a:p>
        </p:txBody>
      </p:sp>
      <p:sp>
        <p:nvSpPr>
          <p:cNvPr id="80" name="Google Shape;80;p7"/>
          <p:cNvSpPr txBox="1"/>
          <p:nvPr/>
        </p:nvSpPr>
        <p:spPr>
          <a:xfrm>
            <a:off x="5721000" y="2729325"/>
            <a:ext cx="2159401" cy="500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100" b="1">
                <a:latin typeface="Candara"/>
                <a:ea typeface="Candara"/>
                <a:cs typeface="Candara"/>
                <a:sym typeface="Candara"/>
              </a:defRPr>
            </a:lvl1pPr>
          </a:lstStyle>
          <a:p>
            <a:r>
              <a:t>Future</a:t>
            </a:r>
          </a:p>
        </p:txBody>
      </p:sp>
      <p:sp>
        <p:nvSpPr>
          <p:cNvPr id="81" name="Google Shape;81;p7"/>
          <p:cNvSpPr/>
          <p:nvPr/>
        </p:nvSpPr>
        <p:spPr>
          <a:xfrm flipV="1">
            <a:off x="1472349" y="4513750"/>
            <a:ext cx="3041401" cy="19501"/>
          </a:xfrm>
          <a:prstGeom prst="line">
            <a:avLst/>
          </a:prstGeom>
          <a:ln>
            <a:solidFill>
              <a:srgbClr val="44546A"/>
            </a:solidFill>
            <a:tailEnd type="triangle"/>
          </a:ln>
        </p:spPr>
        <p:txBody>
          <a:bodyPr lIns="0" tIns="0" rIns="0" bIns="0"/>
          <a:lstStyle/>
          <a:p>
            <a:endParaRPr/>
          </a:p>
        </p:txBody>
      </p:sp>
      <p:sp>
        <p:nvSpPr>
          <p:cNvPr id="82" name="Google Shape;82;p7"/>
          <p:cNvSpPr/>
          <p:nvPr/>
        </p:nvSpPr>
        <p:spPr>
          <a:xfrm flipV="1">
            <a:off x="5717099" y="4513750"/>
            <a:ext cx="3041401" cy="19501"/>
          </a:xfrm>
          <a:prstGeom prst="line">
            <a:avLst/>
          </a:prstGeom>
          <a:ln>
            <a:solidFill>
              <a:srgbClr val="44546A"/>
            </a:solidFill>
            <a:tailEnd type="triangle"/>
          </a:ln>
        </p:spPr>
        <p:txBody>
          <a:bodyPr lIns="0" tIns="0" rIns="0" bIns="0"/>
          <a:lstStyle/>
          <a:p>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Google Shape;15;p1"/>
          <p:cNvSpPr txBox="1">
            <a:spLocks noGrp="1"/>
          </p:cNvSpPr>
          <p:nvPr>
            <p:ph type="sldNum" sz="quarter" idx="2"/>
          </p:nvPr>
        </p:nvSpPr>
        <p:spPr>
          <a:xfrm>
            <a:off x="10497299" y="6573607"/>
            <a:ext cx="174492"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5</a:t>
            </a:fld>
            <a:endParaRPr/>
          </a:p>
        </p:txBody>
      </p:sp>
      <p:sp>
        <p:nvSpPr>
          <p:cNvPr id="85" name="Google Shape;88;p8"/>
          <p:cNvSpPr txBox="1"/>
          <p:nvPr/>
        </p:nvSpPr>
        <p:spPr>
          <a:xfrm>
            <a:off x="580499" y="776374"/>
            <a:ext cx="11031002" cy="589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800" b="1">
                <a:latin typeface="Candara"/>
                <a:ea typeface="Candara"/>
                <a:cs typeface="Candara"/>
                <a:sym typeface="Candara"/>
              </a:defRPr>
            </a:lvl1pPr>
          </a:lstStyle>
          <a:p>
            <a:r>
              <a:t>Summary of Baseline Introduction</a:t>
            </a:r>
          </a:p>
        </p:txBody>
      </p:sp>
      <p:grpSp>
        <p:nvGrpSpPr>
          <p:cNvPr id="88" name="Google Shape;89;p8"/>
          <p:cNvGrpSpPr/>
          <p:nvPr/>
        </p:nvGrpSpPr>
        <p:grpSpPr>
          <a:xfrm>
            <a:off x="879749" y="2339325"/>
            <a:ext cx="1919402" cy="899701"/>
            <a:chOff x="0" y="0"/>
            <a:chExt cx="1919400" cy="899700"/>
          </a:xfrm>
        </p:grpSpPr>
        <p:sp>
          <p:nvSpPr>
            <p:cNvPr id="86" name="圆角矩形"/>
            <p:cNvSpPr/>
            <p:nvPr/>
          </p:nvSpPr>
          <p:spPr>
            <a:xfrm>
              <a:off x="0" y="0"/>
              <a:ext cx="1919401" cy="8997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sz="1800" b="1">
                  <a:latin typeface="Candara"/>
                  <a:ea typeface="Candara"/>
                  <a:cs typeface="Candara"/>
                  <a:sym typeface="Candara"/>
                </a:defRPr>
              </a:pPr>
              <a:endParaRPr/>
            </a:p>
          </p:txBody>
        </p:sp>
        <p:sp>
          <p:nvSpPr>
            <p:cNvPr id="87" name="Feature Engineering"/>
            <p:cNvSpPr txBox="1"/>
            <p:nvPr/>
          </p:nvSpPr>
          <p:spPr>
            <a:xfrm>
              <a:off x="48682" y="91724"/>
              <a:ext cx="1822036" cy="716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lvl1pPr algn="ctr">
                <a:defRPr sz="1800" b="1">
                  <a:latin typeface="Candara"/>
                  <a:ea typeface="Candara"/>
                  <a:cs typeface="Candara"/>
                  <a:sym typeface="Candara"/>
                </a:defRPr>
              </a:lvl1pPr>
            </a:lstStyle>
            <a:p>
              <a:r>
                <a:t>Feature Engineering</a:t>
              </a:r>
            </a:p>
          </p:txBody>
        </p:sp>
      </p:grpSp>
      <p:grpSp>
        <p:nvGrpSpPr>
          <p:cNvPr id="91" name="Google Shape;90;p8"/>
          <p:cNvGrpSpPr/>
          <p:nvPr/>
        </p:nvGrpSpPr>
        <p:grpSpPr>
          <a:xfrm>
            <a:off x="4461710" y="2311343"/>
            <a:ext cx="2038790" cy="955664"/>
            <a:chOff x="0" y="0"/>
            <a:chExt cx="2038789" cy="955662"/>
          </a:xfrm>
        </p:grpSpPr>
        <p:sp>
          <p:nvSpPr>
            <p:cNvPr id="89" name="圆角矩形"/>
            <p:cNvSpPr/>
            <p:nvPr/>
          </p:nvSpPr>
          <p:spPr>
            <a:xfrm>
              <a:off x="0" y="0"/>
              <a:ext cx="2038790" cy="955663"/>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a:latin typeface="Candara"/>
                  <a:ea typeface="Candara"/>
                  <a:cs typeface="Candara"/>
                  <a:sym typeface="Candara"/>
                </a:defRPr>
              </a:pPr>
              <a:endParaRPr/>
            </a:p>
          </p:txBody>
        </p:sp>
        <p:sp>
          <p:nvSpPr>
            <p:cNvPr id="90" name="Training Data Generation"/>
            <p:cNvSpPr txBox="1"/>
            <p:nvPr/>
          </p:nvSpPr>
          <p:spPr>
            <a:xfrm>
              <a:off x="51710" y="97430"/>
              <a:ext cx="1935369" cy="76080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noAutofit/>
            </a:bodyPr>
            <a:lstStyle/>
            <a:p>
              <a:pPr algn="ctr">
                <a:defRPr sz="1800" b="1">
                  <a:latin typeface="Candara"/>
                  <a:ea typeface="Candara"/>
                  <a:cs typeface="Candara"/>
                  <a:sym typeface="Candara"/>
                </a:defRPr>
              </a:pPr>
              <a:r>
                <a:t>Training Data Generation</a:t>
              </a:r>
              <a:r>
                <a:rPr sz="1400" b="0"/>
                <a:t> </a:t>
              </a:r>
            </a:p>
          </p:txBody>
        </p:sp>
      </p:grpSp>
      <p:grpSp>
        <p:nvGrpSpPr>
          <p:cNvPr id="94" name="Google Shape;91;p8"/>
          <p:cNvGrpSpPr/>
          <p:nvPr/>
        </p:nvGrpSpPr>
        <p:grpSpPr>
          <a:xfrm>
            <a:off x="6982849" y="2349300"/>
            <a:ext cx="1919401" cy="899701"/>
            <a:chOff x="0" y="0"/>
            <a:chExt cx="1919400" cy="899700"/>
          </a:xfrm>
        </p:grpSpPr>
        <p:sp>
          <p:nvSpPr>
            <p:cNvPr id="92" name="圆角矩形"/>
            <p:cNvSpPr/>
            <p:nvPr/>
          </p:nvSpPr>
          <p:spPr>
            <a:xfrm>
              <a:off x="0" y="0"/>
              <a:ext cx="1919401" cy="8997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sz="1800" b="1">
                  <a:latin typeface="Candara"/>
                  <a:ea typeface="Candara"/>
                  <a:cs typeface="Candara"/>
                  <a:sym typeface="Candara"/>
                </a:defRPr>
              </a:pPr>
              <a:endParaRPr/>
            </a:p>
          </p:txBody>
        </p:sp>
        <p:sp>
          <p:nvSpPr>
            <p:cNvPr id="93" name="LightGBM model"/>
            <p:cNvSpPr txBox="1"/>
            <p:nvPr/>
          </p:nvSpPr>
          <p:spPr>
            <a:xfrm>
              <a:off x="48682" y="91724"/>
              <a:ext cx="1822036" cy="716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lvl1pPr algn="ctr">
                <a:defRPr sz="1800" b="1">
                  <a:latin typeface="Candara"/>
                  <a:ea typeface="Candara"/>
                  <a:cs typeface="Candara"/>
                  <a:sym typeface="Candara"/>
                </a:defRPr>
              </a:lvl1pPr>
            </a:lstStyle>
            <a:p>
              <a:r>
                <a:t>LightGBM model</a:t>
              </a:r>
            </a:p>
          </p:txBody>
        </p:sp>
      </p:grpSp>
      <p:grpSp>
        <p:nvGrpSpPr>
          <p:cNvPr id="97" name="Google Shape;92;p8"/>
          <p:cNvGrpSpPr/>
          <p:nvPr/>
        </p:nvGrpSpPr>
        <p:grpSpPr>
          <a:xfrm>
            <a:off x="9554574" y="2349300"/>
            <a:ext cx="1919402" cy="899701"/>
            <a:chOff x="0" y="0"/>
            <a:chExt cx="1919400" cy="899700"/>
          </a:xfrm>
        </p:grpSpPr>
        <p:sp>
          <p:nvSpPr>
            <p:cNvPr id="95" name="圆角矩形"/>
            <p:cNvSpPr/>
            <p:nvPr/>
          </p:nvSpPr>
          <p:spPr>
            <a:xfrm>
              <a:off x="0" y="0"/>
              <a:ext cx="1919401" cy="8997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sz="1800" b="1">
                  <a:latin typeface="Candara"/>
                  <a:ea typeface="Candara"/>
                  <a:cs typeface="Candara"/>
                  <a:sym typeface="Candara"/>
                </a:defRPr>
              </a:pPr>
              <a:endParaRPr/>
            </a:p>
          </p:txBody>
        </p:sp>
        <p:sp>
          <p:nvSpPr>
            <p:cNvPr id="96" name="Result Generation"/>
            <p:cNvSpPr txBox="1"/>
            <p:nvPr/>
          </p:nvSpPr>
          <p:spPr>
            <a:xfrm>
              <a:off x="48682" y="91724"/>
              <a:ext cx="1822036" cy="716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lvl1pPr algn="ctr">
                <a:defRPr sz="1800" b="1">
                  <a:latin typeface="Candara"/>
                  <a:ea typeface="Candara"/>
                  <a:cs typeface="Candara"/>
                  <a:sym typeface="Candara"/>
                </a:defRPr>
              </a:lvl1pPr>
            </a:lstStyle>
            <a:p>
              <a:r>
                <a:t>Result Generation</a:t>
              </a:r>
            </a:p>
          </p:txBody>
        </p:sp>
      </p:grpSp>
      <p:sp>
        <p:nvSpPr>
          <p:cNvPr id="98" name="Google Shape;94;p8"/>
          <p:cNvSpPr txBox="1"/>
          <p:nvPr/>
        </p:nvSpPr>
        <p:spPr>
          <a:xfrm>
            <a:off x="899749" y="3685974"/>
            <a:ext cx="3199202" cy="1452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b="1">
                <a:solidFill>
                  <a:srgbClr val="FF0000"/>
                </a:solidFill>
                <a:latin typeface="Candara"/>
                <a:ea typeface="Candara"/>
                <a:cs typeface="Candara"/>
                <a:sym typeface="Candara"/>
              </a:defRPr>
            </a:pPr>
            <a:r>
              <a:t>temporal</a:t>
            </a:r>
            <a:r>
              <a:rPr>
                <a:solidFill>
                  <a:srgbClr val="000000"/>
                </a:solidFill>
              </a:rPr>
              <a:t> features</a:t>
            </a:r>
          </a:p>
          <a:p>
            <a:pPr>
              <a:defRPr sz="2100" b="1">
                <a:solidFill>
                  <a:srgbClr val="FF0000"/>
                </a:solidFill>
                <a:latin typeface="Candara"/>
                <a:ea typeface="Candara"/>
                <a:cs typeface="Candara"/>
                <a:sym typeface="Candara"/>
              </a:defRPr>
            </a:pPr>
            <a:r>
              <a:t>spatial</a:t>
            </a:r>
            <a:r>
              <a:rPr>
                <a:solidFill>
                  <a:srgbClr val="000000"/>
                </a:solidFill>
              </a:rPr>
              <a:t> features</a:t>
            </a:r>
          </a:p>
          <a:p>
            <a:pPr>
              <a:defRPr sz="2100" b="1">
                <a:solidFill>
                  <a:srgbClr val="FF0000"/>
                </a:solidFill>
                <a:latin typeface="Candara"/>
                <a:ea typeface="Candara"/>
                <a:cs typeface="Candara"/>
                <a:sym typeface="Candara"/>
              </a:defRPr>
            </a:pPr>
            <a:r>
              <a:t>parity</a:t>
            </a:r>
            <a:r>
              <a:rPr>
                <a:solidFill>
                  <a:srgbClr val="000000"/>
                </a:solidFill>
              </a:rPr>
              <a:t> features</a:t>
            </a:r>
          </a:p>
        </p:txBody>
      </p:sp>
      <p:sp>
        <p:nvSpPr>
          <p:cNvPr id="99" name="Google Shape;95;p8"/>
          <p:cNvSpPr txBox="1"/>
          <p:nvPr/>
        </p:nvSpPr>
        <p:spPr>
          <a:xfrm>
            <a:off x="4360023" y="3538975"/>
            <a:ext cx="2140477" cy="2722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b="1">
                <a:latin typeface="Candara"/>
                <a:ea typeface="Candara"/>
                <a:cs typeface="Candara"/>
                <a:sym typeface="Candara"/>
              </a:defRPr>
            </a:pPr>
            <a:r>
              <a:t>Positive</a:t>
            </a:r>
            <a:r>
              <a:rPr b="0"/>
              <a:t> label:</a:t>
            </a:r>
          </a:p>
          <a:p>
            <a:pPr>
              <a:defRPr sz="2100">
                <a:latin typeface="Candara"/>
                <a:ea typeface="Candara"/>
                <a:cs typeface="Candara"/>
                <a:sym typeface="Candara"/>
              </a:defRPr>
            </a:pPr>
            <a:r>
              <a:t>range </a:t>
            </a:r>
            <a:r>
              <a:rPr b="1">
                <a:solidFill>
                  <a:srgbClr val="FF0000"/>
                </a:solidFill>
              </a:rPr>
              <a:t>30</a:t>
            </a:r>
            <a:r>
              <a:t> days before the ticket time.</a:t>
            </a:r>
          </a:p>
          <a:p>
            <a:pPr>
              <a:defRPr sz="2100" b="1">
                <a:latin typeface="Candara"/>
                <a:ea typeface="Candara"/>
                <a:cs typeface="Candara"/>
                <a:sym typeface="Candara"/>
              </a:defRPr>
            </a:pPr>
            <a:r>
              <a:t>Negative </a:t>
            </a:r>
            <a:r>
              <a:rPr b="0"/>
              <a:t>label</a:t>
            </a:r>
            <a:r>
              <a:t>:</a:t>
            </a:r>
          </a:p>
          <a:p>
            <a:pPr>
              <a:defRPr sz="2100">
                <a:latin typeface="Candara"/>
                <a:ea typeface="Candara"/>
                <a:cs typeface="Candara"/>
                <a:sym typeface="Candara"/>
              </a:defRPr>
            </a:pPr>
            <a:r>
              <a:t>continuous </a:t>
            </a:r>
            <a:r>
              <a:rPr b="1">
                <a:solidFill>
                  <a:srgbClr val="FF0000"/>
                </a:solidFill>
              </a:rPr>
              <a:t>30</a:t>
            </a:r>
            <a:r>
              <a:t> days without failure ticket.</a:t>
            </a:r>
          </a:p>
        </p:txBody>
      </p:sp>
      <p:sp>
        <p:nvSpPr>
          <p:cNvPr id="100" name="Google Shape;96;p8"/>
          <p:cNvSpPr txBox="1"/>
          <p:nvPr/>
        </p:nvSpPr>
        <p:spPr>
          <a:xfrm>
            <a:off x="6982649" y="3705924"/>
            <a:ext cx="1799401" cy="1770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a:latin typeface="Candara"/>
                <a:ea typeface="Candara"/>
                <a:cs typeface="Candara"/>
                <a:sym typeface="Candara"/>
              </a:defRPr>
            </a:pPr>
            <a:r>
              <a:t>Tested to be outperformed </a:t>
            </a:r>
            <a:r>
              <a:rPr b="1"/>
              <a:t>random forest</a:t>
            </a:r>
            <a:r>
              <a:t>, </a:t>
            </a:r>
            <a:r>
              <a:rPr b="1"/>
              <a:t>XGB</a:t>
            </a:r>
            <a:r>
              <a:t> and </a:t>
            </a:r>
            <a:r>
              <a:rPr b="1"/>
              <a:t>Catboost</a:t>
            </a:r>
          </a:p>
        </p:txBody>
      </p:sp>
      <p:sp>
        <p:nvSpPr>
          <p:cNvPr id="101" name="Google Shape;97;p8"/>
          <p:cNvSpPr txBox="1"/>
          <p:nvPr/>
        </p:nvSpPr>
        <p:spPr>
          <a:xfrm>
            <a:off x="9724525" y="3705924"/>
            <a:ext cx="1579501" cy="1135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100">
                <a:latin typeface="Candara"/>
                <a:ea typeface="Candara"/>
                <a:cs typeface="Candara"/>
                <a:sym typeface="Candara"/>
              </a:defRPr>
            </a:lvl1pPr>
          </a:lstStyle>
          <a:p>
            <a:r>
              <a:t>default threshold: 0.5</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Google Shape;15;p1"/>
          <p:cNvSpPr txBox="1">
            <a:spLocks noGrp="1"/>
          </p:cNvSpPr>
          <p:nvPr>
            <p:ph type="sldNum" sz="quarter" idx="2"/>
          </p:nvPr>
        </p:nvSpPr>
        <p:spPr>
          <a:xfrm>
            <a:off x="10497299" y="6573607"/>
            <a:ext cx="174492"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6</a:t>
            </a:fld>
            <a:endParaRPr/>
          </a:p>
        </p:txBody>
      </p:sp>
      <p:sp>
        <p:nvSpPr>
          <p:cNvPr id="104" name="Google Shape;103;p9"/>
          <p:cNvSpPr txBox="1"/>
          <p:nvPr/>
        </p:nvSpPr>
        <p:spPr>
          <a:xfrm>
            <a:off x="580499" y="776374"/>
            <a:ext cx="11031002" cy="589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800" b="1">
                <a:latin typeface="Candara"/>
                <a:ea typeface="Candara"/>
                <a:cs typeface="Candara"/>
                <a:sym typeface="Candara"/>
              </a:defRPr>
            </a:lvl1pPr>
          </a:lstStyle>
          <a:p>
            <a:r>
              <a:t>Improvements to the Baseline Method</a:t>
            </a:r>
          </a:p>
        </p:txBody>
      </p:sp>
      <p:grpSp>
        <p:nvGrpSpPr>
          <p:cNvPr id="107" name="Google Shape;104;p9"/>
          <p:cNvGrpSpPr/>
          <p:nvPr/>
        </p:nvGrpSpPr>
        <p:grpSpPr>
          <a:xfrm>
            <a:off x="879749" y="2339325"/>
            <a:ext cx="1919402" cy="899701"/>
            <a:chOff x="0" y="0"/>
            <a:chExt cx="1919400" cy="899700"/>
          </a:xfrm>
        </p:grpSpPr>
        <p:sp>
          <p:nvSpPr>
            <p:cNvPr id="105" name="圆角矩形"/>
            <p:cNvSpPr/>
            <p:nvPr/>
          </p:nvSpPr>
          <p:spPr>
            <a:xfrm>
              <a:off x="0" y="0"/>
              <a:ext cx="1919401" cy="8997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sz="1800" b="1">
                  <a:latin typeface="Candara"/>
                  <a:ea typeface="Candara"/>
                  <a:cs typeface="Candara"/>
                  <a:sym typeface="Candara"/>
                </a:defRPr>
              </a:pPr>
              <a:endParaRPr/>
            </a:p>
          </p:txBody>
        </p:sp>
        <p:sp>
          <p:nvSpPr>
            <p:cNvPr id="106" name="Feature Engineering"/>
            <p:cNvSpPr txBox="1"/>
            <p:nvPr/>
          </p:nvSpPr>
          <p:spPr>
            <a:xfrm>
              <a:off x="48682" y="91724"/>
              <a:ext cx="1822036" cy="716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lvl1pPr algn="ctr">
                <a:defRPr sz="1800" b="1">
                  <a:latin typeface="Candara"/>
                  <a:ea typeface="Candara"/>
                  <a:cs typeface="Candara"/>
                  <a:sym typeface="Candara"/>
                </a:defRPr>
              </a:lvl1pPr>
            </a:lstStyle>
            <a:p>
              <a:r>
                <a:t>Feature Engineering</a:t>
              </a:r>
            </a:p>
          </p:txBody>
        </p:sp>
      </p:grpSp>
      <p:grpSp>
        <p:nvGrpSpPr>
          <p:cNvPr id="110" name="Google Shape;105;p9"/>
          <p:cNvGrpSpPr/>
          <p:nvPr/>
        </p:nvGrpSpPr>
        <p:grpSpPr>
          <a:xfrm>
            <a:off x="3321475" y="2339325"/>
            <a:ext cx="1919401" cy="899701"/>
            <a:chOff x="0" y="0"/>
            <a:chExt cx="1919400" cy="899700"/>
          </a:xfrm>
        </p:grpSpPr>
        <p:sp>
          <p:nvSpPr>
            <p:cNvPr id="108" name="圆角矩形"/>
            <p:cNvSpPr/>
            <p:nvPr/>
          </p:nvSpPr>
          <p:spPr>
            <a:xfrm>
              <a:off x="0" y="0"/>
              <a:ext cx="1919401" cy="8997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a:latin typeface="Candara"/>
                  <a:ea typeface="Candara"/>
                  <a:cs typeface="Candara"/>
                  <a:sym typeface="Candara"/>
                </a:defRPr>
              </a:pPr>
              <a:endParaRPr/>
            </a:p>
          </p:txBody>
        </p:sp>
        <p:sp>
          <p:nvSpPr>
            <p:cNvPr id="109" name="Training Data Generation"/>
            <p:cNvSpPr txBox="1"/>
            <p:nvPr/>
          </p:nvSpPr>
          <p:spPr>
            <a:xfrm>
              <a:off x="48682" y="91724"/>
              <a:ext cx="1822036" cy="716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p>
              <a:pPr algn="ctr">
                <a:defRPr sz="1800" b="1">
                  <a:latin typeface="Candara"/>
                  <a:ea typeface="Candara"/>
                  <a:cs typeface="Candara"/>
                  <a:sym typeface="Candara"/>
                </a:defRPr>
              </a:pPr>
              <a:r>
                <a:t>Training Data Generation</a:t>
              </a:r>
              <a:r>
                <a:rPr sz="1400" b="0"/>
                <a:t> </a:t>
              </a:r>
            </a:p>
          </p:txBody>
        </p:sp>
      </p:grpSp>
      <p:grpSp>
        <p:nvGrpSpPr>
          <p:cNvPr id="113" name="Google Shape;106;p9"/>
          <p:cNvGrpSpPr/>
          <p:nvPr/>
        </p:nvGrpSpPr>
        <p:grpSpPr>
          <a:xfrm>
            <a:off x="5763200" y="2339325"/>
            <a:ext cx="1919401" cy="899701"/>
            <a:chOff x="0" y="0"/>
            <a:chExt cx="1919400" cy="899700"/>
          </a:xfrm>
        </p:grpSpPr>
        <p:sp>
          <p:nvSpPr>
            <p:cNvPr id="111" name="圆角矩形"/>
            <p:cNvSpPr/>
            <p:nvPr/>
          </p:nvSpPr>
          <p:spPr>
            <a:xfrm>
              <a:off x="0" y="0"/>
              <a:ext cx="1919401" cy="8997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sz="1800" b="1">
                  <a:latin typeface="Candara"/>
                  <a:ea typeface="Candara"/>
                  <a:cs typeface="Candara"/>
                  <a:sym typeface="Candara"/>
                </a:defRPr>
              </a:pPr>
              <a:endParaRPr/>
            </a:p>
          </p:txBody>
        </p:sp>
        <p:sp>
          <p:nvSpPr>
            <p:cNvPr id="112" name="LightGBM model"/>
            <p:cNvSpPr txBox="1"/>
            <p:nvPr/>
          </p:nvSpPr>
          <p:spPr>
            <a:xfrm>
              <a:off x="48682" y="91724"/>
              <a:ext cx="1822036" cy="716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lvl1pPr algn="ctr">
                <a:defRPr sz="1800" b="1">
                  <a:latin typeface="Candara"/>
                  <a:ea typeface="Candara"/>
                  <a:cs typeface="Candara"/>
                  <a:sym typeface="Candara"/>
                </a:defRPr>
              </a:lvl1pPr>
            </a:lstStyle>
            <a:p>
              <a:r>
                <a:t>LightGBM model</a:t>
              </a:r>
            </a:p>
          </p:txBody>
        </p:sp>
      </p:grpSp>
      <p:grpSp>
        <p:nvGrpSpPr>
          <p:cNvPr id="116" name="Google Shape;107;p9"/>
          <p:cNvGrpSpPr/>
          <p:nvPr/>
        </p:nvGrpSpPr>
        <p:grpSpPr>
          <a:xfrm>
            <a:off x="8204924" y="2339325"/>
            <a:ext cx="1919401" cy="899701"/>
            <a:chOff x="0" y="0"/>
            <a:chExt cx="1919400" cy="899700"/>
          </a:xfrm>
        </p:grpSpPr>
        <p:sp>
          <p:nvSpPr>
            <p:cNvPr id="114" name="圆角矩形"/>
            <p:cNvSpPr/>
            <p:nvPr/>
          </p:nvSpPr>
          <p:spPr>
            <a:xfrm>
              <a:off x="0" y="0"/>
              <a:ext cx="1919401" cy="8997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sz="1800" b="1">
                  <a:latin typeface="Candara"/>
                  <a:ea typeface="Candara"/>
                  <a:cs typeface="Candara"/>
                  <a:sym typeface="Candara"/>
                </a:defRPr>
              </a:pPr>
              <a:endParaRPr/>
            </a:p>
          </p:txBody>
        </p:sp>
        <p:sp>
          <p:nvSpPr>
            <p:cNvPr id="115" name="Result Generation"/>
            <p:cNvSpPr txBox="1"/>
            <p:nvPr/>
          </p:nvSpPr>
          <p:spPr>
            <a:xfrm>
              <a:off x="48682" y="91724"/>
              <a:ext cx="1822036" cy="716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lvl1pPr algn="ctr">
                <a:defRPr sz="1800" b="1">
                  <a:latin typeface="Candara"/>
                  <a:ea typeface="Candara"/>
                  <a:cs typeface="Candara"/>
                  <a:sym typeface="Candara"/>
                </a:defRPr>
              </a:lvl1pPr>
            </a:lstStyle>
            <a:p>
              <a:r>
                <a:t>Result Generation</a:t>
              </a:r>
            </a:p>
          </p:txBody>
        </p:sp>
      </p:grpSp>
      <p:sp>
        <p:nvSpPr>
          <p:cNvPr id="117" name="Google Shape;108;p9"/>
          <p:cNvSpPr txBox="1"/>
          <p:nvPr/>
        </p:nvSpPr>
        <p:spPr>
          <a:xfrm>
            <a:off x="3191424" y="3239024"/>
            <a:ext cx="2431801" cy="3357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b="1">
                <a:latin typeface="Candara"/>
                <a:ea typeface="Candara"/>
                <a:cs typeface="Candara"/>
                <a:sym typeface="Candara"/>
              </a:defRPr>
            </a:pPr>
            <a:r>
              <a:t>Positive Label</a:t>
            </a:r>
            <a:r>
              <a:rPr b="0"/>
              <a:t>: </a:t>
            </a:r>
          </a:p>
          <a:p>
            <a:pPr>
              <a:defRPr sz="2100">
                <a:latin typeface="Candara"/>
                <a:ea typeface="Candara"/>
                <a:cs typeface="Candara"/>
                <a:sym typeface="Candara"/>
              </a:defRPr>
            </a:pPr>
            <a:r>
              <a:t>Range </a:t>
            </a:r>
            <a:r>
              <a:rPr b="1">
                <a:solidFill>
                  <a:srgbClr val="FF0000"/>
                </a:solidFill>
              </a:rPr>
              <a:t>3/7</a:t>
            </a:r>
            <a:r>
              <a:t> days before the ticket time. </a:t>
            </a:r>
          </a:p>
          <a:p>
            <a:pPr>
              <a:defRPr sz="2100" b="1">
                <a:latin typeface="Candara"/>
                <a:ea typeface="Candara"/>
                <a:cs typeface="Candara"/>
                <a:sym typeface="Candara"/>
              </a:defRPr>
            </a:pPr>
            <a:r>
              <a:t>Negative Label</a:t>
            </a:r>
            <a:r>
              <a:rPr b="0"/>
              <a:t>:</a:t>
            </a:r>
          </a:p>
          <a:p>
            <a:pPr>
              <a:defRPr sz="2100">
                <a:latin typeface="Candara"/>
                <a:ea typeface="Candara"/>
                <a:cs typeface="Candara"/>
                <a:sym typeface="Candara"/>
              </a:defRPr>
            </a:pPr>
            <a:r>
              <a:t>Continuous </a:t>
            </a:r>
            <a:r>
              <a:rPr b="1">
                <a:solidFill>
                  <a:srgbClr val="FF0000"/>
                </a:solidFill>
              </a:rPr>
              <a:t>3/7</a:t>
            </a:r>
            <a:r>
              <a:t> days in SN without failure tickets(random choice)</a:t>
            </a:r>
          </a:p>
        </p:txBody>
      </p:sp>
      <p:sp>
        <p:nvSpPr>
          <p:cNvPr id="118" name="Google Shape;109;p9"/>
          <p:cNvSpPr txBox="1"/>
          <p:nvPr/>
        </p:nvSpPr>
        <p:spPr>
          <a:xfrm>
            <a:off x="5878274" y="3658925"/>
            <a:ext cx="1919401" cy="500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100">
                <a:latin typeface="Candara"/>
                <a:ea typeface="Candara"/>
                <a:cs typeface="Candara"/>
                <a:sym typeface="Candara"/>
              </a:defRPr>
            </a:lvl1pPr>
          </a:lstStyle>
          <a:p>
            <a:r>
              <a:t>XGB Model</a:t>
            </a:r>
          </a:p>
        </p:txBody>
      </p:sp>
      <p:sp>
        <p:nvSpPr>
          <p:cNvPr id="119" name="Google Shape;110;p9"/>
          <p:cNvSpPr txBox="1"/>
          <p:nvPr/>
        </p:nvSpPr>
        <p:spPr>
          <a:xfrm>
            <a:off x="8297574" y="3658925"/>
            <a:ext cx="3313801" cy="2087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a:latin typeface="Candara"/>
                <a:ea typeface="Candara"/>
                <a:cs typeface="Candara"/>
                <a:sym typeface="Candara"/>
              </a:defRPr>
            </a:pPr>
            <a:r>
              <a:t>Single Threshold</a:t>
            </a:r>
          </a:p>
          <a:p>
            <a:endParaRPr sz="2100">
              <a:latin typeface="Candara"/>
              <a:ea typeface="Candara"/>
              <a:cs typeface="Candara"/>
              <a:sym typeface="Candara"/>
            </a:endParaRPr>
          </a:p>
          <a:p>
            <a:pPr>
              <a:defRPr sz="2100">
                <a:latin typeface="Candara"/>
                <a:ea typeface="Candara"/>
                <a:cs typeface="Candara"/>
                <a:sym typeface="Candara"/>
              </a:defRPr>
            </a:pPr>
            <a:r>
              <a:t>Prediction values larger than another threshold appears in a </a:t>
            </a:r>
            <a:r>
              <a:rPr b="1"/>
              <a:t>continuous window</a:t>
            </a:r>
            <a:r>
              <a:t>.</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Google Shape;15;p1"/>
          <p:cNvSpPr txBox="1">
            <a:spLocks noGrp="1"/>
          </p:cNvSpPr>
          <p:nvPr>
            <p:ph type="sldNum" sz="quarter" idx="2"/>
          </p:nvPr>
        </p:nvSpPr>
        <p:spPr>
          <a:xfrm>
            <a:off x="10497299" y="6573607"/>
            <a:ext cx="174492"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7</a:t>
            </a:fld>
            <a:endParaRPr/>
          </a:p>
        </p:txBody>
      </p:sp>
      <p:sp>
        <p:nvSpPr>
          <p:cNvPr id="122" name="Google Shape;115;p10"/>
          <p:cNvSpPr/>
          <p:nvPr/>
        </p:nvSpPr>
        <p:spPr>
          <a:xfrm>
            <a:off x="1412398" y="1717991"/>
            <a:ext cx="2394910" cy="2394910"/>
          </a:xfrm>
          <a:prstGeom prst="ellipse">
            <a:avLst/>
          </a:prstGeom>
          <a:solidFill>
            <a:schemeClr val="accent1"/>
          </a:solidFill>
          <a:ln w="12700">
            <a:miter lim="400000"/>
          </a:ln>
          <a:effectLst>
            <a:outerShdw blurRad="101600" dist="101600" dir="5400000" rotWithShape="0">
              <a:srgbClr val="000000">
                <a:alpha val="40000"/>
              </a:srgbClr>
            </a:outerShdw>
          </a:effectLst>
        </p:spPr>
        <p:txBody>
          <a:bodyPr lIns="0" tIns="0" rIns="0" bIns="0" anchor="ctr"/>
          <a:lstStyle/>
          <a:p>
            <a:pPr algn="ctr">
              <a:defRPr sz="2400">
                <a:solidFill>
                  <a:srgbClr val="FFFFFF"/>
                </a:solidFill>
                <a:latin typeface="Calibri"/>
                <a:ea typeface="Calibri"/>
                <a:cs typeface="Calibri"/>
                <a:sym typeface="Calibri"/>
              </a:defRPr>
            </a:pPr>
            <a:endParaRPr/>
          </a:p>
        </p:txBody>
      </p:sp>
      <p:sp>
        <p:nvSpPr>
          <p:cNvPr id="123" name="Google Shape;116;p10"/>
          <p:cNvSpPr txBox="1"/>
          <p:nvPr/>
        </p:nvSpPr>
        <p:spPr>
          <a:xfrm>
            <a:off x="4159762" y="1752358"/>
            <a:ext cx="3885923" cy="7061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lvl1pPr>
              <a:defRPr sz="4800" b="1">
                <a:solidFill>
                  <a:schemeClr val="accent1"/>
                </a:solidFill>
                <a:latin typeface="Calibri"/>
                <a:ea typeface="Calibri"/>
                <a:cs typeface="Calibri"/>
                <a:sym typeface="Calibri"/>
              </a:defRPr>
            </a:lvl1pPr>
          </a:lstStyle>
          <a:p>
            <a:r>
              <a:t>Methodology</a:t>
            </a:r>
          </a:p>
        </p:txBody>
      </p:sp>
      <p:grpSp>
        <p:nvGrpSpPr>
          <p:cNvPr id="126" name="Google Shape;117;p10"/>
          <p:cNvGrpSpPr/>
          <p:nvPr/>
        </p:nvGrpSpPr>
        <p:grpSpPr>
          <a:xfrm>
            <a:off x="4225466" y="2583339"/>
            <a:ext cx="328184" cy="327404"/>
            <a:chOff x="0" y="0"/>
            <a:chExt cx="328182" cy="327403"/>
          </a:xfrm>
        </p:grpSpPr>
        <p:sp>
          <p:nvSpPr>
            <p:cNvPr id="124" name="Google Shape;118;p10"/>
            <p:cNvSpPr/>
            <p:nvPr/>
          </p:nvSpPr>
          <p:spPr>
            <a:xfrm>
              <a:off x="-1" y="-1"/>
              <a:ext cx="328185" cy="327405"/>
            </a:xfrm>
            <a:custGeom>
              <a:avLst/>
              <a:gdLst/>
              <a:ahLst/>
              <a:cxnLst>
                <a:cxn ang="0">
                  <a:pos x="wd2" y="hd2"/>
                </a:cxn>
                <a:cxn ang="5400000">
                  <a:pos x="wd2" y="hd2"/>
                </a:cxn>
                <a:cxn ang="10800000">
                  <a:pos x="wd2" y="hd2"/>
                </a:cxn>
                <a:cxn ang="16200000">
                  <a:pos x="wd2" y="hd2"/>
                </a:cxn>
              </a:cxnLst>
              <a:rect l="0" t="0" r="r" b="b"/>
              <a:pathLst>
                <a:path w="21600" h="21600" extrusionOk="0">
                  <a:moveTo>
                    <a:pt x="10815" y="21600"/>
                  </a:moveTo>
                  <a:cubicBezTo>
                    <a:pt x="4852" y="21600"/>
                    <a:pt x="0" y="16772"/>
                    <a:pt x="0" y="10800"/>
                  </a:cubicBezTo>
                  <a:cubicBezTo>
                    <a:pt x="0" y="4828"/>
                    <a:pt x="4852" y="0"/>
                    <a:pt x="10815" y="0"/>
                  </a:cubicBezTo>
                  <a:cubicBezTo>
                    <a:pt x="16748" y="0"/>
                    <a:pt x="21600" y="4828"/>
                    <a:pt x="21600" y="10800"/>
                  </a:cubicBezTo>
                  <a:cubicBezTo>
                    <a:pt x="21600" y="16772"/>
                    <a:pt x="16748" y="21600"/>
                    <a:pt x="10815" y="21600"/>
                  </a:cubicBezTo>
                  <a:close/>
                  <a:moveTo>
                    <a:pt x="10815" y="1238"/>
                  </a:moveTo>
                  <a:cubicBezTo>
                    <a:pt x="5531" y="1238"/>
                    <a:pt x="1236" y="5539"/>
                    <a:pt x="1236" y="10800"/>
                  </a:cubicBezTo>
                  <a:cubicBezTo>
                    <a:pt x="1236" y="16061"/>
                    <a:pt x="5531" y="20362"/>
                    <a:pt x="10815" y="20362"/>
                  </a:cubicBezTo>
                  <a:cubicBezTo>
                    <a:pt x="16069" y="20362"/>
                    <a:pt x="20364" y="16061"/>
                    <a:pt x="20364" y="10800"/>
                  </a:cubicBezTo>
                  <a:cubicBezTo>
                    <a:pt x="20364" y="5539"/>
                    <a:pt x="16069" y="1238"/>
                    <a:pt x="10815" y="1238"/>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sp>
          <p:nvSpPr>
            <p:cNvPr id="125" name="Google Shape;119;p10"/>
            <p:cNvSpPr/>
            <p:nvPr/>
          </p:nvSpPr>
          <p:spPr>
            <a:xfrm>
              <a:off x="74097" y="102277"/>
              <a:ext cx="179872" cy="125347"/>
            </a:xfrm>
            <a:custGeom>
              <a:avLst/>
              <a:gdLst/>
              <a:ahLst/>
              <a:cxnLst>
                <a:cxn ang="0">
                  <a:pos x="wd2" y="hd2"/>
                </a:cxn>
                <a:cxn ang="5400000">
                  <a:pos x="wd2" y="hd2"/>
                </a:cxn>
                <a:cxn ang="10800000">
                  <a:pos x="wd2" y="hd2"/>
                </a:cxn>
                <a:cxn ang="16200000">
                  <a:pos x="wd2" y="hd2"/>
                </a:cxn>
              </a:cxnLst>
              <a:rect l="0" t="0" r="r" b="b"/>
              <a:pathLst>
                <a:path w="21391" h="21439" extrusionOk="0">
                  <a:moveTo>
                    <a:pt x="7604" y="21439"/>
                  </a:moveTo>
                  <a:cubicBezTo>
                    <a:pt x="7269" y="21439"/>
                    <a:pt x="6990" y="21278"/>
                    <a:pt x="6767" y="20957"/>
                  </a:cubicBezTo>
                  <a:cubicBezTo>
                    <a:pt x="293" y="11643"/>
                    <a:pt x="293" y="11643"/>
                    <a:pt x="293" y="11643"/>
                  </a:cubicBezTo>
                  <a:cubicBezTo>
                    <a:pt x="-98" y="11000"/>
                    <a:pt x="-98" y="10037"/>
                    <a:pt x="293" y="9394"/>
                  </a:cubicBezTo>
                  <a:cubicBezTo>
                    <a:pt x="293" y="9394"/>
                    <a:pt x="293" y="9394"/>
                    <a:pt x="293" y="9394"/>
                  </a:cubicBezTo>
                  <a:cubicBezTo>
                    <a:pt x="739" y="8752"/>
                    <a:pt x="1465" y="8752"/>
                    <a:pt x="1911" y="9394"/>
                  </a:cubicBezTo>
                  <a:cubicBezTo>
                    <a:pt x="1911" y="9394"/>
                    <a:pt x="1911" y="9394"/>
                    <a:pt x="1911" y="9394"/>
                  </a:cubicBezTo>
                  <a:cubicBezTo>
                    <a:pt x="7604" y="17585"/>
                    <a:pt x="7604" y="17585"/>
                    <a:pt x="7604" y="17585"/>
                  </a:cubicBezTo>
                  <a:cubicBezTo>
                    <a:pt x="19437" y="481"/>
                    <a:pt x="19437" y="481"/>
                    <a:pt x="19437" y="481"/>
                  </a:cubicBezTo>
                  <a:cubicBezTo>
                    <a:pt x="19883" y="-161"/>
                    <a:pt x="20609" y="-161"/>
                    <a:pt x="21055" y="481"/>
                  </a:cubicBezTo>
                  <a:cubicBezTo>
                    <a:pt x="21055" y="481"/>
                    <a:pt x="21055" y="481"/>
                    <a:pt x="21055" y="481"/>
                  </a:cubicBezTo>
                  <a:cubicBezTo>
                    <a:pt x="21502" y="1124"/>
                    <a:pt x="21502" y="2087"/>
                    <a:pt x="21055" y="2730"/>
                  </a:cubicBezTo>
                  <a:cubicBezTo>
                    <a:pt x="21055" y="2730"/>
                    <a:pt x="21055" y="2730"/>
                    <a:pt x="21055" y="2730"/>
                  </a:cubicBezTo>
                  <a:cubicBezTo>
                    <a:pt x="8386" y="20957"/>
                    <a:pt x="8386" y="20957"/>
                    <a:pt x="8386" y="20957"/>
                  </a:cubicBezTo>
                  <a:cubicBezTo>
                    <a:pt x="8162" y="21278"/>
                    <a:pt x="7883" y="21439"/>
                    <a:pt x="7604" y="21439"/>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grpSp>
      <p:grpSp>
        <p:nvGrpSpPr>
          <p:cNvPr id="129" name="Google Shape;120;p10"/>
          <p:cNvGrpSpPr/>
          <p:nvPr/>
        </p:nvGrpSpPr>
        <p:grpSpPr>
          <a:xfrm>
            <a:off x="4225466" y="2985571"/>
            <a:ext cx="328184" cy="327404"/>
            <a:chOff x="0" y="0"/>
            <a:chExt cx="328182" cy="327403"/>
          </a:xfrm>
        </p:grpSpPr>
        <p:sp>
          <p:nvSpPr>
            <p:cNvPr id="127" name="Google Shape;121;p10"/>
            <p:cNvSpPr/>
            <p:nvPr/>
          </p:nvSpPr>
          <p:spPr>
            <a:xfrm>
              <a:off x="-1" y="-1"/>
              <a:ext cx="328185" cy="327405"/>
            </a:xfrm>
            <a:custGeom>
              <a:avLst/>
              <a:gdLst/>
              <a:ahLst/>
              <a:cxnLst>
                <a:cxn ang="0">
                  <a:pos x="wd2" y="hd2"/>
                </a:cxn>
                <a:cxn ang="5400000">
                  <a:pos x="wd2" y="hd2"/>
                </a:cxn>
                <a:cxn ang="10800000">
                  <a:pos x="wd2" y="hd2"/>
                </a:cxn>
                <a:cxn ang="16200000">
                  <a:pos x="wd2" y="hd2"/>
                </a:cxn>
              </a:cxnLst>
              <a:rect l="0" t="0" r="r" b="b"/>
              <a:pathLst>
                <a:path w="21600" h="21600" extrusionOk="0">
                  <a:moveTo>
                    <a:pt x="10815" y="21600"/>
                  </a:moveTo>
                  <a:cubicBezTo>
                    <a:pt x="4852" y="21600"/>
                    <a:pt x="0" y="16772"/>
                    <a:pt x="0" y="10800"/>
                  </a:cubicBezTo>
                  <a:cubicBezTo>
                    <a:pt x="0" y="4828"/>
                    <a:pt x="4852" y="0"/>
                    <a:pt x="10815" y="0"/>
                  </a:cubicBezTo>
                  <a:cubicBezTo>
                    <a:pt x="16748" y="0"/>
                    <a:pt x="21600" y="4828"/>
                    <a:pt x="21600" y="10800"/>
                  </a:cubicBezTo>
                  <a:cubicBezTo>
                    <a:pt x="21600" y="16772"/>
                    <a:pt x="16748" y="21600"/>
                    <a:pt x="10815" y="21600"/>
                  </a:cubicBezTo>
                  <a:close/>
                  <a:moveTo>
                    <a:pt x="10815" y="1238"/>
                  </a:moveTo>
                  <a:cubicBezTo>
                    <a:pt x="5531" y="1238"/>
                    <a:pt x="1236" y="5539"/>
                    <a:pt x="1236" y="10800"/>
                  </a:cubicBezTo>
                  <a:cubicBezTo>
                    <a:pt x="1236" y="16061"/>
                    <a:pt x="5531" y="20362"/>
                    <a:pt x="10815" y="20362"/>
                  </a:cubicBezTo>
                  <a:cubicBezTo>
                    <a:pt x="16069" y="20362"/>
                    <a:pt x="20364" y="16061"/>
                    <a:pt x="20364" y="10800"/>
                  </a:cubicBezTo>
                  <a:cubicBezTo>
                    <a:pt x="20364" y="5539"/>
                    <a:pt x="16069" y="1238"/>
                    <a:pt x="10815" y="1238"/>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sp>
          <p:nvSpPr>
            <p:cNvPr id="128" name="Google Shape;122;p10"/>
            <p:cNvSpPr/>
            <p:nvPr/>
          </p:nvSpPr>
          <p:spPr>
            <a:xfrm>
              <a:off x="74097" y="102277"/>
              <a:ext cx="179872" cy="125347"/>
            </a:xfrm>
            <a:custGeom>
              <a:avLst/>
              <a:gdLst/>
              <a:ahLst/>
              <a:cxnLst>
                <a:cxn ang="0">
                  <a:pos x="wd2" y="hd2"/>
                </a:cxn>
                <a:cxn ang="5400000">
                  <a:pos x="wd2" y="hd2"/>
                </a:cxn>
                <a:cxn ang="10800000">
                  <a:pos x="wd2" y="hd2"/>
                </a:cxn>
                <a:cxn ang="16200000">
                  <a:pos x="wd2" y="hd2"/>
                </a:cxn>
              </a:cxnLst>
              <a:rect l="0" t="0" r="r" b="b"/>
              <a:pathLst>
                <a:path w="21391" h="21439" extrusionOk="0">
                  <a:moveTo>
                    <a:pt x="7604" y="21439"/>
                  </a:moveTo>
                  <a:cubicBezTo>
                    <a:pt x="7269" y="21439"/>
                    <a:pt x="6990" y="21278"/>
                    <a:pt x="6767" y="20957"/>
                  </a:cubicBezTo>
                  <a:cubicBezTo>
                    <a:pt x="293" y="11643"/>
                    <a:pt x="293" y="11643"/>
                    <a:pt x="293" y="11643"/>
                  </a:cubicBezTo>
                  <a:cubicBezTo>
                    <a:pt x="-98" y="11000"/>
                    <a:pt x="-98" y="10037"/>
                    <a:pt x="293" y="9394"/>
                  </a:cubicBezTo>
                  <a:cubicBezTo>
                    <a:pt x="293" y="9394"/>
                    <a:pt x="293" y="9394"/>
                    <a:pt x="293" y="9394"/>
                  </a:cubicBezTo>
                  <a:cubicBezTo>
                    <a:pt x="739" y="8752"/>
                    <a:pt x="1465" y="8752"/>
                    <a:pt x="1911" y="9394"/>
                  </a:cubicBezTo>
                  <a:cubicBezTo>
                    <a:pt x="1911" y="9394"/>
                    <a:pt x="1911" y="9394"/>
                    <a:pt x="1911" y="9394"/>
                  </a:cubicBezTo>
                  <a:cubicBezTo>
                    <a:pt x="7604" y="17585"/>
                    <a:pt x="7604" y="17585"/>
                    <a:pt x="7604" y="17585"/>
                  </a:cubicBezTo>
                  <a:cubicBezTo>
                    <a:pt x="19437" y="481"/>
                    <a:pt x="19437" y="481"/>
                    <a:pt x="19437" y="481"/>
                  </a:cubicBezTo>
                  <a:cubicBezTo>
                    <a:pt x="19883" y="-161"/>
                    <a:pt x="20609" y="-161"/>
                    <a:pt x="21055" y="481"/>
                  </a:cubicBezTo>
                  <a:cubicBezTo>
                    <a:pt x="21055" y="481"/>
                    <a:pt x="21055" y="481"/>
                    <a:pt x="21055" y="481"/>
                  </a:cubicBezTo>
                  <a:cubicBezTo>
                    <a:pt x="21502" y="1124"/>
                    <a:pt x="21502" y="2087"/>
                    <a:pt x="21055" y="2730"/>
                  </a:cubicBezTo>
                  <a:cubicBezTo>
                    <a:pt x="21055" y="2730"/>
                    <a:pt x="21055" y="2730"/>
                    <a:pt x="21055" y="2730"/>
                  </a:cubicBezTo>
                  <a:cubicBezTo>
                    <a:pt x="8386" y="20957"/>
                    <a:pt x="8386" y="20957"/>
                    <a:pt x="8386" y="20957"/>
                  </a:cubicBezTo>
                  <a:cubicBezTo>
                    <a:pt x="8162" y="21278"/>
                    <a:pt x="7883" y="21439"/>
                    <a:pt x="7604" y="21439"/>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grpSp>
      <p:grpSp>
        <p:nvGrpSpPr>
          <p:cNvPr id="132" name="Google Shape;123;p10"/>
          <p:cNvGrpSpPr/>
          <p:nvPr/>
        </p:nvGrpSpPr>
        <p:grpSpPr>
          <a:xfrm>
            <a:off x="1856805" y="2215664"/>
            <a:ext cx="1487549" cy="1487480"/>
            <a:chOff x="0" y="0"/>
            <a:chExt cx="1487547" cy="1487479"/>
          </a:xfrm>
        </p:grpSpPr>
        <p:sp>
          <p:nvSpPr>
            <p:cNvPr id="130" name="Google Shape;124;p10"/>
            <p:cNvSpPr/>
            <p:nvPr/>
          </p:nvSpPr>
          <p:spPr>
            <a:xfrm>
              <a:off x="0" y="-1"/>
              <a:ext cx="1487548" cy="1487481"/>
            </a:xfrm>
            <a:custGeom>
              <a:avLst/>
              <a:gdLst/>
              <a:ahLst/>
              <a:cxnLst>
                <a:cxn ang="0">
                  <a:pos x="wd2" y="hd2"/>
                </a:cxn>
                <a:cxn ang="5400000">
                  <a:pos x="wd2" y="hd2"/>
                </a:cxn>
                <a:cxn ang="10800000">
                  <a:pos x="wd2" y="hd2"/>
                </a:cxn>
                <a:cxn ang="16200000">
                  <a:pos x="wd2" y="hd2"/>
                </a:cxn>
              </a:cxnLst>
              <a:rect l="0" t="0" r="r" b="b"/>
              <a:pathLst>
                <a:path w="21600" h="21600" extrusionOk="0">
                  <a:moveTo>
                    <a:pt x="13499" y="14851"/>
                  </a:moveTo>
                  <a:cubicBezTo>
                    <a:pt x="9772" y="14851"/>
                    <a:pt x="6749" y="11828"/>
                    <a:pt x="6749" y="8100"/>
                  </a:cubicBezTo>
                  <a:cubicBezTo>
                    <a:pt x="6749" y="4372"/>
                    <a:pt x="9772" y="1350"/>
                    <a:pt x="13499" y="1350"/>
                  </a:cubicBezTo>
                  <a:cubicBezTo>
                    <a:pt x="17227" y="1350"/>
                    <a:pt x="20249" y="4372"/>
                    <a:pt x="20249" y="8100"/>
                  </a:cubicBezTo>
                  <a:cubicBezTo>
                    <a:pt x="20249" y="11828"/>
                    <a:pt x="17227" y="14851"/>
                    <a:pt x="13499" y="14851"/>
                  </a:cubicBezTo>
                  <a:moveTo>
                    <a:pt x="3236" y="20043"/>
                  </a:moveTo>
                  <a:cubicBezTo>
                    <a:pt x="3019" y="20267"/>
                    <a:pt x="2718" y="20409"/>
                    <a:pt x="2382" y="20409"/>
                  </a:cubicBezTo>
                  <a:cubicBezTo>
                    <a:pt x="1724" y="20409"/>
                    <a:pt x="1191" y="19876"/>
                    <a:pt x="1191" y="19219"/>
                  </a:cubicBezTo>
                  <a:cubicBezTo>
                    <a:pt x="1191" y="18882"/>
                    <a:pt x="1332" y="18581"/>
                    <a:pt x="1557" y="18364"/>
                  </a:cubicBezTo>
                  <a:lnTo>
                    <a:pt x="1551" y="18359"/>
                  </a:lnTo>
                  <a:lnTo>
                    <a:pt x="6996" y="12914"/>
                  </a:lnTo>
                  <a:cubicBezTo>
                    <a:pt x="7472" y="13556"/>
                    <a:pt x="8039" y="14123"/>
                    <a:pt x="8680" y="14600"/>
                  </a:cubicBezTo>
                  <a:cubicBezTo>
                    <a:pt x="8680" y="14600"/>
                    <a:pt x="3236" y="20043"/>
                    <a:pt x="3236" y="20043"/>
                  </a:cubicBezTo>
                  <a:close/>
                  <a:moveTo>
                    <a:pt x="13499" y="0"/>
                  </a:moveTo>
                  <a:cubicBezTo>
                    <a:pt x="9026" y="0"/>
                    <a:pt x="5399" y="3626"/>
                    <a:pt x="5399" y="8100"/>
                  </a:cubicBezTo>
                  <a:cubicBezTo>
                    <a:pt x="5399" y="9467"/>
                    <a:pt x="5742" y="10754"/>
                    <a:pt x="6341" y="11885"/>
                  </a:cubicBezTo>
                  <a:lnTo>
                    <a:pt x="709" y="17516"/>
                  </a:lnTo>
                  <a:lnTo>
                    <a:pt x="713" y="17521"/>
                  </a:lnTo>
                  <a:cubicBezTo>
                    <a:pt x="274" y="17954"/>
                    <a:pt x="0" y="18553"/>
                    <a:pt x="0" y="19219"/>
                  </a:cubicBezTo>
                  <a:cubicBezTo>
                    <a:pt x="0" y="20534"/>
                    <a:pt x="1066" y="21600"/>
                    <a:pt x="2382" y="21600"/>
                  </a:cubicBezTo>
                  <a:cubicBezTo>
                    <a:pt x="3047" y="21600"/>
                    <a:pt x="3647" y="21327"/>
                    <a:pt x="4079" y="20886"/>
                  </a:cubicBezTo>
                  <a:lnTo>
                    <a:pt x="4078" y="20885"/>
                  </a:lnTo>
                  <a:lnTo>
                    <a:pt x="9708" y="15256"/>
                  </a:lnTo>
                  <a:cubicBezTo>
                    <a:pt x="10839" y="15857"/>
                    <a:pt x="12128" y="16201"/>
                    <a:pt x="13499" y="16201"/>
                  </a:cubicBezTo>
                  <a:cubicBezTo>
                    <a:pt x="17973" y="16201"/>
                    <a:pt x="21600" y="12574"/>
                    <a:pt x="21600" y="8100"/>
                  </a:cubicBezTo>
                  <a:cubicBezTo>
                    <a:pt x="21600" y="3626"/>
                    <a:pt x="17973" y="0"/>
                    <a:pt x="13499" y="0"/>
                  </a:cubicBezTo>
                </a:path>
              </a:pathLst>
            </a:custGeom>
            <a:solidFill>
              <a:srgbClr val="FFFFFF"/>
            </a:solidFill>
            <a:ln w="12700" cap="flat">
              <a:noFill/>
              <a:miter lim="400000"/>
            </a:ln>
            <a:effectLst/>
          </p:spPr>
          <p:txBody>
            <a:bodyPr wrap="square" lIns="0" tIns="0" rIns="0" bIns="0" numCol="1" anchor="ctr">
              <a:noAutofit/>
            </a:bodyPr>
            <a:lstStyle/>
            <a:p>
              <a:pPr algn="ctr">
                <a:defRPr sz="2000">
                  <a:solidFill>
                    <a:srgbClr val="FFFFFF"/>
                  </a:solidFill>
                  <a:latin typeface="Gill Sans"/>
                  <a:ea typeface="Gill Sans"/>
                  <a:cs typeface="Gill Sans"/>
                  <a:sym typeface="Gill Sans"/>
                </a:defRPr>
              </a:pPr>
              <a:endParaRPr/>
            </a:p>
          </p:txBody>
        </p:sp>
        <p:sp>
          <p:nvSpPr>
            <p:cNvPr id="131" name="Google Shape;125;p10"/>
            <p:cNvSpPr/>
            <p:nvPr/>
          </p:nvSpPr>
          <p:spPr>
            <a:xfrm>
              <a:off x="602644" y="231391"/>
              <a:ext cx="350897" cy="348367"/>
            </a:xfrm>
            <a:custGeom>
              <a:avLst/>
              <a:gdLst/>
              <a:ahLst/>
              <a:cxnLst>
                <a:cxn ang="0">
                  <a:pos x="wd2" y="hd2"/>
                </a:cxn>
                <a:cxn ang="5400000">
                  <a:pos x="wd2" y="hd2"/>
                </a:cxn>
                <a:cxn ang="10800000">
                  <a:pos x="wd2" y="hd2"/>
                </a:cxn>
                <a:cxn ang="16200000">
                  <a:pos x="wd2" y="hd2"/>
                </a:cxn>
              </a:cxnLst>
              <a:rect l="0" t="0" r="r" b="b"/>
              <a:pathLst>
                <a:path w="21600" h="21600" extrusionOk="0">
                  <a:moveTo>
                    <a:pt x="20161" y="0"/>
                  </a:moveTo>
                  <a:cubicBezTo>
                    <a:pt x="9025" y="0"/>
                    <a:pt x="0" y="9025"/>
                    <a:pt x="0" y="20160"/>
                  </a:cubicBezTo>
                  <a:cubicBezTo>
                    <a:pt x="0" y="20954"/>
                    <a:pt x="644" y="21600"/>
                    <a:pt x="1440" y="21600"/>
                  </a:cubicBezTo>
                  <a:cubicBezTo>
                    <a:pt x="2235" y="21600"/>
                    <a:pt x="2880" y="20954"/>
                    <a:pt x="2880" y="20160"/>
                  </a:cubicBezTo>
                  <a:cubicBezTo>
                    <a:pt x="2880" y="10618"/>
                    <a:pt x="10617" y="2880"/>
                    <a:pt x="20161" y="2880"/>
                  </a:cubicBezTo>
                  <a:cubicBezTo>
                    <a:pt x="20956" y="2880"/>
                    <a:pt x="21600" y="2234"/>
                    <a:pt x="21600" y="1440"/>
                  </a:cubicBezTo>
                  <a:cubicBezTo>
                    <a:pt x="21600" y="645"/>
                    <a:pt x="20956" y="0"/>
                    <a:pt x="20161" y="0"/>
                  </a:cubicBezTo>
                </a:path>
              </a:pathLst>
            </a:custGeom>
            <a:solidFill>
              <a:srgbClr val="FFFFFF"/>
            </a:solidFill>
            <a:ln w="12700" cap="flat">
              <a:noFill/>
              <a:miter lim="400000"/>
            </a:ln>
            <a:effectLst/>
          </p:spPr>
          <p:txBody>
            <a:bodyPr wrap="square" lIns="0" tIns="0" rIns="0" bIns="0" numCol="1" anchor="ctr">
              <a:noAutofit/>
            </a:bodyPr>
            <a:lstStyle/>
            <a:p>
              <a:pPr algn="ctr">
                <a:defRPr sz="2000">
                  <a:solidFill>
                    <a:srgbClr val="FFFFFF"/>
                  </a:solidFill>
                  <a:latin typeface="Gill Sans"/>
                  <a:ea typeface="Gill Sans"/>
                  <a:cs typeface="Gill Sans"/>
                  <a:sym typeface="Gill Sans"/>
                </a:defRPr>
              </a:pPr>
              <a:endParaRPr/>
            </a:p>
          </p:txBody>
        </p:sp>
      </p:grpSp>
      <p:sp>
        <p:nvSpPr>
          <p:cNvPr id="133" name="Google Shape;126;p10"/>
          <p:cNvSpPr txBox="1"/>
          <p:nvPr/>
        </p:nvSpPr>
        <p:spPr>
          <a:xfrm>
            <a:off x="4642100" y="2539400"/>
            <a:ext cx="6744900" cy="1452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b="1">
                <a:latin typeface="Candara"/>
                <a:ea typeface="Candara"/>
                <a:cs typeface="Candara"/>
                <a:sym typeface="Candara"/>
              </a:defRPr>
            </a:pPr>
            <a:r>
              <a:t>Overview of Methodology</a:t>
            </a:r>
          </a:p>
          <a:p>
            <a:pPr>
              <a:defRPr sz="2100" b="1">
                <a:latin typeface="Candara"/>
                <a:ea typeface="Candara"/>
                <a:cs typeface="Candara"/>
                <a:sym typeface="Candara"/>
              </a:defRPr>
            </a:pPr>
            <a:r>
              <a:t>Training Data Generation and Feature Engineering</a:t>
            </a:r>
          </a:p>
          <a:p>
            <a:endParaRPr sz="2100">
              <a:latin typeface="Candara"/>
              <a:ea typeface="Candara"/>
              <a:cs typeface="Candara"/>
              <a:sym typeface="Candara"/>
            </a:endParaRPr>
          </a:p>
          <a:p>
            <a:pPr>
              <a:defRPr sz="2100" b="1">
                <a:latin typeface="Candara"/>
                <a:ea typeface="Candara"/>
                <a:cs typeface="Candara"/>
                <a:sym typeface="Candara"/>
              </a:defRPr>
            </a:pPr>
            <a:r>
              <a:t>XGB Model</a:t>
            </a:r>
          </a:p>
        </p:txBody>
      </p:sp>
      <p:grpSp>
        <p:nvGrpSpPr>
          <p:cNvPr id="136" name="Google Shape;127;p10"/>
          <p:cNvGrpSpPr/>
          <p:nvPr/>
        </p:nvGrpSpPr>
        <p:grpSpPr>
          <a:xfrm>
            <a:off x="4225404" y="3598445"/>
            <a:ext cx="328299" cy="327829"/>
            <a:chOff x="0" y="0"/>
            <a:chExt cx="328298" cy="327828"/>
          </a:xfrm>
        </p:grpSpPr>
        <p:sp>
          <p:nvSpPr>
            <p:cNvPr id="134" name="Google Shape;128;p10"/>
            <p:cNvSpPr/>
            <p:nvPr/>
          </p:nvSpPr>
          <p:spPr>
            <a:xfrm>
              <a:off x="-1" y="0"/>
              <a:ext cx="328300" cy="327829"/>
            </a:xfrm>
            <a:custGeom>
              <a:avLst/>
              <a:gdLst/>
              <a:ahLst/>
              <a:cxnLst>
                <a:cxn ang="0">
                  <a:pos x="wd2" y="hd2"/>
                </a:cxn>
                <a:cxn ang="5400000">
                  <a:pos x="wd2" y="hd2"/>
                </a:cxn>
                <a:cxn ang="10800000">
                  <a:pos x="wd2" y="hd2"/>
                </a:cxn>
                <a:cxn ang="16200000">
                  <a:pos x="wd2" y="hd2"/>
                </a:cxn>
              </a:cxnLst>
              <a:rect l="0" t="0" r="r" b="b"/>
              <a:pathLst>
                <a:path w="21600" h="21600" extrusionOk="0">
                  <a:moveTo>
                    <a:pt x="10815" y="21600"/>
                  </a:moveTo>
                  <a:cubicBezTo>
                    <a:pt x="4852" y="21600"/>
                    <a:pt x="0" y="16772"/>
                    <a:pt x="0" y="10800"/>
                  </a:cubicBezTo>
                  <a:cubicBezTo>
                    <a:pt x="0" y="4828"/>
                    <a:pt x="4852" y="0"/>
                    <a:pt x="10815" y="0"/>
                  </a:cubicBezTo>
                  <a:cubicBezTo>
                    <a:pt x="16748" y="0"/>
                    <a:pt x="21600" y="4828"/>
                    <a:pt x="21600" y="10800"/>
                  </a:cubicBezTo>
                  <a:cubicBezTo>
                    <a:pt x="21600" y="16772"/>
                    <a:pt x="16748" y="21600"/>
                    <a:pt x="10815" y="21600"/>
                  </a:cubicBezTo>
                  <a:close/>
                  <a:moveTo>
                    <a:pt x="10815" y="1238"/>
                  </a:moveTo>
                  <a:cubicBezTo>
                    <a:pt x="5531" y="1238"/>
                    <a:pt x="1236" y="5539"/>
                    <a:pt x="1236" y="10800"/>
                  </a:cubicBezTo>
                  <a:cubicBezTo>
                    <a:pt x="1236" y="16061"/>
                    <a:pt x="5531" y="20362"/>
                    <a:pt x="10815" y="20362"/>
                  </a:cubicBezTo>
                  <a:cubicBezTo>
                    <a:pt x="16069" y="20362"/>
                    <a:pt x="20364" y="16061"/>
                    <a:pt x="20364" y="10800"/>
                  </a:cubicBezTo>
                  <a:cubicBezTo>
                    <a:pt x="20364" y="5539"/>
                    <a:pt x="16069" y="1238"/>
                    <a:pt x="10815" y="1238"/>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sp>
          <p:nvSpPr>
            <p:cNvPr id="135" name="Google Shape;129;p10"/>
            <p:cNvSpPr/>
            <p:nvPr/>
          </p:nvSpPr>
          <p:spPr>
            <a:xfrm>
              <a:off x="74123" y="102167"/>
              <a:ext cx="179935" cy="125211"/>
            </a:xfrm>
            <a:custGeom>
              <a:avLst/>
              <a:gdLst/>
              <a:ahLst/>
              <a:cxnLst>
                <a:cxn ang="0">
                  <a:pos x="wd2" y="hd2"/>
                </a:cxn>
                <a:cxn ang="5400000">
                  <a:pos x="wd2" y="hd2"/>
                </a:cxn>
                <a:cxn ang="10800000">
                  <a:pos x="wd2" y="hd2"/>
                </a:cxn>
                <a:cxn ang="16200000">
                  <a:pos x="wd2" y="hd2"/>
                </a:cxn>
              </a:cxnLst>
              <a:rect l="0" t="0" r="r" b="b"/>
              <a:pathLst>
                <a:path w="21391" h="21439" extrusionOk="0">
                  <a:moveTo>
                    <a:pt x="7604" y="21439"/>
                  </a:moveTo>
                  <a:cubicBezTo>
                    <a:pt x="7269" y="21439"/>
                    <a:pt x="6990" y="21278"/>
                    <a:pt x="6767" y="20957"/>
                  </a:cubicBezTo>
                  <a:cubicBezTo>
                    <a:pt x="293" y="11643"/>
                    <a:pt x="293" y="11643"/>
                    <a:pt x="293" y="11643"/>
                  </a:cubicBezTo>
                  <a:cubicBezTo>
                    <a:pt x="-98" y="11000"/>
                    <a:pt x="-98" y="10037"/>
                    <a:pt x="293" y="9394"/>
                  </a:cubicBezTo>
                  <a:cubicBezTo>
                    <a:pt x="293" y="9394"/>
                    <a:pt x="293" y="9394"/>
                    <a:pt x="293" y="9394"/>
                  </a:cubicBezTo>
                  <a:cubicBezTo>
                    <a:pt x="739" y="8752"/>
                    <a:pt x="1465" y="8752"/>
                    <a:pt x="1911" y="9394"/>
                  </a:cubicBezTo>
                  <a:cubicBezTo>
                    <a:pt x="1911" y="9394"/>
                    <a:pt x="1911" y="9394"/>
                    <a:pt x="1911" y="9394"/>
                  </a:cubicBezTo>
                  <a:cubicBezTo>
                    <a:pt x="7604" y="17585"/>
                    <a:pt x="7604" y="17585"/>
                    <a:pt x="7604" y="17585"/>
                  </a:cubicBezTo>
                  <a:cubicBezTo>
                    <a:pt x="19437" y="481"/>
                    <a:pt x="19437" y="481"/>
                    <a:pt x="19437" y="481"/>
                  </a:cubicBezTo>
                  <a:cubicBezTo>
                    <a:pt x="19883" y="-161"/>
                    <a:pt x="20609" y="-161"/>
                    <a:pt x="21055" y="481"/>
                  </a:cubicBezTo>
                  <a:cubicBezTo>
                    <a:pt x="21055" y="481"/>
                    <a:pt x="21055" y="481"/>
                    <a:pt x="21055" y="481"/>
                  </a:cubicBezTo>
                  <a:cubicBezTo>
                    <a:pt x="21502" y="1124"/>
                    <a:pt x="21502" y="2087"/>
                    <a:pt x="21055" y="2730"/>
                  </a:cubicBezTo>
                  <a:cubicBezTo>
                    <a:pt x="21055" y="2730"/>
                    <a:pt x="21055" y="2730"/>
                    <a:pt x="21055" y="2730"/>
                  </a:cubicBezTo>
                  <a:cubicBezTo>
                    <a:pt x="8386" y="20957"/>
                    <a:pt x="8386" y="20957"/>
                    <a:pt x="8386" y="20957"/>
                  </a:cubicBezTo>
                  <a:cubicBezTo>
                    <a:pt x="8162" y="21278"/>
                    <a:pt x="7883" y="21439"/>
                    <a:pt x="7604" y="21439"/>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Google Shape;15;p1"/>
          <p:cNvSpPr txBox="1">
            <a:spLocks noGrp="1"/>
          </p:cNvSpPr>
          <p:nvPr>
            <p:ph type="sldNum" sz="quarter" idx="2"/>
          </p:nvPr>
        </p:nvSpPr>
        <p:spPr>
          <a:xfrm>
            <a:off x="10497299" y="6573607"/>
            <a:ext cx="174492"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8</a:t>
            </a:fld>
            <a:endParaRPr/>
          </a:p>
        </p:txBody>
      </p:sp>
      <p:sp>
        <p:nvSpPr>
          <p:cNvPr id="139" name="Google Shape;135;p11"/>
          <p:cNvSpPr txBox="1"/>
          <p:nvPr/>
        </p:nvSpPr>
        <p:spPr>
          <a:xfrm>
            <a:off x="580499" y="776374"/>
            <a:ext cx="11031002" cy="589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800" b="1">
                <a:latin typeface="Candara"/>
                <a:ea typeface="Candara"/>
                <a:cs typeface="Candara"/>
                <a:sym typeface="Candara"/>
              </a:defRPr>
            </a:lvl1pPr>
          </a:lstStyle>
          <a:p>
            <a:r>
              <a:t>Overview of Methodology</a:t>
            </a:r>
          </a:p>
        </p:txBody>
      </p:sp>
      <p:pic>
        <p:nvPicPr>
          <p:cNvPr id="140" name="Google Shape;136;p11" descr="Google Shape;136;p11"/>
          <p:cNvPicPr>
            <a:picLocks noChangeAspect="1"/>
          </p:cNvPicPr>
          <p:nvPr/>
        </p:nvPicPr>
        <p:blipFill>
          <a:blip r:embed="rId2"/>
          <a:stretch>
            <a:fillRect/>
          </a:stretch>
        </p:blipFill>
        <p:spPr>
          <a:xfrm>
            <a:off x="300325" y="1458850"/>
            <a:ext cx="11311164" cy="4660826"/>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Google Shape;15;p1"/>
          <p:cNvSpPr txBox="1">
            <a:spLocks noGrp="1"/>
          </p:cNvSpPr>
          <p:nvPr>
            <p:ph type="sldNum" sz="quarter" idx="2"/>
          </p:nvPr>
        </p:nvSpPr>
        <p:spPr>
          <a:xfrm>
            <a:off x="10497299" y="6573607"/>
            <a:ext cx="174492"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9</a:t>
            </a:fld>
            <a:endParaRPr/>
          </a:p>
        </p:txBody>
      </p:sp>
      <p:sp>
        <p:nvSpPr>
          <p:cNvPr id="143" name="Google Shape;142;p12"/>
          <p:cNvSpPr txBox="1"/>
          <p:nvPr/>
        </p:nvSpPr>
        <p:spPr>
          <a:xfrm>
            <a:off x="695499" y="549925"/>
            <a:ext cx="10545902" cy="589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800" b="1">
                <a:latin typeface="Candara"/>
                <a:ea typeface="Candara"/>
                <a:cs typeface="Candara"/>
                <a:sym typeface="Candara"/>
              </a:defRPr>
            </a:lvl1pPr>
          </a:lstStyle>
          <a:p>
            <a:r>
              <a:t>Training Data Generation and Feature Engineering</a:t>
            </a:r>
          </a:p>
        </p:txBody>
      </p:sp>
      <p:sp>
        <p:nvSpPr>
          <p:cNvPr id="144" name="Google Shape;143;p12"/>
          <p:cNvSpPr txBox="1"/>
          <p:nvPr/>
        </p:nvSpPr>
        <p:spPr>
          <a:xfrm>
            <a:off x="899725" y="1459574"/>
            <a:ext cx="4198800" cy="500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100" b="1">
                <a:latin typeface="Candara"/>
                <a:ea typeface="Candara"/>
                <a:cs typeface="Candara"/>
                <a:sym typeface="Candara"/>
              </a:defRPr>
            </a:lvl1pPr>
          </a:lstStyle>
          <a:p>
            <a:r>
              <a:t>Feature Generation</a:t>
            </a:r>
          </a:p>
        </p:txBody>
      </p:sp>
      <p:sp>
        <p:nvSpPr>
          <p:cNvPr id="145" name="Google Shape;144;p12"/>
          <p:cNvSpPr txBox="1"/>
          <p:nvPr/>
        </p:nvSpPr>
        <p:spPr>
          <a:xfrm>
            <a:off x="6974375" y="1459574"/>
            <a:ext cx="4198801" cy="500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100" b="1">
                <a:latin typeface="Candara"/>
                <a:ea typeface="Candara"/>
                <a:cs typeface="Candara"/>
                <a:sym typeface="Candara"/>
              </a:defRPr>
            </a:lvl1pPr>
          </a:lstStyle>
          <a:p>
            <a:r>
              <a:t>Training Data Generation</a:t>
            </a:r>
          </a:p>
        </p:txBody>
      </p:sp>
      <p:sp>
        <p:nvSpPr>
          <p:cNvPr id="146" name="Google Shape;145;p12"/>
          <p:cNvSpPr txBox="1"/>
          <p:nvPr/>
        </p:nvSpPr>
        <p:spPr>
          <a:xfrm>
            <a:off x="6900450" y="2179274"/>
            <a:ext cx="5055901" cy="3357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b="1">
                <a:latin typeface="Candara"/>
                <a:ea typeface="Candara"/>
                <a:cs typeface="Candara"/>
                <a:sym typeface="Candara"/>
              </a:defRPr>
            </a:pPr>
            <a:r>
              <a:t>Positive Datasets</a:t>
            </a:r>
            <a:r>
              <a:rPr b="0"/>
              <a:t>: within 3 days datasets before the failure ticket.</a:t>
            </a:r>
          </a:p>
          <a:p>
            <a:pPr>
              <a:defRPr sz="2100" b="1">
                <a:latin typeface="Candara"/>
                <a:ea typeface="Candara"/>
                <a:cs typeface="Candara"/>
                <a:sym typeface="Candara"/>
              </a:defRPr>
            </a:pPr>
            <a:r>
              <a:t>Negative Datasets: Continuous</a:t>
            </a:r>
            <a:r>
              <a:rPr b="0"/>
              <a:t> 3 day datasets in DRAM module without failure tickets. </a:t>
            </a:r>
          </a:p>
          <a:p>
            <a:endParaRPr sz="2100">
              <a:latin typeface="Candara"/>
              <a:ea typeface="Candara"/>
              <a:cs typeface="Candara"/>
              <a:sym typeface="Candara"/>
            </a:endParaRPr>
          </a:p>
          <a:p>
            <a:pPr>
              <a:defRPr sz="2100" b="1">
                <a:solidFill>
                  <a:srgbClr val="FF0000"/>
                </a:solidFill>
                <a:latin typeface="Candara"/>
                <a:ea typeface="Candara"/>
                <a:cs typeface="Candara"/>
                <a:sym typeface="Candara"/>
              </a:defRPr>
            </a:pPr>
            <a:r>
              <a:t>Balance the Positive and Negative Data</a:t>
            </a:r>
            <a:r>
              <a:rPr b="0">
                <a:solidFill>
                  <a:srgbClr val="000000"/>
                </a:solidFill>
              </a:rPr>
              <a:t>: </a:t>
            </a:r>
          </a:p>
          <a:p>
            <a:pPr>
              <a:defRPr sz="2100">
                <a:latin typeface="Candara"/>
                <a:ea typeface="Candara"/>
                <a:cs typeface="Candara"/>
                <a:sym typeface="Candara"/>
              </a:defRPr>
            </a:pPr>
            <a:r>
              <a:t>multiple the positive data until </a:t>
            </a:r>
          </a:p>
          <a:p>
            <a:pPr>
              <a:defRPr sz="2100">
                <a:latin typeface="Candara"/>
                <a:ea typeface="Candara"/>
                <a:cs typeface="Candara"/>
                <a:sym typeface="Candara"/>
              </a:defRPr>
            </a:pPr>
            <a:r>
              <a:t>positive:negative = 1:10</a:t>
            </a:r>
          </a:p>
        </p:txBody>
      </p:sp>
      <p:grpSp>
        <p:nvGrpSpPr>
          <p:cNvPr id="149" name="Google Shape;146;p12"/>
          <p:cNvGrpSpPr/>
          <p:nvPr/>
        </p:nvGrpSpPr>
        <p:grpSpPr>
          <a:xfrm>
            <a:off x="179999" y="2196000"/>
            <a:ext cx="1872002" cy="2718001"/>
            <a:chOff x="0" y="0"/>
            <a:chExt cx="1872000" cy="2717999"/>
          </a:xfrm>
        </p:grpSpPr>
        <p:sp>
          <p:nvSpPr>
            <p:cNvPr id="147" name="圆角矩形"/>
            <p:cNvSpPr/>
            <p:nvPr/>
          </p:nvSpPr>
          <p:spPr>
            <a:xfrm>
              <a:off x="0" y="0"/>
              <a:ext cx="1872001" cy="2718000"/>
            </a:xfrm>
            <a:prstGeom prst="roundRect">
              <a:avLst>
                <a:gd name="adj" fmla="val 16667"/>
              </a:avLst>
            </a:prstGeom>
            <a:solidFill>
              <a:srgbClr val="E7E6E6"/>
            </a:solidFill>
            <a:ln w="9525" cap="flat">
              <a:solidFill>
                <a:srgbClr val="44546A"/>
              </a:solidFill>
              <a:prstDash val="solid"/>
              <a:round/>
            </a:ln>
            <a:effectLst>
              <a:outerShdw blurRad="63500" dist="19050" dir="5400000" rotWithShape="0">
                <a:srgbClr val="000000">
                  <a:alpha val="50000"/>
                </a:srgbClr>
              </a:outerShdw>
              <a:reflection endPos="40000" dir="5400000" sy="-100000" algn="bl" rotWithShape="0"/>
            </a:effectLst>
          </p:spPr>
          <p:txBody>
            <a:bodyPr wrap="square" lIns="0" tIns="0" rIns="0" bIns="0" numCol="1" anchor="ctr">
              <a:noAutofit/>
            </a:bodyPr>
            <a:lstStyle/>
            <a:p>
              <a:pPr algn="ctr">
                <a:defRPr sz="1200" b="1">
                  <a:solidFill>
                    <a:srgbClr val="404040"/>
                  </a:solidFill>
                  <a:latin typeface="Roboto"/>
                  <a:ea typeface="Roboto"/>
                  <a:cs typeface="Roboto"/>
                  <a:sym typeface="Roboto"/>
                </a:defRPr>
              </a:pPr>
              <a:endParaRPr/>
            </a:p>
          </p:txBody>
        </p:sp>
        <p:sp>
          <p:nvSpPr>
            <p:cNvPr id="148" name="Temporal Features…"/>
            <p:cNvSpPr txBox="1"/>
            <p:nvPr/>
          </p:nvSpPr>
          <p:spPr>
            <a:xfrm>
              <a:off x="96146" y="251575"/>
              <a:ext cx="1679708" cy="22148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p>
              <a:pPr algn="ctr">
                <a:defRPr sz="1800" b="1">
                  <a:solidFill>
                    <a:srgbClr val="404040"/>
                  </a:solidFill>
                  <a:latin typeface="Roboto"/>
                  <a:ea typeface="Roboto"/>
                  <a:cs typeface="Roboto"/>
                  <a:sym typeface="Roboto"/>
                </a:defRPr>
              </a:pPr>
              <a:r>
                <a:t>Temporal Features</a:t>
              </a:r>
            </a:p>
            <a:p>
              <a:pPr algn="ctr"/>
              <a:endParaRPr sz="1500" b="1">
                <a:solidFill>
                  <a:srgbClr val="404040"/>
                </a:solidFill>
                <a:latin typeface="Roboto"/>
                <a:ea typeface="Roboto"/>
                <a:cs typeface="Roboto"/>
                <a:sym typeface="Roboto"/>
              </a:endParaRPr>
            </a:p>
            <a:p>
              <a:pPr algn="ctr">
                <a:defRPr sz="1200" b="1">
                  <a:solidFill>
                    <a:srgbClr val="404040"/>
                  </a:solidFill>
                  <a:latin typeface="Roboto"/>
                  <a:ea typeface="Roboto"/>
                  <a:cs typeface="Roboto"/>
                  <a:sym typeface="Roboto"/>
                </a:defRPr>
              </a:pPr>
              <a:r>
                <a:t>read_ce_log_num, read_ce_count</a:t>
              </a:r>
            </a:p>
            <a:p>
              <a:pPr algn="ctr">
                <a:defRPr sz="1200" b="1">
                  <a:solidFill>
                    <a:srgbClr val="404040"/>
                  </a:solidFill>
                  <a:latin typeface="Roboto"/>
                  <a:ea typeface="Roboto"/>
                  <a:cs typeface="Roboto"/>
                  <a:sym typeface="Roboto"/>
                </a:defRPr>
              </a:pPr>
              <a:r>
                <a:t>scrub_ce_log_num</a:t>
              </a:r>
            </a:p>
            <a:p>
              <a:pPr algn="ctr">
                <a:defRPr sz="1200" b="1">
                  <a:solidFill>
                    <a:srgbClr val="404040"/>
                  </a:solidFill>
                  <a:latin typeface="Roboto"/>
                  <a:ea typeface="Roboto"/>
                  <a:cs typeface="Roboto"/>
                  <a:sym typeface="Roboto"/>
                </a:defRPr>
              </a:pPr>
              <a:r>
                <a:t>scrub_ce_count</a:t>
              </a:r>
            </a:p>
            <a:p>
              <a:pPr algn="ctr">
                <a:defRPr sz="1200" b="1">
                  <a:solidFill>
                    <a:srgbClr val="404040"/>
                  </a:solidFill>
                  <a:latin typeface="Roboto"/>
                  <a:ea typeface="Roboto"/>
                  <a:cs typeface="Roboto"/>
                  <a:sym typeface="Roboto"/>
                </a:defRPr>
              </a:pPr>
              <a:r>
                <a:t>all_ce_log_num</a:t>
              </a:r>
            </a:p>
            <a:p>
              <a:pPr algn="ctr">
                <a:defRPr sz="1200" b="1">
                  <a:solidFill>
                    <a:srgbClr val="404040"/>
                  </a:solidFill>
                  <a:latin typeface="Roboto"/>
                  <a:ea typeface="Roboto"/>
                  <a:cs typeface="Roboto"/>
                  <a:sym typeface="Roboto"/>
                </a:defRPr>
              </a:pPr>
              <a:r>
                <a:t>all_ce_count</a:t>
              </a:r>
            </a:p>
            <a:p>
              <a:pPr algn="ctr">
                <a:defRPr sz="1200" b="1">
                  <a:solidFill>
                    <a:srgbClr val="404040"/>
                  </a:solidFill>
                  <a:latin typeface="Roboto"/>
                  <a:ea typeface="Roboto"/>
                  <a:cs typeface="Roboto"/>
                  <a:sym typeface="Roboto"/>
                </a:defRPr>
              </a:pPr>
              <a:r>
                <a:t>ce_storm_count…</a:t>
              </a:r>
            </a:p>
          </p:txBody>
        </p:sp>
      </p:grpSp>
      <p:grpSp>
        <p:nvGrpSpPr>
          <p:cNvPr id="152" name="Google Shape;147;p12"/>
          <p:cNvGrpSpPr/>
          <p:nvPr/>
        </p:nvGrpSpPr>
        <p:grpSpPr>
          <a:xfrm>
            <a:off x="2225125" y="2103904"/>
            <a:ext cx="1710001" cy="2902192"/>
            <a:chOff x="0" y="0"/>
            <a:chExt cx="1710000" cy="2902190"/>
          </a:xfrm>
        </p:grpSpPr>
        <p:sp>
          <p:nvSpPr>
            <p:cNvPr id="150" name="圆角矩形"/>
            <p:cNvSpPr/>
            <p:nvPr/>
          </p:nvSpPr>
          <p:spPr>
            <a:xfrm>
              <a:off x="0" y="92095"/>
              <a:ext cx="1710001" cy="27180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defRPr sz="1800" b="1">
                  <a:solidFill>
                    <a:srgbClr val="404040"/>
                  </a:solidFill>
                  <a:latin typeface="Roboto"/>
                  <a:ea typeface="Roboto"/>
                  <a:cs typeface="Roboto"/>
                  <a:sym typeface="Roboto"/>
                </a:defRPr>
              </a:pPr>
              <a:endParaRPr/>
            </a:p>
          </p:txBody>
        </p:sp>
        <p:sp>
          <p:nvSpPr>
            <p:cNvPr id="151" name="Spatial Features…"/>
            <p:cNvSpPr txBox="1"/>
            <p:nvPr/>
          </p:nvSpPr>
          <p:spPr>
            <a:xfrm>
              <a:off x="88237" y="0"/>
              <a:ext cx="1533526" cy="29021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p>
              <a:pPr>
                <a:lnSpc>
                  <a:spcPct val="115000"/>
                </a:lnSpc>
              </a:pPr>
              <a:endParaRPr sz="1800" b="1"/>
            </a:p>
            <a:p>
              <a:pPr algn="ctr">
                <a:lnSpc>
                  <a:spcPct val="115000"/>
                </a:lnSpc>
                <a:defRPr sz="1800" b="1"/>
              </a:pPr>
              <a:r>
                <a:t>Spatial Features</a:t>
              </a:r>
              <a:endParaRPr sz="1000"/>
            </a:p>
            <a:p>
              <a:pPr>
                <a:lnSpc>
                  <a:spcPct val="115000"/>
                </a:lnSpc>
                <a:defRPr sz="1200"/>
              </a:pPr>
              <a:r>
                <a:t>fault_mode_others</a:t>
              </a:r>
            </a:p>
            <a:p>
              <a:pPr>
                <a:lnSpc>
                  <a:spcPct val="115000"/>
                </a:lnSpc>
                <a:defRPr sz="1200"/>
              </a:pPr>
              <a:r>
                <a:t>fault_mode_device</a:t>
              </a:r>
            </a:p>
            <a:p>
              <a:pPr>
                <a:lnSpc>
                  <a:spcPct val="115000"/>
                </a:lnSpc>
                <a:defRPr sz="1200"/>
              </a:pPr>
              <a:r>
                <a:t>fault_mode_bank</a:t>
              </a:r>
            </a:p>
            <a:p>
              <a:pPr>
                <a:lnSpc>
                  <a:spcPct val="115000"/>
                </a:lnSpc>
                <a:defRPr sz="1200"/>
              </a:pPr>
              <a:r>
                <a:t>fault_mode_row</a:t>
              </a:r>
            </a:p>
            <a:p>
              <a:pPr>
                <a:lnSpc>
                  <a:spcPct val="115000"/>
                </a:lnSpc>
                <a:defRPr sz="1200"/>
              </a:pPr>
              <a:r>
                <a:t>fault_mode_column</a:t>
              </a:r>
            </a:p>
            <a:p>
              <a:pPr>
                <a:lnSpc>
                  <a:spcPct val="115000"/>
                </a:lnSpc>
                <a:defRPr sz="1200"/>
              </a:pPr>
              <a:r>
                <a:t>fault_mode_cell</a:t>
              </a:r>
            </a:p>
            <a:p>
              <a:pPr>
                <a:lnSpc>
                  <a:spcPct val="115000"/>
                </a:lnSpc>
                <a:defRPr sz="1200"/>
              </a:pPr>
              <a:r>
                <a:t>fault_row_num</a:t>
              </a:r>
            </a:p>
            <a:p>
              <a:pPr>
                <a:lnSpc>
                  <a:spcPct val="115000"/>
                </a:lnSpc>
                <a:defRPr sz="1200"/>
              </a:pPr>
              <a:r>
                <a:t>fault_column_num</a:t>
              </a:r>
            </a:p>
          </p:txBody>
        </p:sp>
      </p:grpSp>
      <p:grpSp>
        <p:nvGrpSpPr>
          <p:cNvPr id="155" name="Google Shape;148;p12"/>
          <p:cNvGrpSpPr/>
          <p:nvPr/>
        </p:nvGrpSpPr>
        <p:grpSpPr>
          <a:xfrm>
            <a:off x="4108250" y="2196000"/>
            <a:ext cx="1710001" cy="2718001"/>
            <a:chOff x="0" y="0"/>
            <a:chExt cx="1710000" cy="2717999"/>
          </a:xfrm>
        </p:grpSpPr>
        <p:sp>
          <p:nvSpPr>
            <p:cNvPr id="153" name="圆角矩形"/>
            <p:cNvSpPr/>
            <p:nvPr/>
          </p:nvSpPr>
          <p:spPr>
            <a:xfrm>
              <a:off x="0" y="0"/>
              <a:ext cx="1710001" cy="2718000"/>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a:latin typeface="Candara"/>
                  <a:ea typeface="Candara"/>
                  <a:cs typeface="Candara"/>
                  <a:sym typeface="Candara"/>
                </a:defRPr>
              </a:pPr>
              <a:endParaRPr/>
            </a:p>
          </p:txBody>
        </p:sp>
        <p:sp>
          <p:nvSpPr>
            <p:cNvPr id="154" name="Parity Features…"/>
            <p:cNvSpPr txBox="1"/>
            <p:nvPr/>
          </p:nvSpPr>
          <p:spPr>
            <a:xfrm>
              <a:off x="88237" y="162557"/>
              <a:ext cx="1533526" cy="23928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p>
              <a:pPr algn="ctr">
                <a:lnSpc>
                  <a:spcPct val="115000"/>
                </a:lnSpc>
                <a:defRPr sz="1800" b="1"/>
              </a:pPr>
              <a:r>
                <a:t>Parity Features</a:t>
              </a:r>
            </a:p>
            <a:p>
              <a:pPr>
                <a:lnSpc>
                  <a:spcPct val="115000"/>
                </a:lnSpc>
                <a:defRPr sz="1200"/>
              </a:pPr>
              <a:r>
                <a:t>error_bit_count</a:t>
              </a:r>
            </a:p>
            <a:p>
              <a:pPr>
                <a:lnSpc>
                  <a:spcPct val="115000"/>
                </a:lnSpc>
                <a:defRPr sz="1200"/>
              </a:pPr>
              <a:r>
                <a:t>error_dq_count</a:t>
              </a:r>
            </a:p>
            <a:p>
              <a:pPr>
                <a:lnSpc>
                  <a:spcPct val="115000"/>
                </a:lnSpc>
                <a:defRPr sz="1200"/>
              </a:pPr>
              <a:r>
                <a:t>error_burst_count</a:t>
              </a:r>
            </a:p>
            <a:p>
              <a:pPr>
                <a:lnSpc>
                  <a:spcPct val="115000"/>
                </a:lnSpc>
                <a:defRPr sz="1200"/>
              </a:pPr>
              <a:r>
                <a:t>max_dq_interval</a:t>
              </a:r>
            </a:p>
            <a:p>
              <a:pPr>
                <a:lnSpc>
                  <a:spcPct val="115000"/>
                </a:lnSpc>
                <a:defRPr sz="1200"/>
              </a:pPr>
              <a:r>
                <a:t>max_burst_interval</a:t>
              </a:r>
            </a:p>
            <a:p>
              <a:pPr>
                <a:lnSpc>
                  <a:spcPct val="115000"/>
                </a:lnSpc>
                <a:defRPr sz="1200"/>
              </a:pPr>
              <a:r>
                <a:t>dq_count=n</a:t>
              </a:r>
            </a:p>
            <a:p>
              <a:pPr>
                <a:lnSpc>
                  <a:spcPct val="115000"/>
                </a:lnSpc>
                <a:defRPr sz="1200"/>
              </a:pPr>
              <a:r>
                <a:t>burst_count=n</a:t>
              </a:r>
            </a:p>
          </p:txBody>
        </p:sp>
      </p:grpSp>
      <p:grpSp>
        <p:nvGrpSpPr>
          <p:cNvPr id="158" name="Google Shape;149;p12"/>
          <p:cNvGrpSpPr/>
          <p:nvPr/>
        </p:nvGrpSpPr>
        <p:grpSpPr>
          <a:xfrm>
            <a:off x="270024" y="5196875"/>
            <a:ext cx="5458202" cy="576001"/>
            <a:chOff x="0" y="0"/>
            <a:chExt cx="5458200" cy="576000"/>
          </a:xfrm>
        </p:grpSpPr>
        <p:sp>
          <p:nvSpPr>
            <p:cNvPr id="156" name="圆角矩形"/>
            <p:cNvSpPr/>
            <p:nvPr/>
          </p:nvSpPr>
          <p:spPr>
            <a:xfrm>
              <a:off x="0" y="0"/>
              <a:ext cx="5458201" cy="5760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a:latin typeface="Candara"/>
                  <a:ea typeface="Candara"/>
                  <a:cs typeface="Candara"/>
                  <a:sym typeface="Candara"/>
                </a:defRPr>
              </a:pPr>
              <a:endParaRPr/>
            </a:p>
          </p:txBody>
        </p:sp>
        <p:sp>
          <p:nvSpPr>
            <p:cNvPr id="157" name="Time Window Size: 15m, 1h, 6h"/>
            <p:cNvSpPr txBox="1"/>
            <p:nvPr/>
          </p:nvSpPr>
          <p:spPr>
            <a:xfrm>
              <a:off x="32880" y="94974"/>
              <a:ext cx="5392440" cy="3860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lvl1pPr algn="ctr">
                <a:defRPr>
                  <a:latin typeface="Candara"/>
                  <a:ea typeface="Candara"/>
                  <a:cs typeface="Candara"/>
                  <a:sym typeface="Candara"/>
                </a:defRPr>
              </a:lvl1pPr>
            </a:lstStyle>
            <a:p>
              <a:r>
                <a:t>Time Window Size: 15m, 1h, 6h</a:t>
              </a:r>
            </a:p>
          </p:txBody>
        </p:sp>
      </p:gr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Google Shape;15;p1"/>
          <p:cNvSpPr txBox="1">
            <a:spLocks noGrp="1"/>
          </p:cNvSpPr>
          <p:nvPr>
            <p:ph type="sldNum" sz="quarter" idx="2"/>
          </p:nvPr>
        </p:nvSpPr>
        <p:spPr>
          <a:xfrm>
            <a:off x="10450678" y="6573607"/>
            <a:ext cx="267733"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10</a:t>
            </a:fld>
            <a:endParaRPr/>
          </a:p>
        </p:txBody>
      </p:sp>
      <p:sp>
        <p:nvSpPr>
          <p:cNvPr id="161" name="Google Shape;155;p13"/>
          <p:cNvSpPr txBox="1"/>
          <p:nvPr/>
        </p:nvSpPr>
        <p:spPr>
          <a:xfrm>
            <a:off x="695499" y="549925"/>
            <a:ext cx="10545902" cy="589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800" b="1">
                <a:latin typeface="Candara"/>
                <a:ea typeface="Candara"/>
                <a:cs typeface="Candara"/>
                <a:sym typeface="Candara"/>
              </a:defRPr>
            </a:lvl1pPr>
          </a:lstStyle>
          <a:p>
            <a:r>
              <a:t>XGB Model Introduction</a:t>
            </a:r>
          </a:p>
        </p:txBody>
      </p:sp>
      <p:sp>
        <p:nvSpPr>
          <p:cNvPr id="162" name="Google Shape;156;p13"/>
          <p:cNvSpPr txBox="1"/>
          <p:nvPr/>
        </p:nvSpPr>
        <p:spPr>
          <a:xfrm>
            <a:off x="611199" y="1527000"/>
            <a:ext cx="7262702" cy="14528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a:solidFill>
                  <a:srgbClr val="404040"/>
                </a:solidFill>
                <a:latin typeface="Roboto"/>
                <a:ea typeface="Roboto"/>
                <a:cs typeface="Roboto"/>
                <a:sym typeface="Roboto"/>
              </a:defRPr>
            </a:pPr>
            <a:r>
              <a:t>XGBoost (eXtreme Gradient Boosting) is a powerful, scalable machine learning algorithm based on </a:t>
            </a:r>
            <a:r>
              <a:rPr b="1"/>
              <a:t>gradient boosting</a:t>
            </a:r>
            <a:r>
              <a:t>. </a:t>
            </a:r>
          </a:p>
        </p:txBody>
      </p:sp>
      <p:grpSp>
        <p:nvGrpSpPr>
          <p:cNvPr id="165" name="Google Shape;157;p13"/>
          <p:cNvGrpSpPr/>
          <p:nvPr/>
        </p:nvGrpSpPr>
        <p:grpSpPr>
          <a:xfrm>
            <a:off x="180900" y="2598387"/>
            <a:ext cx="3535801" cy="592201"/>
            <a:chOff x="0" y="0"/>
            <a:chExt cx="3535800" cy="592199"/>
          </a:xfrm>
        </p:grpSpPr>
        <p:sp>
          <p:nvSpPr>
            <p:cNvPr id="163" name="圆角矩形"/>
            <p:cNvSpPr/>
            <p:nvPr/>
          </p:nvSpPr>
          <p:spPr>
            <a:xfrm>
              <a:off x="0" y="0"/>
              <a:ext cx="3535801" cy="592200"/>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sz="2000" b="1">
                  <a:latin typeface="Candara"/>
                  <a:ea typeface="Candara"/>
                  <a:cs typeface="Candara"/>
                  <a:sym typeface="Candara"/>
                </a:defRPr>
              </a:pPr>
              <a:endParaRPr/>
            </a:p>
          </p:txBody>
        </p:sp>
        <p:sp>
          <p:nvSpPr>
            <p:cNvPr id="164" name="Key Points"/>
            <p:cNvSpPr txBox="1"/>
            <p:nvPr/>
          </p:nvSpPr>
          <p:spPr>
            <a:xfrm>
              <a:off x="33671" y="58624"/>
              <a:ext cx="3468458" cy="4749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lvl1pPr algn="ctr">
                <a:defRPr sz="2000" b="1">
                  <a:latin typeface="Candara"/>
                  <a:ea typeface="Candara"/>
                  <a:cs typeface="Candara"/>
                  <a:sym typeface="Candara"/>
                </a:defRPr>
              </a:lvl1pPr>
            </a:lstStyle>
            <a:p>
              <a:r>
                <a:t>Key Points</a:t>
              </a:r>
            </a:p>
          </p:txBody>
        </p:sp>
      </p:grpSp>
      <p:grpSp>
        <p:nvGrpSpPr>
          <p:cNvPr id="168" name="Google Shape;159;p13"/>
          <p:cNvGrpSpPr/>
          <p:nvPr/>
        </p:nvGrpSpPr>
        <p:grpSpPr>
          <a:xfrm>
            <a:off x="4807508" y="2591937"/>
            <a:ext cx="2653201" cy="592201"/>
            <a:chOff x="0" y="0"/>
            <a:chExt cx="2653200" cy="592199"/>
          </a:xfrm>
        </p:grpSpPr>
        <p:sp>
          <p:nvSpPr>
            <p:cNvPr id="166" name="圆角矩形"/>
            <p:cNvSpPr/>
            <p:nvPr/>
          </p:nvSpPr>
          <p:spPr>
            <a:xfrm>
              <a:off x="0" y="0"/>
              <a:ext cx="2653201" cy="592200"/>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sz="2000" b="1">
                  <a:latin typeface="Candara"/>
                  <a:ea typeface="Candara"/>
                  <a:cs typeface="Candara"/>
                  <a:sym typeface="Candara"/>
                </a:defRPr>
              </a:pPr>
              <a:endParaRPr/>
            </a:p>
          </p:txBody>
        </p:sp>
        <p:sp>
          <p:nvSpPr>
            <p:cNvPr id="167" name="Hyper-parameters"/>
            <p:cNvSpPr txBox="1"/>
            <p:nvPr/>
          </p:nvSpPr>
          <p:spPr>
            <a:xfrm>
              <a:off x="33671" y="58624"/>
              <a:ext cx="2585858" cy="4749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lvl1pPr algn="ctr">
                <a:defRPr sz="2000" b="1">
                  <a:latin typeface="Candara"/>
                  <a:ea typeface="Candara"/>
                  <a:cs typeface="Candara"/>
                  <a:sym typeface="Candara"/>
                </a:defRPr>
              </a:lvl1pPr>
            </a:lstStyle>
            <a:p>
              <a:r>
                <a:t>Hyper-parameters</a:t>
              </a:r>
            </a:p>
          </p:txBody>
        </p:sp>
      </p:grpSp>
      <p:graphicFrame>
        <p:nvGraphicFramePr>
          <p:cNvPr id="169" name="Google Shape;160;p13"/>
          <p:cNvGraphicFramePr/>
          <p:nvPr/>
        </p:nvGraphicFramePr>
        <p:xfrm>
          <a:off x="364499" y="3363112"/>
          <a:ext cx="3519601" cy="2770902"/>
        </p:xfrm>
        <a:graphic>
          <a:graphicData uri="http://schemas.openxmlformats.org/drawingml/2006/table">
            <a:tbl>
              <a:tblPr>
                <a:tableStyleId>{4C3C2611-4C71-4FC5-86AE-919BDF0F9419}</a:tableStyleId>
              </a:tblPr>
              <a:tblGrid>
                <a:gridCol w="1270075">
                  <a:extLst>
                    <a:ext uri="{9D8B030D-6E8A-4147-A177-3AD203B41FA5}">
                      <a16:colId xmlns:a16="http://schemas.microsoft.com/office/drawing/2014/main" val="20000"/>
                    </a:ext>
                  </a:extLst>
                </a:gridCol>
                <a:gridCol w="2249525">
                  <a:extLst>
                    <a:ext uri="{9D8B030D-6E8A-4147-A177-3AD203B41FA5}">
                      <a16:colId xmlns:a16="http://schemas.microsoft.com/office/drawing/2014/main" val="20001"/>
                    </a:ext>
                  </a:extLst>
                </a:gridCol>
              </a:tblGrid>
              <a:tr h="946699">
                <a:tc>
                  <a:txBody>
                    <a:bodyPr/>
                    <a:lstStyle/>
                    <a:p>
                      <a:pPr>
                        <a:defRPr sz="1800"/>
                      </a:pPr>
                      <a:r>
                        <a:rPr sz="1400"/>
                        <a:t>Gradient Boosting Framework</a:t>
                      </a:r>
                    </a:p>
                  </a:txBody>
                  <a:tcPr marL="91425" marR="91425" marT="91425" marB="91425" horzOverflow="overflow">
                    <a:lnR>
                      <a:solidFill>
                        <a:srgbClr val="000000"/>
                      </a:solidFill>
                    </a:lnR>
                  </a:tcPr>
                </a:tc>
                <a:tc>
                  <a:txBody>
                    <a:bodyPr/>
                    <a:lstStyle/>
                    <a:p>
                      <a:pPr>
                        <a:defRPr sz="1800"/>
                      </a:pPr>
                      <a:r>
                        <a:rPr sz="1400"/>
                        <a:t>XGBoost builds an ensemble of weak learners (decision trees) sequentially</a:t>
                      </a:r>
                    </a:p>
                  </a:txBody>
                  <a:tcPr marL="91425" marR="91425" marT="91425" marB="91425" horzOverflow="overflow">
                    <a:lnL>
                      <a:solidFill>
                        <a:srgbClr val="000000"/>
                      </a:solidFill>
                    </a:lnL>
                    <a:lnR>
                      <a:solidFill>
                        <a:srgbClr val="000000"/>
                      </a:solidFill>
                    </a:lnR>
                    <a:lnT>
                      <a:solidFill>
                        <a:srgbClr val="000000"/>
                      </a:solidFill>
                    </a:lnT>
                    <a:lnB>
                      <a:solidFill>
                        <a:srgbClr val="000000"/>
                      </a:solidFill>
                    </a:lnB>
                  </a:tcPr>
                </a:tc>
                <a:extLst>
                  <a:ext uri="{0D108BD9-81ED-4DB2-BD59-A6C34878D82A}">
                    <a16:rowId xmlns:a16="http://schemas.microsoft.com/office/drawing/2014/main" val="10000"/>
                  </a:ext>
                </a:extLst>
              </a:tr>
              <a:tr h="912100">
                <a:tc>
                  <a:txBody>
                    <a:bodyPr/>
                    <a:lstStyle/>
                    <a:p>
                      <a:pPr>
                        <a:defRPr sz="1800"/>
                      </a:pPr>
                      <a:r>
                        <a:rPr sz="1400"/>
                        <a:t>Objective Function</a:t>
                      </a:r>
                    </a:p>
                  </a:txBody>
                  <a:tcPr marL="91425" marR="91425" marT="91425" marB="91425" horzOverflow="overflow"/>
                </a:tc>
                <a:tc>
                  <a:txBody>
                    <a:bodyPr/>
                    <a:lstStyle/>
                    <a:p>
                      <a:r>
                        <a:t>loss function: log loss for binary classification</a:t>
                      </a:r>
                    </a:p>
                    <a:p>
                      <a:r>
                        <a:t>regularization: l2 </a:t>
                      </a:r>
                      <a:r>
                        <a:rPr>
                          <a:solidFill>
                            <a:srgbClr val="404040"/>
                          </a:solidFill>
                          <a:latin typeface="Roboto"/>
                          <a:ea typeface="Roboto"/>
                          <a:cs typeface="Roboto"/>
                          <a:sym typeface="Roboto"/>
                        </a:rPr>
                        <a:t>regularization to prevent overfitting</a:t>
                      </a:r>
                    </a:p>
                  </a:txBody>
                  <a:tcPr marL="91425" marR="91425" marT="91425" marB="91425" horzOverflow="overflow">
                    <a:lnT>
                      <a:solidFill>
                        <a:srgbClr val="000000"/>
                      </a:solidFill>
                    </a:lnT>
                  </a:tcPr>
                </a:tc>
                <a:extLst>
                  <a:ext uri="{0D108BD9-81ED-4DB2-BD59-A6C34878D82A}">
                    <a16:rowId xmlns:a16="http://schemas.microsoft.com/office/drawing/2014/main" val="10001"/>
                  </a:ext>
                </a:extLst>
              </a:tr>
              <a:tr h="912100">
                <a:tc>
                  <a:txBody>
                    <a:bodyPr/>
                    <a:lstStyle/>
                    <a:p>
                      <a:pPr>
                        <a:defRPr sz="1800"/>
                      </a:pPr>
                      <a:r>
                        <a:rPr sz="1400"/>
                        <a:t>Tree Construction</a:t>
                      </a:r>
                    </a:p>
                  </a:txBody>
                  <a:tcPr marL="91425" marR="91425" marT="91425" marB="91425" horzOverflow="overflow"/>
                </a:tc>
                <a:tc>
                  <a:txBody>
                    <a:bodyPr/>
                    <a:lstStyle/>
                    <a:p>
                      <a:pPr>
                        <a:defRPr sz="1200">
                          <a:solidFill>
                            <a:srgbClr val="404040"/>
                          </a:solidFill>
                          <a:latin typeface="Roboto"/>
                          <a:ea typeface="Roboto"/>
                          <a:cs typeface="Roboto"/>
                          <a:sym typeface="Roboto"/>
                        </a:defRPr>
                      </a:pPr>
                      <a:r>
                        <a:t>Uses a </a:t>
                      </a:r>
                      <a:r>
                        <a:rPr b="1"/>
                        <a:t>greedy algorithm</a:t>
                      </a:r>
                      <a:r>
                        <a:t> to split nodes</a:t>
                      </a:r>
                    </a:p>
                  </a:txBody>
                  <a:tcPr marL="91425" marR="91425" marT="91425" marB="91425" horzOverflow="overflow"/>
                </a:tc>
                <a:extLst>
                  <a:ext uri="{0D108BD9-81ED-4DB2-BD59-A6C34878D82A}">
                    <a16:rowId xmlns:a16="http://schemas.microsoft.com/office/drawing/2014/main" val="10002"/>
                  </a:ext>
                </a:extLst>
              </a:tr>
            </a:tbl>
          </a:graphicData>
        </a:graphic>
      </p:graphicFrame>
      <p:graphicFrame>
        <p:nvGraphicFramePr>
          <p:cNvPr id="170" name="Google Shape;161;p13"/>
          <p:cNvGraphicFramePr/>
          <p:nvPr/>
        </p:nvGraphicFramePr>
        <p:xfrm>
          <a:off x="4645124" y="3407900"/>
          <a:ext cx="3009777" cy="3108425"/>
        </p:xfrm>
        <a:graphic>
          <a:graphicData uri="http://schemas.openxmlformats.org/drawingml/2006/table">
            <a:tbl>
              <a:tblPr>
                <a:tableStyleId>{4C3C2611-4C71-4FC5-86AE-919BDF0F9419}</a:tableStyleId>
              </a:tblPr>
              <a:tblGrid>
                <a:gridCol w="1395500">
                  <a:extLst>
                    <a:ext uri="{9D8B030D-6E8A-4147-A177-3AD203B41FA5}">
                      <a16:colId xmlns:a16="http://schemas.microsoft.com/office/drawing/2014/main" val="20000"/>
                    </a:ext>
                  </a:extLst>
                </a:gridCol>
                <a:gridCol w="1614275">
                  <a:extLst>
                    <a:ext uri="{9D8B030D-6E8A-4147-A177-3AD203B41FA5}">
                      <a16:colId xmlns:a16="http://schemas.microsoft.com/office/drawing/2014/main" val="20001"/>
                    </a:ext>
                  </a:extLst>
                </a:gridCol>
              </a:tblGrid>
              <a:tr h="449875">
                <a:tc>
                  <a:txBody>
                    <a:bodyPr/>
                    <a:lstStyle/>
                    <a:p>
                      <a:pPr>
                        <a:defRPr sz="1800"/>
                      </a:pPr>
                      <a:r>
                        <a:rPr sz="1400">
                          <a:solidFill>
                            <a:srgbClr val="404040"/>
                          </a:solidFill>
                          <a:latin typeface="Roboto Mono"/>
                          <a:ea typeface="Roboto Mono"/>
                          <a:cs typeface="Roboto Mono"/>
                          <a:sym typeface="Roboto Mono"/>
                        </a:rPr>
                        <a:t>max_depth</a:t>
                      </a:r>
                    </a:p>
                  </a:txBody>
                  <a:tcPr marL="91425" marR="91425" marT="91425" marB="91425" horzOverflow="overflow">
                    <a:lnR>
                      <a:solidFill>
                        <a:srgbClr val="000000"/>
                      </a:solidFill>
                    </a:lnR>
                  </a:tcPr>
                </a:tc>
                <a:tc>
                  <a:txBody>
                    <a:bodyPr/>
                    <a:lstStyle/>
                    <a:p>
                      <a:pPr>
                        <a:defRPr sz="1800"/>
                      </a:pPr>
                      <a:r>
                        <a:rPr sz="1400"/>
                        <a:t>6</a:t>
                      </a:r>
                    </a:p>
                  </a:txBody>
                  <a:tcPr marL="91425" marR="91425" marT="91425" marB="91425" horzOverflow="overflow">
                    <a:lnL>
                      <a:solidFill>
                        <a:srgbClr val="000000"/>
                      </a:solidFill>
                    </a:lnL>
                    <a:lnR>
                      <a:solidFill>
                        <a:srgbClr val="000000"/>
                      </a:solidFill>
                    </a:lnR>
                    <a:lnT>
                      <a:solidFill>
                        <a:srgbClr val="000000"/>
                      </a:solidFill>
                    </a:lnT>
                    <a:lnB>
                      <a:solidFill>
                        <a:srgbClr val="000000"/>
                      </a:solidFill>
                    </a:lnB>
                  </a:tcPr>
                </a:tc>
                <a:extLst>
                  <a:ext uri="{0D108BD9-81ED-4DB2-BD59-A6C34878D82A}">
                    <a16:rowId xmlns:a16="http://schemas.microsoft.com/office/drawing/2014/main" val="10000"/>
                  </a:ext>
                </a:extLst>
              </a:tr>
              <a:tr h="436525">
                <a:tc>
                  <a:txBody>
                    <a:bodyPr/>
                    <a:lstStyle/>
                    <a:p>
                      <a:pPr>
                        <a:defRPr sz="1800"/>
                      </a:pPr>
                      <a:r>
                        <a:rPr sz="1400">
                          <a:solidFill>
                            <a:srgbClr val="404040"/>
                          </a:solidFill>
                          <a:latin typeface="Roboto"/>
                          <a:ea typeface="Roboto"/>
                          <a:cs typeface="Roboto"/>
                          <a:sym typeface="Roboto"/>
                        </a:rPr>
                        <a:t>learning rate</a:t>
                      </a:r>
                    </a:p>
                  </a:txBody>
                  <a:tcPr marL="91425" marR="91425" marT="91425" marB="91425" horzOverflow="overflow"/>
                </a:tc>
                <a:tc>
                  <a:txBody>
                    <a:bodyPr/>
                    <a:lstStyle/>
                    <a:p>
                      <a:pPr>
                        <a:defRPr sz="1800"/>
                      </a:pPr>
                      <a:r>
                        <a:rPr sz="1400"/>
                        <a:t>0.1</a:t>
                      </a:r>
                    </a:p>
                  </a:txBody>
                  <a:tcPr marL="91425" marR="91425" marT="91425" marB="91425" horzOverflow="overflow">
                    <a:lnT>
                      <a:solidFill>
                        <a:srgbClr val="000000"/>
                      </a:solidFill>
                    </a:lnT>
                  </a:tcPr>
                </a:tc>
                <a:extLst>
                  <a:ext uri="{0D108BD9-81ED-4DB2-BD59-A6C34878D82A}">
                    <a16:rowId xmlns:a16="http://schemas.microsoft.com/office/drawing/2014/main" val="10001"/>
                  </a:ext>
                </a:extLst>
              </a:tr>
              <a:tr h="632375">
                <a:tc>
                  <a:txBody>
                    <a:bodyPr/>
                    <a:lstStyle/>
                    <a:p>
                      <a:pPr>
                        <a:defRPr sz="1800"/>
                      </a:pPr>
                      <a:r>
                        <a:rPr sz="1400">
                          <a:solidFill>
                            <a:srgbClr val="404040"/>
                          </a:solidFill>
                          <a:latin typeface="Roboto Mono"/>
                          <a:ea typeface="Roboto Mono"/>
                          <a:cs typeface="Roboto Mono"/>
                          <a:sym typeface="Roboto Mono"/>
                        </a:rPr>
                        <a:t>early_stopping_rounds</a:t>
                      </a:r>
                    </a:p>
                  </a:txBody>
                  <a:tcPr marL="91425" marR="91425" marT="91425" marB="91425" horzOverflow="overflow"/>
                </a:tc>
                <a:tc>
                  <a:txBody>
                    <a:bodyPr/>
                    <a:lstStyle/>
                    <a:p>
                      <a:pPr>
                        <a:defRPr sz="1800"/>
                      </a:pPr>
                      <a:r>
                        <a:rPr sz="1400"/>
                        <a:t>10</a:t>
                      </a:r>
                    </a:p>
                  </a:txBody>
                  <a:tcPr marL="91425" marR="91425" marT="91425" marB="91425" horzOverflow="overflow"/>
                </a:tc>
                <a:extLst>
                  <a:ext uri="{0D108BD9-81ED-4DB2-BD59-A6C34878D82A}">
                    <a16:rowId xmlns:a16="http://schemas.microsoft.com/office/drawing/2014/main" val="10002"/>
                  </a:ext>
                </a:extLst>
              </a:tr>
              <a:tr h="794825">
                <a:tc>
                  <a:txBody>
                    <a:bodyPr/>
                    <a:lstStyle/>
                    <a:p>
                      <a:pPr>
                        <a:defRPr sz="1800"/>
                      </a:pPr>
                      <a:r>
                        <a:rPr sz="1400">
                          <a:solidFill>
                            <a:srgbClr val="404040"/>
                          </a:solidFill>
                          <a:latin typeface="Roboto Mono"/>
                          <a:ea typeface="Roboto Mono"/>
                          <a:cs typeface="Roboto Mono"/>
                          <a:sym typeface="Roboto Mono"/>
                        </a:rPr>
                        <a:t>objective</a:t>
                      </a:r>
                    </a:p>
                  </a:txBody>
                  <a:tcPr marL="91425" marR="91425" marT="91425" marB="91425" horzOverflow="overflow"/>
                </a:tc>
                <a:tc>
                  <a:txBody>
                    <a:bodyPr/>
                    <a:lstStyle/>
                    <a:p>
                      <a:pPr>
                        <a:defRPr sz="1800"/>
                      </a:pPr>
                      <a:r>
                        <a:rPr sz="1400">
                          <a:solidFill>
                            <a:srgbClr val="404040"/>
                          </a:solidFill>
                          <a:latin typeface="Roboto Mono"/>
                          <a:ea typeface="Roboto Mono"/>
                          <a:cs typeface="Roboto Mono"/>
                          <a:sym typeface="Roboto Mono"/>
                        </a:rPr>
                        <a:t>binary:logistic</a:t>
                      </a:r>
                    </a:p>
                  </a:txBody>
                  <a:tcPr marL="91425" marR="91425" marT="91425" marB="91425" horzOverflow="overflow"/>
                </a:tc>
                <a:extLst>
                  <a:ext uri="{0D108BD9-81ED-4DB2-BD59-A6C34878D82A}">
                    <a16:rowId xmlns:a16="http://schemas.microsoft.com/office/drawing/2014/main" val="10003"/>
                  </a:ext>
                </a:extLst>
              </a:tr>
              <a:tr h="794825">
                <a:tc>
                  <a:txBody>
                    <a:bodyPr/>
                    <a:lstStyle/>
                    <a:p>
                      <a:pPr>
                        <a:defRPr sz="1800"/>
                      </a:pPr>
                      <a:r>
                        <a:rPr sz="1400">
                          <a:solidFill>
                            <a:srgbClr val="404040"/>
                          </a:solidFill>
                          <a:latin typeface="Roboto Mono"/>
                          <a:ea typeface="Roboto Mono"/>
                          <a:cs typeface="Roboto Mono"/>
                          <a:sym typeface="Roboto Mono"/>
                        </a:rPr>
                        <a:t>eval_metric</a:t>
                      </a:r>
                    </a:p>
                  </a:txBody>
                  <a:tcPr marL="91425" marR="91425" marT="91425" marB="91425" horzOverflow="overflow"/>
                </a:tc>
                <a:tc>
                  <a:txBody>
                    <a:bodyPr/>
                    <a:lstStyle/>
                    <a:p>
                      <a:pPr>
                        <a:defRPr sz="1800"/>
                      </a:pPr>
                      <a:r>
                        <a:rPr sz="1400">
                          <a:solidFill>
                            <a:srgbClr val="404040"/>
                          </a:solidFill>
                          <a:latin typeface="Roboto Mono"/>
                          <a:ea typeface="Roboto Mono"/>
                          <a:cs typeface="Roboto Mono"/>
                          <a:sym typeface="Roboto Mono"/>
                        </a:rPr>
                        <a:t>logloss</a:t>
                      </a:r>
                    </a:p>
                  </a:txBody>
                  <a:tcPr marL="91425" marR="91425" marT="91425" marB="91425" horzOverflow="overflow"/>
                </a:tc>
                <a:extLst>
                  <a:ext uri="{0D108BD9-81ED-4DB2-BD59-A6C34878D82A}">
                    <a16:rowId xmlns:a16="http://schemas.microsoft.com/office/drawing/2014/main" val="10004"/>
                  </a:ext>
                </a:extLst>
              </a:tr>
            </a:tbl>
          </a:graphicData>
        </a:graphic>
      </p:graphicFrame>
      <p:pic>
        <p:nvPicPr>
          <p:cNvPr id="171" name="Google Shape;162;p13" descr="Google Shape;162;p13"/>
          <p:cNvPicPr>
            <a:picLocks noChangeAspect="1"/>
          </p:cNvPicPr>
          <p:nvPr/>
        </p:nvPicPr>
        <p:blipFill>
          <a:blip r:embed="rId2"/>
          <a:stretch>
            <a:fillRect/>
          </a:stretch>
        </p:blipFill>
        <p:spPr>
          <a:xfrm>
            <a:off x="7788625" y="1391112"/>
            <a:ext cx="4403384" cy="3340239"/>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Google Shape;15;p1"/>
          <p:cNvSpPr txBox="1">
            <a:spLocks noGrp="1"/>
          </p:cNvSpPr>
          <p:nvPr>
            <p:ph type="sldNum" sz="quarter" idx="2"/>
          </p:nvPr>
        </p:nvSpPr>
        <p:spPr>
          <a:xfrm>
            <a:off x="10450678" y="6573607"/>
            <a:ext cx="267733"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11</a:t>
            </a:fld>
            <a:endParaRPr/>
          </a:p>
        </p:txBody>
      </p:sp>
      <p:sp>
        <p:nvSpPr>
          <p:cNvPr id="174" name="Google Shape;167;p14"/>
          <p:cNvSpPr/>
          <p:nvPr/>
        </p:nvSpPr>
        <p:spPr>
          <a:xfrm>
            <a:off x="1412398" y="1717991"/>
            <a:ext cx="2394910" cy="2394910"/>
          </a:xfrm>
          <a:prstGeom prst="ellipse">
            <a:avLst/>
          </a:prstGeom>
          <a:solidFill>
            <a:schemeClr val="accent1"/>
          </a:solidFill>
          <a:ln w="12700">
            <a:miter lim="400000"/>
          </a:ln>
          <a:effectLst>
            <a:outerShdw blurRad="101600" dist="101600" dir="5400000" rotWithShape="0">
              <a:srgbClr val="000000">
                <a:alpha val="40000"/>
              </a:srgbClr>
            </a:outerShdw>
          </a:effectLst>
        </p:spPr>
        <p:txBody>
          <a:bodyPr lIns="0" tIns="0" rIns="0" bIns="0" anchor="ctr"/>
          <a:lstStyle/>
          <a:p>
            <a:pPr algn="ctr">
              <a:defRPr sz="2400">
                <a:solidFill>
                  <a:srgbClr val="FFFFFF"/>
                </a:solidFill>
                <a:latin typeface="Calibri"/>
                <a:ea typeface="Calibri"/>
                <a:cs typeface="Calibri"/>
                <a:sym typeface="Calibri"/>
              </a:defRPr>
            </a:pPr>
            <a:endParaRPr/>
          </a:p>
        </p:txBody>
      </p:sp>
      <p:sp>
        <p:nvSpPr>
          <p:cNvPr id="175" name="Google Shape;168;p14"/>
          <p:cNvSpPr txBox="1"/>
          <p:nvPr/>
        </p:nvSpPr>
        <p:spPr>
          <a:xfrm>
            <a:off x="4159763" y="1752358"/>
            <a:ext cx="3525246" cy="7061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lvl1pPr>
              <a:defRPr sz="4800" b="1">
                <a:solidFill>
                  <a:schemeClr val="accent1"/>
                </a:solidFill>
                <a:latin typeface="Calibri"/>
                <a:ea typeface="Calibri"/>
                <a:cs typeface="Calibri"/>
                <a:sym typeface="Calibri"/>
              </a:defRPr>
            </a:lvl1pPr>
          </a:lstStyle>
          <a:p>
            <a:r>
              <a:t>Experiments</a:t>
            </a:r>
          </a:p>
        </p:txBody>
      </p:sp>
      <p:grpSp>
        <p:nvGrpSpPr>
          <p:cNvPr id="178" name="Google Shape;169;p14"/>
          <p:cNvGrpSpPr/>
          <p:nvPr/>
        </p:nvGrpSpPr>
        <p:grpSpPr>
          <a:xfrm>
            <a:off x="4225466" y="2706139"/>
            <a:ext cx="328184" cy="327404"/>
            <a:chOff x="0" y="0"/>
            <a:chExt cx="328182" cy="327403"/>
          </a:xfrm>
        </p:grpSpPr>
        <p:sp>
          <p:nvSpPr>
            <p:cNvPr id="176" name="Google Shape;170;p14"/>
            <p:cNvSpPr/>
            <p:nvPr/>
          </p:nvSpPr>
          <p:spPr>
            <a:xfrm>
              <a:off x="-1" y="-1"/>
              <a:ext cx="328185" cy="327405"/>
            </a:xfrm>
            <a:custGeom>
              <a:avLst/>
              <a:gdLst/>
              <a:ahLst/>
              <a:cxnLst>
                <a:cxn ang="0">
                  <a:pos x="wd2" y="hd2"/>
                </a:cxn>
                <a:cxn ang="5400000">
                  <a:pos x="wd2" y="hd2"/>
                </a:cxn>
                <a:cxn ang="10800000">
                  <a:pos x="wd2" y="hd2"/>
                </a:cxn>
                <a:cxn ang="16200000">
                  <a:pos x="wd2" y="hd2"/>
                </a:cxn>
              </a:cxnLst>
              <a:rect l="0" t="0" r="r" b="b"/>
              <a:pathLst>
                <a:path w="21600" h="21600" extrusionOk="0">
                  <a:moveTo>
                    <a:pt x="10815" y="21600"/>
                  </a:moveTo>
                  <a:cubicBezTo>
                    <a:pt x="4852" y="21600"/>
                    <a:pt x="0" y="16772"/>
                    <a:pt x="0" y="10800"/>
                  </a:cubicBezTo>
                  <a:cubicBezTo>
                    <a:pt x="0" y="4828"/>
                    <a:pt x="4852" y="0"/>
                    <a:pt x="10815" y="0"/>
                  </a:cubicBezTo>
                  <a:cubicBezTo>
                    <a:pt x="16748" y="0"/>
                    <a:pt x="21600" y="4828"/>
                    <a:pt x="21600" y="10800"/>
                  </a:cubicBezTo>
                  <a:cubicBezTo>
                    <a:pt x="21600" y="16772"/>
                    <a:pt x="16748" y="21600"/>
                    <a:pt x="10815" y="21600"/>
                  </a:cubicBezTo>
                  <a:close/>
                  <a:moveTo>
                    <a:pt x="10815" y="1238"/>
                  </a:moveTo>
                  <a:cubicBezTo>
                    <a:pt x="5531" y="1238"/>
                    <a:pt x="1236" y="5539"/>
                    <a:pt x="1236" y="10800"/>
                  </a:cubicBezTo>
                  <a:cubicBezTo>
                    <a:pt x="1236" y="16061"/>
                    <a:pt x="5531" y="20362"/>
                    <a:pt x="10815" y="20362"/>
                  </a:cubicBezTo>
                  <a:cubicBezTo>
                    <a:pt x="16069" y="20362"/>
                    <a:pt x="20364" y="16061"/>
                    <a:pt x="20364" y="10800"/>
                  </a:cubicBezTo>
                  <a:cubicBezTo>
                    <a:pt x="20364" y="5539"/>
                    <a:pt x="16069" y="1238"/>
                    <a:pt x="10815" y="1238"/>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sp>
          <p:nvSpPr>
            <p:cNvPr id="177" name="Google Shape;171;p14"/>
            <p:cNvSpPr/>
            <p:nvPr/>
          </p:nvSpPr>
          <p:spPr>
            <a:xfrm>
              <a:off x="74097" y="102277"/>
              <a:ext cx="179872" cy="125347"/>
            </a:xfrm>
            <a:custGeom>
              <a:avLst/>
              <a:gdLst/>
              <a:ahLst/>
              <a:cxnLst>
                <a:cxn ang="0">
                  <a:pos x="wd2" y="hd2"/>
                </a:cxn>
                <a:cxn ang="5400000">
                  <a:pos x="wd2" y="hd2"/>
                </a:cxn>
                <a:cxn ang="10800000">
                  <a:pos x="wd2" y="hd2"/>
                </a:cxn>
                <a:cxn ang="16200000">
                  <a:pos x="wd2" y="hd2"/>
                </a:cxn>
              </a:cxnLst>
              <a:rect l="0" t="0" r="r" b="b"/>
              <a:pathLst>
                <a:path w="21391" h="21439" extrusionOk="0">
                  <a:moveTo>
                    <a:pt x="7604" y="21439"/>
                  </a:moveTo>
                  <a:cubicBezTo>
                    <a:pt x="7269" y="21439"/>
                    <a:pt x="6990" y="21278"/>
                    <a:pt x="6767" y="20957"/>
                  </a:cubicBezTo>
                  <a:cubicBezTo>
                    <a:pt x="293" y="11643"/>
                    <a:pt x="293" y="11643"/>
                    <a:pt x="293" y="11643"/>
                  </a:cubicBezTo>
                  <a:cubicBezTo>
                    <a:pt x="-98" y="11000"/>
                    <a:pt x="-98" y="10037"/>
                    <a:pt x="293" y="9394"/>
                  </a:cubicBezTo>
                  <a:cubicBezTo>
                    <a:pt x="293" y="9394"/>
                    <a:pt x="293" y="9394"/>
                    <a:pt x="293" y="9394"/>
                  </a:cubicBezTo>
                  <a:cubicBezTo>
                    <a:pt x="739" y="8752"/>
                    <a:pt x="1465" y="8752"/>
                    <a:pt x="1911" y="9394"/>
                  </a:cubicBezTo>
                  <a:cubicBezTo>
                    <a:pt x="1911" y="9394"/>
                    <a:pt x="1911" y="9394"/>
                    <a:pt x="1911" y="9394"/>
                  </a:cubicBezTo>
                  <a:cubicBezTo>
                    <a:pt x="7604" y="17585"/>
                    <a:pt x="7604" y="17585"/>
                    <a:pt x="7604" y="17585"/>
                  </a:cubicBezTo>
                  <a:cubicBezTo>
                    <a:pt x="19437" y="481"/>
                    <a:pt x="19437" y="481"/>
                    <a:pt x="19437" y="481"/>
                  </a:cubicBezTo>
                  <a:cubicBezTo>
                    <a:pt x="19883" y="-161"/>
                    <a:pt x="20609" y="-161"/>
                    <a:pt x="21055" y="481"/>
                  </a:cubicBezTo>
                  <a:cubicBezTo>
                    <a:pt x="21055" y="481"/>
                    <a:pt x="21055" y="481"/>
                    <a:pt x="21055" y="481"/>
                  </a:cubicBezTo>
                  <a:cubicBezTo>
                    <a:pt x="21502" y="1124"/>
                    <a:pt x="21502" y="2087"/>
                    <a:pt x="21055" y="2730"/>
                  </a:cubicBezTo>
                  <a:cubicBezTo>
                    <a:pt x="21055" y="2730"/>
                    <a:pt x="21055" y="2730"/>
                    <a:pt x="21055" y="2730"/>
                  </a:cubicBezTo>
                  <a:cubicBezTo>
                    <a:pt x="8386" y="20957"/>
                    <a:pt x="8386" y="20957"/>
                    <a:pt x="8386" y="20957"/>
                  </a:cubicBezTo>
                  <a:cubicBezTo>
                    <a:pt x="8162" y="21278"/>
                    <a:pt x="7883" y="21439"/>
                    <a:pt x="7604" y="21439"/>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grpSp>
      <p:grpSp>
        <p:nvGrpSpPr>
          <p:cNvPr id="181" name="Google Shape;172;p14"/>
          <p:cNvGrpSpPr/>
          <p:nvPr/>
        </p:nvGrpSpPr>
        <p:grpSpPr>
          <a:xfrm>
            <a:off x="4225466" y="3182921"/>
            <a:ext cx="328184" cy="327404"/>
            <a:chOff x="0" y="0"/>
            <a:chExt cx="328182" cy="327403"/>
          </a:xfrm>
        </p:grpSpPr>
        <p:sp>
          <p:nvSpPr>
            <p:cNvPr id="179" name="Google Shape;173;p14"/>
            <p:cNvSpPr/>
            <p:nvPr/>
          </p:nvSpPr>
          <p:spPr>
            <a:xfrm>
              <a:off x="-1" y="-1"/>
              <a:ext cx="328185" cy="327405"/>
            </a:xfrm>
            <a:custGeom>
              <a:avLst/>
              <a:gdLst/>
              <a:ahLst/>
              <a:cxnLst>
                <a:cxn ang="0">
                  <a:pos x="wd2" y="hd2"/>
                </a:cxn>
                <a:cxn ang="5400000">
                  <a:pos x="wd2" y="hd2"/>
                </a:cxn>
                <a:cxn ang="10800000">
                  <a:pos x="wd2" y="hd2"/>
                </a:cxn>
                <a:cxn ang="16200000">
                  <a:pos x="wd2" y="hd2"/>
                </a:cxn>
              </a:cxnLst>
              <a:rect l="0" t="0" r="r" b="b"/>
              <a:pathLst>
                <a:path w="21600" h="21600" extrusionOk="0">
                  <a:moveTo>
                    <a:pt x="10815" y="21600"/>
                  </a:moveTo>
                  <a:cubicBezTo>
                    <a:pt x="4852" y="21600"/>
                    <a:pt x="0" y="16772"/>
                    <a:pt x="0" y="10800"/>
                  </a:cubicBezTo>
                  <a:cubicBezTo>
                    <a:pt x="0" y="4828"/>
                    <a:pt x="4852" y="0"/>
                    <a:pt x="10815" y="0"/>
                  </a:cubicBezTo>
                  <a:cubicBezTo>
                    <a:pt x="16748" y="0"/>
                    <a:pt x="21600" y="4828"/>
                    <a:pt x="21600" y="10800"/>
                  </a:cubicBezTo>
                  <a:cubicBezTo>
                    <a:pt x="21600" y="16772"/>
                    <a:pt x="16748" y="21600"/>
                    <a:pt x="10815" y="21600"/>
                  </a:cubicBezTo>
                  <a:close/>
                  <a:moveTo>
                    <a:pt x="10815" y="1238"/>
                  </a:moveTo>
                  <a:cubicBezTo>
                    <a:pt x="5531" y="1238"/>
                    <a:pt x="1236" y="5539"/>
                    <a:pt x="1236" y="10800"/>
                  </a:cubicBezTo>
                  <a:cubicBezTo>
                    <a:pt x="1236" y="16061"/>
                    <a:pt x="5531" y="20362"/>
                    <a:pt x="10815" y="20362"/>
                  </a:cubicBezTo>
                  <a:cubicBezTo>
                    <a:pt x="16069" y="20362"/>
                    <a:pt x="20364" y="16061"/>
                    <a:pt x="20364" y="10800"/>
                  </a:cubicBezTo>
                  <a:cubicBezTo>
                    <a:pt x="20364" y="5539"/>
                    <a:pt x="16069" y="1238"/>
                    <a:pt x="10815" y="1238"/>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sp>
          <p:nvSpPr>
            <p:cNvPr id="180" name="Google Shape;174;p14"/>
            <p:cNvSpPr/>
            <p:nvPr/>
          </p:nvSpPr>
          <p:spPr>
            <a:xfrm>
              <a:off x="74097" y="102277"/>
              <a:ext cx="179872" cy="125347"/>
            </a:xfrm>
            <a:custGeom>
              <a:avLst/>
              <a:gdLst/>
              <a:ahLst/>
              <a:cxnLst>
                <a:cxn ang="0">
                  <a:pos x="wd2" y="hd2"/>
                </a:cxn>
                <a:cxn ang="5400000">
                  <a:pos x="wd2" y="hd2"/>
                </a:cxn>
                <a:cxn ang="10800000">
                  <a:pos x="wd2" y="hd2"/>
                </a:cxn>
                <a:cxn ang="16200000">
                  <a:pos x="wd2" y="hd2"/>
                </a:cxn>
              </a:cxnLst>
              <a:rect l="0" t="0" r="r" b="b"/>
              <a:pathLst>
                <a:path w="21391" h="21439" extrusionOk="0">
                  <a:moveTo>
                    <a:pt x="7604" y="21439"/>
                  </a:moveTo>
                  <a:cubicBezTo>
                    <a:pt x="7269" y="21439"/>
                    <a:pt x="6990" y="21278"/>
                    <a:pt x="6767" y="20957"/>
                  </a:cubicBezTo>
                  <a:cubicBezTo>
                    <a:pt x="293" y="11643"/>
                    <a:pt x="293" y="11643"/>
                    <a:pt x="293" y="11643"/>
                  </a:cubicBezTo>
                  <a:cubicBezTo>
                    <a:pt x="-98" y="11000"/>
                    <a:pt x="-98" y="10037"/>
                    <a:pt x="293" y="9394"/>
                  </a:cubicBezTo>
                  <a:cubicBezTo>
                    <a:pt x="293" y="9394"/>
                    <a:pt x="293" y="9394"/>
                    <a:pt x="293" y="9394"/>
                  </a:cubicBezTo>
                  <a:cubicBezTo>
                    <a:pt x="739" y="8752"/>
                    <a:pt x="1465" y="8752"/>
                    <a:pt x="1911" y="9394"/>
                  </a:cubicBezTo>
                  <a:cubicBezTo>
                    <a:pt x="1911" y="9394"/>
                    <a:pt x="1911" y="9394"/>
                    <a:pt x="1911" y="9394"/>
                  </a:cubicBezTo>
                  <a:cubicBezTo>
                    <a:pt x="7604" y="17585"/>
                    <a:pt x="7604" y="17585"/>
                    <a:pt x="7604" y="17585"/>
                  </a:cubicBezTo>
                  <a:cubicBezTo>
                    <a:pt x="19437" y="481"/>
                    <a:pt x="19437" y="481"/>
                    <a:pt x="19437" y="481"/>
                  </a:cubicBezTo>
                  <a:cubicBezTo>
                    <a:pt x="19883" y="-161"/>
                    <a:pt x="20609" y="-161"/>
                    <a:pt x="21055" y="481"/>
                  </a:cubicBezTo>
                  <a:cubicBezTo>
                    <a:pt x="21055" y="481"/>
                    <a:pt x="21055" y="481"/>
                    <a:pt x="21055" y="481"/>
                  </a:cubicBezTo>
                  <a:cubicBezTo>
                    <a:pt x="21502" y="1124"/>
                    <a:pt x="21502" y="2087"/>
                    <a:pt x="21055" y="2730"/>
                  </a:cubicBezTo>
                  <a:cubicBezTo>
                    <a:pt x="21055" y="2730"/>
                    <a:pt x="21055" y="2730"/>
                    <a:pt x="21055" y="2730"/>
                  </a:cubicBezTo>
                  <a:cubicBezTo>
                    <a:pt x="8386" y="20957"/>
                    <a:pt x="8386" y="20957"/>
                    <a:pt x="8386" y="20957"/>
                  </a:cubicBezTo>
                  <a:cubicBezTo>
                    <a:pt x="8162" y="21278"/>
                    <a:pt x="7883" y="21439"/>
                    <a:pt x="7604" y="21439"/>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grpSp>
      <p:grpSp>
        <p:nvGrpSpPr>
          <p:cNvPr id="184" name="Google Shape;175;p14"/>
          <p:cNvGrpSpPr/>
          <p:nvPr/>
        </p:nvGrpSpPr>
        <p:grpSpPr>
          <a:xfrm>
            <a:off x="1856805" y="2215664"/>
            <a:ext cx="1487549" cy="1487480"/>
            <a:chOff x="0" y="0"/>
            <a:chExt cx="1487547" cy="1487479"/>
          </a:xfrm>
        </p:grpSpPr>
        <p:sp>
          <p:nvSpPr>
            <p:cNvPr id="182" name="Google Shape;176;p14"/>
            <p:cNvSpPr/>
            <p:nvPr/>
          </p:nvSpPr>
          <p:spPr>
            <a:xfrm>
              <a:off x="0" y="-1"/>
              <a:ext cx="1487548" cy="1487481"/>
            </a:xfrm>
            <a:custGeom>
              <a:avLst/>
              <a:gdLst/>
              <a:ahLst/>
              <a:cxnLst>
                <a:cxn ang="0">
                  <a:pos x="wd2" y="hd2"/>
                </a:cxn>
                <a:cxn ang="5400000">
                  <a:pos x="wd2" y="hd2"/>
                </a:cxn>
                <a:cxn ang="10800000">
                  <a:pos x="wd2" y="hd2"/>
                </a:cxn>
                <a:cxn ang="16200000">
                  <a:pos x="wd2" y="hd2"/>
                </a:cxn>
              </a:cxnLst>
              <a:rect l="0" t="0" r="r" b="b"/>
              <a:pathLst>
                <a:path w="21600" h="21600" extrusionOk="0">
                  <a:moveTo>
                    <a:pt x="13499" y="14851"/>
                  </a:moveTo>
                  <a:cubicBezTo>
                    <a:pt x="9772" y="14851"/>
                    <a:pt x="6749" y="11828"/>
                    <a:pt x="6749" y="8100"/>
                  </a:cubicBezTo>
                  <a:cubicBezTo>
                    <a:pt x="6749" y="4372"/>
                    <a:pt x="9772" y="1350"/>
                    <a:pt x="13499" y="1350"/>
                  </a:cubicBezTo>
                  <a:cubicBezTo>
                    <a:pt x="17227" y="1350"/>
                    <a:pt x="20249" y="4372"/>
                    <a:pt x="20249" y="8100"/>
                  </a:cubicBezTo>
                  <a:cubicBezTo>
                    <a:pt x="20249" y="11828"/>
                    <a:pt x="17227" y="14851"/>
                    <a:pt x="13499" y="14851"/>
                  </a:cubicBezTo>
                  <a:moveTo>
                    <a:pt x="3236" y="20043"/>
                  </a:moveTo>
                  <a:cubicBezTo>
                    <a:pt x="3019" y="20267"/>
                    <a:pt x="2718" y="20409"/>
                    <a:pt x="2382" y="20409"/>
                  </a:cubicBezTo>
                  <a:cubicBezTo>
                    <a:pt x="1724" y="20409"/>
                    <a:pt x="1191" y="19876"/>
                    <a:pt x="1191" y="19219"/>
                  </a:cubicBezTo>
                  <a:cubicBezTo>
                    <a:pt x="1191" y="18882"/>
                    <a:pt x="1332" y="18581"/>
                    <a:pt x="1557" y="18364"/>
                  </a:cubicBezTo>
                  <a:lnTo>
                    <a:pt x="1551" y="18359"/>
                  </a:lnTo>
                  <a:lnTo>
                    <a:pt x="6996" y="12914"/>
                  </a:lnTo>
                  <a:cubicBezTo>
                    <a:pt x="7472" y="13556"/>
                    <a:pt x="8039" y="14123"/>
                    <a:pt x="8680" y="14600"/>
                  </a:cubicBezTo>
                  <a:cubicBezTo>
                    <a:pt x="8680" y="14600"/>
                    <a:pt x="3236" y="20043"/>
                    <a:pt x="3236" y="20043"/>
                  </a:cubicBezTo>
                  <a:close/>
                  <a:moveTo>
                    <a:pt x="13499" y="0"/>
                  </a:moveTo>
                  <a:cubicBezTo>
                    <a:pt x="9026" y="0"/>
                    <a:pt x="5399" y="3626"/>
                    <a:pt x="5399" y="8100"/>
                  </a:cubicBezTo>
                  <a:cubicBezTo>
                    <a:pt x="5399" y="9467"/>
                    <a:pt x="5742" y="10754"/>
                    <a:pt x="6341" y="11885"/>
                  </a:cubicBezTo>
                  <a:lnTo>
                    <a:pt x="709" y="17516"/>
                  </a:lnTo>
                  <a:lnTo>
                    <a:pt x="713" y="17521"/>
                  </a:lnTo>
                  <a:cubicBezTo>
                    <a:pt x="274" y="17954"/>
                    <a:pt x="0" y="18553"/>
                    <a:pt x="0" y="19219"/>
                  </a:cubicBezTo>
                  <a:cubicBezTo>
                    <a:pt x="0" y="20534"/>
                    <a:pt x="1066" y="21600"/>
                    <a:pt x="2382" y="21600"/>
                  </a:cubicBezTo>
                  <a:cubicBezTo>
                    <a:pt x="3047" y="21600"/>
                    <a:pt x="3647" y="21327"/>
                    <a:pt x="4079" y="20886"/>
                  </a:cubicBezTo>
                  <a:lnTo>
                    <a:pt x="4078" y="20885"/>
                  </a:lnTo>
                  <a:lnTo>
                    <a:pt x="9708" y="15256"/>
                  </a:lnTo>
                  <a:cubicBezTo>
                    <a:pt x="10839" y="15857"/>
                    <a:pt x="12128" y="16201"/>
                    <a:pt x="13499" y="16201"/>
                  </a:cubicBezTo>
                  <a:cubicBezTo>
                    <a:pt x="17973" y="16201"/>
                    <a:pt x="21600" y="12574"/>
                    <a:pt x="21600" y="8100"/>
                  </a:cubicBezTo>
                  <a:cubicBezTo>
                    <a:pt x="21600" y="3626"/>
                    <a:pt x="17973" y="0"/>
                    <a:pt x="13499" y="0"/>
                  </a:cubicBezTo>
                </a:path>
              </a:pathLst>
            </a:custGeom>
            <a:solidFill>
              <a:srgbClr val="FFFFFF"/>
            </a:solidFill>
            <a:ln w="12700" cap="flat">
              <a:noFill/>
              <a:miter lim="400000"/>
            </a:ln>
            <a:effectLst/>
          </p:spPr>
          <p:txBody>
            <a:bodyPr wrap="square" lIns="0" tIns="0" rIns="0" bIns="0" numCol="1" anchor="ctr">
              <a:noAutofit/>
            </a:bodyPr>
            <a:lstStyle/>
            <a:p>
              <a:pPr algn="ctr">
                <a:defRPr sz="2000">
                  <a:solidFill>
                    <a:srgbClr val="FFFFFF"/>
                  </a:solidFill>
                  <a:latin typeface="Gill Sans"/>
                  <a:ea typeface="Gill Sans"/>
                  <a:cs typeface="Gill Sans"/>
                  <a:sym typeface="Gill Sans"/>
                </a:defRPr>
              </a:pPr>
              <a:endParaRPr/>
            </a:p>
          </p:txBody>
        </p:sp>
        <p:sp>
          <p:nvSpPr>
            <p:cNvPr id="183" name="Google Shape;177;p14"/>
            <p:cNvSpPr/>
            <p:nvPr/>
          </p:nvSpPr>
          <p:spPr>
            <a:xfrm>
              <a:off x="602644" y="231391"/>
              <a:ext cx="350897" cy="348367"/>
            </a:xfrm>
            <a:custGeom>
              <a:avLst/>
              <a:gdLst/>
              <a:ahLst/>
              <a:cxnLst>
                <a:cxn ang="0">
                  <a:pos x="wd2" y="hd2"/>
                </a:cxn>
                <a:cxn ang="5400000">
                  <a:pos x="wd2" y="hd2"/>
                </a:cxn>
                <a:cxn ang="10800000">
                  <a:pos x="wd2" y="hd2"/>
                </a:cxn>
                <a:cxn ang="16200000">
                  <a:pos x="wd2" y="hd2"/>
                </a:cxn>
              </a:cxnLst>
              <a:rect l="0" t="0" r="r" b="b"/>
              <a:pathLst>
                <a:path w="21600" h="21600" extrusionOk="0">
                  <a:moveTo>
                    <a:pt x="20161" y="0"/>
                  </a:moveTo>
                  <a:cubicBezTo>
                    <a:pt x="9025" y="0"/>
                    <a:pt x="0" y="9025"/>
                    <a:pt x="0" y="20160"/>
                  </a:cubicBezTo>
                  <a:cubicBezTo>
                    <a:pt x="0" y="20954"/>
                    <a:pt x="644" y="21600"/>
                    <a:pt x="1440" y="21600"/>
                  </a:cubicBezTo>
                  <a:cubicBezTo>
                    <a:pt x="2235" y="21600"/>
                    <a:pt x="2880" y="20954"/>
                    <a:pt x="2880" y="20160"/>
                  </a:cubicBezTo>
                  <a:cubicBezTo>
                    <a:pt x="2880" y="10618"/>
                    <a:pt x="10617" y="2880"/>
                    <a:pt x="20161" y="2880"/>
                  </a:cubicBezTo>
                  <a:cubicBezTo>
                    <a:pt x="20956" y="2880"/>
                    <a:pt x="21600" y="2234"/>
                    <a:pt x="21600" y="1440"/>
                  </a:cubicBezTo>
                  <a:cubicBezTo>
                    <a:pt x="21600" y="645"/>
                    <a:pt x="20956" y="0"/>
                    <a:pt x="20161" y="0"/>
                  </a:cubicBezTo>
                </a:path>
              </a:pathLst>
            </a:custGeom>
            <a:solidFill>
              <a:srgbClr val="FFFFFF"/>
            </a:solidFill>
            <a:ln w="12700" cap="flat">
              <a:noFill/>
              <a:miter lim="400000"/>
            </a:ln>
            <a:effectLst/>
          </p:spPr>
          <p:txBody>
            <a:bodyPr wrap="square" lIns="0" tIns="0" rIns="0" bIns="0" numCol="1" anchor="ctr">
              <a:noAutofit/>
            </a:bodyPr>
            <a:lstStyle/>
            <a:p>
              <a:pPr algn="ctr">
                <a:defRPr sz="2000">
                  <a:solidFill>
                    <a:srgbClr val="FFFFFF"/>
                  </a:solidFill>
                  <a:latin typeface="Gill Sans"/>
                  <a:ea typeface="Gill Sans"/>
                  <a:cs typeface="Gill Sans"/>
                  <a:sym typeface="Gill Sans"/>
                </a:defRPr>
              </a:pPr>
              <a:endParaRPr/>
            </a:p>
          </p:txBody>
        </p:sp>
      </p:grpSp>
      <p:sp>
        <p:nvSpPr>
          <p:cNvPr id="185" name="Google Shape;178;p14"/>
          <p:cNvSpPr txBox="1"/>
          <p:nvPr/>
        </p:nvSpPr>
        <p:spPr>
          <a:xfrm>
            <a:off x="4787650" y="2604099"/>
            <a:ext cx="5483100" cy="1452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b="1">
                <a:latin typeface="Candara"/>
                <a:ea typeface="Candara"/>
                <a:cs typeface="Candara"/>
                <a:sym typeface="Candara"/>
              </a:defRPr>
            </a:pPr>
            <a:r>
              <a:t>Threshold selection &amp; Performance evaluation</a:t>
            </a:r>
          </a:p>
          <a:p>
            <a:endParaRPr sz="2100">
              <a:latin typeface="Candara"/>
              <a:ea typeface="Candara"/>
              <a:cs typeface="Candara"/>
              <a:sym typeface="Candara"/>
            </a:endParaRPr>
          </a:p>
          <a:p>
            <a:pPr>
              <a:defRPr sz="2100" b="1">
                <a:latin typeface="Candara"/>
                <a:ea typeface="Candara"/>
                <a:cs typeface="Candara"/>
                <a:sym typeface="Candara"/>
              </a:defRPr>
            </a:pPr>
            <a:r>
              <a:t>Threshold modification</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Google Shape;15;p1"/>
          <p:cNvSpPr txBox="1">
            <a:spLocks noGrp="1"/>
          </p:cNvSpPr>
          <p:nvPr>
            <p:ph type="sldNum" sz="quarter" idx="2"/>
          </p:nvPr>
        </p:nvSpPr>
        <p:spPr>
          <a:xfrm>
            <a:off x="10450678" y="6573607"/>
            <a:ext cx="267733"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12</a:t>
            </a:fld>
            <a:endParaRPr/>
          </a:p>
        </p:txBody>
      </p:sp>
      <p:sp>
        <p:nvSpPr>
          <p:cNvPr id="188" name="Google Shape;184;p15"/>
          <p:cNvSpPr txBox="1"/>
          <p:nvPr/>
        </p:nvSpPr>
        <p:spPr>
          <a:xfrm>
            <a:off x="857249" y="485225"/>
            <a:ext cx="10109102" cy="589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800" b="1">
                <a:latin typeface="Candara"/>
                <a:ea typeface="Candara"/>
                <a:cs typeface="Candara"/>
                <a:sym typeface="Candara"/>
              </a:defRPr>
            </a:lvl1pPr>
          </a:lstStyle>
          <a:p>
            <a:r>
              <a:t>Threshold selection &amp; Performance Evaluation</a:t>
            </a:r>
          </a:p>
        </p:txBody>
      </p:sp>
      <p:sp>
        <p:nvSpPr>
          <p:cNvPr id="189" name="Google Shape;186;p15"/>
          <p:cNvSpPr txBox="1"/>
          <p:nvPr/>
        </p:nvSpPr>
        <p:spPr>
          <a:xfrm>
            <a:off x="744749" y="1339599"/>
            <a:ext cx="11092202" cy="23799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000" b="1">
                <a:latin typeface="Candara"/>
                <a:ea typeface="Candara"/>
                <a:cs typeface="Candara"/>
                <a:sym typeface="Candara"/>
              </a:defRPr>
            </a:pPr>
            <a:r>
              <a:t>Threshold selection</a:t>
            </a:r>
            <a:r>
              <a:rPr b="0"/>
              <a:t>: </a:t>
            </a:r>
          </a:p>
          <a:p>
            <a:pPr>
              <a:defRPr sz="2100">
                <a:latin typeface="Candara"/>
                <a:ea typeface="Candara"/>
                <a:cs typeface="Candara"/>
                <a:sym typeface="Candara"/>
              </a:defRPr>
            </a:pPr>
            <a:r>
              <a:t>To find out the Threshold of XGB model with best performance, we used datasets for Jan to April as training dataset, and datasets from March as validation dataset, and tried to do several experiments to find out the best threshold for prediction.</a:t>
            </a:r>
          </a:p>
          <a:p>
            <a:endParaRPr sz="2100">
              <a:latin typeface="Candara"/>
              <a:ea typeface="Candara"/>
              <a:cs typeface="Candara"/>
              <a:sym typeface="Candara"/>
            </a:endParaRPr>
          </a:p>
          <a:p>
            <a:pPr>
              <a:defRPr sz="2100" b="1">
                <a:latin typeface="Candara"/>
                <a:ea typeface="Candara"/>
                <a:cs typeface="Candara"/>
                <a:sym typeface="Candara"/>
              </a:defRPr>
            </a:pPr>
            <a:r>
              <a:t>Performance</a:t>
            </a:r>
            <a:r>
              <a:rPr b="0"/>
              <a:t> </a:t>
            </a:r>
            <a:r>
              <a:t>Evaluation</a:t>
            </a:r>
            <a:r>
              <a:rPr b="0"/>
              <a:t>:</a:t>
            </a:r>
          </a:p>
          <a:p>
            <a:pPr>
              <a:defRPr sz="2100">
                <a:latin typeface="Candara"/>
                <a:ea typeface="Candara"/>
                <a:cs typeface="Candara"/>
                <a:sym typeface="Candara"/>
              </a:defRPr>
            </a:pPr>
            <a:r>
              <a:t>The F1 Score was used to evaluate the performance. We have </a:t>
            </a:r>
          </a:p>
        </p:txBody>
      </p:sp>
      <p:pic>
        <p:nvPicPr>
          <p:cNvPr id="190" name="Google Shape;187;p15" descr="Google Shape;187;p15"/>
          <p:cNvPicPr>
            <a:picLocks noChangeAspect="1"/>
          </p:cNvPicPr>
          <p:nvPr/>
        </p:nvPicPr>
        <p:blipFill>
          <a:blip r:embed="rId2"/>
          <a:stretch>
            <a:fillRect/>
          </a:stretch>
        </p:blipFill>
        <p:spPr>
          <a:xfrm>
            <a:off x="8373542" y="3000521"/>
            <a:ext cx="3322901" cy="856958"/>
          </a:xfrm>
          <a:prstGeom prst="rect">
            <a:avLst/>
          </a:prstGeom>
          <a:ln w="12700">
            <a:miter lim="400000"/>
          </a:ln>
        </p:spPr>
      </p:pic>
      <p:graphicFrame>
        <p:nvGraphicFramePr>
          <p:cNvPr id="191" name="Google Shape;188;p15"/>
          <p:cNvGraphicFramePr/>
          <p:nvPr/>
        </p:nvGraphicFramePr>
        <p:xfrm>
          <a:off x="857250" y="4155499"/>
          <a:ext cx="5143500" cy="1788751"/>
        </p:xfrm>
        <a:graphic>
          <a:graphicData uri="http://schemas.openxmlformats.org/drawingml/2006/table">
            <a:tbl>
              <a:tblPr>
                <a:tableStyleId>{4C3C2611-4C71-4FC5-86AE-919BDF0F9419}</a:tableStyleId>
              </a:tblPr>
              <a:tblGrid>
                <a:gridCol w="2571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tblGrid>
              <a:tr h="264750">
                <a:tc>
                  <a:txBody>
                    <a:bodyPr/>
                    <a:lstStyle/>
                    <a:p>
                      <a:pPr>
                        <a:defRPr sz="1800"/>
                      </a:pPr>
                      <a:r>
                        <a:rPr sz="1400" b="1"/>
                        <a:t>Threshold </a:t>
                      </a:r>
                    </a:p>
                  </a:txBody>
                  <a:tcPr marL="91425" marR="91425" marT="91425" marB="91425" horzOverflow="overflow"/>
                </a:tc>
                <a:tc>
                  <a:txBody>
                    <a:bodyPr/>
                    <a:lstStyle/>
                    <a:p>
                      <a:pPr>
                        <a:defRPr sz="1800"/>
                      </a:pPr>
                      <a:r>
                        <a:rPr sz="1400" b="1"/>
                        <a:t>F1</a:t>
                      </a:r>
                    </a:p>
                  </a:txBody>
                  <a:tcPr marL="91425" marR="91425" marT="91425" marB="91425" horzOverflow="overflow"/>
                </a:tc>
                <a:extLst>
                  <a:ext uri="{0D108BD9-81ED-4DB2-BD59-A6C34878D82A}">
                    <a16:rowId xmlns:a16="http://schemas.microsoft.com/office/drawing/2014/main" val="10000"/>
                  </a:ext>
                </a:extLst>
              </a:tr>
              <a:tr h="381000">
                <a:tc>
                  <a:txBody>
                    <a:bodyPr/>
                    <a:lstStyle/>
                    <a:p>
                      <a:pPr>
                        <a:defRPr sz="1800"/>
                      </a:pPr>
                      <a:r>
                        <a:rPr sz="1400" b="1"/>
                        <a:t>0.80</a:t>
                      </a:r>
                    </a:p>
                  </a:txBody>
                  <a:tcPr marL="91425" marR="91425" marT="91425" marB="91425" horzOverflow="overflow"/>
                </a:tc>
                <a:tc>
                  <a:txBody>
                    <a:bodyPr/>
                    <a:lstStyle/>
                    <a:p>
                      <a:pPr>
                        <a:defRPr sz="1800"/>
                      </a:pPr>
                      <a:r>
                        <a:rPr sz="1400"/>
                        <a:t>0.1420</a:t>
                      </a:r>
                    </a:p>
                  </a:txBody>
                  <a:tcPr marL="91425" marR="91425" marT="91425" marB="91425" horzOverflow="overflow"/>
                </a:tc>
                <a:extLst>
                  <a:ext uri="{0D108BD9-81ED-4DB2-BD59-A6C34878D82A}">
                    <a16:rowId xmlns:a16="http://schemas.microsoft.com/office/drawing/2014/main" val="10001"/>
                  </a:ext>
                </a:extLst>
              </a:tr>
              <a:tr h="381000">
                <a:tc>
                  <a:txBody>
                    <a:bodyPr/>
                    <a:lstStyle/>
                    <a:p>
                      <a:pPr>
                        <a:defRPr sz="1800"/>
                      </a:pPr>
                      <a:r>
                        <a:rPr sz="1400" b="1"/>
                        <a:t>0.85</a:t>
                      </a:r>
                    </a:p>
                  </a:txBody>
                  <a:tcPr marL="91425" marR="91425" marT="91425" marB="91425" horzOverflow="overflow"/>
                </a:tc>
                <a:tc>
                  <a:txBody>
                    <a:bodyPr/>
                    <a:lstStyle/>
                    <a:p>
                      <a:pPr>
                        <a:defRPr sz="1800"/>
                      </a:pPr>
                      <a:r>
                        <a:rPr sz="1400"/>
                        <a:t>0.1631</a:t>
                      </a:r>
                    </a:p>
                  </a:txBody>
                  <a:tcPr marL="91425" marR="91425" marT="91425" marB="91425" horzOverflow="overflow"/>
                </a:tc>
                <a:extLst>
                  <a:ext uri="{0D108BD9-81ED-4DB2-BD59-A6C34878D82A}">
                    <a16:rowId xmlns:a16="http://schemas.microsoft.com/office/drawing/2014/main" val="10002"/>
                  </a:ext>
                </a:extLst>
              </a:tr>
              <a:tr h="381000">
                <a:tc>
                  <a:txBody>
                    <a:bodyPr/>
                    <a:lstStyle/>
                    <a:p>
                      <a:pPr>
                        <a:defRPr sz="1800"/>
                      </a:pPr>
                      <a:r>
                        <a:rPr sz="1400" b="1"/>
                        <a:t>0.91</a:t>
                      </a:r>
                    </a:p>
                  </a:txBody>
                  <a:tcPr marL="91425" marR="91425" marT="91425" marB="91425" horzOverflow="overflow"/>
                </a:tc>
                <a:tc>
                  <a:txBody>
                    <a:bodyPr/>
                    <a:lstStyle/>
                    <a:p>
                      <a:pPr>
                        <a:defRPr sz="1800"/>
                      </a:pPr>
                      <a:r>
                        <a:rPr sz="1400"/>
                        <a:t>0.1908</a:t>
                      </a:r>
                    </a:p>
                  </a:txBody>
                  <a:tcPr marL="91425" marR="91425" marT="91425" marB="91425" horzOverflow="overflow"/>
                </a:tc>
                <a:extLst>
                  <a:ext uri="{0D108BD9-81ED-4DB2-BD59-A6C34878D82A}">
                    <a16:rowId xmlns:a16="http://schemas.microsoft.com/office/drawing/2014/main" val="10003"/>
                  </a:ext>
                </a:extLst>
              </a:tr>
              <a:tr h="381000">
                <a:tc>
                  <a:txBody>
                    <a:bodyPr/>
                    <a:lstStyle/>
                    <a:p>
                      <a:pPr>
                        <a:defRPr sz="1800"/>
                      </a:pPr>
                      <a:r>
                        <a:rPr sz="1400" b="1"/>
                        <a:t>0.95</a:t>
                      </a:r>
                    </a:p>
                  </a:txBody>
                  <a:tcPr marL="91425" marR="91425" marT="91425" marB="91425" horzOverflow="overflow"/>
                </a:tc>
                <a:tc>
                  <a:txBody>
                    <a:bodyPr/>
                    <a:lstStyle/>
                    <a:p>
                      <a:pPr>
                        <a:defRPr sz="1800"/>
                      </a:pPr>
                      <a:r>
                        <a:rPr sz="1400"/>
                        <a:t>0.1701</a:t>
                      </a:r>
                    </a:p>
                  </a:txBody>
                  <a:tcPr marL="91425" marR="91425" marT="91425" marB="91425" horzOverflow="overflow"/>
                </a:tc>
                <a:extLst>
                  <a:ext uri="{0D108BD9-81ED-4DB2-BD59-A6C34878D82A}">
                    <a16:rowId xmlns:a16="http://schemas.microsoft.com/office/drawing/2014/main" val="10004"/>
                  </a:ext>
                </a:extLst>
              </a:tr>
            </a:tbl>
          </a:graphicData>
        </a:graphic>
      </p:graphicFrame>
      <p:pic>
        <p:nvPicPr>
          <p:cNvPr id="192" name="ChartGoogle Shape;189;p15" descr="ChartGoogle Shape;189;p15"/>
          <p:cNvPicPr>
            <a:picLocks noChangeAspect="1"/>
          </p:cNvPicPr>
          <p:nvPr/>
        </p:nvPicPr>
        <p:blipFill>
          <a:blip r:embed="rId3"/>
          <a:stretch>
            <a:fillRect/>
          </a:stretch>
        </p:blipFill>
        <p:spPr>
          <a:xfrm>
            <a:off x="6994049" y="3824625"/>
            <a:ext cx="4274002" cy="2642751"/>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Google Shape;15;p1"/>
          <p:cNvSpPr txBox="1">
            <a:spLocks noGrp="1"/>
          </p:cNvSpPr>
          <p:nvPr>
            <p:ph type="sldNum" sz="quarter" idx="2"/>
          </p:nvPr>
        </p:nvSpPr>
        <p:spPr>
          <a:xfrm>
            <a:off x="10450678" y="6573607"/>
            <a:ext cx="267733"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13</a:t>
            </a:fld>
            <a:endParaRPr/>
          </a:p>
        </p:txBody>
      </p:sp>
      <p:sp>
        <p:nvSpPr>
          <p:cNvPr id="195" name="Google Shape;195;p16"/>
          <p:cNvSpPr txBox="1"/>
          <p:nvPr/>
        </p:nvSpPr>
        <p:spPr>
          <a:xfrm>
            <a:off x="628649" y="485225"/>
            <a:ext cx="10109102" cy="589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800" b="1">
                <a:latin typeface="Candara"/>
                <a:ea typeface="Candara"/>
                <a:cs typeface="Candara"/>
                <a:sym typeface="Candara"/>
              </a:defRPr>
            </a:lvl1pPr>
          </a:lstStyle>
          <a:p>
            <a:r>
              <a:t>Threshold Modification </a:t>
            </a:r>
          </a:p>
        </p:txBody>
      </p:sp>
      <p:sp>
        <p:nvSpPr>
          <p:cNvPr id="196" name="Google Shape;196;p16"/>
          <p:cNvSpPr txBox="1"/>
          <p:nvPr/>
        </p:nvSpPr>
        <p:spPr>
          <a:xfrm>
            <a:off x="610799" y="1381774"/>
            <a:ext cx="7451102" cy="3675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a:latin typeface="Candara"/>
                <a:ea typeface="Candara"/>
                <a:cs typeface="Candara"/>
                <a:sym typeface="Candara"/>
              </a:defRPr>
            </a:pPr>
            <a:r>
              <a:t>Since the threshold we choice were relatively high, and we noticed that the probability of UE always changes gradually over time without human intervention. Specifically, </a:t>
            </a:r>
            <a:r>
              <a:rPr b="1"/>
              <a:t>if a DIMM is in a poor state</a:t>
            </a:r>
            <a:r>
              <a:t>, the </a:t>
            </a:r>
            <a:r>
              <a:rPr b="1"/>
              <a:t>probability of a UE occurring increase over time</a:t>
            </a:r>
            <a:r>
              <a:t>. As a result, In addition to the initial threshold of 0.91, if a DIMM has been predicted to have a probability of </a:t>
            </a:r>
            <a:r>
              <a:rPr b="1"/>
              <a:t>experiencing an Uncorrectable Error (UE) higher than 0.83 in 5 out of the 10 feature statistics within the previous 150 minutes of the log</a:t>
            </a:r>
            <a:r>
              <a:t>, we will also flag this DIMM as being on the verge of experiencing a UE.</a:t>
            </a:r>
          </a:p>
        </p:txBody>
      </p:sp>
      <p:graphicFrame>
        <p:nvGraphicFramePr>
          <p:cNvPr id="197" name="Google Shape;197;p16"/>
          <p:cNvGraphicFramePr/>
          <p:nvPr/>
        </p:nvGraphicFramePr>
        <p:xfrm>
          <a:off x="857250" y="5118050"/>
          <a:ext cx="5143500" cy="1259651"/>
        </p:xfrm>
        <a:graphic>
          <a:graphicData uri="http://schemas.openxmlformats.org/drawingml/2006/table">
            <a:tbl>
              <a:tblPr>
                <a:tableStyleId>{4C3C2611-4C71-4FC5-86AE-919BDF0F9419}</a:tableStyleId>
              </a:tblPr>
              <a:tblGrid>
                <a:gridCol w="2571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tblGrid>
              <a:tr h="497650">
                <a:tc>
                  <a:txBody>
                    <a:bodyPr/>
                    <a:lstStyle/>
                    <a:p>
                      <a:pPr>
                        <a:defRPr sz="1800"/>
                      </a:pPr>
                      <a:r>
                        <a:rPr sz="1400" b="1"/>
                        <a:t>Threshold</a:t>
                      </a:r>
                    </a:p>
                  </a:txBody>
                  <a:tcPr marL="91425" marR="91425" marT="91425" marB="91425" horzOverflow="overflow"/>
                </a:tc>
                <a:tc>
                  <a:txBody>
                    <a:bodyPr/>
                    <a:lstStyle/>
                    <a:p>
                      <a:pPr>
                        <a:defRPr sz="1800"/>
                      </a:pPr>
                      <a:r>
                        <a:rPr sz="1400" b="1"/>
                        <a:t>F1</a:t>
                      </a:r>
                    </a:p>
                  </a:txBody>
                  <a:tcPr marL="91425" marR="91425" marT="91425" marB="91425" horzOverflow="overflow"/>
                </a:tc>
                <a:extLst>
                  <a:ext uri="{0D108BD9-81ED-4DB2-BD59-A6C34878D82A}">
                    <a16:rowId xmlns:a16="http://schemas.microsoft.com/office/drawing/2014/main" val="10000"/>
                  </a:ext>
                </a:extLst>
              </a:tr>
              <a:tr h="381000">
                <a:tc>
                  <a:txBody>
                    <a:bodyPr/>
                    <a:lstStyle/>
                    <a:p>
                      <a:pPr>
                        <a:defRPr sz="1800"/>
                      </a:pPr>
                      <a:r>
                        <a:rPr sz="1400" b="1"/>
                        <a:t>0.91</a:t>
                      </a:r>
                    </a:p>
                  </a:txBody>
                  <a:tcPr marL="91425" marR="91425" marT="91425" marB="91425" horzOverflow="overflow"/>
                </a:tc>
                <a:tc>
                  <a:txBody>
                    <a:bodyPr/>
                    <a:lstStyle/>
                    <a:p>
                      <a:pPr>
                        <a:defRPr sz="1800"/>
                      </a:pPr>
                      <a:r>
                        <a:rPr sz="1400"/>
                        <a:t>0.1908</a:t>
                      </a:r>
                    </a:p>
                  </a:txBody>
                  <a:tcPr marL="91425" marR="91425" marT="91425" marB="91425" horzOverflow="overflow"/>
                </a:tc>
                <a:extLst>
                  <a:ext uri="{0D108BD9-81ED-4DB2-BD59-A6C34878D82A}">
                    <a16:rowId xmlns:a16="http://schemas.microsoft.com/office/drawing/2014/main" val="10001"/>
                  </a:ext>
                </a:extLst>
              </a:tr>
              <a:tr h="381000">
                <a:tc>
                  <a:txBody>
                    <a:bodyPr/>
                    <a:lstStyle/>
                    <a:p>
                      <a:pPr>
                        <a:defRPr sz="1800"/>
                      </a:pPr>
                      <a:r>
                        <a:rPr sz="1400" b="1"/>
                        <a:t>0.91 + 0.83 (5 out of 10)</a:t>
                      </a:r>
                    </a:p>
                  </a:txBody>
                  <a:tcPr marL="91425" marR="91425" marT="91425" marB="91425" horzOverflow="overflow"/>
                </a:tc>
                <a:tc>
                  <a:txBody>
                    <a:bodyPr/>
                    <a:lstStyle/>
                    <a:p>
                      <a:pPr>
                        <a:defRPr sz="1800"/>
                      </a:pPr>
                      <a:r>
                        <a:rPr sz="1400"/>
                        <a:t>0.213</a:t>
                      </a:r>
                    </a:p>
                  </a:txBody>
                  <a:tcPr marL="91425" marR="91425" marT="91425" marB="91425" horzOverflow="overflow"/>
                </a:tc>
                <a:extLst>
                  <a:ext uri="{0D108BD9-81ED-4DB2-BD59-A6C34878D82A}">
                    <a16:rowId xmlns:a16="http://schemas.microsoft.com/office/drawing/2014/main" val="10002"/>
                  </a:ext>
                </a:extLst>
              </a:tr>
            </a:tbl>
          </a:graphicData>
        </a:graphic>
      </p:graphicFrame>
      <p:pic>
        <p:nvPicPr>
          <p:cNvPr id="198" name="ChartGoogle Shape;198;p16" descr="ChartGoogle Shape;198;p16"/>
          <p:cNvPicPr>
            <a:picLocks noChangeAspect="1"/>
          </p:cNvPicPr>
          <p:nvPr/>
        </p:nvPicPr>
        <p:blipFill>
          <a:blip r:embed="rId2"/>
          <a:stretch>
            <a:fillRect/>
          </a:stretch>
        </p:blipFill>
        <p:spPr>
          <a:xfrm>
            <a:off x="8444323" y="3465524"/>
            <a:ext cx="3289253" cy="3020852"/>
          </a:xfrm>
          <a:prstGeom prst="rect">
            <a:avLst/>
          </a:prstGeom>
          <a:ln w="12700">
            <a:miter lim="400000"/>
          </a:ln>
        </p:spPr>
      </p:pic>
      <p:grpSp>
        <p:nvGrpSpPr>
          <p:cNvPr id="201" name="Google Shape;199;p16"/>
          <p:cNvGrpSpPr/>
          <p:nvPr/>
        </p:nvGrpSpPr>
        <p:grpSpPr>
          <a:xfrm>
            <a:off x="8626874" y="317975"/>
            <a:ext cx="2263801" cy="589251"/>
            <a:chOff x="0" y="0"/>
            <a:chExt cx="2263799" cy="589249"/>
          </a:xfrm>
        </p:grpSpPr>
        <p:sp>
          <p:nvSpPr>
            <p:cNvPr id="199" name="圆角矩形"/>
            <p:cNvSpPr/>
            <p:nvPr/>
          </p:nvSpPr>
          <p:spPr>
            <a:xfrm>
              <a:off x="0" y="108174"/>
              <a:ext cx="2263800" cy="372902"/>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b="1">
                  <a:latin typeface="Candara"/>
                  <a:ea typeface="Candara"/>
                  <a:cs typeface="Candara"/>
                  <a:sym typeface="Candara"/>
                </a:defRPr>
              </a:pPr>
              <a:endParaRPr/>
            </a:p>
          </p:txBody>
        </p:sp>
        <p:sp>
          <p:nvSpPr>
            <p:cNvPr id="200" name="TimeStamp   XGB_output"/>
            <p:cNvSpPr txBox="1"/>
            <p:nvPr/>
          </p:nvSpPr>
          <p:spPr>
            <a:xfrm>
              <a:off x="22965" y="0"/>
              <a:ext cx="2217870" cy="5892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p>
              <a:pPr algn="ctr">
                <a:defRPr b="1">
                  <a:latin typeface="Candara"/>
                  <a:ea typeface="Candara"/>
                  <a:cs typeface="Candara"/>
                  <a:sym typeface="Candara"/>
                </a:defRPr>
              </a:pPr>
              <a:r>
                <a:t>TimeStamp</a:t>
              </a:r>
              <a:r>
                <a:rPr b="0"/>
                <a:t>   </a:t>
              </a:r>
              <a:r>
                <a:t>XGB_output</a:t>
              </a:r>
            </a:p>
          </p:txBody>
        </p:sp>
      </p:grpSp>
      <p:grpSp>
        <p:nvGrpSpPr>
          <p:cNvPr id="204" name="Google Shape;200;p16"/>
          <p:cNvGrpSpPr/>
          <p:nvPr/>
        </p:nvGrpSpPr>
        <p:grpSpPr>
          <a:xfrm>
            <a:off x="8626874" y="919649"/>
            <a:ext cx="1011901" cy="2214852"/>
            <a:chOff x="0" y="0"/>
            <a:chExt cx="1011899" cy="2214850"/>
          </a:xfrm>
        </p:grpSpPr>
        <p:sp>
          <p:nvSpPr>
            <p:cNvPr id="202" name="圆角矩形"/>
            <p:cNvSpPr/>
            <p:nvPr/>
          </p:nvSpPr>
          <p:spPr>
            <a:xfrm>
              <a:off x="0" y="18424"/>
              <a:ext cx="1011900" cy="21780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a:latin typeface="Candara"/>
                  <a:ea typeface="Candara"/>
                  <a:cs typeface="Candara"/>
                  <a:sym typeface="Candara"/>
                </a:defRPr>
              </a:pPr>
              <a:endParaRPr/>
            </a:p>
          </p:txBody>
        </p:sp>
        <p:sp>
          <p:nvSpPr>
            <p:cNvPr id="203" name="15:15…"/>
            <p:cNvSpPr txBox="1"/>
            <p:nvPr/>
          </p:nvSpPr>
          <p:spPr>
            <a:xfrm>
              <a:off x="54159" y="0"/>
              <a:ext cx="903581" cy="22148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p>
              <a:pPr algn="ctr">
                <a:defRPr>
                  <a:latin typeface="Candara"/>
                  <a:ea typeface="Candara"/>
                  <a:cs typeface="Candara"/>
                  <a:sym typeface="Candara"/>
                </a:defRPr>
              </a:pPr>
              <a:r>
                <a:t>15:15</a:t>
              </a:r>
            </a:p>
            <a:p>
              <a:pPr algn="ctr">
                <a:defRPr>
                  <a:latin typeface="Candara"/>
                  <a:ea typeface="Candara"/>
                  <a:cs typeface="Candara"/>
                  <a:sym typeface="Candara"/>
                </a:defRPr>
              </a:pPr>
              <a:r>
                <a:t>15:30</a:t>
              </a:r>
            </a:p>
            <a:p>
              <a:pPr algn="ctr">
                <a:defRPr>
                  <a:latin typeface="Candara"/>
                  <a:ea typeface="Candara"/>
                  <a:cs typeface="Candara"/>
                  <a:sym typeface="Candara"/>
                </a:defRPr>
              </a:pPr>
              <a:r>
                <a:t>15:45</a:t>
              </a:r>
            </a:p>
            <a:p>
              <a:pPr algn="ctr">
                <a:defRPr>
                  <a:latin typeface="Candara"/>
                  <a:ea typeface="Candara"/>
                  <a:cs typeface="Candara"/>
                  <a:sym typeface="Candara"/>
                </a:defRPr>
              </a:pPr>
              <a:r>
                <a:t>16:00</a:t>
              </a:r>
            </a:p>
            <a:p>
              <a:pPr algn="ctr">
                <a:defRPr>
                  <a:latin typeface="Candara"/>
                  <a:ea typeface="Candara"/>
                  <a:cs typeface="Candara"/>
                  <a:sym typeface="Candara"/>
                </a:defRPr>
              </a:pPr>
              <a:r>
                <a:t>16:15</a:t>
              </a:r>
            </a:p>
            <a:p>
              <a:pPr algn="ctr">
                <a:defRPr>
                  <a:latin typeface="Candara"/>
                  <a:ea typeface="Candara"/>
                  <a:cs typeface="Candara"/>
                  <a:sym typeface="Candara"/>
                </a:defRPr>
              </a:pPr>
              <a:r>
                <a:t>16:30</a:t>
              </a:r>
            </a:p>
            <a:p>
              <a:pPr algn="ctr">
                <a:defRPr>
                  <a:latin typeface="Candara"/>
                  <a:ea typeface="Candara"/>
                  <a:cs typeface="Candara"/>
                  <a:sym typeface="Candara"/>
                </a:defRPr>
              </a:pPr>
              <a:r>
                <a:t>16:45</a:t>
              </a:r>
            </a:p>
            <a:p>
              <a:pPr algn="ctr">
                <a:defRPr>
                  <a:latin typeface="Candara"/>
                  <a:ea typeface="Candara"/>
                  <a:cs typeface="Candara"/>
                  <a:sym typeface="Candara"/>
                </a:defRPr>
              </a:pPr>
              <a:r>
                <a:t>17:00</a:t>
              </a:r>
            </a:p>
            <a:p>
              <a:pPr algn="ctr">
                <a:defRPr>
                  <a:latin typeface="Candara"/>
                  <a:ea typeface="Candara"/>
                  <a:cs typeface="Candara"/>
                  <a:sym typeface="Candara"/>
                </a:defRPr>
              </a:pPr>
              <a:r>
                <a:t>17:15</a:t>
              </a:r>
            </a:p>
            <a:p>
              <a:pPr algn="ctr">
                <a:defRPr>
                  <a:latin typeface="Candara"/>
                  <a:ea typeface="Candara"/>
                  <a:cs typeface="Candara"/>
                  <a:sym typeface="Candara"/>
                </a:defRPr>
              </a:pPr>
              <a:r>
                <a:t>17:30</a:t>
              </a:r>
            </a:p>
          </p:txBody>
        </p:sp>
      </p:grpSp>
      <p:grpSp>
        <p:nvGrpSpPr>
          <p:cNvPr id="207" name="Google Shape;201;p16"/>
          <p:cNvGrpSpPr/>
          <p:nvPr/>
        </p:nvGrpSpPr>
        <p:grpSpPr>
          <a:xfrm>
            <a:off x="9770388" y="919649"/>
            <a:ext cx="938701" cy="2214851"/>
            <a:chOff x="0" y="0"/>
            <a:chExt cx="938699" cy="2214850"/>
          </a:xfrm>
        </p:grpSpPr>
        <p:sp>
          <p:nvSpPr>
            <p:cNvPr id="205" name="圆角矩形"/>
            <p:cNvSpPr/>
            <p:nvPr/>
          </p:nvSpPr>
          <p:spPr>
            <a:xfrm>
              <a:off x="0" y="18425"/>
              <a:ext cx="938700" cy="21780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b="1">
                  <a:latin typeface="Candara"/>
                  <a:ea typeface="Candara"/>
                  <a:cs typeface="Candara"/>
                  <a:sym typeface="Candara"/>
                </a:defRPr>
              </a:pPr>
              <a:endParaRPr/>
            </a:p>
          </p:txBody>
        </p:sp>
        <p:sp>
          <p:nvSpPr>
            <p:cNvPr id="206" name="0.45…"/>
            <p:cNvSpPr txBox="1"/>
            <p:nvPr/>
          </p:nvSpPr>
          <p:spPr>
            <a:xfrm>
              <a:off x="50586" y="0"/>
              <a:ext cx="837528" cy="22148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p>
              <a:pPr algn="ctr">
                <a:defRPr>
                  <a:latin typeface="Candara"/>
                  <a:ea typeface="Candara"/>
                  <a:cs typeface="Candara"/>
                  <a:sym typeface="Candara"/>
                </a:defRPr>
              </a:pPr>
              <a:r>
                <a:t>0.45</a:t>
              </a:r>
            </a:p>
            <a:p>
              <a:pPr algn="ctr">
                <a:defRPr>
                  <a:latin typeface="Candara"/>
                  <a:ea typeface="Candara"/>
                  <a:cs typeface="Candara"/>
                  <a:sym typeface="Candara"/>
                </a:defRPr>
              </a:pPr>
              <a:r>
                <a:t>0.56</a:t>
              </a:r>
            </a:p>
            <a:p>
              <a:pPr algn="ctr">
                <a:defRPr>
                  <a:latin typeface="Candara"/>
                  <a:ea typeface="Candara"/>
                  <a:cs typeface="Candara"/>
                  <a:sym typeface="Candara"/>
                </a:defRPr>
              </a:pPr>
              <a:r>
                <a:t>0.68</a:t>
              </a:r>
            </a:p>
            <a:p>
              <a:pPr algn="ctr">
                <a:defRPr>
                  <a:latin typeface="Candara"/>
                  <a:ea typeface="Candara"/>
                  <a:cs typeface="Candara"/>
                  <a:sym typeface="Candara"/>
                </a:defRPr>
              </a:pPr>
              <a:r>
                <a:t>0.75</a:t>
              </a:r>
            </a:p>
            <a:p>
              <a:pPr algn="ctr">
                <a:defRPr>
                  <a:latin typeface="Candara"/>
                  <a:ea typeface="Candara"/>
                  <a:cs typeface="Candara"/>
                  <a:sym typeface="Candara"/>
                </a:defRPr>
              </a:pPr>
              <a:r>
                <a:t>0.80</a:t>
              </a:r>
            </a:p>
            <a:p>
              <a:pPr algn="ctr">
                <a:defRPr b="1">
                  <a:latin typeface="Candara"/>
                  <a:ea typeface="Candara"/>
                  <a:cs typeface="Candara"/>
                  <a:sym typeface="Candara"/>
                </a:defRPr>
              </a:pPr>
              <a:r>
                <a:t>0.83</a:t>
              </a:r>
            </a:p>
            <a:p>
              <a:pPr algn="ctr">
                <a:defRPr b="1">
                  <a:latin typeface="Candara"/>
                  <a:ea typeface="Candara"/>
                  <a:cs typeface="Candara"/>
                  <a:sym typeface="Candara"/>
                </a:defRPr>
              </a:pPr>
              <a:r>
                <a:t>0.84</a:t>
              </a:r>
            </a:p>
            <a:p>
              <a:pPr algn="ctr">
                <a:defRPr b="1">
                  <a:latin typeface="Candara"/>
                  <a:ea typeface="Candara"/>
                  <a:cs typeface="Candara"/>
                  <a:sym typeface="Candara"/>
                </a:defRPr>
              </a:pPr>
              <a:r>
                <a:t>0.88</a:t>
              </a:r>
            </a:p>
            <a:p>
              <a:pPr algn="ctr">
                <a:defRPr b="1">
                  <a:latin typeface="Candara"/>
                  <a:ea typeface="Candara"/>
                  <a:cs typeface="Candara"/>
                  <a:sym typeface="Candara"/>
                </a:defRPr>
              </a:pPr>
              <a:r>
                <a:t>0.88</a:t>
              </a:r>
            </a:p>
            <a:p>
              <a:pPr algn="ctr">
                <a:defRPr b="1">
                  <a:latin typeface="Candara"/>
                  <a:ea typeface="Candara"/>
                  <a:cs typeface="Candara"/>
                  <a:sym typeface="Candara"/>
                </a:defRPr>
              </a:pPr>
              <a:r>
                <a:t>0.89</a:t>
              </a:r>
            </a:p>
          </p:txBody>
        </p:sp>
      </p:grpSp>
      <p:sp>
        <p:nvSpPr>
          <p:cNvPr id="208" name="Google Shape;202;p16"/>
          <p:cNvSpPr/>
          <p:nvPr/>
        </p:nvSpPr>
        <p:spPr>
          <a:xfrm>
            <a:off x="10786571" y="1691200"/>
            <a:ext cx="290701" cy="239701"/>
          </a:xfrm>
          <a:prstGeom prst="rightArrow">
            <a:avLst>
              <a:gd name="adj1" fmla="val 50000"/>
              <a:gd name="adj2" fmla="val 50000"/>
            </a:avLst>
          </a:prstGeom>
          <a:solidFill>
            <a:srgbClr val="E7E6E6"/>
          </a:solidFill>
          <a:ln>
            <a:solidFill>
              <a:srgbClr val="44546A"/>
            </a:solidFill>
          </a:ln>
        </p:spPr>
        <p:txBody>
          <a:bodyPr lIns="0" tIns="0" rIns="0" bIns="0" anchor="ctr"/>
          <a:lstStyle/>
          <a:p>
            <a:pPr algn="ctr">
              <a:defRPr>
                <a:latin typeface="Candara"/>
                <a:ea typeface="Candara"/>
                <a:cs typeface="Candara"/>
                <a:sym typeface="Candara"/>
              </a:defRPr>
            </a:pPr>
            <a:endParaRPr/>
          </a:p>
        </p:txBody>
      </p:sp>
      <p:grpSp>
        <p:nvGrpSpPr>
          <p:cNvPr id="211" name="Google Shape;203;p16"/>
          <p:cNvGrpSpPr/>
          <p:nvPr/>
        </p:nvGrpSpPr>
        <p:grpSpPr>
          <a:xfrm>
            <a:off x="11154750" y="1338250"/>
            <a:ext cx="867901" cy="958801"/>
            <a:chOff x="0" y="0"/>
            <a:chExt cx="867900" cy="958800"/>
          </a:xfrm>
        </p:grpSpPr>
        <p:sp>
          <p:nvSpPr>
            <p:cNvPr id="209" name="圆角矩形"/>
            <p:cNvSpPr/>
            <p:nvPr/>
          </p:nvSpPr>
          <p:spPr>
            <a:xfrm>
              <a:off x="0" y="0"/>
              <a:ext cx="867901" cy="958801"/>
            </a:xfrm>
            <a:prstGeom prst="roundRect">
              <a:avLst>
                <a:gd name="adj" fmla="val 16667"/>
              </a:avLst>
            </a:prstGeom>
            <a:solidFill>
              <a:srgbClr val="E7E6E6"/>
            </a:solidFill>
            <a:ln w="9525" cap="flat">
              <a:solidFill>
                <a:srgbClr val="44546A"/>
              </a:solidFill>
              <a:prstDash val="solid"/>
              <a:round/>
            </a:ln>
            <a:effectLst/>
          </p:spPr>
          <p:txBody>
            <a:bodyPr wrap="square" lIns="0" tIns="0" rIns="0" bIns="0" numCol="1" anchor="ctr">
              <a:noAutofit/>
            </a:bodyPr>
            <a:lstStyle/>
            <a:p>
              <a:pPr algn="ctr">
                <a:defRPr>
                  <a:latin typeface="Candara"/>
                  <a:ea typeface="Candara"/>
                  <a:cs typeface="Candara"/>
                  <a:sym typeface="Candara"/>
                </a:defRPr>
              </a:pPr>
              <a:endParaRPr/>
            </a:p>
          </p:txBody>
        </p:sp>
        <p:sp>
          <p:nvSpPr>
            <p:cNvPr id="210" name="Failure ticket flag"/>
            <p:cNvSpPr txBox="1"/>
            <p:nvPr/>
          </p:nvSpPr>
          <p:spPr>
            <a:xfrm>
              <a:off x="47129" y="83175"/>
              <a:ext cx="773642" cy="79245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ctr">
              <a:spAutoFit/>
            </a:bodyPr>
            <a:lstStyle>
              <a:lvl1pPr algn="ctr">
                <a:defRPr>
                  <a:latin typeface="Candara"/>
                  <a:ea typeface="Candara"/>
                  <a:cs typeface="Candara"/>
                  <a:sym typeface="Candara"/>
                </a:defRPr>
              </a:lvl1pPr>
            </a:lstStyle>
            <a:p>
              <a:r>
                <a:t>Failure ticket flag</a:t>
              </a:r>
            </a:p>
          </p:txBody>
        </p:sp>
      </p:gr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Google Shape;15;p1"/>
          <p:cNvSpPr txBox="1">
            <a:spLocks noGrp="1"/>
          </p:cNvSpPr>
          <p:nvPr>
            <p:ph type="sldNum" sz="quarter" idx="2"/>
          </p:nvPr>
        </p:nvSpPr>
        <p:spPr>
          <a:xfrm>
            <a:off x="10450678" y="6573607"/>
            <a:ext cx="267733"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14</a:t>
            </a:fld>
            <a:endParaRPr/>
          </a:p>
        </p:txBody>
      </p:sp>
      <p:sp>
        <p:nvSpPr>
          <p:cNvPr id="214" name="Google Shape;208;p17"/>
          <p:cNvSpPr/>
          <p:nvPr/>
        </p:nvSpPr>
        <p:spPr>
          <a:xfrm>
            <a:off x="1412398" y="1717991"/>
            <a:ext cx="2394910" cy="2394910"/>
          </a:xfrm>
          <a:prstGeom prst="ellipse">
            <a:avLst/>
          </a:prstGeom>
          <a:solidFill>
            <a:schemeClr val="accent1"/>
          </a:solidFill>
          <a:ln w="12700">
            <a:miter lim="400000"/>
          </a:ln>
          <a:effectLst>
            <a:outerShdw blurRad="101600" dist="101600" dir="5400000" rotWithShape="0">
              <a:srgbClr val="000000">
                <a:alpha val="40000"/>
              </a:srgbClr>
            </a:outerShdw>
          </a:effectLst>
        </p:spPr>
        <p:txBody>
          <a:bodyPr lIns="0" tIns="0" rIns="0" bIns="0" anchor="ctr"/>
          <a:lstStyle/>
          <a:p>
            <a:pPr algn="ctr">
              <a:defRPr sz="2400">
                <a:solidFill>
                  <a:srgbClr val="FFFFFF"/>
                </a:solidFill>
                <a:latin typeface="Calibri"/>
                <a:ea typeface="Calibri"/>
                <a:cs typeface="Calibri"/>
                <a:sym typeface="Calibri"/>
              </a:defRPr>
            </a:pPr>
            <a:endParaRPr/>
          </a:p>
        </p:txBody>
      </p:sp>
      <p:sp>
        <p:nvSpPr>
          <p:cNvPr id="215" name="Google Shape;209;p17"/>
          <p:cNvSpPr txBox="1"/>
          <p:nvPr/>
        </p:nvSpPr>
        <p:spPr>
          <a:xfrm>
            <a:off x="4159773" y="1752350"/>
            <a:ext cx="7986651" cy="7061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lvl1pPr>
              <a:defRPr sz="4800" b="1">
                <a:solidFill>
                  <a:schemeClr val="accent1"/>
                </a:solidFill>
                <a:latin typeface="Calibri"/>
                <a:ea typeface="Calibri"/>
                <a:cs typeface="Calibri"/>
                <a:sym typeface="Calibri"/>
              </a:defRPr>
            </a:lvl1pPr>
          </a:lstStyle>
          <a:p>
            <a:r>
              <a:t>Conclusions &amp; Future Work</a:t>
            </a:r>
          </a:p>
        </p:txBody>
      </p:sp>
      <p:grpSp>
        <p:nvGrpSpPr>
          <p:cNvPr id="218" name="Google Shape;210;p17"/>
          <p:cNvGrpSpPr/>
          <p:nvPr/>
        </p:nvGrpSpPr>
        <p:grpSpPr>
          <a:xfrm>
            <a:off x="1856805" y="2215664"/>
            <a:ext cx="1487549" cy="1487480"/>
            <a:chOff x="0" y="0"/>
            <a:chExt cx="1487547" cy="1487479"/>
          </a:xfrm>
        </p:grpSpPr>
        <p:sp>
          <p:nvSpPr>
            <p:cNvPr id="216" name="Google Shape;211;p17"/>
            <p:cNvSpPr/>
            <p:nvPr/>
          </p:nvSpPr>
          <p:spPr>
            <a:xfrm>
              <a:off x="0" y="-1"/>
              <a:ext cx="1487548" cy="1487481"/>
            </a:xfrm>
            <a:custGeom>
              <a:avLst/>
              <a:gdLst/>
              <a:ahLst/>
              <a:cxnLst>
                <a:cxn ang="0">
                  <a:pos x="wd2" y="hd2"/>
                </a:cxn>
                <a:cxn ang="5400000">
                  <a:pos x="wd2" y="hd2"/>
                </a:cxn>
                <a:cxn ang="10800000">
                  <a:pos x="wd2" y="hd2"/>
                </a:cxn>
                <a:cxn ang="16200000">
                  <a:pos x="wd2" y="hd2"/>
                </a:cxn>
              </a:cxnLst>
              <a:rect l="0" t="0" r="r" b="b"/>
              <a:pathLst>
                <a:path w="21600" h="21600" extrusionOk="0">
                  <a:moveTo>
                    <a:pt x="13499" y="14851"/>
                  </a:moveTo>
                  <a:cubicBezTo>
                    <a:pt x="9772" y="14851"/>
                    <a:pt x="6749" y="11828"/>
                    <a:pt x="6749" y="8100"/>
                  </a:cubicBezTo>
                  <a:cubicBezTo>
                    <a:pt x="6749" y="4372"/>
                    <a:pt x="9772" y="1350"/>
                    <a:pt x="13499" y="1350"/>
                  </a:cubicBezTo>
                  <a:cubicBezTo>
                    <a:pt x="17227" y="1350"/>
                    <a:pt x="20249" y="4372"/>
                    <a:pt x="20249" y="8100"/>
                  </a:cubicBezTo>
                  <a:cubicBezTo>
                    <a:pt x="20249" y="11828"/>
                    <a:pt x="17227" y="14851"/>
                    <a:pt x="13499" y="14851"/>
                  </a:cubicBezTo>
                  <a:moveTo>
                    <a:pt x="3236" y="20043"/>
                  </a:moveTo>
                  <a:cubicBezTo>
                    <a:pt x="3019" y="20267"/>
                    <a:pt x="2718" y="20409"/>
                    <a:pt x="2382" y="20409"/>
                  </a:cubicBezTo>
                  <a:cubicBezTo>
                    <a:pt x="1724" y="20409"/>
                    <a:pt x="1191" y="19876"/>
                    <a:pt x="1191" y="19219"/>
                  </a:cubicBezTo>
                  <a:cubicBezTo>
                    <a:pt x="1191" y="18882"/>
                    <a:pt x="1332" y="18581"/>
                    <a:pt x="1557" y="18364"/>
                  </a:cubicBezTo>
                  <a:lnTo>
                    <a:pt x="1551" y="18359"/>
                  </a:lnTo>
                  <a:lnTo>
                    <a:pt x="6996" y="12914"/>
                  </a:lnTo>
                  <a:cubicBezTo>
                    <a:pt x="7472" y="13556"/>
                    <a:pt x="8039" y="14123"/>
                    <a:pt x="8680" y="14600"/>
                  </a:cubicBezTo>
                  <a:cubicBezTo>
                    <a:pt x="8680" y="14600"/>
                    <a:pt x="3236" y="20043"/>
                    <a:pt x="3236" y="20043"/>
                  </a:cubicBezTo>
                  <a:close/>
                  <a:moveTo>
                    <a:pt x="13499" y="0"/>
                  </a:moveTo>
                  <a:cubicBezTo>
                    <a:pt x="9026" y="0"/>
                    <a:pt x="5399" y="3626"/>
                    <a:pt x="5399" y="8100"/>
                  </a:cubicBezTo>
                  <a:cubicBezTo>
                    <a:pt x="5399" y="9467"/>
                    <a:pt x="5742" y="10754"/>
                    <a:pt x="6341" y="11885"/>
                  </a:cubicBezTo>
                  <a:lnTo>
                    <a:pt x="709" y="17516"/>
                  </a:lnTo>
                  <a:lnTo>
                    <a:pt x="713" y="17521"/>
                  </a:lnTo>
                  <a:cubicBezTo>
                    <a:pt x="274" y="17954"/>
                    <a:pt x="0" y="18553"/>
                    <a:pt x="0" y="19219"/>
                  </a:cubicBezTo>
                  <a:cubicBezTo>
                    <a:pt x="0" y="20534"/>
                    <a:pt x="1066" y="21600"/>
                    <a:pt x="2382" y="21600"/>
                  </a:cubicBezTo>
                  <a:cubicBezTo>
                    <a:pt x="3047" y="21600"/>
                    <a:pt x="3647" y="21327"/>
                    <a:pt x="4079" y="20886"/>
                  </a:cubicBezTo>
                  <a:lnTo>
                    <a:pt x="4078" y="20885"/>
                  </a:lnTo>
                  <a:lnTo>
                    <a:pt x="9708" y="15256"/>
                  </a:lnTo>
                  <a:cubicBezTo>
                    <a:pt x="10839" y="15857"/>
                    <a:pt x="12128" y="16201"/>
                    <a:pt x="13499" y="16201"/>
                  </a:cubicBezTo>
                  <a:cubicBezTo>
                    <a:pt x="17973" y="16201"/>
                    <a:pt x="21600" y="12574"/>
                    <a:pt x="21600" y="8100"/>
                  </a:cubicBezTo>
                  <a:cubicBezTo>
                    <a:pt x="21600" y="3626"/>
                    <a:pt x="17973" y="0"/>
                    <a:pt x="13499" y="0"/>
                  </a:cubicBezTo>
                </a:path>
              </a:pathLst>
            </a:custGeom>
            <a:solidFill>
              <a:srgbClr val="FFFFFF"/>
            </a:solidFill>
            <a:ln w="12700" cap="flat">
              <a:noFill/>
              <a:miter lim="400000"/>
            </a:ln>
            <a:effectLst/>
          </p:spPr>
          <p:txBody>
            <a:bodyPr wrap="square" lIns="0" tIns="0" rIns="0" bIns="0" numCol="1" anchor="ctr">
              <a:noAutofit/>
            </a:bodyPr>
            <a:lstStyle/>
            <a:p>
              <a:pPr algn="ctr">
                <a:defRPr sz="2000">
                  <a:solidFill>
                    <a:srgbClr val="FFFFFF"/>
                  </a:solidFill>
                  <a:latin typeface="Gill Sans"/>
                  <a:ea typeface="Gill Sans"/>
                  <a:cs typeface="Gill Sans"/>
                  <a:sym typeface="Gill Sans"/>
                </a:defRPr>
              </a:pPr>
              <a:endParaRPr/>
            </a:p>
          </p:txBody>
        </p:sp>
        <p:sp>
          <p:nvSpPr>
            <p:cNvPr id="217" name="Google Shape;212;p17"/>
            <p:cNvSpPr/>
            <p:nvPr/>
          </p:nvSpPr>
          <p:spPr>
            <a:xfrm>
              <a:off x="602644" y="231391"/>
              <a:ext cx="350897" cy="348367"/>
            </a:xfrm>
            <a:custGeom>
              <a:avLst/>
              <a:gdLst/>
              <a:ahLst/>
              <a:cxnLst>
                <a:cxn ang="0">
                  <a:pos x="wd2" y="hd2"/>
                </a:cxn>
                <a:cxn ang="5400000">
                  <a:pos x="wd2" y="hd2"/>
                </a:cxn>
                <a:cxn ang="10800000">
                  <a:pos x="wd2" y="hd2"/>
                </a:cxn>
                <a:cxn ang="16200000">
                  <a:pos x="wd2" y="hd2"/>
                </a:cxn>
              </a:cxnLst>
              <a:rect l="0" t="0" r="r" b="b"/>
              <a:pathLst>
                <a:path w="21600" h="21600" extrusionOk="0">
                  <a:moveTo>
                    <a:pt x="20161" y="0"/>
                  </a:moveTo>
                  <a:cubicBezTo>
                    <a:pt x="9025" y="0"/>
                    <a:pt x="0" y="9025"/>
                    <a:pt x="0" y="20160"/>
                  </a:cubicBezTo>
                  <a:cubicBezTo>
                    <a:pt x="0" y="20954"/>
                    <a:pt x="644" y="21600"/>
                    <a:pt x="1440" y="21600"/>
                  </a:cubicBezTo>
                  <a:cubicBezTo>
                    <a:pt x="2235" y="21600"/>
                    <a:pt x="2880" y="20954"/>
                    <a:pt x="2880" y="20160"/>
                  </a:cubicBezTo>
                  <a:cubicBezTo>
                    <a:pt x="2880" y="10618"/>
                    <a:pt x="10617" y="2880"/>
                    <a:pt x="20161" y="2880"/>
                  </a:cubicBezTo>
                  <a:cubicBezTo>
                    <a:pt x="20956" y="2880"/>
                    <a:pt x="21600" y="2234"/>
                    <a:pt x="21600" y="1440"/>
                  </a:cubicBezTo>
                  <a:cubicBezTo>
                    <a:pt x="21600" y="645"/>
                    <a:pt x="20956" y="0"/>
                    <a:pt x="20161" y="0"/>
                  </a:cubicBezTo>
                </a:path>
              </a:pathLst>
            </a:custGeom>
            <a:solidFill>
              <a:srgbClr val="FFFFFF"/>
            </a:solidFill>
            <a:ln w="12700" cap="flat">
              <a:noFill/>
              <a:miter lim="400000"/>
            </a:ln>
            <a:effectLst/>
          </p:spPr>
          <p:txBody>
            <a:bodyPr wrap="square" lIns="0" tIns="0" rIns="0" bIns="0" numCol="1" anchor="ctr">
              <a:noAutofit/>
            </a:bodyPr>
            <a:lstStyle/>
            <a:p>
              <a:pPr algn="ctr">
                <a:defRPr sz="2000">
                  <a:solidFill>
                    <a:srgbClr val="FFFFFF"/>
                  </a:solidFill>
                  <a:latin typeface="Gill Sans"/>
                  <a:ea typeface="Gill Sans"/>
                  <a:cs typeface="Gill Sans"/>
                  <a:sym typeface="Gill Sans"/>
                </a:defRPr>
              </a:pPr>
              <a:endParaRPr/>
            </a:p>
          </p:txBody>
        </p:sp>
      </p:grpSp>
      <p:sp>
        <p:nvSpPr>
          <p:cNvPr id="219" name="Google Shape;213;p17"/>
          <p:cNvSpPr txBox="1"/>
          <p:nvPr/>
        </p:nvSpPr>
        <p:spPr>
          <a:xfrm>
            <a:off x="5579400" y="2809075"/>
            <a:ext cx="4029601" cy="817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defRPr sz="2100" b="1">
                <a:latin typeface="Candara"/>
                <a:ea typeface="Candara"/>
                <a:cs typeface="Candara"/>
                <a:sym typeface="Candara"/>
              </a:defRPr>
            </a:pPr>
            <a:r>
              <a:t>Rooms of improvements</a:t>
            </a:r>
            <a:r>
              <a:rPr b="0"/>
              <a:t> </a:t>
            </a:r>
          </a:p>
          <a:p>
            <a:pPr>
              <a:defRPr sz="2100" b="1">
                <a:latin typeface="Candara"/>
                <a:ea typeface="Candara"/>
                <a:cs typeface="Candara"/>
                <a:sym typeface="Candara"/>
              </a:defRPr>
            </a:pPr>
            <a:r>
              <a:t>Future Work</a:t>
            </a:r>
          </a:p>
        </p:txBody>
      </p:sp>
      <p:grpSp>
        <p:nvGrpSpPr>
          <p:cNvPr id="222" name="Google Shape;214;p17"/>
          <p:cNvGrpSpPr/>
          <p:nvPr/>
        </p:nvGrpSpPr>
        <p:grpSpPr>
          <a:xfrm>
            <a:off x="5058428" y="2901020"/>
            <a:ext cx="328299" cy="327829"/>
            <a:chOff x="0" y="0"/>
            <a:chExt cx="328298" cy="327828"/>
          </a:xfrm>
        </p:grpSpPr>
        <p:sp>
          <p:nvSpPr>
            <p:cNvPr id="220" name="Google Shape;215;p17"/>
            <p:cNvSpPr/>
            <p:nvPr/>
          </p:nvSpPr>
          <p:spPr>
            <a:xfrm>
              <a:off x="-1" y="0"/>
              <a:ext cx="328300" cy="327829"/>
            </a:xfrm>
            <a:custGeom>
              <a:avLst/>
              <a:gdLst/>
              <a:ahLst/>
              <a:cxnLst>
                <a:cxn ang="0">
                  <a:pos x="wd2" y="hd2"/>
                </a:cxn>
                <a:cxn ang="5400000">
                  <a:pos x="wd2" y="hd2"/>
                </a:cxn>
                <a:cxn ang="10800000">
                  <a:pos x="wd2" y="hd2"/>
                </a:cxn>
                <a:cxn ang="16200000">
                  <a:pos x="wd2" y="hd2"/>
                </a:cxn>
              </a:cxnLst>
              <a:rect l="0" t="0" r="r" b="b"/>
              <a:pathLst>
                <a:path w="21600" h="21600" extrusionOk="0">
                  <a:moveTo>
                    <a:pt x="10815" y="21600"/>
                  </a:moveTo>
                  <a:cubicBezTo>
                    <a:pt x="4852" y="21600"/>
                    <a:pt x="0" y="16772"/>
                    <a:pt x="0" y="10800"/>
                  </a:cubicBezTo>
                  <a:cubicBezTo>
                    <a:pt x="0" y="4828"/>
                    <a:pt x="4852" y="0"/>
                    <a:pt x="10815" y="0"/>
                  </a:cubicBezTo>
                  <a:cubicBezTo>
                    <a:pt x="16748" y="0"/>
                    <a:pt x="21600" y="4828"/>
                    <a:pt x="21600" y="10800"/>
                  </a:cubicBezTo>
                  <a:cubicBezTo>
                    <a:pt x="21600" y="16772"/>
                    <a:pt x="16748" y="21600"/>
                    <a:pt x="10815" y="21600"/>
                  </a:cubicBezTo>
                  <a:close/>
                  <a:moveTo>
                    <a:pt x="10815" y="1238"/>
                  </a:moveTo>
                  <a:cubicBezTo>
                    <a:pt x="5531" y="1238"/>
                    <a:pt x="1236" y="5539"/>
                    <a:pt x="1236" y="10800"/>
                  </a:cubicBezTo>
                  <a:cubicBezTo>
                    <a:pt x="1236" y="16061"/>
                    <a:pt x="5531" y="20362"/>
                    <a:pt x="10815" y="20362"/>
                  </a:cubicBezTo>
                  <a:cubicBezTo>
                    <a:pt x="16069" y="20362"/>
                    <a:pt x="20364" y="16061"/>
                    <a:pt x="20364" y="10800"/>
                  </a:cubicBezTo>
                  <a:cubicBezTo>
                    <a:pt x="20364" y="5539"/>
                    <a:pt x="16069" y="1238"/>
                    <a:pt x="10815" y="1238"/>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sp>
          <p:nvSpPr>
            <p:cNvPr id="221" name="Google Shape;216;p17"/>
            <p:cNvSpPr/>
            <p:nvPr/>
          </p:nvSpPr>
          <p:spPr>
            <a:xfrm>
              <a:off x="74123" y="102167"/>
              <a:ext cx="179935" cy="125211"/>
            </a:xfrm>
            <a:custGeom>
              <a:avLst/>
              <a:gdLst/>
              <a:ahLst/>
              <a:cxnLst>
                <a:cxn ang="0">
                  <a:pos x="wd2" y="hd2"/>
                </a:cxn>
                <a:cxn ang="5400000">
                  <a:pos x="wd2" y="hd2"/>
                </a:cxn>
                <a:cxn ang="10800000">
                  <a:pos x="wd2" y="hd2"/>
                </a:cxn>
                <a:cxn ang="16200000">
                  <a:pos x="wd2" y="hd2"/>
                </a:cxn>
              </a:cxnLst>
              <a:rect l="0" t="0" r="r" b="b"/>
              <a:pathLst>
                <a:path w="21391" h="21439" extrusionOk="0">
                  <a:moveTo>
                    <a:pt x="7604" y="21439"/>
                  </a:moveTo>
                  <a:cubicBezTo>
                    <a:pt x="7269" y="21439"/>
                    <a:pt x="6990" y="21278"/>
                    <a:pt x="6767" y="20957"/>
                  </a:cubicBezTo>
                  <a:cubicBezTo>
                    <a:pt x="293" y="11643"/>
                    <a:pt x="293" y="11643"/>
                    <a:pt x="293" y="11643"/>
                  </a:cubicBezTo>
                  <a:cubicBezTo>
                    <a:pt x="-98" y="11000"/>
                    <a:pt x="-98" y="10037"/>
                    <a:pt x="293" y="9394"/>
                  </a:cubicBezTo>
                  <a:cubicBezTo>
                    <a:pt x="293" y="9394"/>
                    <a:pt x="293" y="9394"/>
                    <a:pt x="293" y="9394"/>
                  </a:cubicBezTo>
                  <a:cubicBezTo>
                    <a:pt x="739" y="8752"/>
                    <a:pt x="1465" y="8752"/>
                    <a:pt x="1911" y="9394"/>
                  </a:cubicBezTo>
                  <a:cubicBezTo>
                    <a:pt x="1911" y="9394"/>
                    <a:pt x="1911" y="9394"/>
                    <a:pt x="1911" y="9394"/>
                  </a:cubicBezTo>
                  <a:cubicBezTo>
                    <a:pt x="7604" y="17585"/>
                    <a:pt x="7604" y="17585"/>
                    <a:pt x="7604" y="17585"/>
                  </a:cubicBezTo>
                  <a:cubicBezTo>
                    <a:pt x="19437" y="481"/>
                    <a:pt x="19437" y="481"/>
                    <a:pt x="19437" y="481"/>
                  </a:cubicBezTo>
                  <a:cubicBezTo>
                    <a:pt x="19883" y="-161"/>
                    <a:pt x="20609" y="-161"/>
                    <a:pt x="21055" y="481"/>
                  </a:cubicBezTo>
                  <a:cubicBezTo>
                    <a:pt x="21055" y="481"/>
                    <a:pt x="21055" y="481"/>
                    <a:pt x="21055" y="481"/>
                  </a:cubicBezTo>
                  <a:cubicBezTo>
                    <a:pt x="21502" y="1124"/>
                    <a:pt x="21502" y="2087"/>
                    <a:pt x="21055" y="2730"/>
                  </a:cubicBezTo>
                  <a:cubicBezTo>
                    <a:pt x="21055" y="2730"/>
                    <a:pt x="21055" y="2730"/>
                    <a:pt x="21055" y="2730"/>
                  </a:cubicBezTo>
                  <a:cubicBezTo>
                    <a:pt x="8386" y="20957"/>
                    <a:pt x="8386" y="20957"/>
                    <a:pt x="8386" y="20957"/>
                  </a:cubicBezTo>
                  <a:cubicBezTo>
                    <a:pt x="8162" y="21278"/>
                    <a:pt x="7883" y="21439"/>
                    <a:pt x="7604" y="21439"/>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grpSp>
      <p:grpSp>
        <p:nvGrpSpPr>
          <p:cNvPr id="225" name="Google Shape;217;p17"/>
          <p:cNvGrpSpPr/>
          <p:nvPr/>
        </p:nvGrpSpPr>
        <p:grpSpPr>
          <a:xfrm>
            <a:off x="5058428" y="3301608"/>
            <a:ext cx="328299" cy="327829"/>
            <a:chOff x="0" y="0"/>
            <a:chExt cx="328298" cy="327828"/>
          </a:xfrm>
        </p:grpSpPr>
        <p:sp>
          <p:nvSpPr>
            <p:cNvPr id="223" name="Google Shape;218;p17"/>
            <p:cNvSpPr/>
            <p:nvPr/>
          </p:nvSpPr>
          <p:spPr>
            <a:xfrm>
              <a:off x="-1" y="0"/>
              <a:ext cx="328300" cy="327829"/>
            </a:xfrm>
            <a:custGeom>
              <a:avLst/>
              <a:gdLst/>
              <a:ahLst/>
              <a:cxnLst>
                <a:cxn ang="0">
                  <a:pos x="wd2" y="hd2"/>
                </a:cxn>
                <a:cxn ang="5400000">
                  <a:pos x="wd2" y="hd2"/>
                </a:cxn>
                <a:cxn ang="10800000">
                  <a:pos x="wd2" y="hd2"/>
                </a:cxn>
                <a:cxn ang="16200000">
                  <a:pos x="wd2" y="hd2"/>
                </a:cxn>
              </a:cxnLst>
              <a:rect l="0" t="0" r="r" b="b"/>
              <a:pathLst>
                <a:path w="21600" h="21600" extrusionOk="0">
                  <a:moveTo>
                    <a:pt x="10815" y="21600"/>
                  </a:moveTo>
                  <a:cubicBezTo>
                    <a:pt x="4852" y="21600"/>
                    <a:pt x="0" y="16772"/>
                    <a:pt x="0" y="10800"/>
                  </a:cubicBezTo>
                  <a:cubicBezTo>
                    <a:pt x="0" y="4828"/>
                    <a:pt x="4852" y="0"/>
                    <a:pt x="10815" y="0"/>
                  </a:cubicBezTo>
                  <a:cubicBezTo>
                    <a:pt x="16748" y="0"/>
                    <a:pt x="21600" y="4828"/>
                    <a:pt x="21600" y="10800"/>
                  </a:cubicBezTo>
                  <a:cubicBezTo>
                    <a:pt x="21600" y="16772"/>
                    <a:pt x="16748" y="21600"/>
                    <a:pt x="10815" y="21600"/>
                  </a:cubicBezTo>
                  <a:close/>
                  <a:moveTo>
                    <a:pt x="10815" y="1238"/>
                  </a:moveTo>
                  <a:cubicBezTo>
                    <a:pt x="5531" y="1238"/>
                    <a:pt x="1236" y="5539"/>
                    <a:pt x="1236" y="10800"/>
                  </a:cubicBezTo>
                  <a:cubicBezTo>
                    <a:pt x="1236" y="16061"/>
                    <a:pt x="5531" y="20362"/>
                    <a:pt x="10815" y="20362"/>
                  </a:cubicBezTo>
                  <a:cubicBezTo>
                    <a:pt x="16069" y="20362"/>
                    <a:pt x="20364" y="16061"/>
                    <a:pt x="20364" y="10800"/>
                  </a:cubicBezTo>
                  <a:cubicBezTo>
                    <a:pt x="20364" y="5539"/>
                    <a:pt x="16069" y="1238"/>
                    <a:pt x="10815" y="1238"/>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sp>
          <p:nvSpPr>
            <p:cNvPr id="224" name="Google Shape;219;p17"/>
            <p:cNvSpPr/>
            <p:nvPr/>
          </p:nvSpPr>
          <p:spPr>
            <a:xfrm>
              <a:off x="74123" y="102167"/>
              <a:ext cx="179935" cy="125211"/>
            </a:xfrm>
            <a:custGeom>
              <a:avLst/>
              <a:gdLst/>
              <a:ahLst/>
              <a:cxnLst>
                <a:cxn ang="0">
                  <a:pos x="wd2" y="hd2"/>
                </a:cxn>
                <a:cxn ang="5400000">
                  <a:pos x="wd2" y="hd2"/>
                </a:cxn>
                <a:cxn ang="10800000">
                  <a:pos x="wd2" y="hd2"/>
                </a:cxn>
                <a:cxn ang="16200000">
                  <a:pos x="wd2" y="hd2"/>
                </a:cxn>
              </a:cxnLst>
              <a:rect l="0" t="0" r="r" b="b"/>
              <a:pathLst>
                <a:path w="21391" h="21439" extrusionOk="0">
                  <a:moveTo>
                    <a:pt x="7604" y="21439"/>
                  </a:moveTo>
                  <a:cubicBezTo>
                    <a:pt x="7269" y="21439"/>
                    <a:pt x="6990" y="21278"/>
                    <a:pt x="6767" y="20957"/>
                  </a:cubicBezTo>
                  <a:cubicBezTo>
                    <a:pt x="293" y="11643"/>
                    <a:pt x="293" y="11643"/>
                    <a:pt x="293" y="11643"/>
                  </a:cubicBezTo>
                  <a:cubicBezTo>
                    <a:pt x="-98" y="11000"/>
                    <a:pt x="-98" y="10037"/>
                    <a:pt x="293" y="9394"/>
                  </a:cubicBezTo>
                  <a:cubicBezTo>
                    <a:pt x="293" y="9394"/>
                    <a:pt x="293" y="9394"/>
                    <a:pt x="293" y="9394"/>
                  </a:cubicBezTo>
                  <a:cubicBezTo>
                    <a:pt x="739" y="8752"/>
                    <a:pt x="1465" y="8752"/>
                    <a:pt x="1911" y="9394"/>
                  </a:cubicBezTo>
                  <a:cubicBezTo>
                    <a:pt x="1911" y="9394"/>
                    <a:pt x="1911" y="9394"/>
                    <a:pt x="1911" y="9394"/>
                  </a:cubicBezTo>
                  <a:cubicBezTo>
                    <a:pt x="7604" y="17585"/>
                    <a:pt x="7604" y="17585"/>
                    <a:pt x="7604" y="17585"/>
                  </a:cubicBezTo>
                  <a:cubicBezTo>
                    <a:pt x="19437" y="481"/>
                    <a:pt x="19437" y="481"/>
                    <a:pt x="19437" y="481"/>
                  </a:cubicBezTo>
                  <a:cubicBezTo>
                    <a:pt x="19883" y="-161"/>
                    <a:pt x="20609" y="-161"/>
                    <a:pt x="21055" y="481"/>
                  </a:cubicBezTo>
                  <a:cubicBezTo>
                    <a:pt x="21055" y="481"/>
                    <a:pt x="21055" y="481"/>
                    <a:pt x="21055" y="481"/>
                  </a:cubicBezTo>
                  <a:cubicBezTo>
                    <a:pt x="21502" y="1124"/>
                    <a:pt x="21502" y="2087"/>
                    <a:pt x="21055" y="2730"/>
                  </a:cubicBezTo>
                  <a:cubicBezTo>
                    <a:pt x="21055" y="2730"/>
                    <a:pt x="21055" y="2730"/>
                    <a:pt x="21055" y="2730"/>
                  </a:cubicBezTo>
                  <a:cubicBezTo>
                    <a:pt x="8386" y="20957"/>
                    <a:pt x="8386" y="20957"/>
                    <a:pt x="8386" y="20957"/>
                  </a:cubicBezTo>
                  <a:cubicBezTo>
                    <a:pt x="8162" y="21278"/>
                    <a:pt x="7883" y="21439"/>
                    <a:pt x="7604" y="21439"/>
                  </a:cubicBezTo>
                  <a:close/>
                </a:path>
              </a:pathLst>
            </a:custGeom>
            <a:solidFill>
              <a:schemeClr val="accent1"/>
            </a:solidFill>
            <a:ln w="12700" cap="flat">
              <a:noFill/>
              <a:miter lim="400000"/>
            </a:ln>
            <a:effectLst/>
          </p:spPr>
          <p:txBody>
            <a:bodyPr wrap="square" lIns="0" tIns="0" rIns="0" bIns="0" numCol="1" anchor="t">
              <a:noAutofit/>
            </a:bodyPr>
            <a:lstStyle/>
            <a:p>
              <a:pPr>
                <a:defRPr sz="2400">
                  <a:latin typeface="Calibri"/>
                  <a:ea typeface="Calibri"/>
                  <a:cs typeface="Calibri"/>
                  <a:sym typeface="Calibri"/>
                </a:defRPr>
              </a:pPr>
              <a:endParaRPr/>
            </a:p>
          </p:txBody>
        </p:sp>
      </p:gr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Google Shape;15;p1"/>
          <p:cNvSpPr txBox="1">
            <a:spLocks noGrp="1"/>
          </p:cNvSpPr>
          <p:nvPr>
            <p:ph type="sldNum" sz="quarter" idx="2"/>
          </p:nvPr>
        </p:nvSpPr>
        <p:spPr>
          <a:xfrm>
            <a:off x="10450678" y="6573607"/>
            <a:ext cx="267733"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15</a:t>
            </a:fld>
            <a:endParaRPr/>
          </a:p>
        </p:txBody>
      </p:sp>
      <p:sp>
        <p:nvSpPr>
          <p:cNvPr id="228" name="Google Shape;225;p18"/>
          <p:cNvSpPr txBox="1"/>
          <p:nvPr/>
        </p:nvSpPr>
        <p:spPr>
          <a:xfrm>
            <a:off x="857249" y="485225"/>
            <a:ext cx="10109102" cy="5892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2800" b="1">
                <a:latin typeface="Candara"/>
                <a:ea typeface="Candara"/>
                <a:cs typeface="Candara"/>
                <a:sym typeface="Candara"/>
              </a:defRPr>
            </a:lvl1pPr>
          </a:lstStyle>
          <a:p>
            <a:r>
              <a:t>Conclusion &amp; Future work</a:t>
            </a:r>
          </a:p>
        </p:txBody>
      </p:sp>
      <p:sp>
        <p:nvSpPr>
          <p:cNvPr id="229" name="Google Shape;226;p18"/>
          <p:cNvSpPr txBox="1"/>
          <p:nvPr/>
        </p:nvSpPr>
        <p:spPr>
          <a:xfrm>
            <a:off x="857249" y="1356099"/>
            <a:ext cx="9802802" cy="24053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marL="457200" indent="-361950">
              <a:buClr>
                <a:srgbClr val="000000"/>
              </a:buClr>
              <a:buSzPts val="2100"/>
              <a:buFont typeface="Trebuchet MS"/>
              <a:buChar char="●"/>
              <a:defRPr sz="2100">
                <a:latin typeface="Candara"/>
                <a:ea typeface="Candara"/>
                <a:cs typeface="Candara"/>
                <a:sym typeface="Candara"/>
              </a:defRPr>
            </a:pPr>
            <a:r>
              <a:t>The main improvements we made compare to the baseline are in the </a:t>
            </a:r>
            <a:r>
              <a:rPr b="1"/>
              <a:t>training data selection</a:t>
            </a:r>
            <a:r>
              <a:t> and the </a:t>
            </a:r>
            <a:r>
              <a:rPr b="1"/>
              <a:t>threshold selection process</a:t>
            </a:r>
            <a:r>
              <a:t>.</a:t>
            </a:r>
          </a:p>
          <a:p>
            <a:pPr marL="457200" indent="-361950">
              <a:buClr>
                <a:srgbClr val="000000"/>
              </a:buClr>
              <a:buSzPts val="2100"/>
              <a:buFont typeface="Trebuchet MS"/>
              <a:buChar char="●"/>
              <a:defRPr sz="2100">
                <a:latin typeface="Candara"/>
                <a:ea typeface="Candara"/>
                <a:cs typeface="Candara"/>
                <a:sym typeface="Candara"/>
              </a:defRPr>
            </a:pPr>
            <a:r>
              <a:t>We reused the features in the baseline methods, it would be meaningful to do more research in </a:t>
            </a:r>
            <a:r>
              <a:rPr b="1"/>
              <a:t>feature selection</a:t>
            </a:r>
            <a:r>
              <a:t>.</a:t>
            </a:r>
          </a:p>
          <a:p>
            <a:pPr marL="457200" indent="-361950">
              <a:buClr>
                <a:srgbClr val="000000"/>
              </a:buClr>
              <a:buSzPts val="2100"/>
              <a:buFont typeface="Trebuchet MS"/>
              <a:buChar char="●"/>
              <a:defRPr sz="2100">
                <a:latin typeface="Candara"/>
                <a:ea typeface="Candara"/>
                <a:cs typeface="Candara"/>
                <a:sym typeface="Candara"/>
              </a:defRPr>
            </a:pPr>
            <a:r>
              <a:t>We didn’t compare the performance of different traditional machine learning models, it will be valuable to </a:t>
            </a:r>
            <a:r>
              <a:rPr b="1"/>
              <a:t>compare more ML models</a:t>
            </a:r>
            <a:r>
              <a:t>.</a:t>
            </a:r>
          </a:p>
          <a:p>
            <a:pPr marL="457200" indent="-361950">
              <a:buClr>
                <a:srgbClr val="000000"/>
              </a:buClr>
              <a:buSzPts val="2100"/>
              <a:buFont typeface="Trebuchet MS"/>
              <a:buChar char="●"/>
              <a:defRPr sz="2100">
                <a:latin typeface="Candara"/>
                <a:ea typeface="Candara"/>
                <a:cs typeface="Candara"/>
                <a:sym typeface="Candara"/>
              </a:defRPr>
            </a:pPr>
            <a:r>
              <a:t>It would be valuable to try more </a:t>
            </a:r>
            <a:r>
              <a:rPr b="1"/>
              <a:t>deep learning networks</a:t>
            </a:r>
            <a:r>
              <a:t>. </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Google Shape;15;p1"/>
          <p:cNvSpPr txBox="1">
            <a:spLocks noGrp="1"/>
          </p:cNvSpPr>
          <p:nvPr>
            <p:ph type="sldNum" sz="quarter" idx="2"/>
          </p:nvPr>
        </p:nvSpPr>
        <p:spPr>
          <a:xfrm>
            <a:off x="10450678" y="6573607"/>
            <a:ext cx="267733" cy="27175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ctr">
              <a:defRPr>
                <a:solidFill>
                  <a:srgbClr val="064C85"/>
                </a:solidFill>
                <a:latin typeface="Candara"/>
                <a:ea typeface="Candara"/>
                <a:cs typeface="Candara"/>
                <a:sym typeface="Candara"/>
              </a:defRPr>
            </a:lvl1pPr>
          </a:lstStyle>
          <a:p>
            <a:fld id="{86CB4B4D-7CA3-9044-876B-883B54F8677D}" type="slidenum">
              <a:t>16</a:t>
            </a:fld>
            <a:endParaRPr/>
          </a:p>
        </p:txBody>
      </p:sp>
      <p:pic>
        <p:nvPicPr>
          <p:cNvPr id="232" name="Google Shape;232;p19" descr="Google Shape;232;p19"/>
          <p:cNvPicPr>
            <a:picLocks noChangeAspect="1"/>
          </p:cNvPicPr>
          <p:nvPr/>
        </p:nvPicPr>
        <p:blipFill>
          <a:blip r:embed="rId2"/>
          <a:stretch>
            <a:fillRect/>
          </a:stretch>
        </p:blipFill>
        <p:spPr>
          <a:xfrm>
            <a:off x="3144300" y="2551099"/>
            <a:ext cx="5584421" cy="1755801"/>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Arial"/>
        <a:ea typeface="Arial"/>
        <a:cs typeface="Arial"/>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Arial"/>
        <a:ea typeface="Arial"/>
        <a:cs typeface="Arial"/>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902</Words>
  <Application>Microsoft Office PowerPoint</Application>
  <PresentationFormat>宽屏</PresentationFormat>
  <Paragraphs>203</Paragraphs>
  <Slides>16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Arial</vt:lpstr>
      <vt:lpstr>Calibri</vt:lpstr>
      <vt:lpstr>Candara</vt:lpstr>
      <vt:lpstr>Roboto</vt:lpstr>
      <vt:lpstr>Roboto Mono</vt:lpstr>
      <vt:lpstr>Trebuchet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Hongyi Xie</cp:lastModifiedBy>
  <cp:revision>1</cp:revision>
  <dcterms:modified xsi:type="dcterms:W3CDTF">2025-05-06T06:22:52Z</dcterms:modified>
</cp:coreProperties>
</file>
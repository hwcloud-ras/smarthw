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 id="2147483816" r:id="rId2"/>
    <p:sldMasterId id="2147483683" r:id="rId3"/>
    <p:sldMasterId id="2147483896" r:id="rId4"/>
  </p:sldMasterIdLst>
  <p:notesMasterIdLst>
    <p:notesMasterId r:id="rId26"/>
  </p:notesMasterIdLst>
  <p:handoutMasterIdLst>
    <p:handoutMasterId r:id="rId27"/>
  </p:handoutMasterIdLst>
  <p:sldIdLst>
    <p:sldId id="1519" r:id="rId5"/>
    <p:sldId id="2660" r:id="rId6"/>
    <p:sldId id="2648" r:id="rId7"/>
    <p:sldId id="2663" r:id="rId8"/>
    <p:sldId id="2669" r:id="rId9"/>
    <p:sldId id="2700" r:id="rId10"/>
    <p:sldId id="2667" r:id="rId11"/>
    <p:sldId id="2670" r:id="rId12"/>
    <p:sldId id="2701" r:id="rId13"/>
    <p:sldId id="2702" r:id="rId14"/>
    <p:sldId id="2677" r:id="rId15"/>
    <p:sldId id="2680" r:id="rId16"/>
    <p:sldId id="2703" r:id="rId17"/>
    <p:sldId id="2683" r:id="rId18"/>
    <p:sldId id="2688" r:id="rId19"/>
    <p:sldId id="2689" r:id="rId20"/>
    <p:sldId id="2682" r:id="rId21"/>
    <p:sldId id="2693" r:id="rId22"/>
    <p:sldId id="2704" r:id="rId23"/>
    <p:sldId id="2705" r:id="rId24"/>
    <p:sldId id="2706" r:id="rId25"/>
  </p:sldIdLst>
  <p:sldSz cx="12196763" cy="6858000"/>
  <p:notesSz cx="6858000" cy="91440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页_图片版" id="{E8D0D622-F6C6-F44A-B365-B4A5FF6195C2}">
          <p14:sldIdLst>
            <p14:sldId id="1519"/>
          </p14:sldIdLst>
        </p14:section>
        <p14:section name="章节页" id="{FD05EE94-C931-8C4B-83A2-004B32AA1207}">
          <p14:sldIdLst>
            <p14:sldId id="2660"/>
            <p14:sldId id="2648"/>
            <p14:sldId id="2663"/>
            <p14:sldId id="2669"/>
            <p14:sldId id="2700"/>
            <p14:sldId id="2667"/>
            <p14:sldId id="2670"/>
            <p14:sldId id="2701"/>
            <p14:sldId id="2702"/>
            <p14:sldId id="2677"/>
            <p14:sldId id="2680"/>
            <p14:sldId id="2703"/>
            <p14:sldId id="2683"/>
            <p14:sldId id="2688"/>
            <p14:sldId id="2689"/>
            <p14:sldId id="2682"/>
            <p14:sldId id="2693"/>
            <p14:sldId id="2704"/>
            <p14:sldId id="2705"/>
            <p14:sldId id="2706"/>
          </p14:sldIdLst>
        </p14:section>
        <p14:section name="结束页" id="{3F9D54A7-3BE2-2540-BB4C-DFE5509085F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4298"/>
    <a:srgbClr val="7E6400"/>
    <a:srgbClr val="1C1127"/>
    <a:srgbClr val="766E60"/>
    <a:srgbClr val="CCCCFF"/>
    <a:srgbClr val="A4E2EA"/>
    <a:srgbClr val="D4F1F5"/>
    <a:srgbClr val="BDEBFB"/>
    <a:srgbClr val="00B0F0"/>
    <a:srgbClr val="ED6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17" autoAdjust="0"/>
    <p:restoredTop sz="84367" autoAdjust="0"/>
  </p:normalViewPr>
  <p:slideViewPr>
    <p:cSldViewPr snapToGrid="0" snapToObjects="1">
      <p:cViewPr varScale="1">
        <p:scale>
          <a:sx n="70" d="100"/>
          <a:sy n="70" d="100"/>
        </p:scale>
        <p:origin x="883" y="3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3104"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t>4/28/2025</a:t>
            </a:fld>
            <a:endParaRPr lang="en-US"/>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t>4/28/2025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t>‹#›</a:t>
            </a:fld>
            <a:endParaRPr lang="en-US"/>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0" algn="l" defTabSz="1219304" rtl="0" eaLnBrk="1" latinLnBrk="0" hangingPunct="1">
      <a:defRPr sz="1600" kern="1200">
        <a:solidFill>
          <a:schemeClr val="tx1"/>
        </a:solidFill>
        <a:latin typeface="+mn-lt"/>
        <a:ea typeface="+mn-ea"/>
        <a:cs typeface="+mn-cs"/>
      </a:defRPr>
    </a:lvl1pPr>
    <a:lvl2pPr marL="609651" algn="l" defTabSz="1219304" rtl="0" eaLnBrk="1" latinLnBrk="0" hangingPunct="1">
      <a:defRPr sz="1600" kern="1200">
        <a:solidFill>
          <a:schemeClr val="tx1"/>
        </a:solidFill>
        <a:latin typeface="+mn-lt"/>
        <a:ea typeface="+mn-ea"/>
        <a:cs typeface="+mn-cs"/>
      </a:defRPr>
    </a:lvl2pPr>
    <a:lvl3pPr marL="1219304" algn="l" defTabSz="1219304" rtl="0" eaLnBrk="1" latinLnBrk="0" hangingPunct="1">
      <a:defRPr sz="1600" kern="1200">
        <a:solidFill>
          <a:schemeClr val="tx1"/>
        </a:solidFill>
        <a:latin typeface="+mn-lt"/>
        <a:ea typeface="+mn-ea"/>
        <a:cs typeface="+mn-cs"/>
      </a:defRPr>
    </a:lvl3pPr>
    <a:lvl4pPr marL="1828957" algn="l" defTabSz="1219304" rtl="0" eaLnBrk="1" latinLnBrk="0" hangingPunct="1">
      <a:defRPr sz="1600" kern="1200">
        <a:solidFill>
          <a:schemeClr val="tx1"/>
        </a:solidFill>
        <a:latin typeface="+mn-lt"/>
        <a:ea typeface="+mn-ea"/>
        <a:cs typeface="+mn-cs"/>
      </a:defRPr>
    </a:lvl4pPr>
    <a:lvl5pPr marL="2438609" algn="l" defTabSz="1219304" rtl="0" eaLnBrk="1" latinLnBrk="0" hangingPunct="1">
      <a:defRPr sz="16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Good afternoon, everyone!</a:t>
            </a:r>
          </a:p>
          <a:p>
            <a:r>
              <a:rPr lang="en-US" altLang="zh-CN" dirty="0"/>
              <a:t>I'm Xie Hongyi, a Master's student at the School of Artificial Intelligence and Data Science at USTC, and right now, I'm interning at Huawei Cloud. It's a real pleasure to be here today and have the chance to share with you some of the latest work and explorations that Huawei Cloud has been doing in the area of memory failure prediction.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2DA7C1-09EB-C742-909D-6754DCC5DD3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9950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400" dirty="0"/>
              <a:t>In recent years, industry reports from companies like Intel, Meta, and Huawei have highlighted that as cloud computing and AI technologies develop rapidly, ensuring the reliability of cloud infrastructure has become a key focus. Among the biggest challenges is hardware failure, which accounts for nearly 70% of data center issues.</a:t>
            </a:r>
          </a:p>
          <a:p>
            <a:endParaRPr lang="en-US" altLang="zh-CN" sz="2400" dirty="0"/>
          </a:p>
          <a:p>
            <a:r>
              <a:rPr lang="en-US" altLang="zh-CN" sz="2400" dirty="0"/>
              <a:t>Hardware failures are also the leading cause of AI training failures, impacting both service continuity and model stability. As we can see, the risk of hardware failures is rising each year, making infrastructure reliability more important than ever. This is why predicting and diagnosing hardware failures is crucial to maintaining the availability and stability of cloud services.</a:t>
            </a:r>
            <a:endParaRPr lang="en-US" altLang="zh-CN" sz="2000" dirty="0"/>
          </a:p>
        </p:txBody>
      </p:sp>
      <p:sp>
        <p:nvSpPr>
          <p:cNvPr id="4" name="灯片编号占位符 3"/>
          <p:cNvSpPr>
            <a:spLocks noGrp="1"/>
          </p:cNvSpPr>
          <p:nvPr>
            <p:ph type="sldNum" sz="quarter" idx="5"/>
          </p:nvPr>
        </p:nvSpPr>
        <p:spPr/>
        <p:txBody>
          <a:bodyPr/>
          <a:lstStyle/>
          <a:p>
            <a:fld id="{F07326F3-4732-B74B-9C70-D0992466E499}" type="slidenum">
              <a:rPr lang="en-US" smtClean="0"/>
              <a:t>2</a:t>
            </a:fld>
            <a:endParaRPr lang="en-US"/>
          </a:p>
        </p:txBody>
      </p:sp>
    </p:spTree>
    <p:extLst>
      <p:ext uri="{BB962C8B-B14F-4D97-AF65-F5344CB8AC3E}">
        <p14:creationId xmlns:p14="http://schemas.microsoft.com/office/powerpoint/2010/main" val="1194496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8163" y="677863"/>
            <a:ext cx="6026150" cy="3389312"/>
          </a:xfrm>
        </p:spPr>
      </p:sp>
      <p:sp>
        <p:nvSpPr>
          <p:cNvPr id="3" name="Notes Placeholder 2"/>
          <p:cNvSpPr>
            <a:spLocks noGrp="1"/>
          </p:cNvSpPr>
          <p:nvPr>
            <p:ph type="body" idx="1"/>
          </p:nvPr>
        </p:nvSpPr>
        <p:spPr/>
        <p:txBody>
          <a:bodyPr/>
          <a:lstStyle/>
          <a:p>
            <a:r>
              <a:rPr lang="en-US" altLang="zh-CN" dirty="0"/>
              <a:t>Memory failures are a key component of hardware failures. The terminology related to memory faults, errors, and failures are shown below. </a:t>
            </a:r>
          </a:p>
          <a:p>
            <a:r>
              <a:rPr lang="en-US" altLang="zh-CN" dirty="0"/>
              <a:t>A memory fault refers to the underlying cause of DRAM errors, including soft faults. </a:t>
            </a:r>
          </a:p>
          <a:p>
            <a:r>
              <a:rPr lang="en-US" altLang="zh-CN" dirty="0"/>
              <a:t>A memory error can either be a Correctable Error (CE) or an Uncorrectable Error (UE). CEs are errors that can be corrected by the ECC mechanism, while UEs are errors that cannot be corrected by ECC.</a:t>
            </a:r>
          </a:p>
          <a:p>
            <a:r>
              <a:rPr lang="en-US" altLang="zh-CN" dirty="0"/>
              <a:t>In data centers, we encounter both sudden UEs and predictable UEs. Sudden UEs are those that immediately corrupt data, and since they don’t have preceding CEs, there are not enough signals to predict them. </a:t>
            </a:r>
          </a:p>
          <a:p>
            <a:r>
              <a:rPr lang="en-US" altLang="zh-CN" dirty="0"/>
              <a:t>Therefore, we focus on predictable UEs caused memory failures, which start as CEs and evolve into more severe UEs.</a:t>
            </a:r>
          </a:p>
          <a:p>
            <a:r>
              <a:rPr lang="en-US" altLang="zh-CN" dirty="0"/>
              <a:t>Finally, a memory failure is a critical event where the delivered service deviates from the expected correct service, such as in the case of a UE.</a:t>
            </a:r>
          </a:p>
        </p:txBody>
      </p:sp>
    </p:spTree>
    <p:extLst>
      <p:ext uri="{BB962C8B-B14F-4D97-AF65-F5344CB8AC3E}">
        <p14:creationId xmlns:p14="http://schemas.microsoft.com/office/powerpoint/2010/main" val="4205160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304" rtl="0" eaLnBrk="1" fontAlgn="auto" latinLnBrk="0" hangingPunct="1">
              <a:lnSpc>
                <a:spcPct val="100000"/>
              </a:lnSpc>
              <a:spcBef>
                <a:spcPts val="0"/>
              </a:spcBef>
              <a:spcAft>
                <a:spcPts val="0"/>
              </a:spcAft>
              <a:buClrTx/>
              <a:buSzTx/>
              <a:buFontTx/>
              <a:buNone/>
              <a:tabLst/>
              <a:defRPr/>
            </a:pPr>
            <a:r>
              <a:rPr lang="en-US" altLang="zh-CN" sz="2000" dirty="0"/>
              <a:t>Our task can be formally described as predicting future hardware failures based on correctable memory errors, such as memory crashes caused by uncorrectable errors. Correctable errors in memory can be represented as an event sequence. We are addressing the problem of hardware failure prediction driven by event sequences, where we use historical event sequence data to predict whether a failure will occur in the near future. </a:t>
            </a:r>
          </a:p>
          <a:p>
            <a:pPr marL="0" marR="0" lvl="0" indent="0" algn="l" defTabSz="1219304" rtl="0" eaLnBrk="1" fontAlgn="auto" latinLnBrk="0" hangingPunct="1">
              <a:lnSpc>
                <a:spcPct val="100000"/>
              </a:lnSpc>
              <a:spcBef>
                <a:spcPts val="0"/>
              </a:spcBef>
              <a:spcAft>
                <a:spcPts val="0"/>
              </a:spcAft>
              <a:buClrTx/>
              <a:buSzTx/>
              <a:buFontTx/>
              <a:buNone/>
              <a:tabLst/>
              <a:defRPr/>
            </a:pPr>
            <a:r>
              <a:rPr lang="en-US" altLang="zh-CN" sz="2000" dirty="0"/>
              <a:t>These event sequences can be divided into two types: </a:t>
            </a:r>
            <a:r>
              <a:rPr lang="en-US" altLang="zh-CN" sz="2000" b="1" dirty="0">
                <a:latin typeface="+mn-ea"/>
              </a:rPr>
              <a:t>Uniformly Spaced Event Sequences and Non-Uniformly Spaced Event Sequences</a:t>
            </a:r>
            <a:r>
              <a:rPr lang="en-US" altLang="zh-CN" sz="2000" dirty="0"/>
              <a:t>, depending on the sampling interval. In the case of Huawei Cloud’s log data flow, memory correctable errors form an </a:t>
            </a:r>
            <a:r>
              <a:rPr lang="en-US" altLang="zh-CN" sz="2000" b="1" dirty="0">
                <a:latin typeface="+mn-ea"/>
              </a:rPr>
              <a:t>Non-Uniformly Spaced </a:t>
            </a:r>
            <a:r>
              <a:rPr lang="en-US" altLang="zh-CN" sz="2000" dirty="0"/>
              <a:t>event sequence, which presents a more complex challenge.</a:t>
            </a:r>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4</a:t>
            </a:fld>
            <a:endParaRPr lang="en-US"/>
          </a:p>
        </p:txBody>
      </p:sp>
    </p:spTree>
    <p:extLst>
      <p:ext uri="{BB962C8B-B14F-4D97-AF65-F5344CB8AC3E}">
        <p14:creationId xmlns:p14="http://schemas.microsoft.com/office/powerpoint/2010/main" val="524422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304" rtl="0" eaLnBrk="1" fontAlgn="auto" latinLnBrk="0" hangingPunct="1">
              <a:lnSpc>
                <a:spcPct val="100000"/>
              </a:lnSpc>
              <a:spcBef>
                <a:spcPts val="0"/>
              </a:spcBef>
              <a:spcAft>
                <a:spcPts val="0"/>
              </a:spcAft>
              <a:buClrTx/>
              <a:buSzTx/>
              <a:buFontTx/>
              <a:buNone/>
              <a:tabLst/>
              <a:defRPr/>
            </a:pPr>
            <a:r>
              <a:rPr lang="en-US" altLang="zh-CN" sz="2000" dirty="0"/>
              <a:t>For memory fault prediction, the input consists of event sequences derived from memory error logs. These logs include multimodal information, such as numerical, textual, and multi-level alarm spatial data. </a:t>
            </a:r>
            <a:r>
              <a:rPr lang="en-US" altLang="zh-CN" sz="2000" b="1" dirty="0"/>
              <a:t>At a server level</a:t>
            </a:r>
            <a:r>
              <a:rPr lang="en-US" altLang="zh-CN" sz="2000" dirty="0"/>
              <a:t>, this includes static configuration parameters like the CPU model, frequencies, and DIMM-specific properties. At the </a:t>
            </a:r>
            <a:r>
              <a:rPr lang="en-US" altLang="zh-CN" sz="2000" b="1" dirty="0"/>
              <a:t>DIMM level</a:t>
            </a:r>
            <a:r>
              <a:rPr lang="en-US" altLang="zh-CN" sz="2000" dirty="0"/>
              <a:t>, we focus on identifying the specific failed memory cell, recording the fault location using hierarchical coordinates, such as rank ID, device ID, bank ID, row ID, and column ID. Finally, at </a:t>
            </a:r>
            <a:r>
              <a:rPr lang="en-US" altLang="zh-CN" sz="2000" b="1" dirty="0"/>
              <a:t>the bit level</a:t>
            </a:r>
            <a:r>
              <a:rPr lang="en-US" altLang="zh-CN" sz="2000" dirty="0"/>
              <a:t>, we capture the error bits during memory access as a 32-bit binary sequence, representing the error state across the DQ-Beat Matrix.</a:t>
            </a:r>
            <a:endParaRPr lang="zh-CN" altLang="en-US" sz="1800" dirty="0"/>
          </a:p>
        </p:txBody>
      </p:sp>
      <p:sp>
        <p:nvSpPr>
          <p:cNvPr id="4" name="灯片编号占位符 3"/>
          <p:cNvSpPr>
            <a:spLocks noGrp="1"/>
          </p:cNvSpPr>
          <p:nvPr>
            <p:ph type="sldNum" sz="quarter" idx="5"/>
          </p:nvPr>
        </p:nvSpPr>
        <p:spPr/>
        <p:txBody>
          <a:bodyPr/>
          <a:lstStyle/>
          <a:p>
            <a:fld id="{F07326F3-4732-B74B-9C70-D0992466E499}" type="slidenum">
              <a:rPr lang="en-US" smtClean="0"/>
              <a:t>5</a:t>
            </a:fld>
            <a:endParaRPr lang="en-US"/>
          </a:p>
        </p:txBody>
      </p:sp>
    </p:spTree>
    <p:extLst>
      <p:ext uri="{BB962C8B-B14F-4D97-AF65-F5344CB8AC3E}">
        <p14:creationId xmlns:p14="http://schemas.microsoft.com/office/powerpoint/2010/main" val="1742284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000" dirty="0"/>
              <a:t>Existing research methods have three main limitations. </a:t>
            </a:r>
          </a:p>
          <a:p>
            <a:r>
              <a:rPr lang="en-US" altLang="zh-CN" sz="2000" dirty="0"/>
              <a:t>First, classifiers based on raw event sequence features only use simple combinations of raw features, which don’t capture the unique patterns of memory failures and fail to explore abnormal data patterns.</a:t>
            </a:r>
          </a:p>
          <a:p>
            <a:r>
              <a:rPr lang="en-US" altLang="zh-CN" sz="2000" dirty="0"/>
              <a:t>Second, classifiers based on statistical features rely on aggregated data and transformers to predict failures, but they overlook how features at different granularities and scales affect performance.</a:t>
            </a:r>
          </a:p>
          <a:p>
            <a:r>
              <a:rPr lang="en-US" altLang="zh-CN" sz="2000" dirty="0"/>
              <a:t>Finally, expert knowledge-based classifiers use domain-specific features, but they require a lot of expert input, and designing these features is a complex and time-consuming process.</a:t>
            </a:r>
          </a:p>
        </p:txBody>
      </p:sp>
      <p:sp>
        <p:nvSpPr>
          <p:cNvPr id="4" name="灯片编号占位符 3"/>
          <p:cNvSpPr>
            <a:spLocks noGrp="1"/>
          </p:cNvSpPr>
          <p:nvPr>
            <p:ph type="sldNum" sz="quarter" idx="5"/>
          </p:nvPr>
        </p:nvSpPr>
        <p:spPr/>
        <p:txBody>
          <a:bodyPr/>
          <a:lstStyle/>
          <a:p>
            <a:fld id="{F07326F3-4732-B74B-9C70-D0992466E499}" type="slidenum">
              <a:rPr lang="en-US" smtClean="0"/>
              <a:t>6</a:t>
            </a:fld>
            <a:endParaRPr lang="en-US"/>
          </a:p>
        </p:txBody>
      </p:sp>
    </p:spTree>
    <p:extLst>
      <p:ext uri="{BB962C8B-B14F-4D97-AF65-F5344CB8AC3E}">
        <p14:creationId xmlns:p14="http://schemas.microsoft.com/office/powerpoint/2010/main" val="1543968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000" dirty="0"/>
              <a:t>To address these issues, we have designed a event sequence analysis and failure prediction framework, with the core focus on event sequence analysis and memory failure prediction. Finally, we will deploy it onto the AIOps system for use in the Huawei Cloud’s production environment.</a:t>
            </a:r>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7</a:t>
            </a:fld>
            <a:endParaRPr lang="en-US"/>
          </a:p>
        </p:txBody>
      </p:sp>
    </p:spTree>
    <p:extLst>
      <p:ext uri="{BB962C8B-B14F-4D97-AF65-F5344CB8AC3E}">
        <p14:creationId xmlns:p14="http://schemas.microsoft.com/office/powerpoint/2010/main" val="1204846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000" dirty="0"/>
              <a:t>The first research topic focus on event sequence analysis. For the temporal and spatial aspects of event sequences, we have designed event feature and representation extractors across three dimensions: temporal, spatial, and spatiotemporal. </a:t>
            </a:r>
          </a:p>
          <a:p>
            <a:r>
              <a:rPr lang="en-US" altLang="zh-CN" sz="2000" dirty="0"/>
              <a:t>The </a:t>
            </a:r>
            <a:r>
              <a:rPr lang="en-US" altLang="zh-CN" sz="2000" b="1" dirty="0"/>
              <a:t>temporal</a:t>
            </a:r>
            <a:r>
              <a:rPr lang="en-US" altLang="zh-CN" sz="2000" dirty="0"/>
              <a:t> dimension is specifically used to analyze timestamp sequences, the </a:t>
            </a:r>
            <a:r>
              <a:rPr lang="en-US" altLang="zh-CN" sz="2000" b="1" dirty="0"/>
              <a:t>spatial</a:t>
            </a:r>
            <a:r>
              <a:rPr lang="en-US" altLang="zh-CN" sz="2000" dirty="0"/>
              <a:t> dimension considers only the information of each event itself while ignoring its time-related data, and finally the </a:t>
            </a:r>
            <a:r>
              <a:rPr lang="en-US" altLang="zh-CN" sz="2000" b="1" dirty="0"/>
              <a:t>spatiotemporal</a:t>
            </a:r>
            <a:r>
              <a:rPr lang="en-US" altLang="zh-CN" sz="2000" dirty="0"/>
              <a:t> dimension combines both time and space information of CE.</a:t>
            </a:r>
          </a:p>
        </p:txBody>
      </p:sp>
      <p:sp>
        <p:nvSpPr>
          <p:cNvPr id="4" name="灯片编号占位符 3"/>
          <p:cNvSpPr>
            <a:spLocks noGrp="1"/>
          </p:cNvSpPr>
          <p:nvPr>
            <p:ph type="sldNum" sz="quarter" idx="5"/>
          </p:nvPr>
        </p:nvSpPr>
        <p:spPr/>
        <p:txBody>
          <a:bodyPr/>
          <a:lstStyle/>
          <a:p>
            <a:fld id="{F07326F3-4732-B74B-9C70-D0992466E499}" type="slidenum">
              <a:rPr lang="en-US" smtClean="0"/>
              <a:t>8</a:t>
            </a:fld>
            <a:endParaRPr lang="en-US"/>
          </a:p>
        </p:txBody>
      </p:sp>
    </p:spTree>
    <p:extLst>
      <p:ext uri="{BB962C8B-B14F-4D97-AF65-F5344CB8AC3E}">
        <p14:creationId xmlns:p14="http://schemas.microsoft.com/office/powerpoint/2010/main" val="1211847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000" dirty="0"/>
              <a:t>First, for the temporal dimension, we focus on breaking down each event’s /relative time to the first alarm/ into multiple granularities. This allows us to input the multigranularity time interval information into an embedding model, which will help us build the relationship between time and events later on. Additionally, we also consider features such as counts, frequencies, and differences, which are determined by memory mechanisms or statistical analysis, and we categorize these as statistical features. This combination of time and statistical features helps provide a more comprehensive understanding of the event sequences.</a:t>
            </a:r>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9</a:t>
            </a:fld>
            <a:endParaRPr lang="en-US"/>
          </a:p>
        </p:txBody>
      </p:sp>
    </p:spTree>
    <p:extLst>
      <p:ext uri="{BB962C8B-B14F-4D97-AF65-F5344CB8AC3E}">
        <p14:creationId xmlns:p14="http://schemas.microsoft.com/office/powerpoint/2010/main" val="2126772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000" dirty="0"/>
              <a:t>For the spatial dimension, we abstract the memory's spatial information by associating each event with a blue grid and a green matrix. </a:t>
            </a:r>
          </a:p>
          <a:p>
            <a:r>
              <a:rPr lang="en-US" altLang="zh-CN" sz="2000" dirty="0"/>
              <a:t>The blue grid represents coarse-grained spatial information at the DIMM level, which includes the location of the error unit. </a:t>
            </a:r>
          </a:p>
          <a:p>
            <a:r>
              <a:rPr lang="en-US" altLang="zh-CN" sz="2000" dirty="0"/>
              <a:t>The green matrix represents fine-grained information at the bit level, which includes bit flip data from retry registers. </a:t>
            </a:r>
          </a:p>
        </p:txBody>
      </p:sp>
      <p:sp>
        <p:nvSpPr>
          <p:cNvPr id="4" name="灯片编号占位符 3"/>
          <p:cNvSpPr>
            <a:spLocks noGrp="1"/>
          </p:cNvSpPr>
          <p:nvPr>
            <p:ph type="sldNum" sz="quarter" idx="5"/>
          </p:nvPr>
        </p:nvSpPr>
        <p:spPr/>
        <p:txBody>
          <a:bodyPr/>
          <a:lstStyle/>
          <a:p>
            <a:fld id="{F07326F3-4732-B74B-9C70-D0992466E499}" type="slidenum">
              <a:rPr lang="en-US" smtClean="0"/>
              <a:t>10</a:t>
            </a:fld>
            <a:endParaRPr lang="en-US"/>
          </a:p>
        </p:txBody>
      </p:sp>
    </p:spTree>
    <p:extLst>
      <p:ext uri="{BB962C8B-B14F-4D97-AF65-F5344CB8AC3E}">
        <p14:creationId xmlns:p14="http://schemas.microsoft.com/office/powerpoint/2010/main" val="4135853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400" dirty="0"/>
              <a:t>Specifically, we have designed a 0-1 matrix space feature extractor to capture features from two-dimensional matrix information. This is done by first designing a one-dimensional BSFE (Bit-Level Space Feature Extractor) based on three principles: symmetry, generality, and sensitivity. We then extend this to two dimensions using two approaches: first reduction then aggregation, and first aggregation then reduction. Finally, we define an inter-level aggregation operation to extract features from multiple event aggregations.</a:t>
            </a:r>
          </a:p>
          <a:p>
            <a:r>
              <a:rPr lang="en-US" altLang="zh-CN" sz="2400" dirty="0"/>
              <a:t>The BSFE method /proves effective/ by extracting patterns related to fault mechanisms. The 2D-BSFE extracts correctable error (CE) patterns from bit-level information, while ensuring the three principles are satisfied: symmetry (which avoids naive methods), generality (which differentiates it from approaches like DQ-Beat Predictor or </a:t>
            </a:r>
            <a:r>
              <a:rPr lang="en-US" altLang="zh-CN" sz="2400" dirty="0" err="1"/>
              <a:t>Himfp</a:t>
            </a:r>
            <a:r>
              <a:rPr lang="en-US" altLang="zh-CN" sz="2400" dirty="0"/>
              <a:t>), and sensitivity (which sets it apart from CNN, </a:t>
            </a:r>
            <a:r>
              <a:rPr lang="en-US" altLang="zh-CN" sz="2400" dirty="0" err="1"/>
              <a:t>ViT</a:t>
            </a:r>
            <a:r>
              <a:rPr lang="en-US" altLang="zh-CN" sz="2400" dirty="0"/>
              <a:t>, and STIM-based methods). Ablation studies confirm its strong performance. Additionally, the Multi-BSFE captures spatial-temporal features, such as the number of faulty columns per bank, through hierarchical aggregation, and its effectiveness is further validated by feature importance analysis and ablation tests.</a:t>
            </a:r>
          </a:p>
        </p:txBody>
      </p:sp>
      <p:sp>
        <p:nvSpPr>
          <p:cNvPr id="4" name="灯片编号占位符 3"/>
          <p:cNvSpPr>
            <a:spLocks noGrp="1"/>
          </p:cNvSpPr>
          <p:nvPr>
            <p:ph type="sldNum" sz="quarter" idx="5"/>
          </p:nvPr>
        </p:nvSpPr>
        <p:spPr/>
        <p:txBody>
          <a:bodyPr/>
          <a:lstStyle/>
          <a:p>
            <a:fld id="{F07326F3-4732-B74B-9C70-D0992466E499}" type="slidenum">
              <a:rPr lang="en-US" smtClean="0"/>
              <a:t>11</a:t>
            </a:fld>
            <a:endParaRPr lang="en-US"/>
          </a:p>
        </p:txBody>
      </p:sp>
    </p:spTree>
    <p:extLst>
      <p:ext uri="{BB962C8B-B14F-4D97-AF65-F5344CB8AC3E}">
        <p14:creationId xmlns:p14="http://schemas.microsoft.com/office/powerpoint/2010/main" val="396843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000" dirty="0"/>
              <a:t>The second research topic focus on memory fault prediction. Building on the four sets of features and representations derived from the first topic of our research, we have designed three models that capture the relationship between historical events and memory faults from different perspectives.</a:t>
            </a:r>
          </a:p>
          <a:p>
            <a:r>
              <a:rPr lang="en-US" altLang="zh-CN" sz="2000" dirty="0"/>
              <a:t>By using the interpretability of the models or post-hoc interpretability tools, we can then perform fault diagnosis, helping us better understand the causes and patterns of memory failures.</a:t>
            </a:r>
          </a:p>
        </p:txBody>
      </p:sp>
      <p:sp>
        <p:nvSpPr>
          <p:cNvPr id="4" name="灯片编号占位符 3"/>
          <p:cNvSpPr>
            <a:spLocks noGrp="1"/>
          </p:cNvSpPr>
          <p:nvPr>
            <p:ph type="sldNum" sz="quarter" idx="5"/>
          </p:nvPr>
        </p:nvSpPr>
        <p:spPr/>
        <p:txBody>
          <a:bodyPr/>
          <a:lstStyle/>
          <a:p>
            <a:fld id="{F07326F3-4732-B74B-9C70-D0992466E499}" type="slidenum">
              <a:rPr lang="en-US" smtClean="0"/>
              <a:t>12</a:t>
            </a:fld>
            <a:endParaRPr lang="en-US"/>
          </a:p>
        </p:txBody>
      </p:sp>
    </p:spTree>
    <p:extLst>
      <p:ext uri="{BB962C8B-B14F-4D97-AF65-F5344CB8AC3E}">
        <p14:creationId xmlns:p14="http://schemas.microsoft.com/office/powerpoint/2010/main" val="1894047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combine the time and event spatial information to create a unified representation. First, we take the time embedding and the event spatial features and merge them together. This combined representation helps us capture both the time-related and event-related aspects of the data. Then, we input this combined "time + event" representation into a Self-Attention Layer, which allows us to understand the spatiotemporal relationships between the events and their timings.</a:t>
            </a:r>
          </a:p>
          <a:p>
            <a:r>
              <a:rPr lang="en-US" altLang="zh-CN" dirty="0"/>
              <a:t>Additionally, we recognize that different memory modules have distinct server-level information. We project this server-level data into a new representation and then use a Cross-Attention Layer to integrate it with the spatiotemporal representation. This way, we can combine both the event and server-level information to better capture the full context of memory failures.</a:t>
            </a:r>
          </a:p>
          <a:p>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13</a:t>
            </a:fld>
            <a:endParaRPr lang="en-US"/>
          </a:p>
        </p:txBody>
      </p:sp>
    </p:spTree>
    <p:extLst>
      <p:ext uri="{BB962C8B-B14F-4D97-AF65-F5344CB8AC3E}">
        <p14:creationId xmlns:p14="http://schemas.microsoft.com/office/powerpoint/2010/main" val="30679428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For the Time-patch scale model, during training, we aggregate historical correctable errors (CEs) using a sliding window. Then, we apply multiple levels of the BSFE to extract multi-level spatial features from the time-patch scale data. The final time-patch feature vector is created by combining the outputs of the Multi-BSFE with the counting features we derived. These features are then fed into a classifier, such as </a:t>
            </a:r>
            <a:r>
              <a:rPr lang="en-US" altLang="zh-CN" dirty="0" err="1"/>
              <a:t>LightGBM</a:t>
            </a:r>
            <a:r>
              <a:rPr lang="en-US" altLang="zh-CN" dirty="0"/>
              <a:t>, to train a failure prediction model.</a:t>
            </a:r>
          </a:p>
          <a:p>
            <a:r>
              <a:rPr lang="en-US" altLang="zh-CN" dirty="0"/>
              <a:t>Throughout both training and inference, features are generated at regular intervals using CE logs from the previous observation window. This process ensures that the predictions remain consistent over time, maintaining temporal accuracy.</a:t>
            </a:r>
          </a:p>
          <a:p>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14</a:t>
            </a:fld>
            <a:endParaRPr lang="en-US"/>
          </a:p>
        </p:txBody>
      </p:sp>
    </p:spTree>
    <p:extLst>
      <p:ext uri="{BB962C8B-B14F-4D97-AF65-F5344CB8AC3E}">
        <p14:creationId xmlns:p14="http://schemas.microsoft.com/office/powerpoint/2010/main" val="4189910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Finally, we have the Time-point scale model. Our existing research and experiments on this dataset show that creating high-precision rules for time fine-grained features significantly improves the overall performance of memory fault prediction. However, the recall ability of manually designed rules is limited. This limitation highlights the importance of finding ways to use data-driven methods to design learnable rules. Developing such methods has become a key direction for improving memory fault prediction.</a:t>
            </a:r>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15</a:t>
            </a:fld>
            <a:endParaRPr lang="en-US"/>
          </a:p>
        </p:txBody>
      </p:sp>
    </p:spTree>
    <p:extLst>
      <p:ext uri="{BB962C8B-B14F-4D97-AF65-F5344CB8AC3E}">
        <p14:creationId xmlns:p14="http://schemas.microsoft.com/office/powerpoint/2010/main" val="3711717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designed a customized Gini decision tree based on bit-space features and CE type to achieve fault prediction at the time-point granularity. The key innovation in our approach is the use of DIMM-level Gini gain, instead of traditional sample-level impurity metrics. This allows for more precise fault prediction. The algorithm works by extracting all branches of the DIMM-Centric Decision Tree that result in a fault prediction (indicated by a result of 1) and then storing these branches in a rule base.</a:t>
            </a:r>
          </a:p>
          <a:p>
            <a:r>
              <a:rPr lang="en-US" altLang="zh-CN" dirty="0"/>
              <a:t>During inference, when new CE data comes in from the data stream, we evaluate it against the rule base. If a record matches any of the rules, the corresponding DIMM is predicted to experience a fault in the future. This approach allows for real-time prediction based on previously learned patterns.</a:t>
            </a:r>
          </a:p>
          <a:p>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16</a:t>
            </a:fld>
            <a:endParaRPr lang="en-US"/>
          </a:p>
        </p:txBody>
      </p:sp>
    </p:spTree>
    <p:extLst>
      <p:ext uri="{BB962C8B-B14F-4D97-AF65-F5344CB8AC3E}">
        <p14:creationId xmlns:p14="http://schemas.microsoft.com/office/powerpoint/2010/main" val="14810153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400" dirty="0"/>
              <a:t>To summarize, we have developed three models for memory fault prediction. The Time-aware model focuses on modeling the timestamp representations of all events within the time window, along with event spatial features, using deep learning methods. The Time-patch scale model aggregates all events within the time window across multiple time scales to generate multi-level spatiotemporal features. These features are then combined with statistical features for modeling. Finally, the Time-point scale model uses event spatial features from all historical events and a custom decision tree to generate a set of rules for fault prediction.</a:t>
            </a:r>
            <a:endParaRPr lang="en-US" altLang="zh-CN" sz="2000" dirty="0"/>
          </a:p>
        </p:txBody>
      </p:sp>
      <p:sp>
        <p:nvSpPr>
          <p:cNvPr id="4" name="灯片编号占位符 3"/>
          <p:cNvSpPr>
            <a:spLocks noGrp="1"/>
          </p:cNvSpPr>
          <p:nvPr>
            <p:ph type="sldNum" sz="quarter" idx="5"/>
          </p:nvPr>
        </p:nvSpPr>
        <p:spPr/>
        <p:txBody>
          <a:bodyPr/>
          <a:lstStyle/>
          <a:p>
            <a:fld id="{F07326F3-4732-B74B-9C70-D0992466E499}" type="slidenum">
              <a:rPr lang="en-US" smtClean="0"/>
              <a:t>17</a:t>
            </a:fld>
            <a:endParaRPr lang="en-US"/>
          </a:p>
        </p:txBody>
      </p:sp>
    </p:spTree>
    <p:extLst>
      <p:ext uri="{BB962C8B-B14F-4D97-AF65-F5344CB8AC3E}">
        <p14:creationId xmlns:p14="http://schemas.microsoft.com/office/powerpoint/2010/main" val="2011324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000" dirty="0"/>
              <a:t>The first two research components together form an end-to-end event sequence-driven fault prediction and diagnosis module. We’ve successfully deployed this module in Huawei Cloud's production environment, achieving state-of-the-art performance. Additionally, we’ve verified that both modules contribute to improving the overall performance. Looking ahead, our future work will focus on continuously improving fault prediction capabilities, expanding the fault diagnosis scenarios, and ultimately extending these solutions to provide intelligent operations and maintenance services across various cloud infrastructure use cases.</a:t>
            </a:r>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18</a:t>
            </a:fld>
            <a:endParaRPr lang="en-US"/>
          </a:p>
        </p:txBody>
      </p:sp>
    </p:spTree>
    <p:extLst>
      <p:ext uri="{BB962C8B-B14F-4D97-AF65-F5344CB8AC3E}">
        <p14:creationId xmlns:p14="http://schemas.microsoft.com/office/powerpoint/2010/main" val="27269728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000" dirty="0"/>
              <a:t>In addition, we have several areas for future work. The first one involves the loss function. Currently, MFP aims to forecast DIMM failures, but since a DIMM corresponds to multiple samples during inference, the sample-level loss functions do not accurately reflect DIMM-level predictions. This is an issue we plan to address in our future work to improve the accuracy of our model’s predictions at the DIMM level.</a:t>
            </a:r>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19</a:t>
            </a:fld>
            <a:endParaRPr lang="en-US"/>
          </a:p>
        </p:txBody>
      </p:sp>
    </p:spTree>
    <p:extLst>
      <p:ext uri="{BB962C8B-B14F-4D97-AF65-F5344CB8AC3E}">
        <p14:creationId xmlns:p14="http://schemas.microsoft.com/office/powerpoint/2010/main" val="18745088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000" dirty="0"/>
              <a:t>The second area of future work is the Risky Parity Pattern. This approach consists of three stages. In Stage 1, we design rules based on expert knowledge, focusing on the mechanisms of specific ECC (Error Correcting Code). In Stage 2, we design rules based on experience, using statistical laws to guide the process. Finally, in Stage 3, we aim to use general models to discover universal models that can be applied to a wide range of datasets, making the approach more adaptable and scalable.</a:t>
            </a:r>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20</a:t>
            </a:fld>
            <a:endParaRPr lang="en-US"/>
          </a:p>
        </p:txBody>
      </p:sp>
    </p:spTree>
    <p:extLst>
      <p:ext uri="{BB962C8B-B14F-4D97-AF65-F5344CB8AC3E}">
        <p14:creationId xmlns:p14="http://schemas.microsoft.com/office/powerpoint/2010/main" val="2760089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000" dirty="0"/>
              <a:t>In addition to the work we've discussed today, we also have several resources available. These include the baseline code for the WWW competition, the code for M2-MFP, and materials for our HPCA 2025 tutorial and WWW 2025 and competitions. </a:t>
            </a:r>
          </a:p>
          <a:p>
            <a:r>
              <a:rPr lang="en-US" altLang="zh-CN" sz="2000" dirty="0"/>
              <a:t>We encourage you to explore these resources, and we’re excited to continue advancing in this field. </a:t>
            </a:r>
          </a:p>
          <a:p>
            <a:r>
              <a:rPr lang="en-US" altLang="zh-CN" sz="2000" dirty="0"/>
              <a:t>Thank you for your attention, and I look forward to any questions or further discussions!</a:t>
            </a:r>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21</a:t>
            </a:fld>
            <a:endParaRPr lang="en-US"/>
          </a:p>
        </p:txBody>
      </p:sp>
    </p:spTree>
    <p:extLst>
      <p:ext uri="{BB962C8B-B14F-4D97-AF65-F5344CB8AC3E}">
        <p14:creationId xmlns:p14="http://schemas.microsoft.com/office/powerpoint/2010/main" val="7621570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探索">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a:extLst>
              <a:ext uri="{28A0092B-C50C-407E-A947-70E740481C1C}">
                <a14:useLocalDpi xmlns:a14="http://schemas.microsoft.com/office/drawing/2010/main" val="0"/>
              </a:ext>
            </a:extLst>
          </a:blip>
          <a:srcRect b="18667"/>
          <a:stretch/>
        </p:blipFill>
        <p:spPr>
          <a:xfrm>
            <a:off x="0" y="0"/>
            <a:ext cx="12206140" cy="5594695"/>
          </a:xfrm>
          <a:prstGeom prst="rect">
            <a:avLst/>
          </a:prstGeom>
        </p:spPr>
      </p:pic>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0"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6"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9" name="Text Placeholder 5">
            <a:extLst>
              <a:ext uri="{FF2B5EF4-FFF2-40B4-BE49-F238E27FC236}">
                <a16:creationId xmlns:a16="http://schemas.microsoft.com/office/drawing/2014/main" id="{52F8733E-C4C9-8D4D-8DDA-CAB265AC05A0}"/>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165194953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智能">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b="18604"/>
          <a:stretch/>
        </p:blipFill>
        <p:spPr>
          <a:xfrm>
            <a:off x="0" y="375"/>
            <a:ext cx="12197432" cy="5599236"/>
          </a:xfrm>
          <a:prstGeom prst="rect">
            <a:avLst/>
          </a:prstGeom>
        </p:spPr>
      </p:pic>
      <p:sp>
        <p:nvSpPr>
          <p:cNvPr id="8" name="Title 1">
            <a:extLst>
              <a:ext uri="{FF2B5EF4-FFF2-40B4-BE49-F238E27FC236}">
                <a16:creationId xmlns:a16="http://schemas.microsoft.com/office/drawing/2014/main" id="{62AA4863-E1EF-3342-A8CB-ECD4FD06CEB7}"/>
              </a:ext>
            </a:extLst>
          </p:cNvPr>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a:extLst>
              <a:ext uri="{FF2B5EF4-FFF2-40B4-BE49-F238E27FC236}">
                <a16:creationId xmlns:a16="http://schemas.microsoft.com/office/drawing/2014/main" id="{195303EA-8491-464F-99A0-67F948701C12}"/>
              </a:ext>
            </a:extLst>
          </p:cNvPr>
          <p:cNvSpPr>
            <a:spLocks noGrp="1"/>
          </p:cNvSpPr>
          <p:nvPr>
            <p:ph type="body" sz="quarter" idx="10" hasCustomPrompt="1"/>
          </p:nvPr>
        </p:nvSpPr>
        <p:spPr>
          <a:xfrm>
            <a:off x="929260" y="1949372"/>
            <a:ext cx="412816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56DBC59C-CE55-E340-A3AE-F88AAF0D7560}"/>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
        <p:nvSpPr>
          <p:cNvPr id="14" name="L 形 17">
            <a:extLst>
              <a:ext uri="{FF2B5EF4-FFF2-40B4-BE49-F238E27FC236}">
                <a16:creationId xmlns:a16="http://schemas.microsoft.com/office/drawing/2014/main" id="{3049C48A-4CAE-8940-8A29-89DE0543DF4C}"/>
              </a:ext>
            </a:extLst>
          </p:cNvPr>
          <p:cNvSpPr/>
          <p:nvPr userDrawn="1"/>
        </p:nvSpPr>
        <p:spPr>
          <a:xfrm rot="5400000">
            <a:off x="5369529" y="2370740"/>
            <a:ext cx="744262" cy="762208"/>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Tree>
    <p:extLst>
      <p:ext uri="{BB962C8B-B14F-4D97-AF65-F5344CB8AC3E}">
        <p14:creationId xmlns:p14="http://schemas.microsoft.com/office/powerpoint/2010/main" val="351448738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创新">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t="1" b="18476"/>
          <a:stretch/>
        </p:blipFill>
        <p:spPr>
          <a:xfrm>
            <a:off x="0" y="374"/>
            <a:ext cx="12197432" cy="5590529"/>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a:extLst>
              <a:ext uri="{FF2B5EF4-FFF2-40B4-BE49-F238E27FC236}">
                <a16:creationId xmlns:a16="http://schemas.microsoft.com/office/drawing/2014/main" id="{FB908F03-BBCC-164B-BE54-2E836D6E7C14}"/>
              </a:ext>
            </a:extLst>
          </p:cNvPr>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a:extLst>
              <a:ext uri="{FF2B5EF4-FFF2-40B4-BE49-F238E27FC236}">
                <a16:creationId xmlns:a16="http://schemas.microsoft.com/office/drawing/2014/main" id="{A3BE9F9B-07D9-DD4C-9CEF-250804A4145A}"/>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93A299E5-0026-5A42-88AA-B3A7F29D3ABD}"/>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184266986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攀登">
    <p:bg>
      <p:bgPr>
        <a:solidFill>
          <a:srgbClr val="FFFFFF"/>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b="17902"/>
          <a:stretch/>
        </p:blipFill>
        <p:spPr>
          <a:xfrm>
            <a:off x="0" y="-74021"/>
            <a:ext cx="12197432" cy="5668718"/>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 name="Text Placeholder 5">
            <a:extLst>
              <a:ext uri="{FF2B5EF4-FFF2-40B4-BE49-F238E27FC236}">
                <a16:creationId xmlns:a16="http://schemas.microsoft.com/office/drawing/2014/main" id="{6BB7B2F8-0AF7-D04F-81DD-52FDB6B7326C}"/>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462D1BCC-0781-514D-8FE8-12F4AF64BC39}"/>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537370765"/>
      </p:ext>
    </p:extLst>
  </p:cSld>
  <p:clrMapOvr>
    <a:masterClrMapping/>
  </p:clrMapOvr>
  <p:extLst>
    <p:ext uri="{DCECCB84-F9BA-43D5-87BE-67443E8EF086}">
      <p15:sldGuideLst xmlns:p15="http://schemas.microsoft.com/office/powerpoint/2012/main">
        <p15:guide id="1" orient="horz" pos="341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79137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528197" y="955043"/>
            <a:ext cx="10996143" cy="1384995"/>
          </a:xfrm>
          <a:prstGeom prst="rect">
            <a:avLst/>
          </a:prstGeo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标题 1"/>
          <p:cNvSpPr>
            <a:spLocks noGrp="1"/>
          </p:cNvSpPr>
          <p:nvPr>
            <p:ph type="title"/>
          </p:nvPr>
        </p:nvSpPr>
        <p:spPr>
          <a:xfrm>
            <a:off x="527257" y="158973"/>
            <a:ext cx="11144448" cy="574453"/>
          </a:xfrm>
          <a:prstGeom prst="rect">
            <a:avLst/>
          </a:prstGeom>
          <a:ln>
            <a:noFill/>
          </a:ln>
        </p:spPr>
        <p:txBody>
          <a:bodyPr anchor="b"/>
          <a:lstStyle>
            <a:lvl1pPr>
              <a:defRPr sz="3733"/>
            </a:lvl1pPr>
          </a:lstStyle>
          <a:p>
            <a:r>
              <a:rPr lang="zh-CN" altLang="en-US" dirty="0"/>
              <a:t>单击此处编辑母版标题样式</a:t>
            </a:r>
          </a:p>
        </p:txBody>
      </p:sp>
      <p:cxnSp>
        <p:nvCxnSpPr>
          <p:cNvPr id="9" name="Straight Connector 8"/>
          <p:cNvCxnSpPr/>
          <p:nvPr userDrawn="1"/>
        </p:nvCxnSpPr>
        <p:spPr bwMode="auto">
          <a:xfrm flipV="1">
            <a:off x="527257" y="726131"/>
            <a:ext cx="11144448" cy="0"/>
          </a:xfrm>
          <a:prstGeom prst="line">
            <a:avLst/>
          </a:prstGeom>
          <a:ln w="12700">
            <a:solidFill>
              <a:schemeClr val="tx2"/>
            </a:solidFill>
            <a:prstDash val="sysDot"/>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34087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页">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960DD1-8AC3-8F46-9D2D-BF81187F43FC}"/>
              </a:ext>
            </a:extLst>
          </p:cNvPr>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extLst>
      <p:ext uri="{BB962C8B-B14F-4D97-AF65-F5344CB8AC3E}">
        <p14:creationId xmlns:p14="http://schemas.microsoft.com/office/powerpoint/2010/main" val="3664786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9">
            <a:extLst>
              <a:ext uri="{FF2B5EF4-FFF2-40B4-BE49-F238E27FC236}">
                <a16:creationId xmlns:a16="http://schemas.microsoft.com/office/drawing/2014/main" id="{1554B6DF-A7E9-08D0-28A7-E01EE1015F98}"/>
              </a:ext>
            </a:extLst>
          </p:cNvPr>
          <p:cNvSpPr/>
          <p:nvPr userDrawn="1"/>
        </p:nvSpPr>
        <p:spPr>
          <a:xfrm>
            <a:off x="0" y="-2363"/>
            <a:ext cx="12196763" cy="669851"/>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itle 1">
            <a:extLst>
              <a:ext uri="{FF2B5EF4-FFF2-40B4-BE49-F238E27FC236}">
                <a16:creationId xmlns:a16="http://schemas.microsoft.com/office/drawing/2014/main" id="{9661D1BC-E991-BA40-ACC2-2A0E621E05FC}"/>
              </a:ext>
            </a:extLst>
          </p:cNvPr>
          <p:cNvSpPr>
            <a:spLocks noGrp="1"/>
          </p:cNvSpPr>
          <p:nvPr>
            <p:ph type="title"/>
          </p:nvPr>
        </p:nvSpPr>
        <p:spPr>
          <a:xfrm>
            <a:off x="300211" y="-7385"/>
            <a:ext cx="10676876" cy="668545"/>
          </a:xfrm>
        </p:spPr>
        <p:txBody>
          <a:bodyPr>
            <a:normAutofit/>
          </a:bodyPr>
          <a:lstStyle>
            <a:lvl1pPr>
              <a:defRPr sz="3000">
                <a:solidFill>
                  <a:srgbClr val="064C85"/>
                </a:solidFill>
                <a:latin typeface="Candara" panose="020E0502030303020204" pitchFamily="34" charset="0"/>
                <a:ea typeface="Microsoft YaHei UI" panose="020B0503020204020204" pitchFamily="34" charset="-122"/>
              </a:defRPr>
            </a:lvl1pPr>
          </a:lstStyle>
          <a:p>
            <a:r>
              <a:rPr lang="en-US" altLang="zh-CN" dirty="0"/>
              <a:t>Click to edit Master title style</a:t>
            </a:r>
            <a:endParaRPr lang="en-US" dirty="0"/>
          </a:p>
        </p:txBody>
      </p:sp>
      <p:sp>
        <p:nvSpPr>
          <p:cNvPr id="3" name="Content Placeholder 2">
            <a:extLst>
              <a:ext uri="{FF2B5EF4-FFF2-40B4-BE49-F238E27FC236}">
                <a16:creationId xmlns:a16="http://schemas.microsoft.com/office/drawing/2014/main" id="{18261FA4-2057-1C49-8C8F-433F678282A2}"/>
              </a:ext>
            </a:extLst>
          </p:cNvPr>
          <p:cNvSpPr>
            <a:spLocks noGrp="1"/>
          </p:cNvSpPr>
          <p:nvPr>
            <p:ph idx="1"/>
          </p:nvPr>
        </p:nvSpPr>
        <p:spPr>
          <a:xfrm>
            <a:off x="321491" y="950981"/>
            <a:ext cx="11471992" cy="5310302"/>
          </a:xfrm>
        </p:spPr>
        <p:txBody>
          <a:bodyPr/>
          <a:lstStyle>
            <a:lvl1pPr>
              <a:defRPr>
                <a:latin typeface="Candara" panose="020E0502030303020204" pitchFamily="34" charset="0"/>
                <a:ea typeface="Microsoft YaHei UI" panose="020B0503020204020204" pitchFamily="34" charset="-122"/>
              </a:defRPr>
            </a:lvl1pPr>
            <a:lvl2pPr>
              <a:defRPr>
                <a:latin typeface="Candara" panose="020E0502030303020204" pitchFamily="34" charset="0"/>
                <a:ea typeface="Microsoft YaHei UI" panose="020B0503020204020204" pitchFamily="34" charset="-122"/>
              </a:defRPr>
            </a:lvl2pPr>
            <a:lvl3pPr>
              <a:defRPr>
                <a:latin typeface="Candara" panose="020E0502030303020204" pitchFamily="34" charset="0"/>
                <a:ea typeface="Microsoft YaHei UI" panose="020B0503020204020204" pitchFamily="34" charset="-122"/>
              </a:defRPr>
            </a:lvl3pPr>
            <a:lvl4pPr>
              <a:defRPr>
                <a:latin typeface="Candara" panose="020E0502030303020204" pitchFamily="34" charset="0"/>
                <a:ea typeface="Microsoft YaHei UI" panose="020B0503020204020204" pitchFamily="34" charset="-122"/>
              </a:defRPr>
            </a:lvl4pPr>
            <a:lvl5pPr>
              <a:defRPr>
                <a:latin typeface="Candara" panose="020E0502030303020204" pitchFamily="34" charset="0"/>
                <a:ea typeface="Microsoft YaHei UI" panose="020B0503020204020204" pitchFamily="34" charset="-122"/>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6" name="Footer Placeholder 4">
            <a:extLst>
              <a:ext uri="{FF2B5EF4-FFF2-40B4-BE49-F238E27FC236}">
                <a16:creationId xmlns:a16="http://schemas.microsoft.com/office/drawing/2014/main" id="{531E205A-3827-7F46-A83D-B6B442657552}"/>
              </a:ext>
            </a:extLst>
          </p:cNvPr>
          <p:cNvSpPr txBox="1">
            <a:spLocks/>
          </p:cNvSpPr>
          <p:nvPr userDrawn="1"/>
        </p:nvSpPr>
        <p:spPr>
          <a:xfrm>
            <a:off x="3189539" y="6526112"/>
            <a:ext cx="5945525"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dirty="0">
              <a:latin typeface="Candara" panose="020E0502030303020204" pitchFamily="34" charset="0"/>
            </a:endParaRPr>
          </a:p>
        </p:txBody>
      </p:sp>
      <p:sp>
        <p:nvSpPr>
          <p:cNvPr id="7" name="Content Placeholder 2">
            <a:extLst>
              <a:ext uri="{FF2B5EF4-FFF2-40B4-BE49-F238E27FC236}">
                <a16:creationId xmlns:a16="http://schemas.microsoft.com/office/drawing/2014/main" id="{DB7DDC11-8327-8731-9621-AB4EF0314D28}"/>
              </a:ext>
            </a:extLst>
          </p:cNvPr>
          <p:cNvSpPr>
            <a:spLocks noGrp="1"/>
          </p:cNvSpPr>
          <p:nvPr>
            <p:ph idx="10"/>
          </p:nvPr>
        </p:nvSpPr>
        <p:spPr>
          <a:xfrm>
            <a:off x="321491" y="6291353"/>
            <a:ext cx="11471992" cy="259752"/>
          </a:xfrm>
        </p:spPr>
        <p:txBody>
          <a:bodyPr>
            <a:noAutofit/>
          </a:bodyPr>
          <a:lstStyle>
            <a:lvl1pPr marL="0" indent="0">
              <a:buNone/>
              <a:defRPr sz="900"/>
            </a:lvl1pPr>
          </a:lstStyle>
          <a:p>
            <a:pPr lvl="0"/>
            <a:r>
              <a:rPr lang="en-US" altLang="zh-CN" dirty="0"/>
              <a:t>Click to edit Master text styles</a:t>
            </a:r>
          </a:p>
        </p:txBody>
      </p:sp>
      <p:sp>
        <p:nvSpPr>
          <p:cNvPr id="9" name="AutoShape 2">
            <a:extLst>
              <a:ext uri="{FF2B5EF4-FFF2-40B4-BE49-F238E27FC236}">
                <a16:creationId xmlns:a16="http://schemas.microsoft.com/office/drawing/2014/main" id="{5951E345-6EDF-3F58-1AFF-0CE62EA6D3B4}"/>
              </a:ext>
            </a:extLst>
          </p:cNvPr>
          <p:cNvSpPr>
            <a:spLocks noChangeAspect="1" noChangeArrowheads="1"/>
          </p:cNvSpPr>
          <p:nvPr userDrawn="1"/>
        </p:nvSpPr>
        <p:spPr bwMode="auto">
          <a:xfrm>
            <a:off x="5945922" y="3276600"/>
            <a:ext cx="304919"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350"/>
          </a:p>
        </p:txBody>
      </p:sp>
    </p:spTree>
    <p:extLst>
      <p:ext uri="{BB962C8B-B14F-4D97-AF65-F5344CB8AC3E}">
        <p14:creationId xmlns:p14="http://schemas.microsoft.com/office/powerpoint/2010/main" val="2837051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31473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New">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84F9A"/>
                </a:solidFill>
                <a:latin typeface="Candara"/>
                <a:cs typeface="Candara"/>
              </a:defRPr>
            </a:lvl1pPr>
          </a:lstStyle>
          <a:p>
            <a:endParaRPr/>
          </a:p>
        </p:txBody>
      </p:sp>
      <p:sp>
        <p:nvSpPr>
          <p:cNvPr id="3" name="Holder 3"/>
          <p:cNvSpPr>
            <a:spLocks noGrp="1"/>
          </p:cNvSpPr>
          <p:nvPr>
            <p:ph type="body" idx="1"/>
          </p:nvPr>
        </p:nvSpPr>
        <p:spPr/>
        <p:txBody>
          <a:bodyPr lIns="0" tIns="0" rIns="0" bIns="0"/>
          <a:lstStyle>
            <a:lvl1pPr>
              <a:defRPr sz="1800" b="0" i="0">
                <a:solidFill>
                  <a:schemeClr val="bg1"/>
                </a:solidFill>
                <a:latin typeface="Calibri"/>
                <a:cs typeface="Calibri"/>
              </a:defRPr>
            </a:lvl1pPr>
          </a:lstStyle>
          <a:p>
            <a:endParaRPr/>
          </a:p>
        </p:txBody>
      </p:sp>
    </p:spTree>
    <p:extLst>
      <p:ext uri="{BB962C8B-B14F-4D97-AF65-F5344CB8AC3E}">
        <p14:creationId xmlns:p14="http://schemas.microsoft.com/office/powerpoint/2010/main" val="41622237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tif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tiff"/></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9181AA-8E93-7743-ADEB-8A06A0DFC13A}"/>
              </a:ext>
            </a:extLst>
          </p:cNvPr>
          <p:cNvSpPr/>
          <p:nvPr userDrawn="1"/>
        </p:nvSpPr>
        <p:spPr>
          <a:xfrm>
            <a:off x="0" y="5590903"/>
            <a:ext cx="12196763" cy="126709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5" name="Picture 4">
            <a:extLst>
              <a:ext uri="{FF2B5EF4-FFF2-40B4-BE49-F238E27FC236}">
                <a16:creationId xmlns:a16="http://schemas.microsoft.com/office/drawing/2014/main" id="{E6E8B5C1-4D37-8442-902D-D86F9BBDE27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208751" y="5970991"/>
            <a:ext cx="2260800" cy="489278"/>
          </a:xfrm>
          <a:prstGeom prst="rect">
            <a:avLst/>
          </a:prstGeom>
        </p:spPr>
      </p:pic>
    </p:spTree>
    <p:extLst>
      <p:ext uri="{BB962C8B-B14F-4D97-AF65-F5344CB8AC3E}">
        <p14:creationId xmlns:p14="http://schemas.microsoft.com/office/powerpoint/2010/main" val="4087104836"/>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92" r:id="rId3"/>
    <p:sldLayoutId id="2147483824" r:id="rId4"/>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0" y="2625389"/>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332136" y="284997"/>
            <a:ext cx="2132503" cy="461512"/>
          </a:xfrm>
          <a:prstGeom prst="rect">
            <a:avLst/>
          </a:prstGeom>
        </p:spPr>
      </p:pic>
      <p:sp>
        <p:nvSpPr>
          <p:cNvPr id="49" name="矩形 48">
            <a:extLst>
              <a:ext uri="{FF2B5EF4-FFF2-40B4-BE49-F238E27FC236}">
                <a16:creationId xmlns:a16="http://schemas.microsoft.com/office/drawing/2014/main" id="{CEC8FA32-E963-4A0D-AE1A-18D787D0B2E2}"/>
              </a:ext>
            </a:extLst>
          </p:cNvPr>
          <p:cNvSpPr/>
          <p:nvPr userDrawn="1"/>
        </p:nvSpPr>
        <p:spPr>
          <a:xfrm>
            <a:off x="425325" y="6470724"/>
            <a:ext cx="386525" cy="40508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6" name="TextBox 3">
            <a:extLst>
              <a:ext uri="{FF2B5EF4-FFF2-40B4-BE49-F238E27FC236}">
                <a16:creationId xmlns:a16="http://schemas.microsoft.com/office/drawing/2014/main" id="{384AD846-EB8D-41FE-820A-913C9A939E65}"/>
              </a:ext>
            </a:extLst>
          </p:cNvPr>
          <p:cNvSpPr txBox="1"/>
          <p:nvPr userDrawn="1"/>
        </p:nvSpPr>
        <p:spPr>
          <a:xfrm>
            <a:off x="425325" y="6565546"/>
            <a:ext cx="386525" cy="246221"/>
          </a:xfrm>
          <a:prstGeom prst="rect">
            <a:avLst/>
          </a:prstGeom>
          <a:noFill/>
        </p:spPr>
        <p:txBody>
          <a:bodyPr wrap="square" lIns="0" tIns="0" rIns="0" bIns="0" rtlCol="0">
            <a:spAutoFit/>
          </a:bodyPr>
          <a:lstStyle/>
          <a:p>
            <a:pPr marL="0" marR="0" lvl="0" indent="0" algn="ctr"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1600" smtClean="0">
                <a:solidFill>
                  <a:schemeClr val="tx2"/>
                </a:solidFill>
                <a:latin typeface="Arial" panose="020B0604020202020204" pitchFamily="34" charset="0"/>
                <a:cs typeface="Arial" panose="020B0604020202020204" pitchFamily="34" charset="0"/>
              </a:rPr>
              <a:pPr marL="0" marR="0" lvl="0" indent="0" algn="ctr" defTabSz="890849" rtl="0" eaLnBrk="1" fontAlgn="auto" latinLnBrk="0" hangingPunct="1">
                <a:lnSpc>
                  <a:spcPct val="100000"/>
                </a:lnSpc>
                <a:spcBef>
                  <a:spcPts val="0"/>
                </a:spcBef>
                <a:spcAft>
                  <a:spcPts val="0"/>
                </a:spcAft>
                <a:buClrTx/>
                <a:buSzTx/>
                <a:buFontTx/>
                <a:buNone/>
                <a:tabLst/>
                <a:defRPr/>
              </a:pPr>
              <a:t>‹#›</a:t>
            </a:fld>
            <a:endParaRPr lang="en-US" sz="1600" dirty="0">
              <a:solidFill>
                <a:schemeClr val="tx2"/>
              </a:solidFill>
              <a:latin typeface="Arial" panose="020B0604020202020204" pitchFamily="34" charset="0"/>
              <a:cs typeface="Arial" panose="020B0604020202020204" pitchFamily="34" charset="0"/>
            </a:endParaRPr>
          </a:p>
        </p:txBody>
      </p:sp>
      <p:sp>
        <p:nvSpPr>
          <p:cNvPr id="50" name="TextBox 2">
            <a:extLst>
              <a:ext uri="{FF2B5EF4-FFF2-40B4-BE49-F238E27FC236}">
                <a16:creationId xmlns:a16="http://schemas.microsoft.com/office/drawing/2014/main" id="{C0E0C55D-5969-41EB-BE82-C8D565DE21C3}"/>
              </a:ext>
            </a:extLst>
          </p:cNvPr>
          <p:cNvSpPr txBox="1"/>
          <p:nvPr userDrawn="1"/>
        </p:nvSpPr>
        <p:spPr>
          <a:xfrm>
            <a:off x="1095467" y="6555080"/>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51" name="矩形 50">
            <a:extLst>
              <a:ext uri="{FF2B5EF4-FFF2-40B4-BE49-F238E27FC236}">
                <a16:creationId xmlns:a16="http://schemas.microsoft.com/office/drawing/2014/main" id="{B3253811-6EB9-47CD-B605-356B3CE24117}"/>
              </a:ext>
            </a:extLst>
          </p:cNvPr>
          <p:cNvSpPr/>
          <p:nvPr userDrawn="1"/>
        </p:nvSpPr>
        <p:spPr>
          <a:xfrm>
            <a:off x="371325" y="387275"/>
            <a:ext cx="324000" cy="32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2" name="矩形 51">
            <a:extLst>
              <a:ext uri="{FF2B5EF4-FFF2-40B4-BE49-F238E27FC236}">
                <a16:creationId xmlns:a16="http://schemas.microsoft.com/office/drawing/2014/main" id="{BDA63FB1-2701-4D50-A6A2-6078D2C08677}"/>
              </a:ext>
            </a:extLst>
          </p:cNvPr>
          <p:cNvSpPr/>
          <p:nvPr userDrawn="1"/>
        </p:nvSpPr>
        <p:spPr>
          <a:xfrm>
            <a:off x="119325" y="135275"/>
            <a:ext cx="252000" cy="25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3" name="圆角矩形 26">
            <a:extLst>
              <a:ext uri="{FF2B5EF4-FFF2-40B4-BE49-F238E27FC236}">
                <a16:creationId xmlns:a16="http://schemas.microsoft.com/office/drawing/2014/main" id="{3864DB70-2D9A-4E4E-84EF-9F3DE2EEE108}"/>
              </a:ext>
            </a:extLst>
          </p:cNvPr>
          <p:cNvSpPr/>
          <p:nvPr userDrawn="1"/>
        </p:nvSpPr>
        <p:spPr>
          <a:xfrm>
            <a:off x="368303" y="952505"/>
            <a:ext cx="11239500" cy="45719"/>
          </a:xfrm>
          <a:prstGeom prst="roundRect">
            <a:avLst/>
          </a:prstGeom>
          <a:solidFill>
            <a:srgbClr val="C7000B"/>
          </a:solidFill>
          <a:ln>
            <a:solidFill>
              <a:srgbClr val="C7000B"/>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pic>
        <p:nvPicPr>
          <p:cNvPr id="54" name="Picture 4">
            <a:extLst>
              <a:ext uri="{FF2B5EF4-FFF2-40B4-BE49-F238E27FC236}">
                <a16:creationId xmlns:a16="http://schemas.microsoft.com/office/drawing/2014/main" id="{3B573BE0-40E4-40A3-A540-B7797460074B}"/>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0678284" y="135275"/>
            <a:ext cx="760956" cy="760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56531"/>
      </p:ext>
    </p:extLst>
  </p:cSld>
  <p:clrMap bg1="lt1" tx1="dk1" bg2="lt2" tx2="dk2" accent1="accent1" accent2="accent2" accent3="accent3" accent4="accent4" accent5="accent5" accent6="accent6" hlink="hlink" folHlink="folHlink"/>
  <p:sldLayoutIdLst>
    <p:sldLayoutId id="2147483891" r:id="rId1"/>
    <p:sldLayoutId id="2147483893" r:id="rId2"/>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8969" y="1467870"/>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5"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Copyright©2018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6"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8" name="Picture 7">
            <a:extLst>
              <a:ext uri="{FF2B5EF4-FFF2-40B4-BE49-F238E27FC236}">
                <a16:creationId xmlns:a16="http://schemas.microsoft.com/office/drawing/2014/main" id="{BA792140-33FB-E045-9071-EE8DB65F2A1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3676" y="5237566"/>
            <a:ext cx="1875600" cy="405914"/>
          </a:xfrm>
          <a:prstGeom prst="rect">
            <a:avLst/>
          </a:prstGeom>
        </p:spPr>
      </p:pic>
    </p:spTree>
    <p:extLst>
      <p:ext uri="{BB962C8B-B14F-4D97-AF65-F5344CB8AC3E}">
        <p14:creationId xmlns:p14="http://schemas.microsoft.com/office/powerpoint/2010/main" val="2848406896"/>
      </p:ext>
    </p:extLst>
  </p:cSld>
  <p:clrMap bg1="lt1" tx1="dk1" bg2="lt2" tx2="dk2" accent1="accent1" accent2="accent2" accent3="accent3" accent4="accent4" accent5="accent5" accent6="accent6" hlink="hlink" folHlink="folHlink"/>
  <p:sldLayoutIdLst>
    <p:sldLayoutId id="2147483686" r:id="rId1"/>
  </p:sldLayoutIdLst>
  <p:hf hdr="0" ftr="0" dt="0"/>
  <p:txStyles>
    <p:titleStyle>
      <a:lvl1pPr algn="l" defTabSz="1187798" rtl="0" eaLnBrk="1" latinLnBrk="0" hangingPunct="1">
        <a:lnSpc>
          <a:spcPct val="90000"/>
        </a:lnSpc>
        <a:spcBef>
          <a:spcPct val="0"/>
        </a:spcBef>
        <a:buNone/>
        <a:defRPr sz="5000"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7798" rtl="0" eaLnBrk="1" latinLnBrk="0" hangingPunct="1">
        <a:lnSpc>
          <a:spcPct val="90000"/>
        </a:lnSpc>
        <a:spcBef>
          <a:spcPts val="1299"/>
        </a:spcBef>
        <a:buFont typeface="Arial" panose="020B0604020202020204" pitchFamily="34" charset="0"/>
        <a:buNone/>
        <a:defRPr sz="1819" kern="1200">
          <a:solidFill>
            <a:srgbClr val="FFFFFF"/>
          </a:solidFill>
          <a:latin typeface="Microsoft YaHei" panose="020B0503020204020204" pitchFamily="34" charset="-122"/>
          <a:ea typeface="Microsoft YaHei" panose="020B0503020204020204" pitchFamily="34" charset="-122"/>
          <a:cs typeface="+mn-cs"/>
        </a:defRPr>
      </a:lvl1pPr>
      <a:lvl2pPr marL="593900" indent="0" algn="l" defTabSz="1187798" rtl="0" eaLnBrk="1" latinLnBrk="0" hangingPunct="1">
        <a:lnSpc>
          <a:spcPct val="90000"/>
        </a:lnSpc>
        <a:spcBef>
          <a:spcPts val="650"/>
        </a:spcBef>
        <a:buFont typeface="Arial" panose="020B0604020202020204" pitchFamily="34" charset="0"/>
        <a:buNone/>
        <a:defRPr sz="3118" kern="1200">
          <a:solidFill>
            <a:schemeClr val="tx1"/>
          </a:solidFill>
          <a:latin typeface="+mn-lt"/>
          <a:ea typeface="+mn-ea"/>
          <a:cs typeface="+mn-cs"/>
        </a:defRPr>
      </a:lvl2pPr>
      <a:lvl3pPr marL="1187798" indent="0" algn="l" defTabSz="1187798" rtl="0" eaLnBrk="1" latinLnBrk="0" hangingPunct="1">
        <a:lnSpc>
          <a:spcPct val="90000"/>
        </a:lnSpc>
        <a:spcBef>
          <a:spcPts val="650"/>
        </a:spcBef>
        <a:buFont typeface="Arial" panose="020B0604020202020204" pitchFamily="34" charset="0"/>
        <a:buNone/>
        <a:defRPr sz="2598" kern="1200">
          <a:solidFill>
            <a:schemeClr val="tx1"/>
          </a:solidFill>
          <a:latin typeface="+mn-lt"/>
          <a:ea typeface="+mn-ea"/>
          <a:cs typeface="+mn-cs"/>
        </a:defRPr>
      </a:lvl3pPr>
      <a:lvl4pPr marL="1781699"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4pPr>
      <a:lvl5pPr marL="2375598"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EC0035-49C3-1F41-9A87-2D9908ED4602}"/>
              </a:ext>
            </a:extLst>
          </p:cNvPr>
          <p:cNvSpPr>
            <a:spLocks noGrp="1"/>
          </p:cNvSpPr>
          <p:nvPr>
            <p:ph type="title"/>
          </p:nvPr>
        </p:nvSpPr>
        <p:spPr>
          <a:xfrm>
            <a:off x="838528" y="365127"/>
            <a:ext cx="10519708"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a:extLst>
              <a:ext uri="{FF2B5EF4-FFF2-40B4-BE49-F238E27FC236}">
                <a16:creationId xmlns:a16="http://schemas.microsoft.com/office/drawing/2014/main" id="{49E56228-3FB0-EC40-9D6F-260378C87756}"/>
              </a:ext>
            </a:extLst>
          </p:cNvPr>
          <p:cNvSpPr>
            <a:spLocks noGrp="1"/>
          </p:cNvSpPr>
          <p:nvPr>
            <p:ph type="body" idx="1"/>
          </p:nvPr>
        </p:nvSpPr>
        <p:spPr>
          <a:xfrm>
            <a:off x="838528" y="1825625"/>
            <a:ext cx="10519708"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矩形 6">
            <a:extLst>
              <a:ext uri="{FF2B5EF4-FFF2-40B4-BE49-F238E27FC236}">
                <a16:creationId xmlns:a16="http://schemas.microsoft.com/office/drawing/2014/main" id="{76B732AA-A67A-C247-8554-C6A29F63CDB9}"/>
              </a:ext>
            </a:extLst>
          </p:cNvPr>
          <p:cNvSpPr/>
          <p:nvPr userDrawn="1"/>
        </p:nvSpPr>
        <p:spPr>
          <a:xfrm>
            <a:off x="0" y="6569826"/>
            <a:ext cx="3197856" cy="288175"/>
          </a:xfrm>
          <a:prstGeom prst="rect">
            <a:avLst/>
          </a:prstGeom>
          <a:solidFill>
            <a:srgbClr val="064C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8" name="矩形 7">
            <a:extLst>
              <a:ext uri="{FF2B5EF4-FFF2-40B4-BE49-F238E27FC236}">
                <a16:creationId xmlns:a16="http://schemas.microsoft.com/office/drawing/2014/main" id="{028C49D3-BF07-E141-9D99-17CA3AEDF2F4}"/>
              </a:ext>
            </a:extLst>
          </p:cNvPr>
          <p:cNvSpPr/>
          <p:nvPr userDrawn="1"/>
        </p:nvSpPr>
        <p:spPr>
          <a:xfrm>
            <a:off x="3197856" y="6569826"/>
            <a:ext cx="5945525" cy="288175"/>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0" dirty="0" err="1">
                <a:solidFill>
                  <a:srgbClr val="064C85"/>
                </a:solidFill>
                <a:latin typeface="Arial" panose="020B0604020202020204" pitchFamily="34" charset="0"/>
                <a:cs typeface="Arial" panose="020B0604020202020204" pitchFamily="34" charset="0"/>
              </a:rPr>
              <a:t>SmartMem</a:t>
            </a:r>
            <a:r>
              <a:rPr lang="en-US" altLang="zh-CN" sz="1400" b="0" dirty="0">
                <a:solidFill>
                  <a:srgbClr val="064C85"/>
                </a:solidFill>
                <a:latin typeface="Arial" panose="020B0604020202020204" pitchFamily="34" charset="0"/>
                <a:cs typeface="Arial" panose="020B0604020202020204" pitchFamily="34" charset="0"/>
              </a:rPr>
              <a:t> Competition </a:t>
            </a:r>
          </a:p>
        </p:txBody>
      </p:sp>
      <p:sp>
        <p:nvSpPr>
          <p:cNvPr id="9" name="矩形 8">
            <a:extLst>
              <a:ext uri="{FF2B5EF4-FFF2-40B4-BE49-F238E27FC236}">
                <a16:creationId xmlns:a16="http://schemas.microsoft.com/office/drawing/2014/main" id="{D72ACE97-F517-4140-98E6-215EEA14BAA1}"/>
              </a:ext>
            </a:extLst>
          </p:cNvPr>
          <p:cNvSpPr/>
          <p:nvPr userDrawn="1"/>
        </p:nvSpPr>
        <p:spPr>
          <a:xfrm>
            <a:off x="9143381" y="6569825"/>
            <a:ext cx="3053381" cy="3048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Slide Number Placeholder 5">
            <a:extLst>
              <a:ext uri="{FF2B5EF4-FFF2-40B4-BE49-F238E27FC236}">
                <a16:creationId xmlns:a16="http://schemas.microsoft.com/office/drawing/2014/main" id="{623270D7-7EB6-EB48-8F64-4647AB160B6B}"/>
              </a:ext>
            </a:extLst>
          </p:cNvPr>
          <p:cNvSpPr txBox="1">
            <a:spLocks/>
          </p:cNvSpPr>
          <p:nvPr userDrawn="1"/>
        </p:nvSpPr>
        <p:spPr>
          <a:xfrm>
            <a:off x="9216544" y="6526921"/>
            <a:ext cx="2744272" cy="365125"/>
          </a:xfrm>
          <a:prstGeom prst="rect">
            <a:avLst/>
          </a:prstGeom>
        </p:spPr>
        <p:txBody>
          <a:bodyPr vert="horz" lIns="68580" tIns="34290" rIns="68580" bIns="34290" rtlCol="0" anchor="ctr"/>
          <a:lstStyle>
            <a:defPPr>
              <a:defRPr lang="en-US"/>
            </a:defPPr>
            <a:lvl1pPr marL="0" algn="ctr" defTabSz="914400" rtl="0" eaLnBrk="1" latinLnBrk="0" hangingPunct="1">
              <a:defRPr sz="1400" b="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aseline="0" dirty="0">
                <a:solidFill>
                  <a:srgbClr val="064C85"/>
                </a:solidFill>
                <a:latin typeface="Candara" panose="020E0502030303020204" pitchFamily="34" charset="0"/>
              </a:rPr>
              <a:t>Page </a:t>
            </a:r>
            <a:fld id="{021F6442-7586-9541-B2EE-92373E6CA02B}" type="slidenum">
              <a:rPr lang="en-US" sz="1400" smtClean="0">
                <a:solidFill>
                  <a:srgbClr val="064C85"/>
                </a:solidFill>
                <a:latin typeface="Candara" panose="020E0502030303020204" pitchFamily="34" charset="0"/>
              </a:rPr>
              <a:pPr/>
              <a:t>‹#›</a:t>
            </a:fld>
            <a:r>
              <a:rPr lang="en-US" sz="1400" dirty="0">
                <a:solidFill>
                  <a:srgbClr val="064C85"/>
                </a:solidFill>
                <a:latin typeface="Candara" panose="020E0502030303020204" pitchFamily="34" charset="0"/>
              </a:rPr>
              <a:t> </a:t>
            </a:r>
          </a:p>
        </p:txBody>
      </p:sp>
      <p:sp>
        <p:nvSpPr>
          <p:cNvPr id="12" name="Date Placeholder 3">
            <a:extLst>
              <a:ext uri="{FF2B5EF4-FFF2-40B4-BE49-F238E27FC236}">
                <a16:creationId xmlns:a16="http://schemas.microsoft.com/office/drawing/2014/main" id="{CC32C9DF-FF08-C84E-AF11-42B1A00C23DA}"/>
              </a:ext>
            </a:extLst>
          </p:cNvPr>
          <p:cNvSpPr txBox="1">
            <a:spLocks/>
          </p:cNvSpPr>
          <p:nvPr userDrawn="1"/>
        </p:nvSpPr>
        <p:spPr>
          <a:xfrm>
            <a:off x="217638" y="6526920"/>
            <a:ext cx="2744272"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i="0" dirty="0">
                <a:solidFill>
                  <a:schemeClr val="bg1"/>
                </a:solidFill>
                <a:effectLst/>
                <a:latin typeface="Arial" panose="020B0604020202020204" pitchFamily="34" charset="0"/>
                <a:cs typeface="Arial" panose="020B0604020202020204" pitchFamily="34" charset="0"/>
              </a:rPr>
              <a:t>WWW 2025, Sydney, Australia</a:t>
            </a:r>
            <a:endParaRPr lang="en-US" sz="11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929033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Lst>
  <p:hf hdr="0" ftr="0" dt="0"/>
  <p:txStyles>
    <p:titleStyle>
      <a:lvl1pPr algn="l" defTabSz="685800" rtl="0" eaLnBrk="1" latinLnBrk="0" hangingPunct="1">
        <a:lnSpc>
          <a:spcPct val="90000"/>
        </a:lnSpc>
        <a:spcBef>
          <a:spcPct val="0"/>
        </a:spcBef>
        <a:buNone/>
        <a:defRPr sz="3300" kern="1200">
          <a:solidFill>
            <a:schemeClr val="tx1"/>
          </a:solidFill>
          <a:latin typeface="Candara" panose="020E0502030303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Candara" panose="020E0502030303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Candara" panose="020E0502030303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Candara" panose="020E0502030303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microsoft.com/office/2007/relationships/hdphoto" Target="../media/hdphoto1.wdp"/><Relationship Id="rId11" Type="http://schemas.openxmlformats.org/officeDocument/2006/relationships/image" Target="../media/image20.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210.png"/><Relationship Id="rId13" Type="http://schemas.openxmlformats.org/officeDocument/2006/relationships/image" Target="../media/image26.png"/><Relationship Id="rId3" Type="http://schemas.openxmlformats.org/officeDocument/2006/relationships/image" Target="../media/image150.png"/><Relationship Id="rId7" Type="http://schemas.openxmlformats.org/officeDocument/2006/relationships/image" Target="../media/image190.png"/><Relationship Id="rId12"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80.png"/><Relationship Id="rId11" Type="http://schemas.openxmlformats.org/officeDocument/2006/relationships/image" Target="../media/image24.png"/><Relationship Id="rId5" Type="http://schemas.openxmlformats.org/officeDocument/2006/relationships/image" Target="../media/image170.png"/><Relationship Id="rId10" Type="http://schemas.openxmlformats.org/officeDocument/2006/relationships/image" Target="../media/image23.png"/><Relationship Id="rId4" Type="http://schemas.openxmlformats.org/officeDocument/2006/relationships/image" Target="../media/image160.png"/><Relationship Id="rId9" Type="http://schemas.openxmlformats.org/officeDocument/2006/relationships/image" Target="../media/image220.png"/><Relationship Id="rId14"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50.png"/><Relationship Id="rId7" Type="http://schemas.openxmlformats.org/officeDocument/2006/relationships/image" Target="../media/image39.png"/><Relationship Id="rId12"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6.png"/><Relationship Id="rId11" Type="http://schemas.openxmlformats.org/officeDocument/2006/relationships/image" Target="../media/image31.png"/><Relationship Id="rId5" Type="http://schemas.openxmlformats.org/officeDocument/2006/relationships/image" Target="../media/image15.png"/><Relationship Id="rId10" Type="http://schemas.openxmlformats.org/officeDocument/2006/relationships/image" Target="../media/image42.png"/><Relationship Id="rId4" Type="http://schemas.openxmlformats.org/officeDocument/2006/relationships/image" Target="../media/image360.png"/><Relationship Id="rId9" Type="http://schemas.openxmlformats.org/officeDocument/2006/relationships/image" Target="../media/image41.png"/></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9.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2.png"/><Relationship Id="rId11" Type="http://schemas.openxmlformats.org/officeDocument/2006/relationships/image" Target="../media/image3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49.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7.png"/><Relationship Id="rId5" Type="http://schemas.openxmlformats.org/officeDocument/2006/relationships/image" Target="../media/image16.png"/><Relationship Id="rId4" Type="http://schemas.openxmlformats.org/officeDocument/2006/relationships/image" Target="../media/image36.png"/><Relationship Id="rId9" Type="http://schemas.openxmlformats.org/officeDocument/2006/relationships/image" Target="../media/image44.png"/></Relationships>
</file>

<file path=ppt/slides/_rels/slide11.xml.rels><?xml version="1.0" encoding="UTF-8" standalone="yes"?>
<Relationships xmlns="http://schemas.openxmlformats.org/package/2006/relationships"><Relationship Id="rId13" Type="http://schemas.openxmlformats.org/officeDocument/2006/relationships/image" Target="../media/image58.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45.png"/><Relationship Id="rId21" Type="http://schemas.openxmlformats.org/officeDocument/2006/relationships/image" Target="../media/image79.png"/><Relationship Id="rId34" Type="http://schemas.openxmlformats.org/officeDocument/2006/relationships/image" Target="../media/image91.png"/><Relationship Id="rId7" Type="http://schemas.openxmlformats.org/officeDocument/2006/relationships/image" Target="../media/image48.png"/><Relationship Id="rId12" Type="http://schemas.openxmlformats.org/officeDocument/2006/relationships/image" Target="../media/image57.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72.png"/><Relationship Id="rId2" Type="http://schemas.openxmlformats.org/officeDocument/2006/relationships/notesSlide" Target="../notesSlides/notesSlide11.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1" Type="http://schemas.openxmlformats.org/officeDocument/2006/relationships/slideLayout" Target="../slideLayouts/slideLayout5.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5" Type="http://schemas.openxmlformats.org/officeDocument/2006/relationships/image" Target="../media/image16.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3.png"/><Relationship Id="rId9" Type="http://schemas.openxmlformats.org/officeDocument/2006/relationships/image" Target="../media/image56.png"/><Relationship Id="rId14" Type="http://schemas.openxmlformats.org/officeDocument/2006/relationships/image" Target="../media/image59.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8" Type="http://schemas.openxmlformats.org/officeDocument/2006/relationships/image" Target="../media/image66.png"/></Relationships>
</file>

<file path=ppt/slides/_rels/slide1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125.png"/><Relationship Id="rId5" Type="http://schemas.openxmlformats.org/officeDocument/2006/relationships/image" Target="../media/image124.png"/><Relationship Id="rId4" Type="http://schemas.openxmlformats.org/officeDocument/2006/relationships/image" Target="../media/image123.png"/></Relationships>
</file>

<file path=ppt/slides/_rels/slide13.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18" Type="http://schemas.openxmlformats.org/officeDocument/2006/relationships/image" Target="../media/image141.png"/><Relationship Id="rId3" Type="http://schemas.openxmlformats.org/officeDocument/2006/relationships/image" Target="../media/image126.png"/><Relationship Id="rId7" Type="http://schemas.openxmlformats.org/officeDocument/2006/relationships/image" Target="../media/image130.png"/><Relationship Id="rId12" Type="http://schemas.openxmlformats.org/officeDocument/2006/relationships/image" Target="../media/image135.png"/><Relationship Id="rId17" Type="http://schemas.openxmlformats.org/officeDocument/2006/relationships/image" Target="../media/image140.png"/><Relationship Id="rId2" Type="http://schemas.openxmlformats.org/officeDocument/2006/relationships/notesSlide" Target="../notesSlides/notesSlide13.xml"/><Relationship Id="rId16" Type="http://schemas.openxmlformats.org/officeDocument/2006/relationships/image" Target="../media/image139.png"/><Relationship Id="rId20" Type="http://schemas.openxmlformats.org/officeDocument/2006/relationships/image" Target="../media/image61.png"/><Relationship Id="rId1" Type="http://schemas.openxmlformats.org/officeDocument/2006/relationships/slideLayout" Target="../slideLayouts/slideLayout5.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128.png"/><Relationship Id="rId15" Type="http://schemas.openxmlformats.org/officeDocument/2006/relationships/image" Target="../media/image138.png"/><Relationship Id="rId10" Type="http://schemas.openxmlformats.org/officeDocument/2006/relationships/image" Target="../media/image133.png"/><Relationship Id="rId19" Type="http://schemas.openxmlformats.org/officeDocument/2006/relationships/image" Target="../media/image60.png"/><Relationship Id="rId4" Type="http://schemas.openxmlformats.org/officeDocument/2006/relationships/image" Target="../media/image127.png"/><Relationship Id="rId9" Type="http://schemas.openxmlformats.org/officeDocument/2006/relationships/image" Target="../media/image132.png"/><Relationship Id="rId14" Type="http://schemas.openxmlformats.org/officeDocument/2006/relationships/image" Target="../media/image137.png"/></Relationships>
</file>

<file path=ppt/slides/_rels/slide14.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2.png"/><Relationship Id="rId7" Type="http://schemas.openxmlformats.org/officeDocument/2006/relationships/image" Target="../media/image70.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67.png"/><Relationship Id="rId5" Type="http://schemas.openxmlformats.org/officeDocument/2006/relationships/image" Target="../media/image65.png"/><Relationship Id="rId10" Type="http://schemas.openxmlformats.org/officeDocument/2006/relationships/image" Target="../media/image93.png"/><Relationship Id="rId4" Type="http://schemas.openxmlformats.org/officeDocument/2006/relationships/image" Target="../media/image60.png"/><Relationship Id="rId9" Type="http://schemas.openxmlformats.org/officeDocument/2006/relationships/image" Target="../media/image92.png"/></Relationships>
</file>

<file path=ppt/slides/_rels/slide15.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16.xml.rels><?xml version="1.0" encoding="UTF-8" standalone="yes"?>
<Relationships xmlns="http://schemas.openxmlformats.org/package/2006/relationships"><Relationship Id="rId8" Type="http://schemas.openxmlformats.org/officeDocument/2006/relationships/image" Target="../media/image167.png"/><Relationship Id="rId13" Type="http://schemas.openxmlformats.org/officeDocument/2006/relationships/image" Target="../media/image172.png"/><Relationship Id="rId3" Type="http://schemas.openxmlformats.org/officeDocument/2006/relationships/image" Target="../media/image162.png"/><Relationship Id="rId7" Type="http://schemas.openxmlformats.org/officeDocument/2006/relationships/image" Target="../media/image166.png"/><Relationship Id="rId12" Type="http://schemas.openxmlformats.org/officeDocument/2006/relationships/image" Target="../media/image171.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165.png"/><Relationship Id="rId11" Type="http://schemas.openxmlformats.org/officeDocument/2006/relationships/image" Target="../media/image1700.png"/><Relationship Id="rId5" Type="http://schemas.openxmlformats.org/officeDocument/2006/relationships/image" Target="../media/image164.png"/><Relationship Id="rId10" Type="http://schemas.openxmlformats.org/officeDocument/2006/relationships/image" Target="../media/image169.png"/><Relationship Id="rId4" Type="http://schemas.openxmlformats.org/officeDocument/2006/relationships/image" Target="../media/image163.png"/><Relationship Id="rId9" Type="http://schemas.openxmlformats.org/officeDocument/2006/relationships/image" Target="../media/image168.png"/><Relationship Id="rId14" Type="http://schemas.openxmlformats.org/officeDocument/2006/relationships/image" Target="../media/image173.png"/></Relationships>
</file>

<file path=ppt/slides/_rels/slide17.xml.rels><?xml version="1.0" encoding="UTF-8" standalone="yes"?>
<Relationships xmlns="http://schemas.openxmlformats.org/package/2006/relationships"><Relationship Id="rId13" Type="http://schemas.openxmlformats.org/officeDocument/2006/relationships/image" Target="../media/image103.png"/><Relationship Id="rId18" Type="http://schemas.openxmlformats.org/officeDocument/2006/relationships/image" Target="../media/image108.png"/><Relationship Id="rId26" Type="http://schemas.openxmlformats.org/officeDocument/2006/relationships/image" Target="../media/image116.png"/><Relationship Id="rId3" Type="http://schemas.openxmlformats.org/officeDocument/2006/relationships/image" Target="../media/image930.png"/><Relationship Id="rId21" Type="http://schemas.openxmlformats.org/officeDocument/2006/relationships/image" Target="../media/image111.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107.png"/><Relationship Id="rId25" Type="http://schemas.openxmlformats.org/officeDocument/2006/relationships/image" Target="../media/image115.png"/><Relationship Id="rId33" Type="http://schemas.openxmlformats.org/officeDocument/2006/relationships/image" Target="../media/image1270.png"/><Relationship Id="rId2" Type="http://schemas.openxmlformats.org/officeDocument/2006/relationships/notesSlide" Target="../notesSlides/notesSlide17.xml"/><Relationship Id="rId16" Type="http://schemas.openxmlformats.org/officeDocument/2006/relationships/image" Target="../media/image106.png"/><Relationship Id="rId20" Type="http://schemas.openxmlformats.org/officeDocument/2006/relationships/image" Target="../media/image110.png"/><Relationship Id="rId29" Type="http://schemas.openxmlformats.org/officeDocument/2006/relationships/image" Target="../media/image119.png"/><Relationship Id="rId1" Type="http://schemas.openxmlformats.org/officeDocument/2006/relationships/slideLayout" Target="../slideLayouts/slideLayout5.xml"/><Relationship Id="rId6" Type="http://schemas.openxmlformats.org/officeDocument/2006/relationships/image" Target="../media/image960.png"/><Relationship Id="rId11" Type="http://schemas.openxmlformats.org/officeDocument/2006/relationships/image" Target="../media/image101.png"/><Relationship Id="rId24" Type="http://schemas.openxmlformats.org/officeDocument/2006/relationships/image" Target="../media/image114.png"/><Relationship Id="rId32" Type="http://schemas.openxmlformats.org/officeDocument/2006/relationships/image" Target="../media/image1260.png"/><Relationship Id="rId5" Type="http://schemas.openxmlformats.org/officeDocument/2006/relationships/image" Target="../media/image950.png"/><Relationship Id="rId15" Type="http://schemas.openxmlformats.org/officeDocument/2006/relationships/image" Target="../media/image105.png"/><Relationship Id="rId23" Type="http://schemas.openxmlformats.org/officeDocument/2006/relationships/image" Target="../media/image113.png"/><Relationship Id="rId28" Type="http://schemas.openxmlformats.org/officeDocument/2006/relationships/image" Target="../media/image118.png"/><Relationship Id="rId10" Type="http://schemas.openxmlformats.org/officeDocument/2006/relationships/image" Target="../media/image100.png"/><Relationship Id="rId19" Type="http://schemas.openxmlformats.org/officeDocument/2006/relationships/image" Target="../media/image60.png"/><Relationship Id="rId31" Type="http://schemas.openxmlformats.org/officeDocument/2006/relationships/image" Target="../media/image121.png"/><Relationship Id="rId4" Type="http://schemas.openxmlformats.org/officeDocument/2006/relationships/image" Target="../media/image940.png"/><Relationship Id="rId9" Type="http://schemas.openxmlformats.org/officeDocument/2006/relationships/image" Target="../media/image99.png"/><Relationship Id="rId14" Type="http://schemas.openxmlformats.org/officeDocument/2006/relationships/image" Target="../media/image104.png"/><Relationship Id="rId22" Type="http://schemas.openxmlformats.org/officeDocument/2006/relationships/image" Target="../media/image112.png"/><Relationship Id="rId27" Type="http://schemas.openxmlformats.org/officeDocument/2006/relationships/image" Target="../media/image117.png"/><Relationship Id="rId30" Type="http://schemas.openxmlformats.org/officeDocument/2006/relationships/image" Target="../media/image120.png"/><Relationship Id="rId8" Type="http://schemas.openxmlformats.org/officeDocument/2006/relationships/image" Target="../media/image98.png"/></Relationships>
</file>

<file path=ppt/slides/_rels/slide1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143.png"/><Relationship Id="rId4" Type="http://schemas.openxmlformats.org/officeDocument/2006/relationships/image" Target="../media/image142.png"/></Relationships>
</file>

<file path=ppt/slides/_rels/slide19.xml.rels><?xml version="1.0" encoding="UTF-8" standalone="yes"?>
<Relationships xmlns="http://schemas.openxmlformats.org/package/2006/relationships"><Relationship Id="rId3" Type="http://schemas.openxmlformats.org/officeDocument/2006/relationships/image" Target="../media/image144.png"/><Relationship Id="rId7" Type="http://schemas.openxmlformats.org/officeDocument/2006/relationships/image" Target="../media/image146.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145.png"/><Relationship Id="rId5" Type="http://schemas.openxmlformats.org/officeDocument/2006/relationships/image" Target="../media/image580.png"/><Relationship Id="rId4" Type="http://schemas.openxmlformats.org/officeDocument/2006/relationships/image" Target="../media/image570.png"/></Relationships>
</file>

<file path=ppt/slides/_rels/slide20.xml.rels><?xml version="1.0" encoding="UTF-8" standalone="yes"?>
<Relationships xmlns="http://schemas.openxmlformats.org/package/2006/relationships"><Relationship Id="rId8" Type="http://schemas.openxmlformats.org/officeDocument/2006/relationships/image" Target="../media/image153.png"/><Relationship Id="rId13" Type="http://schemas.openxmlformats.org/officeDocument/2006/relationships/image" Target="../media/image159.png"/><Relationship Id="rId3" Type="http://schemas.openxmlformats.org/officeDocument/2006/relationships/image" Target="../media/image147.png"/><Relationship Id="rId7" Type="http://schemas.openxmlformats.org/officeDocument/2006/relationships/image" Target="../media/image152.png"/><Relationship Id="rId12" Type="http://schemas.openxmlformats.org/officeDocument/2006/relationships/image" Target="../media/image157.png"/><Relationship Id="rId17" Type="http://schemas.openxmlformats.org/officeDocument/2006/relationships/image" Target="../media/image176.png"/><Relationship Id="rId2" Type="http://schemas.openxmlformats.org/officeDocument/2006/relationships/notesSlide" Target="../notesSlides/notesSlide20.xml"/><Relationship Id="rId16" Type="http://schemas.openxmlformats.org/officeDocument/2006/relationships/image" Target="../media/image175.png"/><Relationship Id="rId1" Type="http://schemas.openxmlformats.org/officeDocument/2006/relationships/slideLayout" Target="../slideLayouts/slideLayout5.xml"/><Relationship Id="rId6" Type="http://schemas.openxmlformats.org/officeDocument/2006/relationships/image" Target="../media/image151.png"/><Relationship Id="rId11" Type="http://schemas.openxmlformats.org/officeDocument/2006/relationships/image" Target="../media/image156.png"/><Relationship Id="rId5" Type="http://schemas.openxmlformats.org/officeDocument/2006/relationships/image" Target="../media/image149.png"/><Relationship Id="rId15" Type="http://schemas.openxmlformats.org/officeDocument/2006/relationships/image" Target="../media/image174.png"/><Relationship Id="rId10" Type="http://schemas.openxmlformats.org/officeDocument/2006/relationships/image" Target="../media/image155.png"/><Relationship Id="rId4" Type="http://schemas.openxmlformats.org/officeDocument/2006/relationships/image" Target="../media/image148.png"/><Relationship Id="rId9" Type="http://schemas.openxmlformats.org/officeDocument/2006/relationships/image" Target="../media/image154.png"/><Relationship Id="rId14" Type="http://schemas.openxmlformats.org/officeDocument/2006/relationships/image" Target="../media/image161.png"/></Relationships>
</file>

<file path=ppt/slides/_rels/slide21.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16DA94BB-C081-478E-9359-5230A8B07811}"/>
              </a:ext>
            </a:extLst>
          </p:cNvPr>
          <p:cNvPicPr>
            <a:picLocks noChangeAspect="1"/>
          </p:cNvPicPr>
          <p:nvPr/>
        </p:nvPicPr>
        <p:blipFill>
          <a:blip r:embed="rId3"/>
          <a:stretch>
            <a:fillRect/>
          </a:stretch>
        </p:blipFill>
        <p:spPr>
          <a:xfrm>
            <a:off x="-225705" y="0"/>
            <a:ext cx="12648171" cy="2962968"/>
          </a:xfrm>
          <a:prstGeom prst="rect">
            <a:avLst/>
          </a:prstGeom>
        </p:spPr>
      </p:pic>
      <p:sp>
        <p:nvSpPr>
          <p:cNvPr id="16" name="Rectangle 15">
            <a:extLst>
              <a:ext uri="{FF2B5EF4-FFF2-40B4-BE49-F238E27FC236}">
                <a16:creationId xmlns:a16="http://schemas.microsoft.com/office/drawing/2014/main" id="{9FD4C082-71C5-05CA-034E-57EEEF20EC4E}"/>
              </a:ext>
            </a:extLst>
          </p:cNvPr>
          <p:cNvSpPr/>
          <p:nvPr/>
        </p:nvSpPr>
        <p:spPr>
          <a:xfrm>
            <a:off x="2381" y="6540404"/>
            <a:ext cx="12192000" cy="3245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kumimoji="1" lang="zh-CN" altLang="en-US">
              <a:solidFill>
                <a:prstClr val="white"/>
              </a:solidFill>
              <a:latin typeface="Calibri" panose="020F0502020204030204"/>
              <a:ea typeface="等线" panose="02010600030101010101" pitchFamily="2" charset="-122"/>
            </a:endParaRPr>
          </a:p>
        </p:txBody>
      </p:sp>
      <p:sp>
        <p:nvSpPr>
          <p:cNvPr id="5" name="副标题 2">
            <a:extLst>
              <a:ext uri="{FF2B5EF4-FFF2-40B4-BE49-F238E27FC236}">
                <a16:creationId xmlns:a16="http://schemas.microsoft.com/office/drawing/2014/main" id="{8AC53436-1224-5F57-4463-8D82E9A0F291}"/>
              </a:ext>
            </a:extLst>
          </p:cNvPr>
          <p:cNvSpPr txBox="1">
            <a:spLocks/>
          </p:cNvSpPr>
          <p:nvPr/>
        </p:nvSpPr>
        <p:spPr>
          <a:xfrm>
            <a:off x="443268" y="4052153"/>
            <a:ext cx="11108055" cy="2051826"/>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Candara" panose="020E0502030303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Candara" panose="020E0502030303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Candara" panose="020E0502030303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50000"/>
              </a:lnSpc>
              <a:buNone/>
            </a:pPr>
            <a:r>
              <a:rPr lang="en-US" altLang="zh-CN" sz="1800" dirty="0">
                <a:solidFill>
                  <a:prstClr val="black"/>
                </a:solidFill>
                <a:latin typeface="Arial" panose="020B0604020202020204" pitchFamily="34" charset="0"/>
                <a:ea typeface="等线" panose="02010600030101010101" pitchFamily="2" charset="-122"/>
                <a:cs typeface="Arial" panose="020B0604020202020204" pitchFamily="34" charset="0"/>
              </a:rPr>
              <a:t>28</a:t>
            </a:r>
            <a:r>
              <a:rPr lang="en-US" altLang="zh-CN" sz="1800" baseline="30000" dirty="0">
                <a:solidFill>
                  <a:prstClr val="black"/>
                </a:solidFill>
                <a:latin typeface="Arial" panose="020B0604020202020204" pitchFamily="34" charset="0"/>
                <a:ea typeface="等线" panose="02010600030101010101" pitchFamily="2" charset="-122"/>
                <a:cs typeface="Arial" panose="020B0604020202020204" pitchFamily="34" charset="0"/>
              </a:rPr>
              <a:t>th</a:t>
            </a:r>
            <a:r>
              <a:rPr lang="en-US" altLang="zh-CN" sz="1800" dirty="0">
                <a:solidFill>
                  <a:prstClr val="black"/>
                </a:solidFill>
                <a:latin typeface="Arial" panose="020B0604020202020204" pitchFamily="34" charset="0"/>
                <a:ea typeface="等线" panose="02010600030101010101" pitchFamily="2" charset="-122"/>
                <a:cs typeface="Arial" panose="020B0604020202020204" pitchFamily="34" charset="0"/>
              </a:rPr>
              <a:t> April, 2025</a:t>
            </a:r>
          </a:p>
          <a:p>
            <a:pPr marL="0" indent="0" algn="ctr">
              <a:lnSpc>
                <a:spcPct val="150000"/>
              </a:lnSpc>
              <a:buNone/>
            </a:pPr>
            <a:r>
              <a:rPr lang="en-US" altLang="zh-CN" sz="1800" dirty="0">
                <a:solidFill>
                  <a:prstClr val="black"/>
                </a:solidFill>
                <a:latin typeface="Arial" panose="020B0604020202020204" pitchFamily="34" charset="0"/>
                <a:ea typeface="等线" panose="02010600030101010101" pitchFamily="2" charset="-122"/>
                <a:cs typeface="Arial" panose="020B0604020202020204" pitchFamily="34" charset="0"/>
              </a:rPr>
              <a:t>Min Zhou</a:t>
            </a:r>
            <a:r>
              <a:rPr lang="zh-CN" altLang="en-US" sz="1800" baseline="23148" dirty="0">
                <a:solidFill>
                  <a:prstClr val="black"/>
                </a:solidFill>
                <a:latin typeface="Candara"/>
                <a:ea typeface="等线" panose="02010600030101010101" pitchFamily="2" charset="-122"/>
                <a:cs typeface="Candara"/>
              </a:rPr>
              <a:t> </a:t>
            </a:r>
            <a:r>
              <a:rPr lang="en-US" altLang="zh-CN" sz="1800" baseline="23148" dirty="0">
                <a:solidFill>
                  <a:prstClr val="black"/>
                </a:solidFill>
                <a:latin typeface="Candara"/>
                <a:ea typeface="等线" panose="02010600030101010101" pitchFamily="2" charset="-122"/>
                <a:cs typeface="Candara"/>
              </a:rPr>
              <a:t>[1]</a:t>
            </a:r>
            <a:r>
              <a:rPr lang="en-US" altLang="zh-CN" sz="1800" dirty="0">
                <a:solidFill>
                  <a:prstClr val="black"/>
                </a:solidFill>
                <a:latin typeface="Arial" panose="020B0604020202020204" pitchFamily="34" charset="0"/>
                <a:ea typeface="等线" panose="02010600030101010101" pitchFamily="2" charset="-122"/>
                <a:cs typeface="Arial" panose="020B0604020202020204" pitchFamily="34" charset="0"/>
              </a:rPr>
              <a:t>, </a:t>
            </a:r>
            <a:r>
              <a:rPr lang="en-US" altLang="zh-CN" sz="1800" dirty="0" err="1">
                <a:solidFill>
                  <a:prstClr val="black"/>
                </a:solidFill>
                <a:latin typeface="Arial" panose="020B0604020202020204" pitchFamily="34" charset="0"/>
                <a:ea typeface="等线" panose="02010600030101010101" pitchFamily="2" charset="-122"/>
                <a:cs typeface="Arial" panose="020B0604020202020204" pitchFamily="34" charset="0"/>
              </a:rPr>
              <a:t>Hongyi</a:t>
            </a:r>
            <a:r>
              <a:rPr lang="en-US" altLang="zh-CN" sz="1800" dirty="0">
                <a:solidFill>
                  <a:prstClr val="black"/>
                </a:solidFill>
                <a:latin typeface="Arial" panose="020B0604020202020204" pitchFamily="34" charset="0"/>
                <a:ea typeface="等线" panose="02010600030101010101" pitchFamily="2" charset="-122"/>
                <a:cs typeface="Arial" panose="020B0604020202020204" pitchFamily="34" charset="0"/>
              </a:rPr>
              <a:t> </a:t>
            </a:r>
            <a:r>
              <a:rPr lang="en-US" altLang="zh-CN" sz="1800" dirty="0" err="1">
                <a:solidFill>
                  <a:prstClr val="black"/>
                </a:solidFill>
                <a:latin typeface="Arial" panose="020B0604020202020204" pitchFamily="34" charset="0"/>
                <a:ea typeface="等线" panose="02010600030101010101" pitchFamily="2" charset="-122"/>
                <a:cs typeface="Arial" panose="020B0604020202020204" pitchFamily="34" charset="0"/>
              </a:rPr>
              <a:t>Xie</a:t>
            </a:r>
            <a:r>
              <a:rPr lang="zh-CN" altLang="en-US" sz="1800" baseline="23148" dirty="0">
                <a:solidFill>
                  <a:prstClr val="black"/>
                </a:solidFill>
                <a:latin typeface="Candara"/>
                <a:ea typeface="等线" panose="02010600030101010101" pitchFamily="2" charset="-122"/>
                <a:cs typeface="Candara"/>
              </a:rPr>
              <a:t> </a:t>
            </a:r>
            <a:r>
              <a:rPr lang="en-US" altLang="zh-CN" sz="1800" baseline="23148" dirty="0">
                <a:solidFill>
                  <a:prstClr val="black"/>
                </a:solidFill>
                <a:latin typeface="Candara"/>
                <a:ea typeface="等线" panose="02010600030101010101" pitchFamily="2" charset="-122"/>
                <a:cs typeface="Candara"/>
              </a:rPr>
              <a:t>[1,2]  </a:t>
            </a:r>
            <a:r>
              <a:rPr lang="en-US" altLang="zh-CN" sz="1800" dirty="0">
                <a:solidFill>
                  <a:prstClr val="black"/>
                </a:solidFill>
                <a:latin typeface="Arial" panose="020B0604020202020204" pitchFamily="34" charset="0"/>
                <a:ea typeface="等线" panose="02010600030101010101" pitchFamily="2" charset="-122"/>
                <a:cs typeface="Arial" panose="020B0604020202020204" pitchFamily="34" charset="0"/>
              </a:rPr>
              <a:t>,Qiao Yu</a:t>
            </a:r>
            <a:r>
              <a:rPr lang="zh-CN" altLang="en-US" sz="1800" baseline="23148" dirty="0">
                <a:solidFill>
                  <a:prstClr val="black"/>
                </a:solidFill>
                <a:latin typeface="Candara"/>
                <a:ea typeface="等线" panose="02010600030101010101" pitchFamily="2" charset="-122"/>
                <a:cs typeface="Candara"/>
              </a:rPr>
              <a:t> </a:t>
            </a:r>
            <a:r>
              <a:rPr lang="en-US" altLang="zh-CN" sz="1800" baseline="23148" dirty="0">
                <a:solidFill>
                  <a:prstClr val="black"/>
                </a:solidFill>
                <a:latin typeface="Candara"/>
                <a:ea typeface="等线" panose="02010600030101010101" pitchFamily="2" charset="-122"/>
                <a:cs typeface="Candara"/>
              </a:rPr>
              <a:t>[3]</a:t>
            </a:r>
            <a:r>
              <a:rPr lang="en-US" altLang="zh-CN" sz="1800" dirty="0">
                <a:solidFill>
                  <a:prstClr val="black"/>
                </a:solidFill>
                <a:latin typeface="Arial" panose="020B0604020202020204" pitchFamily="34" charset="0"/>
                <a:ea typeface="等线" panose="02010600030101010101" pitchFamily="2" charset="-122"/>
                <a:cs typeface="Arial" panose="020B0604020202020204" pitchFamily="34" charset="0"/>
              </a:rPr>
              <a:t>, Jialing Yu</a:t>
            </a:r>
            <a:r>
              <a:rPr lang="zh-CN" altLang="en-US" sz="1800" baseline="23148" dirty="0">
                <a:solidFill>
                  <a:prstClr val="black"/>
                </a:solidFill>
                <a:latin typeface="Candara"/>
                <a:ea typeface="等线" panose="02010600030101010101" pitchFamily="2" charset="-122"/>
                <a:cs typeface="Candara"/>
              </a:rPr>
              <a:t> </a:t>
            </a:r>
            <a:r>
              <a:rPr lang="en-US" altLang="zh-CN" sz="1800" baseline="23148" dirty="0">
                <a:solidFill>
                  <a:prstClr val="black"/>
                </a:solidFill>
                <a:latin typeface="Candara"/>
                <a:ea typeface="等线" panose="02010600030101010101" pitchFamily="2" charset="-122"/>
                <a:cs typeface="Candara"/>
              </a:rPr>
              <a:t>[1]</a:t>
            </a:r>
            <a:r>
              <a:rPr lang="en-US" altLang="zh-CN" sz="1800" dirty="0">
                <a:solidFill>
                  <a:prstClr val="black"/>
                </a:solidFill>
                <a:latin typeface="Arial" panose="020B0604020202020204" pitchFamily="34" charset="0"/>
                <a:ea typeface="等线" panose="02010600030101010101" pitchFamily="2" charset="-122"/>
                <a:cs typeface="Arial" panose="020B0604020202020204" pitchFamily="34" charset="0"/>
              </a:rPr>
              <a:t>, Ping Liu</a:t>
            </a:r>
            <a:r>
              <a:rPr lang="zh-CN" altLang="en-US" sz="1800" baseline="23148" dirty="0">
                <a:solidFill>
                  <a:prstClr val="black"/>
                </a:solidFill>
                <a:latin typeface="Candara"/>
                <a:ea typeface="等线" panose="02010600030101010101" pitchFamily="2" charset="-122"/>
                <a:cs typeface="Candara"/>
              </a:rPr>
              <a:t> </a:t>
            </a:r>
            <a:r>
              <a:rPr lang="en-US" altLang="zh-CN" sz="1800" baseline="23148" dirty="0">
                <a:solidFill>
                  <a:prstClr val="black"/>
                </a:solidFill>
                <a:latin typeface="Candara"/>
                <a:ea typeface="等线" panose="02010600030101010101" pitchFamily="2" charset="-122"/>
                <a:cs typeface="Candara"/>
              </a:rPr>
              <a:t>[1]</a:t>
            </a:r>
            <a:r>
              <a:rPr lang="en-US" altLang="zh-CN" sz="1800" dirty="0">
                <a:solidFill>
                  <a:prstClr val="black"/>
                </a:solidFill>
                <a:latin typeface="Arial" panose="020B0604020202020204" pitchFamily="34" charset="0"/>
                <a:ea typeface="等线" panose="02010600030101010101" pitchFamily="2" charset="-122"/>
                <a:cs typeface="Arial" panose="020B0604020202020204" pitchFamily="34" charset="0"/>
              </a:rPr>
              <a:t>, </a:t>
            </a:r>
            <a:r>
              <a:rPr lang="en-US" altLang="zh-CN" sz="1800" dirty="0" err="1">
                <a:solidFill>
                  <a:prstClr val="black"/>
                </a:solidFill>
                <a:latin typeface="Arial" panose="020B0604020202020204" pitchFamily="34" charset="0"/>
                <a:ea typeface="等线" panose="02010600030101010101" pitchFamily="2" charset="-122"/>
                <a:cs typeface="Arial" panose="020B0604020202020204" pitchFamily="34" charset="0"/>
              </a:rPr>
              <a:t>Zhengli</a:t>
            </a:r>
            <a:r>
              <a:rPr lang="en-US" altLang="zh-CN" sz="1800" dirty="0">
                <a:solidFill>
                  <a:prstClr val="black"/>
                </a:solidFill>
                <a:latin typeface="Arial" panose="020B0604020202020204" pitchFamily="34" charset="0"/>
                <a:ea typeface="等线" panose="02010600030101010101" pitchFamily="2" charset="-122"/>
                <a:cs typeface="Arial" panose="020B0604020202020204" pitchFamily="34" charset="0"/>
              </a:rPr>
              <a:t> Sheng</a:t>
            </a:r>
            <a:r>
              <a:rPr lang="zh-CN" altLang="en-US" sz="1800" baseline="23148" dirty="0">
                <a:solidFill>
                  <a:prstClr val="black"/>
                </a:solidFill>
                <a:latin typeface="Candara"/>
                <a:ea typeface="等线" panose="02010600030101010101" pitchFamily="2" charset="-122"/>
                <a:cs typeface="Candara"/>
              </a:rPr>
              <a:t> </a:t>
            </a:r>
            <a:r>
              <a:rPr lang="en-US" altLang="zh-CN" sz="1800" baseline="23148" dirty="0">
                <a:solidFill>
                  <a:prstClr val="black"/>
                </a:solidFill>
                <a:latin typeface="Candara"/>
                <a:ea typeface="等线" panose="02010600030101010101" pitchFamily="2" charset="-122"/>
                <a:cs typeface="Candara"/>
              </a:rPr>
              <a:t>[1]</a:t>
            </a:r>
            <a:endParaRPr lang="en-US" altLang="zh-CN" sz="1800" dirty="0">
              <a:solidFill>
                <a:prstClr val="black"/>
              </a:solidFill>
              <a:latin typeface="Arial" panose="020B0604020202020204" pitchFamily="34" charset="0"/>
              <a:ea typeface="等线" panose="02010600030101010101" pitchFamily="2" charset="-122"/>
              <a:cs typeface="Arial" panose="020B0604020202020204" pitchFamily="34" charset="0"/>
            </a:endParaRPr>
          </a:p>
        </p:txBody>
      </p:sp>
      <p:sp>
        <p:nvSpPr>
          <p:cNvPr id="6" name="标题 1">
            <a:extLst>
              <a:ext uri="{FF2B5EF4-FFF2-40B4-BE49-F238E27FC236}">
                <a16:creationId xmlns:a16="http://schemas.microsoft.com/office/drawing/2014/main" id="{A4D49D98-3049-2F2E-D666-B9CC16E4CF6A}"/>
              </a:ext>
            </a:extLst>
          </p:cNvPr>
          <p:cNvSpPr txBox="1">
            <a:spLocks/>
          </p:cNvSpPr>
          <p:nvPr/>
        </p:nvSpPr>
        <p:spPr>
          <a:xfrm>
            <a:off x="-225705" y="2311141"/>
            <a:ext cx="12446000" cy="17410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Candara" panose="020E0502030303020204" pitchFamily="34" charset="0"/>
                <a:ea typeface="+mj-ea"/>
                <a:cs typeface="+mj-cs"/>
              </a:defRPr>
            </a:lvl1pPr>
          </a:lstStyle>
          <a:p>
            <a:pPr marL="12700" marR="5080" indent="354965">
              <a:lnSpc>
                <a:spcPts val="4700"/>
              </a:lnSpc>
              <a:spcBef>
                <a:spcPts val="740"/>
              </a:spcBef>
            </a:pPr>
            <a:r>
              <a:rPr lang="en-US" altLang="zh-CN" sz="3200" b="1" dirty="0">
                <a:solidFill>
                  <a:srgbClr val="005493"/>
                </a:solidFill>
                <a:latin typeface="Candara"/>
                <a:ea typeface="等线 Light" panose="02010600030101010101" pitchFamily="2" charset="-122"/>
                <a:cs typeface="Candara"/>
              </a:rPr>
              <a:t>Memory Failure Prediction in Huawei Cloud</a:t>
            </a:r>
            <a:endParaRPr lang="en-US" altLang="zh-CN" sz="3200" dirty="0">
              <a:solidFill>
                <a:prstClr val="black"/>
              </a:solidFill>
              <a:latin typeface="Candara"/>
              <a:ea typeface="等线 Light" panose="02010600030101010101" pitchFamily="2" charset="-122"/>
              <a:cs typeface="Candara"/>
            </a:endParaRPr>
          </a:p>
        </p:txBody>
      </p:sp>
      <p:sp>
        <p:nvSpPr>
          <p:cNvPr id="4" name="矩形 3">
            <a:extLst>
              <a:ext uri="{FF2B5EF4-FFF2-40B4-BE49-F238E27FC236}">
                <a16:creationId xmlns:a16="http://schemas.microsoft.com/office/drawing/2014/main" id="{7228A12C-8E13-4B77-8C30-CA73C16A0389}"/>
              </a:ext>
            </a:extLst>
          </p:cNvPr>
          <p:cNvSpPr/>
          <p:nvPr/>
        </p:nvSpPr>
        <p:spPr>
          <a:xfrm>
            <a:off x="3462818" y="5156690"/>
            <a:ext cx="5068952" cy="923330"/>
          </a:xfrm>
          <a:prstGeom prst="rect">
            <a:avLst/>
          </a:prstGeom>
        </p:spPr>
        <p:txBody>
          <a:bodyPr wrap="none">
            <a:spAutoFit/>
          </a:bodyPr>
          <a:lstStyle/>
          <a:p>
            <a:pPr algn="ctr" defTabSz="914400"/>
            <a:r>
              <a:rPr lang="en-US" altLang="zh-CN" baseline="25252" dirty="0">
                <a:solidFill>
                  <a:prstClr val="black"/>
                </a:solidFill>
                <a:latin typeface="Candara"/>
                <a:ea typeface="等线" panose="02010600030101010101" pitchFamily="2" charset="-122"/>
                <a:cs typeface="Candara"/>
              </a:rPr>
              <a:t>[1]</a:t>
            </a:r>
            <a:r>
              <a:rPr lang="en-US" altLang="zh-CN" dirty="0">
                <a:solidFill>
                  <a:prstClr val="black"/>
                </a:solidFill>
                <a:latin typeface="Candara"/>
                <a:ea typeface="等线" panose="02010600030101010101" pitchFamily="2" charset="-122"/>
                <a:cs typeface="Candara"/>
              </a:rPr>
              <a:t> Huawei </a:t>
            </a:r>
          </a:p>
          <a:p>
            <a:pPr algn="ctr" defTabSz="914400"/>
            <a:r>
              <a:rPr lang="en-US" altLang="zh-CN" dirty="0">
                <a:solidFill>
                  <a:prstClr val="black"/>
                </a:solidFill>
                <a:latin typeface="Candara"/>
                <a:ea typeface="等线" panose="02010600030101010101" pitchFamily="2" charset="-122"/>
                <a:cs typeface="Candara"/>
              </a:rPr>
              <a:t> </a:t>
            </a:r>
            <a:r>
              <a:rPr lang="en-US" altLang="zh-CN" spc="-15" baseline="25252" dirty="0">
                <a:solidFill>
                  <a:prstClr val="black"/>
                </a:solidFill>
                <a:latin typeface="Candara"/>
                <a:ea typeface="等线" panose="02010600030101010101" pitchFamily="2" charset="-122"/>
                <a:cs typeface="Candara"/>
              </a:rPr>
              <a:t>[2]</a:t>
            </a:r>
            <a:r>
              <a:rPr lang="en-US" altLang="zh-CN" spc="-67" baseline="25252" dirty="0">
                <a:solidFill>
                  <a:prstClr val="black"/>
                </a:solidFill>
                <a:latin typeface="Candara"/>
                <a:ea typeface="等线" panose="02010600030101010101" pitchFamily="2" charset="-122"/>
                <a:cs typeface="Candara"/>
              </a:rPr>
              <a:t>  </a:t>
            </a:r>
            <a:r>
              <a:rPr lang="en-US" altLang="zh-CN" dirty="0">
                <a:solidFill>
                  <a:prstClr val="black"/>
                </a:solidFill>
                <a:latin typeface="Candara"/>
                <a:ea typeface="等线" panose="02010600030101010101" pitchFamily="2" charset="-122"/>
                <a:cs typeface="Candara"/>
              </a:rPr>
              <a:t>University of Science and Technology of China   </a:t>
            </a:r>
          </a:p>
          <a:p>
            <a:pPr algn="ctr" defTabSz="914400"/>
            <a:r>
              <a:rPr lang="en-US" altLang="zh-CN" spc="-40" dirty="0">
                <a:solidFill>
                  <a:prstClr val="black"/>
                </a:solidFill>
                <a:latin typeface="Candara"/>
                <a:ea typeface="等线" panose="02010600030101010101" pitchFamily="2" charset="-122"/>
                <a:cs typeface="Candara"/>
              </a:rPr>
              <a:t> </a:t>
            </a:r>
            <a:r>
              <a:rPr lang="en-US" altLang="zh-CN" spc="-15" baseline="25252" dirty="0">
                <a:solidFill>
                  <a:prstClr val="black"/>
                </a:solidFill>
                <a:latin typeface="Candara"/>
                <a:ea typeface="等线" panose="02010600030101010101" pitchFamily="2" charset="-122"/>
                <a:cs typeface="Candara"/>
              </a:rPr>
              <a:t>[3]</a:t>
            </a:r>
            <a:r>
              <a:rPr lang="en-US" altLang="zh-CN" spc="-67" baseline="25252" dirty="0">
                <a:solidFill>
                  <a:prstClr val="black"/>
                </a:solidFill>
                <a:latin typeface="Candara"/>
                <a:ea typeface="等线" panose="02010600030101010101" pitchFamily="2" charset="-122"/>
                <a:cs typeface="Candara"/>
              </a:rPr>
              <a:t> </a:t>
            </a:r>
            <a:r>
              <a:rPr lang="en-US" altLang="zh-CN" dirty="0">
                <a:solidFill>
                  <a:prstClr val="black"/>
                </a:solidFill>
                <a:latin typeface="Candara"/>
                <a:ea typeface="等线" panose="02010600030101010101" pitchFamily="2" charset="-122"/>
                <a:cs typeface="Candara"/>
              </a:rPr>
              <a:t>Technical University of Berlin </a:t>
            </a:r>
            <a:endParaRPr lang="zh-CN" altLang="en-US" dirty="0">
              <a:solidFill>
                <a:prstClr val="black"/>
              </a:solidFill>
              <a:latin typeface="Calibri" panose="020F0502020204030204"/>
              <a:ea typeface="等线" panose="02010600030101010101" pitchFamily="2" charset="-122"/>
            </a:endParaRPr>
          </a:p>
        </p:txBody>
      </p:sp>
    </p:spTree>
    <p:extLst>
      <p:ext uri="{BB962C8B-B14F-4D97-AF65-F5344CB8AC3E}">
        <p14:creationId xmlns:p14="http://schemas.microsoft.com/office/powerpoint/2010/main" val="1211465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矩形: 圆角 121">
            <a:extLst>
              <a:ext uri="{FF2B5EF4-FFF2-40B4-BE49-F238E27FC236}">
                <a16:creationId xmlns:a16="http://schemas.microsoft.com/office/drawing/2014/main" id="{1FB18596-D40D-2F64-AE71-1BF8643F920C}"/>
              </a:ext>
            </a:extLst>
          </p:cNvPr>
          <p:cNvSpPr/>
          <p:nvPr/>
        </p:nvSpPr>
        <p:spPr>
          <a:xfrm>
            <a:off x="1387546" y="4000549"/>
            <a:ext cx="9421666" cy="904700"/>
          </a:xfrm>
          <a:prstGeom prst="roundRect">
            <a:avLst>
              <a:gd name="adj" fmla="val 9056"/>
            </a:avLst>
          </a:prstGeom>
          <a:solidFill>
            <a:srgbClr val="FFE2C8">
              <a:alpha val="5098"/>
            </a:srgbClr>
          </a:solidFill>
          <a:ln>
            <a:solidFill>
              <a:schemeClr val="bg1">
                <a:lumMod val="40000"/>
                <a:lumOff val="60000"/>
              </a:schemeClr>
            </a:solidFill>
          </a:ln>
          <a:effectLst>
            <a:outerShdw blurRad="50800" dist="127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ctr" defTabSz="91438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666666"/>
              </a:solidFill>
              <a:effectLst/>
              <a:uLnTx/>
              <a:uFillTx/>
              <a:latin typeface="Arial"/>
              <a:ea typeface="微软雅黑"/>
              <a:cs typeface="+mn-cs"/>
            </a:endParaRPr>
          </a:p>
        </p:txBody>
      </p:sp>
      <p:sp>
        <p:nvSpPr>
          <p:cNvPr id="53" name="文本框 52">
            <a:extLst>
              <a:ext uri="{FF2B5EF4-FFF2-40B4-BE49-F238E27FC236}">
                <a16:creationId xmlns:a16="http://schemas.microsoft.com/office/drawing/2014/main" id="{B5085CA1-EFE3-4D90-8902-D9AE97E06E56}"/>
              </a:ext>
            </a:extLst>
          </p:cNvPr>
          <p:cNvSpPr txBox="1"/>
          <p:nvPr/>
        </p:nvSpPr>
        <p:spPr>
          <a:xfrm>
            <a:off x="790215" y="365302"/>
            <a:ext cx="7836200" cy="461665"/>
          </a:xfrm>
          <a:prstGeom prst="rect">
            <a:avLst/>
          </a:prstGeom>
          <a:noFill/>
        </p:spPr>
        <p:txBody>
          <a:bodyPr wrap="square" rtlCol="0">
            <a:spAutoFit/>
          </a:bodyPr>
          <a:lstStyle/>
          <a:p>
            <a:r>
              <a:rPr lang="en-US" altLang="zh-CN" sz="2400" b="1" dirty="0"/>
              <a:t>Background – Cloud Infrastructure Reliability in the AI Era</a:t>
            </a:r>
          </a:p>
        </p:txBody>
      </p:sp>
      <p:pic>
        <p:nvPicPr>
          <p:cNvPr id="2" name="图片 1">
            <a:extLst>
              <a:ext uri="{FF2B5EF4-FFF2-40B4-BE49-F238E27FC236}">
                <a16:creationId xmlns:a16="http://schemas.microsoft.com/office/drawing/2014/main" id="{852D97DB-51E7-85AB-B723-63042CB11A2D}"/>
              </a:ext>
            </a:extLst>
          </p:cNvPr>
          <p:cNvPicPr>
            <a:picLocks noChangeAspect="1"/>
          </p:cNvPicPr>
          <p:nvPr/>
        </p:nvPicPr>
        <p:blipFill>
          <a:blip r:embed="rId3"/>
          <a:stretch>
            <a:fillRect/>
          </a:stretch>
        </p:blipFill>
        <p:spPr>
          <a:xfrm>
            <a:off x="222334" y="1156889"/>
            <a:ext cx="3593793" cy="2160000"/>
          </a:xfrm>
          <a:prstGeom prst="rect">
            <a:avLst/>
          </a:prstGeom>
        </p:spPr>
      </p:pic>
      <p:pic>
        <p:nvPicPr>
          <p:cNvPr id="5" name="图片 4">
            <a:extLst>
              <a:ext uri="{FF2B5EF4-FFF2-40B4-BE49-F238E27FC236}">
                <a16:creationId xmlns:a16="http://schemas.microsoft.com/office/drawing/2014/main" id="{37C331C7-4048-97C7-6022-A5E7DA3A39D6}"/>
              </a:ext>
            </a:extLst>
          </p:cNvPr>
          <p:cNvPicPr>
            <a:picLocks noChangeAspect="1"/>
          </p:cNvPicPr>
          <p:nvPr/>
        </p:nvPicPr>
        <p:blipFill>
          <a:blip r:embed="rId4"/>
          <a:stretch>
            <a:fillRect/>
          </a:stretch>
        </p:blipFill>
        <p:spPr>
          <a:xfrm>
            <a:off x="4016891" y="1156889"/>
            <a:ext cx="3478665" cy="2160000"/>
          </a:xfrm>
          <a:prstGeom prst="rect">
            <a:avLst/>
          </a:prstGeom>
        </p:spPr>
      </p:pic>
      <p:grpSp>
        <p:nvGrpSpPr>
          <p:cNvPr id="7" name="组合 6">
            <a:extLst>
              <a:ext uri="{FF2B5EF4-FFF2-40B4-BE49-F238E27FC236}">
                <a16:creationId xmlns:a16="http://schemas.microsoft.com/office/drawing/2014/main" id="{16F0C50B-533D-BAB1-3A64-8F414466BF22}"/>
              </a:ext>
            </a:extLst>
          </p:cNvPr>
          <p:cNvGrpSpPr/>
          <p:nvPr/>
        </p:nvGrpSpPr>
        <p:grpSpPr>
          <a:xfrm>
            <a:off x="7696320" y="1483160"/>
            <a:ext cx="4061937" cy="1800000"/>
            <a:chOff x="4299334" y="1260676"/>
            <a:chExt cx="4196202" cy="1703318"/>
          </a:xfrm>
        </p:grpSpPr>
        <p:sp>
          <p:nvSpPr>
            <p:cNvPr id="8" name="任意多边形 29">
              <a:extLst>
                <a:ext uri="{FF2B5EF4-FFF2-40B4-BE49-F238E27FC236}">
                  <a16:creationId xmlns:a16="http://schemas.microsoft.com/office/drawing/2014/main" id="{05937343-A60D-CACC-B5E2-0F69AF24E88D}"/>
                </a:ext>
              </a:extLst>
            </p:cNvPr>
            <p:cNvSpPr/>
            <p:nvPr/>
          </p:nvSpPr>
          <p:spPr>
            <a:xfrm>
              <a:off x="4643552" y="1402409"/>
              <a:ext cx="2807864" cy="1028260"/>
            </a:xfrm>
            <a:custGeom>
              <a:avLst/>
              <a:gdLst>
                <a:gd name="connsiteX0" fmla="*/ 0 w 2808514"/>
                <a:gd name="connsiteY0" fmla="*/ 0 h 961053"/>
                <a:gd name="connsiteX1" fmla="*/ 1184988 w 2808514"/>
                <a:gd name="connsiteY1" fmla="*/ 681135 h 961053"/>
                <a:gd name="connsiteX2" fmla="*/ 2808514 w 2808514"/>
                <a:gd name="connsiteY2" fmla="*/ 961053 h 961053"/>
                <a:gd name="connsiteX3" fmla="*/ 2808514 w 2808514"/>
                <a:gd name="connsiteY3" fmla="*/ 961053 h 961053"/>
              </a:gdLst>
              <a:ahLst/>
              <a:cxnLst>
                <a:cxn ang="0">
                  <a:pos x="connsiteX0" y="connsiteY0"/>
                </a:cxn>
                <a:cxn ang="0">
                  <a:pos x="connsiteX1" y="connsiteY1"/>
                </a:cxn>
                <a:cxn ang="0">
                  <a:pos x="connsiteX2" y="connsiteY2"/>
                </a:cxn>
                <a:cxn ang="0">
                  <a:pos x="connsiteX3" y="connsiteY3"/>
                </a:cxn>
              </a:cxnLst>
              <a:rect l="l" t="t" r="r" b="b"/>
              <a:pathLst>
                <a:path w="2808514" h="961053">
                  <a:moveTo>
                    <a:pt x="0" y="0"/>
                  </a:moveTo>
                  <a:cubicBezTo>
                    <a:pt x="358451" y="260480"/>
                    <a:pt x="716902" y="520960"/>
                    <a:pt x="1184988" y="681135"/>
                  </a:cubicBezTo>
                  <a:cubicBezTo>
                    <a:pt x="1653074" y="841311"/>
                    <a:pt x="2808514" y="961053"/>
                    <a:pt x="2808514" y="961053"/>
                  </a:cubicBezTo>
                  <a:lnTo>
                    <a:pt x="2808514" y="961053"/>
                  </a:lnTo>
                </a:path>
              </a:pathLst>
            </a:custGeom>
            <a:noFill/>
            <a:ln w="38100" cap="flat" cmpd="sng" algn="ctr">
              <a:solidFill>
                <a:srgbClr val="ED7D31"/>
              </a:solidFill>
              <a:prstDash val="dashDot"/>
              <a:headEnd type="none" w="med" len="med"/>
              <a:tailEnd type="triangle" w="med" len="med"/>
            </a:ln>
            <a:effectLst>
              <a:outerShdw blurRad="40000" dist="23000" dir="5400000" rotWithShape="0">
                <a:srgbClr val="000000">
                  <a:alpha val="35000"/>
                </a:srgbClr>
              </a:outerShdw>
            </a:effectLst>
          </p:spPr>
          <p:txBody>
            <a:bodyPr rtlCol="0" anchor="ctr"/>
            <a:lstStyle/>
            <a:p>
              <a:pPr algn="ctr" defTabSz="914034" rtl="0" fontAlgn="base">
                <a:spcBef>
                  <a:spcPct val="0"/>
                </a:spcBef>
                <a:spcAft>
                  <a:spcPct val="0"/>
                </a:spcAft>
                <a:defRPr/>
              </a:pPr>
              <a:endParaRPr lang="zh-CN" altLang="en-US">
                <a:solidFill>
                  <a:prstClr val="black"/>
                </a:solidFill>
                <a:latin typeface="微软雅黑" panose="020B0503020204020204" pitchFamily="34" charset="-122"/>
                <a:ea typeface="微软雅黑"/>
                <a:cs typeface="+mn-cs"/>
              </a:endParaRPr>
            </a:p>
          </p:txBody>
        </p:sp>
        <p:sp>
          <p:nvSpPr>
            <p:cNvPr id="10" name="圆角矩形 8">
              <a:extLst>
                <a:ext uri="{FF2B5EF4-FFF2-40B4-BE49-F238E27FC236}">
                  <a16:creationId xmlns:a16="http://schemas.microsoft.com/office/drawing/2014/main" id="{09D3AF42-E5D2-0C8D-C06A-781DCACC2340}"/>
                </a:ext>
              </a:extLst>
            </p:cNvPr>
            <p:cNvSpPr/>
            <p:nvPr/>
          </p:nvSpPr>
          <p:spPr>
            <a:xfrm>
              <a:off x="4521486" y="2202150"/>
              <a:ext cx="864931" cy="140001"/>
            </a:xfrm>
            <a:prstGeom prst="roundRect">
              <a:avLst/>
            </a:prstGeom>
            <a:solidFill>
              <a:srgbClr val="A3DBFF"/>
            </a:solidFill>
            <a:ln w="9525" cap="flat" cmpd="sng" algn="ctr">
              <a:solidFill>
                <a:srgbClr val="5B9BD5">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034" rtl="0" fontAlgn="base">
                <a:spcBef>
                  <a:spcPct val="0"/>
                </a:spcBef>
                <a:spcAft>
                  <a:spcPct val="0"/>
                </a:spcAft>
                <a:defRPr/>
              </a:pPr>
              <a:r>
                <a:rPr lang="en-US" altLang="zh-CN" sz="900" dirty="0">
                  <a:solidFill>
                    <a:prstClr val="black"/>
                  </a:solidFill>
                  <a:latin typeface="微软雅黑" panose="020B0503020204020204" pitchFamily="34" charset="-122"/>
                  <a:ea typeface="微软雅黑"/>
                  <a:cs typeface="+mn-cs"/>
                </a:rPr>
                <a:t>ECC/SDDC</a:t>
              </a:r>
              <a:endParaRPr lang="zh-CN" altLang="en-US" sz="900" dirty="0">
                <a:solidFill>
                  <a:prstClr val="black"/>
                </a:solidFill>
                <a:latin typeface="微软雅黑" panose="020B0503020204020204" pitchFamily="34" charset="-122"/>
                <a:ea typeface="微软雅黑"/>
                <a:cs typeface="+mn-cs"/>
              </a:endParaRPr>
            </a:p>
          </p:txBody>
        </p:sp>
        <p:sp>
          <p:nvSpPr>
            <p:cNvPr id="11" name="圆角矩形 9">
              <a:extLst>
                <a:ext uri="{FF2B5EF4-FFF2-40B4-BE49-F238E27FC236}">
                  <a16:creationId xmlns:a16="http://schemas.microsoft.com/office/drawing/2014/main" id="{4CEE55F3-2D86-A18F-AD66-4BCF847EC3E2}"/>
                </a:ext>
              </a:extLst>
            </p:cNvPr>
            <p:cNvSpPr/>
            <p:nvPr/>
          </p:nvSpPr>
          <p:spPr>
            <a:xfrm>
              <a:off x="5267949" y="1865025"/>
              <a:ext cx="1078061" cy="129093"/>
            </a:xfrm>
            <a:prstGeom prst="roundRect">
              <a:avLst/>
            </a:prstGeom>
            <a:solidFill>
              <a:srgbClr val="A3DBFF"/>
            </a:solidFill>
            <a:ln w="9525" cap="flat" cmpd="sng" algn="ctr">
              <a:solidFill>
                <a:srgbClr val="5B9BD5">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034" rtl="0" fontAlgn="base">
                <a:spcBef>
                  <a:spcPct val="0"/>
                </a:spcBef>
                <a:spcAft>
                  <a:spcPct val="0"/>
                </a:spcAft>
                <a:defRPr/>
              </a:pPr>
              <a:r>
                <a:rPr lang="en-US" altLang="zh-CN" sz="900" dirty="0">
                  <a:solidFill>
                    <a:prstClr val="black"/>
                  </a:solidFill>
                  <a:latin typeface="微软雅黑" panose="020B0503020204020204" pitchFamily="34" charset="-122"/>
                  <a:ea typeface="微软雅黑"/>
                  <a:cs typeface="+mn-cs"/>
                </a:rPr>
                <a:t>SDDC</a:t>
              </a:r>
              <a:endParaRPr lang="zh-CN" altLang="en-US" sz="900" dirty="0">
                <a:solidFill>
                  <a:prstClr val="black"/>
                </a:solidFill>
                <a:latin typeface="微软雅黑" panose="020B0503020204020204" pitchFamily="34" charset="-122"/>
                <a:ea typeface="微软雅黑"/>
                <a:cs typeface="+mn-cs"/>
              </a:endParaRPr>
            </a:p>
          </p:txBody>
        </p:sp>
        <p:sp>
          <p:nvSpPr>
            <p:cNvPr id="12" name="圆角矩形 10">
              <a:extLst>
                <a:ext uri="{FF2B5EF4-FFF2-40B4-BE49-F238E27FC236}">
                  <a16:creationId xmlns:a16="http://schemas.microsoft.com/office/drawing/2014/main" id="{BACF41D8-D04A-8A8C-0A63-6E8201CDF7A5}"/>
                </a:ext>
              </a:extLst>
            </p:cNvPr>
            <p:cNvSpPr/>
            <p:nvPr/>
          </p:nvSpPr>
          <p:spPr>
            <a:xfrm>
              <a:off x="5813451" y="1666951"/>
              <a:ext cx="1077734" cy="160317"/>
            </a:xfrm>
            <a:prstGeom prst="roundRect">
              <a:avLst/>
            </a:prstGeom>
            <a:solidFill>
              <a:schemeClr val="accent3">
                <a:lumMod val="20000"/>
                <a:lumOff val="80000"/>
              </a:schemeClr>
            </a:solidFill>
            <a:ln w="9525" cap="flat" cmpd="sng" algn="ctr">
              <a:solidFill>
                <a:srgbClr val="ED7D31">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034" rtl="0" fontAlgn="base">
                <a:spcBef>
                  <a:spcPct val="0"/>
                </a:spcBef>
                <a:spcAft>
                  <a:spcPct val="0"/>
                </a:spcAft>
                <a:defRPr/>
              </a:pPr>
              <a:r>
                <a:rPr lang="en-US" altLang="zh-CN" sz="900" dirty="0">
                  <a:solidFill>
                    <a:prstClr val="black"/>
                  </a:solidFill>
                  <a:latin typeface="微软雅黑" panose="020B0503020204020204" pitchFamily="34" charset="-122"/>
                  <a:ea typeface="微软雅黑"/>
                  <a:cs typeface="+mn-cs"/>
                </a:rPr>
                <a:t>ADDDC </a:t>
              </a:r>
              <a:endParaRPr lang="zh-CN" altLang="en-US" sz="900" dirty="0">
                <a:solidFill>
                  <a:prstClr val="black"/>
                </a:solidFill>
                <a:latin typeface="微软雅黑" panose="020B0503020204020204" pitchFamily="34" charset="-122"/>
                <a:ea typeface="微软雅黑"/>
                <a:cs typeface="+mn-cs"/>
              </a:endParaRPr>
            </a:p>
          </p:txBody>
        </p:sp>
        <p:sp>
          <p:nvSpPr>
            <p:cNvPr id="17" name="圆角矩形 11">
              <a:extLst>
                <a:ext uri="{FF2B5EF4-FFF2-40B4-BE49-F238E27FC236}">
                  <a16:creationId xmlns:a16="http://schemas.microsoft.com/office/drawing/2014/main" id="{130DFA75-BAFF-5080-C190-E77F6DD95F44}"/>
                </a:ext>
              </a:extLst>
            </p:cNvPr>
            <p:cNvSpPr/>
            <p:nvPr/>
          </p:nvSpPr>
          <p:spPr>
            <a:xfrm>
              <a:off x="4523572" y="2041907"/>
              <a:ext cx="979948" cy="130658"/>
            </a:xfrm>
            <a:prstGeom prst="roundRect">
              <a:avLst/>
            </a:prstGeom>
            <a:solidFill>
              <a:schemeClr val="accent3">
                <a:lumMod val="20000"/>
                <a:lumOff val="80000"/>
              </a:schemeClr>
            </a:solidFill>
            <a:ln w="9525" cap="flat" cmpd="sng" algn="ctr">
              <a:solidFill>
                <a:srgbClr val="ED7D31">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034" rtl="0" fontAlgn="base">
                <a:spcBef>
                  <a:spcPct val="0"/>
                </a:spcBef>
                <a:spcAft>
                  <a:spcPct val="0"/>
                </a:spcAft>
                <a:defRPr/>
              </a:pPr>
              <a:r>
                <a:rPr lang="en-US" altLang="zh-CN" sz="900">
                  <a:solidFill>
                    <a:prstClr val="black"/>
                  </a:solidFill>
                  <a:latin typeface="微软雅黑" panose="020B0503020204020204" pitchFamily="34" charset="-122"/>
                  <a:ea typeface="微软雅黑"/>
                  <a:cs typeface="+mn-cs"/>
                </a:rPr>
                <a:t>Page Offline </a:t>
              </a:r>
              <a:endParaRPr lang="zh-CN" altLang="en-US" sz="900">
                <a:solidFill>
                  <a:prstClr val="black"/>
                </a:solidFill>
                <a:latin typeface="微软雅黑" panose="020B0503020204020204" pitchFamily="34" charset="-122"/>
                <a:ea typeface="微软雅黑"/>
                <a:cs typeface="+mn-cs"/>
              </a:endParaRPr>
            </a:p>
          </p:txBody>
        </p:sp>
        <p:sp>
          <p:nvSpPr>
            <p:cNvPr id="18" name="圆角矩形 12">
              <a:extLst>
                <a:ext uri="{FF2B5EF4-FFF2-40B4-BE49-F238E27FC236}">
                  <a16:creationId xmlns:a16="http://schemas.microsoft.com/office/drawing/2014/main" id="{7F3A6CE3-4520-7B79-DC2E-16AF191D5922}"/>
                </a:ext>
              </a:extLst>
            </p:cNvPr>
            <p:cNvSpPr/>
            <p:nvPr/>
          </p:nvSpPr>
          <p:spPr>
            <a:xfrm>
              <a:off x="6173418" y="1450567"/>
              <a:ext cx="984038" cy="155411"/>
            </a:xfrm>
            <a:prstGeom prst="roundRect">
              <a:avLst/>
            </a:prstGeom>
            <a:solidFill>
              <a:schemeClr val="accent3">
                <a:lumMod val="20000"/>
                <a:lumOff val="80000"/>
              </a:schemeClr>
            </a:solidFill>
            <a:ln w="9525" cap="flat" cmpd="sng" algn="ctr">
              <a:solidFill>
                <a:srgbClr val="ED7D31">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034" rtl="0" fontAlgn="base">
                <a:spcBef>
                  <a:spcPct val="0"/>
                </a:spcBef>
                <a:spcAft>
                  <a:spcPct val="0"/>
                </a:spcAft>
                <a:defRPr/>
              </a:pPr>
              <a:r>
                <a:rPr lang="en-US" altLang="zh-CN" sz="900">
                  <a:solidFill>
                    <a:prstClr val="black"/>
                  </a:solidFill>
                  <a:latin typeface="微软雅黑" panose="020B0503020204020204" pitchFamily="34" charset="-122"/>
                  <a:ea typeface="微软雅黑"/>
                  <a:cs typeface="+mn-cs"/>
                </a:rPr>
                <a:t>PPR </a:t>
              </a:r>
              <a:endParaRPr lang="zh-CN" altLang="en-US" sz="900">
                <a:solidFill>
                  <a:prstClr val="black"/>
                </a:solidFill>
                <a:latin typeface="微软雅黑" panose="020B0503020204020204" pitchFamily="34" charset="-122"/>
                <a:ea typeface="微软雅黑"/>
                <a:cs typeface="+mn-cs"/>
              </a:endParaRPr>
            </a:p>
          </p:txBody>
        </p:sp>
        <p:sp>
          <p:nvSpPr>
            <p:cNvPr id="23" name="圆角矩形 13">
              <a:extLst>
                <a:ext uri="{FF2B5EF4-FFF2-40B4-BE49-F238E27FC236}">
                  <a16:creationId xmlns:a16="http://schemas.microsoft.com/office/drawing/2014/main" id="{1949C87D-BEF5-45D0-4BE0-A3DF4600C981}"/>
                </a:ext>
              </a:extLst>
            </p:cNvPr>
            <p:cNvSpPr/>
            <p:nvPr/>
          </p:nvSpPr>
          <p:spPr>
            <a:xfrm>
              <a:off x="6173418" y="1260676"/>
              <a:ext cx="984037" cy="143715"/>
            </a:xfrm>
            <a:prstGeom prst="roundRect">
              <a:avLst/>
            </a:prstGeom>
            <a:solidFill>
              <a:schemeClr val="accent3">
                <a:lumMod val="20000"/>
                <a:lumOff val="80000"/>
              </a:schemeClr>
            </a:solidFill>
            <a:ln w="9525" cap="flat" cmpd="sng" algn="ctr">
              <a:solidFill>
                <a:srgbClr val="ED7D31">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034" rtl="0" fontAlgn="base">
                <a:spcBef>
                  <a:spcPct val="0"/>
                </a:spcBef>
                <a:spcAft>
                  <a:spcPct val="0"/>
                </a:spcAft>
                <a:defRPr/>
              </a:pPr>
              <a:r>
                <a:rPr lang="en-US" altLang="zh-CN" sz="900" dirty="0">
                  <a:solidFill>
                    <a:prstClr val="black"/>
                  </a:solidFill>
                  <a:latin typeface="微软雅黑" panose="020B0503020204020204" pitchFamily="34" charset="-122"/>
                  <a:ea typeface="微软雅黑"/>
                  <a:cs typeface="+mn-cs"/>
                </a:rPr>
                <a:t>PCLS </a:t>
              </a:r>
              <a:endParaRPr lang="zh-CN" altLang="en-US" sz="900" dirty="0">
                <a:solidFill>
                  <a:prstClr val="black"/>
                </a:solidFill>
                <a:latin typeface="微软雅黑" panose="020B0503020204020204" pitchFamily="34" charset="-122"/>
                <a:ea typeface="微软雅黑"/>
                <a:cs typeface="+mn-cs"/>
              </a:endParaRPr>
            </a:p>
          </p:txBody>
        </p:sp>
        <p:cxnSp>
          <p:nvCxnSpPr>
            <p:cNvPr id="24" name="直接箭头连接符 23">
              <a:extLst>
                <a:ext uri="{FF2B5EF4-FFF2-40B4-BE49-F238E27FC236}">
                  <a16:creationId xmlns:a16="http://schemas.microsoft.com/office/drawing/2014/main" id="{596B58FB-0376-23E4-CA90-52959052F718}"/>
                </a:ext>
              </a:extLst>
            </p:cNvPr>
            <p:cNvCxnSpPr/>
            <p:nvPr/>
          </p:nvCxnSpPr>
          <p:spPr>
            <a:xfrm>
              <a:off x="4385050" y="2558716"/>
              <a:ext cx="3733145" cy="0"/>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44" name="直接箭头连接符 43">
              <a:extLst>
                <a:ext uri="{FF2B5EF4-FFF2-40B4-BE49-F238E27FC236}">
                  <a16:creationId xmlns:a16="http://schemas.microsoft.com/office/drawing/2014/main" id="{84D06301-D31E-6286-1021-0E7670A9EE8F}"/>
                </a:ext>
              </a:extLst>
            </p:cNvPr>
            <p:cNvCxnSpPr/>
            <p:nvPr/>
          </p:nvCxnSpPr>
          <p:spPr>
            <a:xfrm flipV="1">
              <a:off x="4385050" y="1446736"/>
              <a:ext cx="0" cy="1121531"/>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sp>
          <p:nvSpPr>
            <p:cNvPr id="45" name="文本框 44">
              <a:extLst>
                <a:ext uri="{FF2B5EF4-FFF2-40B4-BE49-F238E27FC236}">
                  <a16:creationId xmlns:a16="http://schemas.microsoft.com/office/drawing/2014/main" id="{A6244442-B07B-17C9-50C1-5B2A941F6FF1}"/>
                </a:ext>
              </a:extLst>
            </p:cNvPr>
            <p:cNvSpPr txBox="1"/>
            <p:nvPr/>
          </p:nvSpPr>
          <p:spPr>
            <a:xfrm>
              <a:off x="4299334" y="2609704"/>
              <a:ext cx="907154" cy="354289"/>
            </a:xfrm>
            <a:prstGeom prst="rect">
              <a:avLst/>
            </a:prstGeom>
            <a:noFill/>
          </p:spPr>
          <p:txBody>
            <a:bodyPr wrap="square" rtlCol="0" anchor="ctr">
              <a:spAutoFit/>
            </a:bodyPr>
            <a:lstStyle/>
            <a:p>
              <a:pPr algn="ctr" defTabSz="914034" rtl="0" fontAlgn="base">
                <a:spcBef>
                  <a:spcPct val="0"/>
                </a:spcBef>
                <a:spcAft>
                  <a:spcPct val="0"/>
                </a:spcAft>
                <a:defRPr/>
              </a:pPr>
              <a:r>
                <a:rPr lang="en-US" altLang="zh-CN" sz="900" dirty="0">
                  <a:solidFill>
                    <a:prstClr val="black"/>
                  </a:solidFill>
                  <a:latin typeface="微软雅黑" panose="020B0503020204020204" pitchFamily="34" charset="-122"/>
                  <a:ea typeface="微软雅黑"/>
                  <a:cs typeface="+mn-cs"/>
                </a:rPr>
                <a:t>DDR2</a:t>
              </a:r>
            </a:p>
            <a:p>
              <a:pPr algn="ctr" defTabSz="914034" fontAlgn="base">
                <a:spcBef>
                  <a:spcPct val="0"/>
                </a:spcBef>
                <a:spcAft>
                  <a:spcPct val="0"/>
                </a:spcAft>
                <a:defRPr/>
              </a:pPr>
              <a:r>
                <a:rPr lang="en-US" altLang="zh-CN" sz="900" dirty="0">
                  <a:solidFill>
                    <a:prstClr val="black"/>
                  </a:solidFill>
                  <a:latin typeface="微软雅黑" panose="020B0503020204020204" pitchFamily="34" charset="-122"/>
                  <a:ea typeface="微软雅黑"/>
                  <a:cs typeface="+mn-cs"/>
                </a:rPr>
                <a:t>2006~2011</a:t>
              </a:r>
              <a:endParaRPr lang="zh-CN" altLang="en-US" sz="900" dirty="0">
                <a:solidFill>
                  <a:prstClr val="black"/>
                </a:solidFill>
                <a:latin typeface="微软雅黑" panose="020B0503020204020204" pitchFamily="34" charset="-122"/>
                <a:ea typeface="微软雅黑"/>
                <a:cs typeface="+mn-cs"/>
              </a:endParaRPr>
            </a:p>
          </p:txBody>
        </p:sp>
        <p:sp>
          <p:nvSpPr>
            <p:cNvPr id="47" name="文本框 46">
              <a:extLst>
                <a:ext uri="{FF2B5EF4-FFF2-40B4-BE49-F238E27FC236}">
                  <a16:creationId xmlns:a16="http://schemas.microsoft.com/office/drawing/2014/main" id="{19ACC9E1-11A3-D35B-78A1-6B01F12A614F}"/>
                </a:ext>
              </a:extLst>
            </p:cNvPr>
            <p:cNvSpPr txBox="1"/>
            <p:nvPr/>
          </p:nvSpPr>
          <p:spPr>
            <a:xfrm>
              <a:off x="5194930" y="2609706"/>
              <a:ext cx="864928" cy="354288"/>
            </a:xfrm>
            <a:prstGeom prst="rect">
              <a:avLst/>
            </a:prstGeom>
            <a:noFill/>
          </p:spPr>
          <p:txBody>
            <a:bodyPr wrap="square" rtlCol="0" anchor="ctr">
              <a:spAutoFit/>
            </a:bodyPr>
            <a:lstStyle/>
            <a:p>
              <a:pPr algn="ctr" defTabSz="914034" rtl="0" fontAlgn="base">
                <a:spcBef>
                  <a:spcPct val="0"/>
                </a:spcBef>
                <a:spcAft>
                  <a:spcPct val="0"/>
                </a:spcAft>
                <a:defRPr/>
              </a:pPr>
              <a:r>
                <a:rPr lang="en-US" altLang="zh-CN" sz="900" dirty="0">
                  <a:solidFill>
                    <a:prstClr val="black"/>
                  </a:solidFill>
                  <a:latin typeface="微软雅黑" panose="020B0503020204020204" pitchFamily="34" charset="-122"/>
                  <a:ea typeface="微软雅黑"/>
                  <a:cs typeface="+mn-cs"/>
                </a:rPr>
                <a:t>DDR3</a:t>
              </a:r>
            </a:p>
            <a:p>
              <a:pPr algn="ctr" defTabSz="914034" fontAlgn="base">
                <a:spcBef>
                  <a:spcPct val="0"/>
                </a:spcBef>
                <a:spcAft>
                  <a:spcPct val="0"/>
                </a:spcAft>
                <a:defRPr/>
              </a:pPr>
              <a:r>
                <a:rPr lang="en-US" altLang="zh-CN" sz="900" dirty="0">
                  <a:solidFill>
                    <a:prstClr val="black"/>
                  </a:solidFill>
                  <a:latin typeface="微软雅黑" panose="020B0503020204020204" pitchFamily="34" charset="-122"/>
                  <a:ea typeface="微软雅黑"/>
                  <a:cs typeface="+mn-cs"/>
                </a:rPr>
                <a:t>2011~2016</a:t>
              </a:r>
              <a:endParaRPr lang="zh-CN" altLang="en-US" sz="900" dirty="0">
                <a:solidFill>
                  <a:prstClr val="black"/>
                </a:solidFill>
                <a:latin typeface="微软雅黑" panose="020B0503020204020204" pitchFamily="34" charset="-122"/>
                <a:ea typeface="微软雅黑"/>
                <a:cs typeface="+mn-cs"/>
              </a:endParaRPr>
            </a:p>
          </p:txBody>
        </p:sp>
        <p:sp>
          <p:nvSpPr>
            <p:cNvPr id="48" name="文本框 47">
              <a:extLst>
                <a:ext uri="{FF2B5EF4-FFF2-40B4-BE49-F238E27FC236}">
                  <a16:creationId xmlns:a16="http://schemas.microsoft.com/office/drawing/2014/main" id="{9957FD7F-21E2-B0DD-EC35-94E0FA1F35B3}"/>
                </a:ext>
              </a:extLst>
            </p:cNvPr>
            <p:cNvSpPr txBox="1"/>
            <p:nvPr/>
          </p:nvSpPr>
          <p:spPr>
            <a:xfrm>
              <a:off x="6048300" y="2609704"/>
              <a:ext cx="844683" cy="354289"/>
            </a:xfrm>
            <a:prstGeom prst="rect">
              <a:avLst/>
            </a:prstGeom>
            <a:noFill/>
          </p:spPr>
          <p:txBody>
            <a:bodyPr wrap="square" rtlCol="0" anchor="ctr">
              <a:spAutoFit/>
            </a:bodyPr>
            <a:lstStyle/>
            <a:p>
              <a:pPr algn="ctr" defTabSz="914034" rtl="0" fontAlgn="base">
                <a:spcBef>
                  <a:spcPct val="0"/>
                </a:spcBef>
                <a:spcAft>
                  <a:spcPct val="0"/>
                </a:spcAft>
                <a:defRPr/>
              </a:pPr>
              <a:r>
                <a:rPr lang="en-US" altLang="zh-CN" sz="900" dirty="0">
                  <a:solidFill>
                    <a:prstClr val="black"/>
                  </a:solidFill>
                  <a:latin typeface="微软雅黑" panose="020B0503020204020204" pitchFamily="34" charset="-122"/>
                  <a:ea typeface="微软雅黑"/>
                  <a:cs typeface="+mn-cs"/>
                </a:rPr>
                <a:t>DDR4</a:t>
              </a:r>
            </a:p>
            <a:p>
              <a:pPr algn="ctr" defTabSz="914034" fontAlgn="base">
                <a:spcBef>
                  <a:spcPct val="0"/>
                </a:spcBef>
                <a:spcAft>
                  <a:spcPct val="0"/>
                </a:spcAft>
                <a:defRPr/>
              </a:pPr>
              <a:r>
                <a:rPr lang="en-US" altLang="zh-CN" sz="900" dirty="0">
                  <a:solidFill>
                    <a:prstClr val="black"/>
                  </a:solidFill>
                  <a:latin typeface="微软雅黑" panose="020B0503020204020204" pitchFamily="34" charset="-122"/>
                  <a:ea typeface="微软雅黑"/>
                  <a:cs typeface="+mn-cs"/>
                </a:rPr>
                <a:t>2016~2021</a:t>
              </a:r>
              <a:endParaRPr lang="zh-CN" altLang="en-US" sz="900" dirty="0">
                <a:solidFill>
                  <a:prstClr val="black"/>
                </a:solidFill>
                <a:latin typeface="微软雅黑" panose="020B0503020204020204" pitchFamily="34" charset="-122"/>
                <a:ea typeface="微软雅黑"/>
                <a:cs typeface="+mn-cs"/>
              </a:endParaRPr>
            </a:p>
          </p:txBody>
        </p:sp>
        <p:sp>
          <p:nvSpPr>
            <p:cNvPr id="49" name="文本框 48">
              <a:extLst>
                <a:ext uri="{FF2B5EF4-FFF2-40B4-BE49-F238E27FC236}">
                  <a16:creationId xmlns:a16="http://schemas.microsoft.com/office/drawing/2014/main" id="{3533934F-FC52-C7AF-3F4D-C4D633B4C786}"/>
                </a:ext>
              </a:extLst>
            </p:cNvPr>
            <p:cNvSpPr txBox="1"/>
            <p:nvPr/>
          </p:nvSpPr>
          <p:spPr>
            <a:xfrm>
              <a:off x="6881427" y="2605434"/>
              <a:ext cx="974724" cy="354288"/>
            </a:xfrm>
            <a:prstGeom prst="rect">
              <a:avLst/>
            </a:prstGeom>
            <a:noFill/>
          </p:spPr>
          <p:txBody>
            <a:bodyPr wrap="square" rtlCol="0" anchor="ctr">
              <a:spAutoFit/>
            </a:bodyPr>
            <a:lstStyle/>
            <a:p>
              <a:pPr algn="ctr" defTabSz="914034" rtl="0" fontAlgn="base">
                <a:spcBef>
                  <a:spcPct val="0"/>
                </a:spcBef>
                <a:spcAft>
                  <a:spcPct val="0"/>
                </a:spcAft>
                <a:defRPr/>
              </a:pPr>
              <a:r>
                <a:rPr lang="en-US" altLang="zh-CN" sz="900" dirty="0">
                  <a:solidFill>
                    <a:prstClr val="black"/>
                  </a:solidFill>
                  <a:latin typeface="微软雅黑" panose="020B0503020204020204" pitchFamily="34" charset="-122"/>
                  <a:ea typeface="微软雅黑"/>
                  <a:cs typeface="+mn-cs"/>
                </a:rPr>
                <a:t>DDR5</a:t>
              </a:r>
            </a:p>
            <a:p>
              <a:pPr algn="ctr" defTabSz="914034" fontAlgn="base">
                <a:spcBef>
                  <a:spcPct val="0"/>
                </a:spcBef>
                <a:spcAft>
                  <a:spcPct val="0"/>
                </a:spcAft>
                <a:defRPr/>
              </a:pPr>
              <a:r>
                <a:rPr lang="en-US" altLang="zh-CN" sz="900" dirty="0">
                  <a:solidFill>
                    <a:prstClr val="black"/>
                  </a:solidFill>
                  <a:latin typeface="微软雅黑" panose="020B0503020204020204" pitchFamily="34" charset="-122"/>
                  <a:ea typeface="微软雅黑"/>
                  <a:cs typeface="+mn-cs"/>
                </a:rPr>
                <a:t>2021~2026</a:t>
              </a:r>
              <a:endParaRPr lang="zh-CN" altLang="en-US" sz="900" dirty="0">
                <a:solidFill>
                  <a:prstClr val="black"/>
                </a:solidFill>
                <a:latin typeface="微软雅黑" panose="020B0503020204020204" pitchFamily="34" charset="-122"/>
                <a:ea typeface="微软雅黑"/>
                <a:cs typeface="+mn-cs"/>
              </a:endParaRPr>
            </a:p>
          </p:txBody>
        </p:sp>
        <p:sp>
          <p:nvSpPr>
            <p:cNvPr id="57" name="文本框 56">
              <a:extLst>
                <a:ext uri="{FF2B5EF4-FFF2-40B4-BE49-F238E27FC236}">
                  <a16:creationId xmlns:a16="http://schemas.microsoft.com/office/drawing/2014/main" id="{97B4D9DC-CF76-B386-6C67-D9D13B3BA9E3}"/>
                </a:ext>
              </a:extLst>
            </p:cNvPr>
            <p:cNvSpPr txBox="1"/>
            <p:nvPr/>
          </p:nvSpPr>
          <p:spPr>
            <a:xfrm>
              <a:off x="7289774" y="2144263"/>
              <a:ext cx="1169678" cy="221378"/>
            </a:xfrm>
            <a:prstGeom prst="rect">
              <a:avLst/>
            </a:prstGeom>
            <a:noFill/>
          </p:spPr>
          <p:txBody>
            <a:bodyPr wrap="square" rtlCol="0" anchor="ctr">
              <a:spAutoFit/>
            </a:bodyPr>
            <a:lstStyle/>
            <a:p>
              <a:pPr algn="ctr" defTabSz="914034" rtl="0" fontAlgn="base">
                <a:spcBef>
                  <a:spcPct val="0"/>
                </a:spcBef>
                <a:spcAft>
                  <a:spcPct val="0"/>
                </a:spcAft>
                <a:defRPr/>
              </a:pPr>
              <a:r>
                <a:rPr lang="en-US" altLang="zh-CN" sz="900" dirty="0">
                  <a:solidFill>
                    <a:srgbClr val="ED7D31">
                      <a:lumMod val="75000"/>
                    </a:srgbClr>
                  </a:solidFill>
                  <a:latin typeface="微软雅黑" panose="020B0503020204020204" pitchFamily="34" charset="-122"/>
                  <a:ea typeface="微软雅黑"/>
                  <a:cs typeface="+mn-cs"/>
                </a:rPr>
                <a:t>DRAM</a:t>
              </a:r>
              <a:r>
                <a:rPr lang="zh-CN" altLang="en-US" sz="900" dirty="0">
                  <a:solidFill>
                    <a:srgbClr val="ED7D31">
                      <a:lumMod val="75000"/>
                    </a:srgbClr>
                  </a:solidFill>
                  <a:latin typeface="微软雅黑" panose="020B0503020204020204" pitchFamily="34" charset="-122"/>
                  <a:ea typeface="微软雅黑"/>
                  <a:cs typeface="+mn-cs"/>
                </a:rPr>
                <a:t> </a:t>
              </a:r>
              <a:r>
                <a:rPr lang="en-US" altLang="zh-CN" sz="900" dirty="0">
                  <a:solidFill>
                    <a:srgbClr val="ED7D31">
                      <a:lumMod val="75000"/>
                    </a:srgbClr>
                  </a:solidFill>
                  <a:latin typeface="微软雅黑" panose="020B0503020204020204" pitchFamily="34" charset="-122"/>
                  <a:ea typeface="微软雅黑"/>
                  <a:cs typeface="+mn-cs"/>
                </a:rPr>
                <a:t>Reliability</a:t>
              </a:r>
              <a:endParaRPr lang="zh-CN" altLang="en-US" sz="900" dirty="0">
                <a:solidFill>
                  <a:srgbClr val="ED7D31">
                    <a:lumMod val="75000"/>
                  </a:srgbClr>
                </a:solidFill>
                <a:latin typeface="微软雅黑" panose="020B0503020204020204" pitchFamily="34" charset="-122"/>
                <a:ea typeface="微软雅黑"/>
                <a:cs typeface="+mn-cs"/>
              </a:endParaRPr>
            </a:p>
          </p:txBody>
        </p:sp>
        <p:sp>
          <p:nvSpPr>
            <p:cNvPr id="58" name="文本框 57">
              <a:extLst>
                <a:ext uri="{FF2B5EF4-FFF2-40B4-BE49-F238E27FC236}">
                  <a16:creationId xmlns:a16="http://schemas.microsoft.com/office/drawing/2014/main" id="{BD7DCFA4-A855-78B9-10A2-21757357C057}"/>
                </a:ext>
              </a:extLst>
            </p:cNvPr>
            <p:cNvSpPr txBox="1"/>
            <p:nvPr/>
          </p:nvSpPr>
          <p:spPr>
            <a:xfrm>
              <a:off x="7216767" y="1277631"/>
              <a:ext cx="1278769" cy="354288"/>
            </a:xfrm>
            <a:prstGeom prst="rect">
              <a:avLst/>
            </a:prstGeom>
            <a:noFill/>
          </p:spPr>
          <p:txBody>
            <a:bodyPr wrap="square" rtlCol="0" anchor="ctr">
              <a:spAutoFit/>
            </a:bodyPr>
            <a:lstStyle/>
            <a:p>
              <a:pPr algn="ctr" defTabSz="914034" rtl="0" fontAlgn="base">
                <a:spcBef>
                  <a:spcPct val="0"/>
                </a:spcBef>
                <a:spcAft>
                  <a:spcPct val="0"/>
                </a:spcAft>
                <a:defRPr/>
              </a:pPr>
              <a:r>
                <a:rPr lang="en-US" altLang="zh-CN" sz="900" dirty="0">
                  <a:solidFill>
                    <a:srgbClr val="70AD47">
                      <a:lumMod val="75000"/>
                    </a:srgbClr>
                  </a:solidFill>
                  <a:latin typeface="微软雅黑" panose="020B0503020204020204" pitchFamily="34" charset="-122"/>
                  <a:ea typeface="微软雅黑"/>
                  <a:cs typeface="+mn-cs"/>
                </a:rPr>
                <a:t>DRAM</a:t>
              </a:r>
            </a:p>
            <a:p>
              <a:pPr algn="ctr" defTabSz="914034" rtl="0" fontAlgn="base">
                <a:spcBef>
                  <a:spcPct val="0"/>
                </a:spcBef>
                <a:spcAft>
                  <a:spcPct val="0"/>
                </a:spcAft>
                <a:defRPr/>
              </a:pPr>
              <a:r>
                <a:rPr lang="en-US" altLang="zh-CN" sz="900" dirty="0">
                  <a:solidFill>
                    <a:srgbClr val="70AD47">
                      <a:lumMod val="75000"/>
                    </a:srgbClr>
                  </a:solidFill>
                  <a:latin typeface="微软雅黑" panose="020B0503020204020204" pitchFamily="34" charset="-122"/>
                  <a:ea typeface="微软雅黑"/>
                  <a:cs typeface="+mn-cs"/>
                </a:rPr>
                <a:t>Speed and Density</a:t>
              </a:r>
              <a:endParaRPr lang="zh-CN" altLang="en-US" sz="900" dirty="0">
                <a:solidFill>
                  <a:srgbClr val="70AD47">
                    <a:lumMod val="75000"/>
                  </a:srgbClr>
                </a:solidFill>
                <a:latin typeface="微软雅黑" panose="020B0503020204020204" pitchFamily="34" charset="-122"/>
                <a:ea typeface="微软雅黑"/>
                <a:cs typeface="+mn-cs"/>
              </a:endParaRPr>
            </a:p>
          </p:txBody>
        </p:sp>
        <p:sp>
          <p:nvSpPr>
            <p:cNvPr id="72" name="文本框 71">
              <a:extLst>
                <a:ext uri="{FF2B5EF4-FFF2-40B4-BE49-F238E27FC236}">
                  <a16:creationId xmlns:a16="http://schemas.microsoft.com/office/drawing/2014/main" id="{3937DDFA-FA58-3B64-CE85-A065D8D5A6C0}"/>
                </a:ext>
              </a:extLst>
            </p:cNvPr>
            <p:cNvSpPr txBox="1"/>
            <p:nvPr/>
          </p:nvSpPr>
          <p:spPr>
            <a:xfrm>
              <a:off x="7561914" y="2606836"/>
              <a:ext cx="897537" cy="221378"/>
            </a:xfrm>
            <a:prstGeom prst="rect">
              <a:avLst/>
            </a:prstGeom>
            <a:noFill/>
          </p:spPr>
          <p:txBody>
            <a:bodyPr wrap="square" rtlCol="0" anchor="ctr">
              <a:spAutoFit/>
            </a:bodyPr>
            <a:lstStyle/>
            <a:p>
              <a:pPr algn="ctr" defTabSz="914034" rtl="0" fontAlgn="base">
                <a:spcBef>
                  <a:spcPct val="0"/>
                </a:spcBef>
                <a:spcAft>
                  <a:spcPct val="0"/>
                </a:spcAft>
                <a:defRPr/>
              </a:pPr>
              <a:endParaRPr lang="zh-CN" altLang="en-US" sz="900" dirty="0">
                <a:solidFill>
                  <a:prstClr val="black"/>
                </a:solidFill>
                <a:latin typeface="微软雅黑" panose="020B0503020204020204" pitchFamily="34" charset="-122"/>
                <a:ea typeface="微软雅黑"/>
                <a:cs typeface="+mn-cs"/>
              </a:endParaRPr>
            </a:p>
          </p:txBody>
        </p:sp>
        <p:sp>
          <p:nvSpPr>
            <p:cNvPr id="73" name="任意多边形 30">
              <a:extLst>
                <a:ext uri="{FF2B5EF4-FFF2-40B4-BE49-F238E27FC236}">
                  <a16:creationId xmlns:a16="http://schemas.microsoft.com/office/drawing/2014/main" id="{CA3A8334-71DD-5CBD-5EEF-3DA9C2D683B5}"/>
                </a:ext>
              </a:extLst>
            </p:cNvPr>
            <p:cNvSpPr/>
            <p:nvPr/>
          </p:nvSpPr>
          <p:spPr>
            <a:xfrm>
              <a:off x="4522286" y="1663606"/>
              <a:ext cx="2929131" cy="830233"/>
            </a:xfrm>
            <a:custGeom>
              <a:avLst/>
              <a:gdLst>
                <a:gd name="connsiteX0" fmla="*/ 0 w 3041780"/>
                <a:gd name="connsiteY0" fmla="*/ 830425 h 830425"/>
                <a:gd name="connsiteX1" fmla="*/ 1754155 w 3041780"/>
                <a:gd name="connsiteY1" fmla="*/ 662473 h 830425"/>
                <a:gd name="connsiteX2" fmla="*/ 3041780 w 3041780"/>
                <a:gd name="connsiteY2" fmla="*/ 0 h 830425"/>
              </a:gdLst>
              <a:ahLst/>
              <a:cxnLst>
                <a:cxn ang="0">
                  <a:pos x="connsiteX0" y="connsiteY0"/>
                </a:cxn>
                <a:cxn ang="0">
                  <a:pos x="connsiteX1" y="connsiteY1"/>
                </a:cxn>
                <a:cxn ang="0">
                  <a:pos x="connsiteX2" y="connsiteY2"/>
                </a:cxn>
              </a:cxnLst>
              <a:rect l="l" t="t" r="r" b="b"/>
              <a:pathLst>
                <a:path w="3041780" h="830425">
                  <a:moveTo>
                    <a:pt x="0" y="830425"/>
                  </a:moveTo>
                  <a:cubicBezTo>
                    <a:pt x="623596" y="815651"/>
                    <a:pt x="1247192" y="800877"/>
                    <a:pt x="1754155" y="662473"/>
                  </a:cubicBezTo>
                  <a:cubicBezTo>
                    <a:pt x="2261118" y="524069"/>
                    <a:pt x="2651449" y="262034"/>
                    <a:pt x="3041780" y="0"/>
                  </a:cubicBezTo>
                </a:path>
              </a:pathLst>
            </a:custGeom>
            <a:noFill/>
            <a:ln w="38100" cap="flat" cmpd="sng" algn="ctr">
              <a:solidFill>
                <a:srgbClr val="70AD47"/>
              </a:solidFill>
              <a:prstDash val="dashDot"/>
              <a:headEnd type="none" w="med" len="med"/>
              <a:tailEnd type="triangle" w="med" len="med"/>
            </a:ln>
            <a:effectLst>
              <a:outerShdw blurRad="40000" dist="23000" dir="5400000" rotWithShape="0">
                <a:srgbClr val="000000">
                  <a:alpha val="35000"/>
                </a:srgbClr>
              </a:outerShdw>
            </a:effectLst>
          </p:spPr>
          <p:txBody>
            <a:bodyPr rtlCol="0" anchor="ctr"/>
            <a:lstStyle/>
            <a:p>
              <a:pPr algn="ctr" defTabSz="914034" rtl="0" fontAlgn="base">
                <a:spcBef>
                  <a:spcPct val="0"/>
                </a:spcBef>
                <a:spcAft>
                  <a:spcPct val="0"/>
                </a:spcAft>
                <a:defRPr/>
              </a:pPr>
              <a:endParaRPr lang="zh-CN" altLang="en-US">
                <a:solidFill>
                  <a:prstClr val="black"/>
                </a:solidFill>
                <a:latin typeface="微软雅黑" panose="020B0503020204020204" pitchFamily="34" charset="-122"/>
                <a:ea typeface="微软雅黑"/>
                <a:cs typeface="+mn-cs"/>
              </a:endParaRPr>
            </a:p>
          </p:txBody>
        </p:sp>
      </p:grpSp>
      <p:sp>
        <p:nvSpPr>
          <p:cNvPr id="75" name="文本框 74">
            <a:extLst>
              <a:ext uri="{FF2B5EF4-FFF2-40B4-BE49-F238E27FC236}">
                <a16:creationId xmlns:a16="http://schemas.microsoft.com/office/drawing/2014/main" id="{3CB9B6A2-D0D8-B419-8F18-F7CCC9437453}"/>
              </a:ext>
            </a:extLst>
          </p:cNvPr>
          <p:cNvSpPr txBox="1"/>
          <p:nvPr/>
        </p:nvSpPr>
        <p:spPr>
          <a:xfrm>
            <a:off x="808869" y="3364276"/>
            <a:ext cx="2420722" cy="646331"/>
          </a:xfrm>
          <a:prstGeom prst="rect">
            <a:avLst/>
          </a:prstGeom>
          <a:noFill/>
        </p:spPr>
        <p:txBody>
          <a:bodyPr wrap="square">
            <a:spAutoFit/>
          </a:bodyPr>
          <a:lstStyle/>
          <a:p>
            <a:pPr algn="ctr"/>
            <a:r>
              <a:rPr lang="en-US" altLang="zh-CN" sz="1200" b="1" dirty="0">
                <a:latin typeface="+mn-ea"/>
              </a:rPr>
              <a:t>Hardware Failure Distribution in Data Centers</a:t>
            </a:r>
            <a:r>
              <a:rPr lang="zh-CN" altLang="en-US" sz="1200" b="1" dirty="0">
                <a:latin typeface="+mn-ea"/>
              </a:rPr>
              <a:t> </a:t>
            </a:r>
            <a:endParaRPr lang="en-US" altLang="zh-CN" sz="1200" b="1" dirty="0">
              <a:latin typeface="+mn-ea"/>
            </a:endParaRPr>
          </a:p>
          <a:p>
            <a:pPr algn="ctr"/>
            <a:r>
              <a:rPr lang="en-US" altLang="zh-CN" sz="1200" b="1" dirty="0">
                <a:latin typeface="+mn-ea"/>
              </a:rPr>
              <a:t>(Intel’s report)</a:t>
            </a:r>
          </a:p>
        </p:txBody>
      </p:sp>
      <p:sp>
        <p:nvSpPr>
          <p:cNvPr id="76" name="文本框 75">
            <a:extLst>
              <a:ext uri="{FF2B5EF4-FFF2-40B4-BE49-F238E27FC236}">
                <a16:creationId xmlns:a16="http://schemas.microsoft.com/office/drawing/2014/main" id="{38873AE5-05C0-EF16-05DC-974DE512D664}"/>
              </a:ext>
            </a:extLst>
          </p:cNvPr>
          <p:cNvSpPr txBox="1"/>
          <p:nvPr/>
        </p:nvSpPr>
        <p:spPr>
          <a:xfrm>
            <a:off x="4545862" y="3325223"/>
            <a:ext cx="2420722" cy="646331"/>
          </a:xfrm>
          <a:prstGeom prst="rect">
            <a:avLst/>
          </a:prstGeom>
          <a:noFill/>
        </p:spPr>
        <p:txBody>
          <a:bodyPr wrap="square">
            <a:spAutoFit/>
          </a:bodyPr>
          <a:lstStyle/>
          <a:p>
            <a:pPr algn="ctr"/>
            <a:r>
              <a:rPr lang="en-US" altLang="zh-CN" sz="1200" b="1" dirty="0">
                <a:latin typeface="+mn-ea"/>
              </a:rPr>
              <a:t>Analysis of Causes for Large Model Training Interruptions</a:t>
            </a:r>
          </a:p>
          <a:p>
            <a:pPr algn="ctr"/>
            <a:r>
              <a:rPr lang="zh-CN" altLang="en-US" sz="1200" b="1" dirty="0">
                <a:latin typeface="+mn-ea"/>
              </a:rPr>
              <a:t> </a:t>
            </a:r>
            <a:r>
              <a:rPr lang="en-US" altLang="zh-CN" sz="1200" b="1" dirty="0">
                <a:latin typeface="+mn-ea"/>
              </a:rPr>
              <a:t>(Meta’s report) </a:t>
            </a:r>
          </a:p>
        </p:txBody>
      </p:sp>
      <p:sp>
        <p:nvSpPr>
          <p:cNvPr id="77" name="文本框 76">
            <a:extLst>
              <a:ext uri="{FF2B5EF4-FFF2-40B4-BE49-F238E27FC236}">
                <a16:creationId xmlns:a16="http://schemas.microsoft.com/office/drawing/2014/main" id="{9F96B974-B395-3636-C04F-FF7C0F3819E5}"/>
              </a:ext>
            </a:extLst>
          </p:cNvPr>
          <p:cNvSpPr txBox="1"/>
          <p:nvPr/>
        </p:nvSpPr>
        <p:spPr>
          <a:xfrm>
            <a:off x="8563260" y="3364276"/>
            <a:ext cx="2420722" cy="646331"/>
          </a:xfrm>
          <a:prstGeom prst="rect">
            <a:avLst/>
          </a:prstGeom>
          <a:noFill/>
        </p:spPr>
        <p:txBody>
          <a:bodyPr wrap="square">
            <a:spAutoFit/>
          </a:bodyPr>
          <a:lstStyle/>
          <a:p>
            <a:pPr algn="ctr"/>
            <a:r>
              <a:rPr lang="en-US" altLang="zh-CN" sz="1200" b="1" dirty="0">
                <a:latin typeface="+mn-ea"/>
              </a:rPr>
              <a:t>Trends in DRAM Performance Development</a:t>
            </a:r>
          </a:p>
          <a:p>
            <a:pPr algn="ctr"/>
            <a:r>
              <a:rPr lang="zh-CN" altLang="en-US" sz="1200" b="1" dirty="0">
                <a:latin typeface="+mn-ea"/>
              </a:rPr>
              <a:t> </a:t>
            </a:r>
            <a:r>
              <a:rPr lang="en-US" altLang="zh-CN" sz="1200" b="1" dirty="0">
                <a:latin typeface="+mn-ea"/>
              </a:rPr>
              <a:t>(Huawei’s report) </a:t>
            </a:r>
          </a:p>
        </p:txBody>
      </p:sp>
      <p:sp>
        <p:nvSpPr>
          <p:cNvPr id="79" name="文本框 78">
            <a:extLst>
              <a:ext uri="{FF2B5EF4-FFF2-40B4-BE49-F238E27FC236}">
                <a16:creationId xmlns:a16="http://schemas.microsoft.com/office/drawing/2014/main" id="{26D4B253-6F60-3098-48F9-DC14C4C0B63A}"/>
              </a:ext>
            </a:extLst>
          </p:cNvPr>
          <p:cNvSpPr txBox="1"/>
          <p:nvPr/>
        </p:nvSpPr>
        <p:spPr>
          <a:xfrm>
            <a:off x="547252" y="4855105"/>
            <a:ext cx="11176075" cy="1675330"/>
          </a:xfrm>
          <a:prstGeom prst="rect">
            <a:avLst/>
          </a:prstGeom>
          <a:noFill/>
        </p:spPr>
        <p:txBody>
          <a:bodyPr wrap="square">
            <a:spAutoFit/>
          </a:bodyPr>
          <a:lstStyle/>
          <a:p>
            <a:pPr marL="285750" indent="-285750">
              <a:lnSpc>
                <a:spcPct val="150000"/>
              </a:lnSpc>
              <a:buClr>
                <a:srgbClr val="C7000B"/>
              </a:buClr>
              <a:buFont typeface="Wingdings" panose="05000000000000000000" pitchFamily="2" charset="2"/>
              <a:buChar char="Ø"/>
            </a:pPr>
            <a:r>
              <a:rPr lang="en-US" altLang="zh-CN" sz="1400" b="1" dirty="0">
                <a:latin typeface="+mn-ea"/>
              </a:rPr>
              <a:t>Background: </a:t>
            </a:r>
            <a:r>
              <a:rPr lang="en-US" altLang="zh-CN" sz="1400" dirty="0">
                <a:latin typeface="+mn-ea"/>
              </a:rPr>
              <a:t>In the AI era, </a:t>
            </a:r>
            <a:r>
              <a:rPr lang="en-US" altLang="zh-CN" sz="1400" b="1" dirty="0">
                <a:solidFill>
                  <a:srgbClr val="FF0000"/>
                </a:solidFill>
                <a:latin typeface="+mn-ea"/>
              </a:rPr>
              <a:t>cloud infrastructure reliability </a:t>
            </a:r>
            <a:r>
              <a:rPr lang="en-US" altLang="zh-CN" sz="1400" dirty="0">
                <a:latin typeface="+mn-ea"/>
              </a:rPr>
              <a:t>has become a key focus, with hardware failures as the biggest threat.</a:t>
            </a:r>
          </a:p>
          <a:p>
            <a:pPr marL="285750" indent="-285750">
              <a:lnSpc>
                <a:spcPct val="150000"/>
              </a:lnSpc>
              <a:buClr>
                <a:srgbClr val="C7000B"/>
              </a:buClr>
              <a:buFont typeface="Wingdings" panose="05000000000000000000" pitchFamily="2" charset="2"/>
              <a:buChar char="Ø"/>
            </a:pPr>
            <a:r>
              <a:rPr lang="en-US" altLang="zh-CN" sz="1400" b="1" dirty="0">
                <a:latin typeface="+mn-ea"/>
              </a:rPr>
              <a:t>Current Situation: </a:t>
            </a:r>
            <a:r>
              <a:rPr lang="en-US" altLang="zh-CN" sz="1400" dirty="0">
                <a:latin typeface="+mn-ea"/>
              </a:rPr>
              <a:t>(Left chart) </a:t>
            </a:r>
            <a:r>
              <a:rPr lang="en-US" altLang="zh-CN" sz="1400" b="1" dirty="0">
                <a:solidFill>
                  <a:srgbClr val="FF0000"/>
                </a:solidFill>
                <a:latin typeface="+mn-ea"/>
              </a:rPr>
              <a:t>Hardware failures account for nearly 70% </a:t>
            </a:r>
            <a:r>
              <a:rPr lang="en-US" altLang="zh-CN" sz="1400" dirty="0">
                <a:latin typeface="+mn-ea"/>
              </a:rPr>
              <a:t>of data center hardware issues, drawing strong attention from SRE engineers.</a:t>
            </a:r>
          </a:p>
          <a:p>
            <a:pPr marL="285750" indent="-285750">
              <a:lnSpc>
                <a:spcPct val="150000"/>
              </a:lnSpc>
              <a:buClr>
                <a:srgbClr val="C7000B"/>
              </a:buClr>
              <a:buFont typeface="Wingdings" panose="05000000000000000000" pitchFamily="2" charset="2"/>
              <a:buChar char="Ø"/>
            </a:pPr>
            <a:r>
              <a:rPr lang="en-US" altLang="zh-CN" sz="1400" b="1" dirty="0">
                <a:latin typeface="+mn-ea"/>
              </a:rPr>
              <a:t>Impact: </a:t>
            </a:r>
            <a:r>
              <a:rPr lang="en-US" altLang="zh-CN" sz="1400" dirty="0">
                <a:latin typeface="+mn-ea"/>
              </a:rPr>
              <a:t>(Middle chart) </a:t>
            </a:r>
            <a:r>
              <a:rPr lang="en-US" altLang="zh-CN" sz="1400" b="1" dirty="0">
                <a:solidFill>
                  <a:srgbClr val="FF0000"/>
                </a:solidFill>
                <a:latin typeface="+mn-ea"/>
              </a:rPr>
              <a:t>Hardware failures are the main cause </a:t>
            </a:r>
            <a:r>
              <a:rPr lang="en-US" altLang="zh-CN" sz="1400" dirty="0">
                <a:latin typeface="+mn-ea"/>
              </a:rPr>
              <a:t>of AI training failures, affecting service continuity and model stability.</a:t>
            </a:r>
          </a:p>
          <a:p>
            <a:pPr marL="285750" indent="-285750">
              <a:lnSpc>
                <a:spcPct val="150000"/>
              </a:lnSpc>
              <a:buClr>
                <a:srgbClr val="C7000B"/>
              </a:buClr>
              <a:buFont typeface="Wingdings" panose="05000000000000000000" pitchFamily="2" charset="2"/>
              <a:buChar char="Ø"/>
            </a:pPr>
            <a:r>
              <a:rPr lang="en-US" altLang="zh-CN" sz="1400" b="1" dirty="0">
                <a:latin typeface="+mn-ea"/>
              </a:rPr>
              <a:t>Trend: </a:t>
            </a:r>
            <a:r>
              <a:rPr lang="en-US" altLang="zh-CN" sz="1400" dirty="0">
                <a:latin typeface="+mn-ea"/>
              </a:rPr>
              <a:t>(Right chart) </a:t>
            </a:r>
            <a:r>
              <a:rPr lang="en-US" altLang="zh-CN" sz="1400" b="1" dirty="0">
                <a:solidFill>
                  <a:srgbClr val="FF0000"/>
                </a:solidFill>
                <a:latin typeface="+mn-ea"/>
              </a:rPr>
              <a:t>Hardware failure risks are rising yearly</a:t>
            </a:r>
            <a:r>
              <a:rPr lang="en-US" altLang="zh-CN" sz="1400" dirty="0">
                <a:latin typeface="+mn-ea"/>
              </a:rPr>
              <a:t>, making reliability a core requirement for cloud infrastructure.</a:t>
            </a:r>
          </a:p>
        </p:txBody>
      </p:sp>
      <p:grpSp>
        <p:nvGrpSpPr>
          <p:cNvPr id="85" name="组合 84">
            <a:extLst>
              <a:ext uri="{FF2B5EF4-FFF2-40B4-BE49-F238E27FC236}">
                <a16:creationId xmlns:a16="http://schemas.microsoft.com/office/drawing/2014/main" id="{7E13229F-557A-FAB7-B68B-75411E2520AB}"/>
              </a:ext>
            </a:extLst>
          </p:cNvPr>
          <p:cNvGrpSpPr/>
          <p:nvPr/>
        </p:nvGrpSpPr>
        <p:grpSpPr>
          <a:xfrm>
            <a:off x="1733773" y="4037090"/>
            <a:ext cx="1815898" cy="791299"/>
            <a:chOff x="3968573" y="1446257"/>
            <a:chExt cx="4051516" cy="2053510"/>
          </a:xfrm>
        </p:grpSpPr>
        <p:sp>
          <p:nvSpPr>
            <p:cNvPr id="86" name="Freeform 8">
              <a:extLst>
                <a:ext uri="{FF2B5EF4-FFF2-40B4-BE49-F238E27FC236}">
                  <a16:creationId xmlns:a16="http://schemas.microsoft.com/office/drawing/2014/main" id="{7D3431DC-0DB2-D6E5-EFF8-BD53505C48A7}"/>
                </a:ext>
              </a:extLst>
            </p:cNvPr>
            <p:cNvSpPr/>
            <p:nvPr/>
          </p:nvSpPr>
          <p:spPr bwMode="auto">
            <a:xfrm>
              <a:off x="4222491" y="1583709"/>
              <a:ext cx="3696474" cy="1916058"/>
            </a:xfrm>
            <a:custGeom>
              <a:avLst/>
              <a:gdLst/>
              <a:ahLst/>
              <a:cxnLst>
                <a:cxn ang="0">
                  <a:pos x="5492" y="1876"/>
                </a:cxn>
                <a:cxn ang="0">
                  <a:pos x="5426" y="1682"/>
                </a:cxn>
                <a:cxn ang="0">
                  <a:pos x="5326" y="1506"/>
                </a:cxn>
                <a:cxn ang="0">
                  <a:pos x="5198" y="1350"/>
                </a:cxn>
                <a:cxn ang="0">
                  <a:pos x="5046" y="1220"/>
                </a:cxn>
                <a:cxn ang="0">
                  <a:pos x="4874" y="1116"/>
                </a:cxn>
                <a:cxn ang="0">
                  <a:pos x="4682" y="1042"/>
                </a:cxn>
                <a:cxn ang="0">
                  <a:pos x="4476" y="1004"/>
                </a:cxn>
                <a:cxn ang="0">
                  <a:pos x="4302" y="1002"/>
                </a:cxn>
                <a:cxn ang="0">
                  <a:pos x="4184" y="898"/>
                </a:cxn>
                <a:cxn ang="0">
                  <a:pos x="4060" y="694"/>
                </a:cxn>
                <a:cxn ang="0">
                  <a:pos x="3908" y="512"/>
                </a:cxn>
                <a:cxn ang="0">
                  <a:pos x="3732" y="352"/>
                </a:cxn>
                <a:cxn ang="0">
                  <a:pos x="3534" y="218"/>
                </a:cxn>
                <a:cxn ang="0">
                  <a:pos x="3316" y="114"/>
                </a:cxn>
                <a:cxn ang="0">
                  <a:pos x="3084" y="42"/>
                </a:cxn>
                <a:cxn ang="0">
                  <a:pos x="2838" y="4"/>
                </a:cxn>
                <a:cxn ang="0">
                  <a:pos x="2630" y="2"/>
                </a:cxn>
                <a:cxn ang="0">
                  <a:pos x="2318" y="46"/>
                </a:cxn>
                <a:cxn ang="0">
                  <a:pos x="2026" y="146"/>
                </a:cxn>
                <a:cxn ang="0">
                  <a:pos x="1764" y="296"/>
                </a:cxn>
                <a:cxn ang="0">
                  <a:pos x="1532" y="490"/>
                </a:cxn>
                <a:cxn ang="0">
                  <a:pos x="1340" y="724"/>
                </a:cxn>
                <a:cxn ang="0">
                  <a:pos x="1194" y="988"/>
                </a:cxn>
                <a:cxn ang="0">
                  <a:pos x="1096" y="1280"/>
                </a:cxn>
                <a:cxn ang="0">
                  <a:pos x="1058" y="1514"/>
                </a:cxn>
                <a:cxn ang="0">
                  <a:pos x="908" y="1500"/>
                </a:cxn>
                <a:cxn ang="0">
                  <a:pos x="770" y="1510"/>
                </a:cxn>
                <a:cxn ang="0">
                  <a:pos x="596" y="1556"/>
                </a:cxn>
                <a:cxn ang="0">
                  <a:pos x="436" y="1632"/>
                </a:cxn>
                <a:cxn ang="0">
                  <a:pos x="296" y="1736"/>
                </a:cxn>
                <a:cxn ang="0">
                  <a:pos x="180" y="1864"/>
                </a:cxn>
                <a:cxn ang="0">
                  <a:pos x="90" y="2014"/>
                </a:cxn>
                <a:cxn ang="0">
                  <a:pos x="28" y="2182"/>
                </a:cxn>
                <a:cxn ang="0">
                  <a:pos x="0" y="2362"/>
                </a:cxn>
                <a:cxn ang="0">
                  <a:pos x="4" y="2500"/>
                </a:cxn>
                <a:cxn ang="0">
                  <a:pos x="40" y="2678"/>
                </a:cxn>
                <a:cxn ang="0">
                  <a:pos x="110" y="2840"/>
                </a:cxn>
                <a:cxn ang="0">
                  <a:pos x="206" y="2986"/>
                </a:cxn>
                <a:cxn ang="0">
                  <a:pos x="330" y="3108"/>
                </a:cxn>
                <a:cxn ang="0">
                  <a:pos x="474" y="3206"/>
                </a:cxn>
                <a:cxn ang="0">
                  <a:pos x="638" y="3276"/>
                </a:cxn>
                <a:cxn ang="0">
                  <a:pos x="814" y="3312"/>
                </a:cxn>
                <a:cxn ang="0">
                  <a:pos x="5486" y="3316"/>
                </a:cxn>
                <a:cxn ang="0">
                  <a:pos x="5620" y="3302"/>
                </a:cxn>
                <a:cxn ang="0">
                  <a:pos x="5746" y="3264"/>
                </a:cxn>
                <a:cxn ang="0">
                  <a:pos x="5860" y="3202"/>
                </a:cxn>
                <a:cxn ang="0">
                  <a:pos x="5958" y="3120"/>
                </a:cxn>
                <a:cxn ang="0">
                  <a:pos x="6040" y="3022"/>
                </a:cxn>
                <a:cxn ang="0">
                  <a:pos x="6102" y="2908"/>
                </a:cxn>
                <a:cxn ang="0">
                  <a:pos x="6140" y="2782"/>
                </a:cxn>
                <a:cxn ang="0">
                  <a:pos x="6154" y="2646"/>
                </a:cxn>
                <a:cxn ang="0">
                  <a:pos x="6146" y="2548"/>
                </a:cxn>
                <a:cxn ang="0">
                  <a:pos x="6116" y="2422"/>
                </a:cxn>
                <a:cxn ang="0">
                  <a:pos x="6062" y="2308"/>
                </a:cxn>
                <a:cxn ang="0">
                  <a:pos x="5988" y="2206"/>
                </a:cxn>
                <a:cxn ang="0">
                  <a:pos x="5898" y="2120"/>
                </a:cxn>
                <a:cxn ang="0">
                  <a:pos x="5792" y="2054"/>
                </a:cxn>
                <a:cxn ang="0">
                  <a:pos x="5674" y="2006"/>
                </a:cxn>
                <a:cxn ang="0">
                  <a:pos x="5546" y="1982"/>
                </a:cxn>
              </a:cxnLst>
              <a:rect l="0" t="0" r="r" b="b"/>
              <a:pathLst>
                <a:path w="6154" h="3316">
                  <a:moveTo>
                    <a:pt x="5512" y="1980"/>
                  </a:moveTo>
                  <a:lnTo>
                    <a:pt x="5512" y="1980"/>
                  </a:lnTo>
                  <a:lnTo>
                    <a:pt x="5504" y="1928"/>
                  </a:lnTo>
                  <a:lnTo>
                    <a:pt x="5492" y="1876"/>
                  </a:lnTo>
                  <a:lnTo>
                    <a:pt x="5478" y="1826"/>
                  </a:lnTo>
                  <a:lnTo>
                    <a:pt x="5462" y="1778"/>
                  </a:lnTo>
                  <a:lnTo>
                    <a:pt x="5446" y="1730"/>
                  </a:lnTo>
                  <a:lnTo>
                    <a:pt x="5426" y="1682"/>
                  </a:lnTo>
                  <a:lnTo>
                    <a:pt x="5404" y="1636"/>
                  </a:lnTo>
                  <a:lnTo>
                    <a:pt x="5380" y="1592"/>
                  </a:lnTo>
                  <a:lnTo>
                    <a:pt x="5354" y="1548"/>
                  </a:lnTo>
                  <a:lnTo>
                    <a:pt x="5326" y="1506"/>
                  </a:lnTo>
                  <a:lnTo>
                    <a:pt x="5296" y="1466"/>
                  </a:lnTo>
                  <a:lnTo>
                    <a:pt x="5266" y="1426"/>
                  </a:lnTo>
                  <a:lnTo>
                    <a:pt x="5234" y="1388"/>
                  </a:lnTo>
                  <a:lnTo>
                    <a:pt x="5198" y="1350"/>
                  </a:lnTo>
                  <a:lnTo>
                    <a:pt x="5162" y="1316"/>
                  </a:lnTo>
                  <a:lnTo>
                    <a:pt x="5126" y="1282"/>
                  </a:lnTo>
                  <a:lnTo>
                    <a:pt x="5086" y="1250"/>
                  </a:lnTo>
                  <a:lnTo>
                    <a:pt x="5046" y="1220"/>
                  </a:lnTo>
                  <a:lnTo>
                    <a:pt x="5006" y="1190"/>
                  </a:lnTo>
                  <a:lnTo>
                    <a:pt x="4962" y="1164"/>
                  </a:lnTo>
                  <a:lnTo>
                    <a:pt x="4918" y="1138"/>
                  </a:lnTo>
                  <a:lnTo>
                    <a:pt x="4874" y="1116"/>
                  </a:lnTo>
                  <a:lnTo>
                    <a:pt x="4826" y="1094"/>
                  </a:lnTo>
                  <a:lnTo>
                    <a:pt x="4780" y="1074"/>
                  </a:lnTo>
                  <a:lnTo>
                    <a:pt x="4732" y="1058"/>
                  </a:lnTo>
                  <a:lnTo>
                    <a:pt x="4682" y="1042"/>
                  </a:lnTo>
                  <a:lnTo>
                    <a:pt x="4632" y="1030"/>
                  </a:lnTo>
                  <a:lnTo>
                    <a:pt x="4580" y="1020"/>
                  </a:lnTo>
                  <a:lnTo>
                    <a:pt x="4528" y="1010"/>
                  </a:lnTo>
                  <a:lnTo>
                    <a:pt x="4476" y="1004"/>
                  </a:lnTo>
                  <a:lnTo>
                    <a:pt x="4422" y="1002"/>
                  </a:lnTo>
                  <a:lnTo>
                    <a:pt x="4368" y="1000"/>
                  </a:lnTo>
                  <a:lnTo>
                    <a:pt x="4368" y="1000"/>
                  </a:lnTo>
                  <a:lnTo>
                    <a:pt x="4302" y="1002"/>
                  </a:lnTo>
                  <a:lnTo>
                    <a:pt x="4236" y="1008"/>
                  </a:lnTo>
                  <a:lnTo>
                    <a:pt x="4236" y="1008"/>
                  </a:lnTo>
                  <a:lnTo>
                    <a:pt x="4212" y="952"/>
                  </a:lnTo>
                  <a:lnTo>
                    <a:pt x="4184" y="898"/>
                  </a:lnTo>
                  <a:lnTo>
                    <a:pt x="4156" y="846"/>
                  </a:lnTo>
                  <a:lnTo>
                    <a:pt x="4126" y="794"/>
                  </a:lnTo>
                  <a:lnTo>
                    <a:pt x="4094" y="744"/>
                  </a:lnTo>
                  <a:lnTo>
                    <a:pt x="4060" y="694"/>
                  </a:lnTo>
                  <a:lnTo>
                    <a:pt x="4024" y="646"/>
                  </a:lnTo>
                  <a:lnTo>
                    <a:pt x="3988" y="600"/>
                  </a:lnTo>
                  <a:lnTo>
                    <a:pt x="3948" y="554"/>
                  </a:lnTo>
                  <a:lnTo>
                    <a:pt x="3908" y="512"/>
                  </a:lnTo>
                  <a:lnTo>
                    <a:pt x="3866" y="470"/>
                  </a:lnTo>
                  <a:lnTo>
                    <a:pt x="3822" y="428"/>
                  </a:lnTo>
                  <a:lnTo>
                    <a:pt x="3778" y="390"/>
                  </a:lnTo>
                  <a:lnTo>
                    <a:pt x="3732" y="352"/>
                  </a:lnTo>
                  <a:lnTo>
                    <a:pt x="3684" y="316"/>
                  </a:lnTo>
                  <a:lnTo>
                    <a:pt x="3636" y="282"/>
                  </a:lnTo>
                  <a:lnTo>
                    <a:pt x="3586" y="248"/>
                  </a:lnTo>
                  <a:lnTo>
                    <a:pt x="3534" y="218"/>
                  </a:lnTo>
                  <a:lnTo>
                    <a:pt x="3482" y="190"/>
                  </a:lnTo>
                  <a:lnTo>
                    <a:pt x="3428" y="162"/>
                  </a:lnTo>
                  <a:lnTo>
                    <a:pt x="3372" y="138"/>
                  </a:lnTo>
                  <a:lnTo>
                    <a:pt x="3316" y="114"/>
                  </a:lnTo>
                  <a:lnTo>
                    <a:pt x="3260" y="92"/>
                  </a:lnTo>
                  <a:lnTo>
                    <a:pt x="3202" y="74"/>
                  </a:lnTo>
                  <a:lnTo>
                    <a:pt x="3144" y="56"/>
                  </a:lnTo>
                  <a:lnTo>
                    <a:pt x="3084" y="42"/>
                  </a:lnTo>
                  <a:lnTo>
                    <a:pt x="3024" y="30"/>
                  </a:lnTo>
                  <a:lnTo>
                    <a:pt x="2962" y="18"/>
                  </a:lnTo>
                  <a:lnTo>
                    <a:pt x="2900" y="10"/>
                  </a:lnTo>
                  <a:lnTo>
                    <a:pt x="2838" y="4"/>
                  </a:lnTo>
                  <a:lnTo>
                    <a:pt x="2774" y="0"/>
                  </a:lnTo>
                  <a:lnTo>
                    <a:pt x="2710" y="0"/>
                  </a:lnTo>
                  <a:lnTo>
                    <a:pt x="2710" y="0"/>
                  </a:lnTo>
                  <a:lnTo>
                    <a:pt x="2630" y="2"/>
                  </a:lnTo>
                  <a:lnTo>
                    <a:pt x="2550" y="8"/>
                  </a:lnTo>
                  <a:lnTo>
                    <a:pt x="2472" y="16"/>
                  </a:lnTo>
                  <a:lnTo>
                    <a:pt x="2394" y="30"/>
                  </a:lnTo>
                  <a:lnTo>
                    <a:pt x="2318" y="46"/>
                  </a:lnTo>
                  <a:lnTo>
                    <a:pt x="2242" y="66"/>
                  </a:lnTo>
                  <a:lnTo>
                    <a:pt x="2168" y="90"/>
                  </a:lnTo>
                  <a:lnTo>
                    <a:pt x="2096" y="116"/>
                  </a:lnTo>
                  <a:lnTo>
                    <a:pt x="2026" y="146"/>
                  </a:lnTo>
                  <a:lnTo>
                    <a:pt x="1958" y="180"/>
                  </a:lnTo>
                  <a:lnTo>
                    <a:pt x="1892" y="216"/>
                  </a:lnTo>
                  <a:lnTo>
                    <a:pt x="1826" y="256"/>
                  </a:lnTo>
                  <a:lnTo>
                    <a:pt x="1764" y="296"/>
                  </a:lnTo>
                  <a:lnTo>
                    <a:pt x="1702" y="342"/>
                  </a:lnTo>
                  <a:lnTo>
                    <a:pt x="1644" y="388"/>
                  </a:lnTo>
                  <a:lnTo>
                    <a:pt x="1586" y="438"/>
                  </a:lnTo>
                  <a:lnTo>
                    <a:pt x="1532" y="490"/>
                  </a:lnTo>
                  <a:lnTo>
                    <a:pt x="1480" y="546"/>
                  </a:lnTo>
                  <a:lnTo>
                    <a:pt x="1432" y="602"/>
                  </a:lnTo>
                  <a:lnTo>
                    <a:pt x="1386" y="662"/>
                  </a:lnTo>
                  <a:lnTo>
                    <a:pt x="1340" y="724"/>
                  </a:lnTo>
                  <a:lnTo>
                    <a:pt x="1300" y="786"/>
                  </a:lnTo>
                  <a:lnTo>
                    <a:pt x="1262" y="852"/>
                  </a:lnTo>
                  <a:lnTo>
                    <a:pt x="1226" y="920"/>
                  </a:lnTo>
                  <a:lnTo>
                    <a:pt x="1194" y="988"/>
                  </a:lnTo>
                  <a:lnTo>
                    <a:pt x="1164" y="1058"/>
                  </a:lnTo>
                  <a:lnTo>
                    <a:pt x="1138" y="1132"/>
                  </a:lnTo>
                  <a:lnTo>
                    <a:pt x="1116" y="1204"/>
                  </a:lnTo>
                  <a:lnTo>
                    <a:pt x="1096" y="1280"/>
                  </a:lnTo>
                  <a:lnTo>
                    <a:pt x="1080" y="1356"/>
                  </a:lnTo>
                  <a:lnTo>
                    <a:pt x="1068" y="1434"/>
                  </a:lnTo>
                  <a:lnTo>
                    <a:pt x="1058" y="1514"/>
                  </a:lnTo>
                  <a:lnTo>
                    <a:pt x="1058" y="1514"/>
                  </a:lnTo>
                  <a:lnTo>
                    <a:pt x="1022" y="1508"/>
                  </a:lnTo>
                  <a:lnTo>
                    <a:pt x="984" y="1504"/>
                  </a:lnTo>
                  <a:lnTo>
                    <a:pt x="946" y="1500"/>
                  </a:lnTo>
                  <a:lnTo>
                    <a:pt x="908" y="1500"/>
                  </a:lnTo>
                  <a:lnTo>
                    <a:pt x="908" y="1500"/>
                  </a:lnTo>
                  <a:lnTo>
                    <a:pt x="860" y="1502"/>
                  </a:lnTo>
                  <a:lnTo>
                    <a:pt x="814" y="1504"/>
                  </a:lnTo>
                  <a:lnTo>
                    <a:pt x="770" y="1510"/>
                  </a:lnTo>
                  <a:lnTo>
                    <a:pt x="724" y="1518"/>
                  </a:lnTo>
                  <a:lnTo>
                    <a:pt x="680" y="1528"/>
                  </a:lnTo>
                  <a:lnTo>
                    <a:pt x="638" y="1540"/>
                  </a:lnTo>
                  <a:lnTo>
                    <a:pt x="596" y="1556"/>
                  </a:lnTo>
                  <a:lnTo>
                    <a:pt x="554" y="1572"/>
                  </a:lnTo>
                  <a:lnTo>
                    <a:pt x="514" y="1590"/>
                  </a:lnTo>
                  <a:lnTo>
                    <a:pt x="474" y="1610"/>
                  </a:lnTo>
                  <a:lnTo>
                    <a:pt x="436" y="1632"/>
                  </a:lnTo>
                  <a:lnTo>
                    <a:pt x="400" y="1656"/>
                  </a:lnTo>
                  <a:lnTo>
                    <a:pt x="364" y="1680"/>
                  </a:lnTo>
                  <a:lnTo>
                    <a:pt x="330" y="1708"/>
                  </a:lnTo>
                  <a:lnTo>
                    <a:pt x="296" y="1736"/>
                  </a:lnTo>
                  <a:lnTo>
                    <a:pt x="266" y="1766"/>
                  </a:lnTo>
                  <a:lnTo>
                    <a:pt x="236" y="1798"/>
                  </a:lnTo>
                  <a:lnTo>
                    <a:pt x="206" y="1830"/>
                  </a:lnTo>
                  <a:lnTo>
                    <a:pt x="180" y="1864"/>
                  </a:lnTo>
                  <a:lnTo>
                    <a:pt x="154" y="1900"/>
                  </a:lnTo>
                  <a:lnTo>
                    <a:pt x="130" y="1938"/>
                  </a:lnTo>
                  <a:lnTo>
                    <a:pt x="110" y="1976"/>
                  </a:lnTo>
                  <a:lnTo>
                    <a:pt x="90" y="2014"/>
                  </a:lnTo>
                  <a:lnTo>
                    <a:pt x="70" y="2054"/>
                  </a:lnTo>
                  <a:lnTo>
                    <a:pt x="54" y="2096"/>
                  </a:lnTo>
                  <a:lnTo>
                    <a:pt x="40" y="2138"/>
                  </a:lnTo>
                  <a:lnTo>
                    <a:pt x="28" y="2182"/>
                  </a:lnTo>
                  <a:lnTo>
                    <a:pt x="18" y="2224"/>
                  </a:lnTo>
                  <a:lnTo>
                    <a:pt x="10" y="2270"/>
                  </a:lnTo>
                  <a:lnTo>
                    <a:pt x="4" y="2316"/>
                  </a:lnTo>
                  <a:lnTo>
                    <a:pt x="0" y="2362"/>
                  </a:lnTo>
                  <a:lnTo>
                    <a:pt x="0" y="2408"/>
                  </a:lnTo>
                  <a:lnTo>
                    <a:pt x="0" y="2408"/>
                  </a:lnTo>
                  <a:lnTo>
                    <a:pt x="0" y="2454"/>
                  </a:lnTo>
                  <a:lnTo>
                    <a:pt x="4" y="2500"/>
                  </a:lnTo>
                  <a:lnTo>
                    <a:pt x="10" y="2546"/>
                  </a:lnTo>
                  <a:lnTo>
                    <a:pt x="18" y="2590"/>
                  </a:lnTo>
                  <a:lnTo>
                    <a:pt x="28" y="2634"/>
                  </a:lnTo>
                  <a:lnTo>
                    <a:pt x="40" y="2678"/>
                  </a:lnTo>
                  <a:lnTo>
                    <a:pt x="54" y="2720"/>
                  </a:lnTo>
                  <a:lnTo>
                    <a:pt x="70" y="2762"/>
                  </a:lnTo>
                  <a:lnTo>
                    <a:pt x="90" y="2802"/>
                  </a:lnTo>
                  <a:lnTo>
                    <a:pt x="110" y="2840"/>
                  </a:lnTo>
                  <a:lnTo>
                    <a:pt x="130" y="2878"/>
                  </a:lnTo>
                  <a:lnTo>
                    <a:pt x="154" y="2916"/>
                  </a:lnTo>
                  <a:lnTo>
                    <a:pt x="180" y="2952"/>
                  </a:lnTo>
                  <a:lnTo>
                    <a:pt x="206" y="2986"/>
                  </a:lnTo>
                  <a:lnTo>
                    <a:pt x="236" y="3018"/>
                  </a:lnTo>
                  <a:lnTo>
                    <a:pt x="266" y="3050"/>
                  </a:lnTo>
                  <a:lnTo>
                    <a:pt x="296" y="3080"/>
                  </a:lnTo>
                  <a:lnTo>
                    <a:pt x="330" y="3108"/>
                  </a:lnTo>
                  <a:lnTo>
                    <a:pt x="364" y="3136"/>
                  </a:lnTo>
                  <a:lnTo>
                    <a:pt x="400" y="3160"/>
                  </a:lnTo>
                  <a:lnTo>
                    <a:pt x="436" y="3184"/>
                  </a:lnTo>
                  <a:lnTo>
                    <a:pt x="474" y="3206"/>
                  </a:lnTo>
                  <a:lnTo>
                    <a:pt x="514" y="3226"/>
                  </a:lnTo>
                  <a:lnTo>
                    <a:pt x="554" y="3244"/>
                  </a:lnTo>
                  <a:lnTo>
                    <a:pt x="596" y="3260"/>
                  </a:lnTo>
                  <a:lnTo>
                    <a:pt x="638" y="3276"/>
                  </a:lnTo>
                  <a:lnTo>
                    <a:pt x="680" y="3288"/>
                  </a:lnTo>
                  <a:lnTo>
                    <a:pt x="724" y="3298"/>
                  </a:lnTo>
                  <a:lnTo>
                    <a:pt x="770" y="3306"/>
                  </a:lnTo>
                  <a:lnTo>
                    <a:pt x="814" y="3312"/>
                  </a:lnTo>
                  <a:lnTo>
                    <a:pt x="860" y="3314"/>
                  </a:lnTo>
                  <a:lnTo>
                    <a:pt x="908" y="3316"/>
                  </a:lnTo>
                  <a:lnTo>
                    <a:pt x="5486" y="3316"/>
                  </a:lnTo>
                  <a:lnTo>
                    <a:pt x="5486" y="3316"/>
                  </a:lnTo>
                  <a:lnTo>
                    <a:pt x="5520" y="3316"/>
                  </a:lnTo>
                  <a:lnTo>
                    <a:pt x="5554" y="3312"/>
                  </a:lnTo>
                  <a:lnTo>
                    <a:pt x="5588" y="3308"/>
                  </a:lnTo>
                  <a:lnTo>
                    <a:pt x="5620" y="3302"/>
                  </a:lnTo>
                  <a:lnTo>
                    <a:pt x="5652" y="3294"/>
                  </a:lnTo>
                  <a:lnTo>
                    <a:pt x="5684" y="3286"/>
                  </a:lnTo>
                  <a:lnTo>
                    <a:pt x="5716" y="3276"/>
                  </a:lnTo>
                  <a:lnTo>
                    <a:pt x="5746" y="3264"/>
                  </a:lnTo>
                  <a:lnTo>
                    <a:pt x="5776" y="3250"/>
                  </a:lnTo>
                  <a:lnTo>
                    <a:pt x="5804" y="3236"/>
                  </a:lnTo>
                  <a:lnTo>
                    <a:pt x="5832" y="3220"/>
                  </a:lnTo>
                  <a:lnTo>
                    <a:pt x="5860" y="3202"/>
                  </a:lnTo>
                  <a:lnTo>
                    <a:pt x="5886" y="3184"/>
                  </a:lnTo>
                  <a:lnTo>
                    <a:pt x="5910" y="3164"/>
                  </a:lnTo>
                  <a:lnTo>
                    <a:pt x="5934" y="3142"/>
                  </a:lnTo>
                  <a:lnTo>
                    <a:pt x="5958" y="3120"/>
                  </a:lnTo>
                  <a:lnTo>
                    <a:pt x="5980" y="3096"/>
                  </a:lnTo>
                  <a:lnTo>
                    <a:pt x="6002" y="3072"/>
                  </a:lnTo>
                  <a:lnTo>
                    <a:pt x="6022" y="3048"/>
                  </a:lnTo>
                  <a:lnTo>
                    <a:pt x="6040" y="3022"/>
                  </a:lnTo>
                  <a:lnTo>
                    <a:pt x="6058" y="2994"/>
                  </a:lnTo>
                  <a:lnTo>
                    <a:pt x="6074" y="2966"/>
                  </a:lnTo>
                  <a:lnTo>
                    <a:pt x="6088" y="2938"/>
                  </a:lnTo>
                  <a:lnTo>
                    <a:pt x="6102" y="2908"/>
                  </a:lnTo>
                  <a:lnTo>
                    <a:pt x="6114" y="2878"/>
                  </a:lnTo>
                  <a:lnTo>
                    <a:pt x="6124" y="2846"/>
                  </a:lnTo>
                  <a:lnTo>
                    <a:pt x="6134" y="2814"/>
                  </a:lnTo>
                  <a:lnTo>
                    <a:pt x="6140" y="2782"/>
                  </a:lnTo>
                  <a:lnTo>
                    <a:pt x="6146" y="2748"/>
                  </a:lnTo>
                  <a:lnTo>
                    <a:pt x="6150" y="2716"/>
                  </a:lnTo>
                  <a:lnTo>
                    <a:pt x="6154" y="2682"/>
                  </a:lnTo>
                  <a:lnTo>
                    <a:pt x="6154" y="2646"/>
                  </a:lnTo>
                  <a:lnTo>
                    <a:pt x="6154" y="2646"/>
                  </a:lnTo>
                  <a:lnTo>
                    <a:pt x="6154" y="2614"/>
                  </a:lnTo>
                  <a:lnTo>
                    <a:pt x="6150" y="2580"/>
                  </a:lnTo>
                  <a:lnTo>
                    <a:pt x="6146" y="2548"/>
                  </a:lnTo>
                  <a:lnTo>
                    <a:pt x="6142" y="2516"/>
                  </a:lnTo>
                  <a:lnTo>
                    <a:pt x="6134" y="2484"/>
                  </a:lnTo>
                  <a:lnTo>
                    <a:pt x="6126" y="2452"/>
                  </a:lnTo>
                  <a:lnTo>
                    <a:pt x="6116" y="2422"/>
                  </a:lnTo>
                  <a:lnTo>
                    <a:pt x="6104" y="2392"/>
                  </a:lnTo>
                  <a:lnTo>
                    <a:pt x="6092" y="2364"/>
                  </a:lnTo>
                  <a:lnTo>
                    <a:pt x="6078" y="2336"/>
                  </a:lnTo>
                  <a:lnTo>
                    <a:pt x="6062" y="2308"/>
                  </a:lnTo>
                  <a:lnTo>
                    <a:pt x="6046" y="2282"/>
                  </a:lnTo>
                  <a:lnTo>
                    <a:pt x="6028" y="2256"/>
                  </a:lnTo>
                  <a:lnTo>
                    <a:pt x="6008" y="2230"/>
                  </a:lnTo>
                  <a:lnTo>
                    <a:pt x="5988" y="2206"/>
                  </a:lnTo>
                  <a:lnTo>
                    <a:pt x="5968" y="2184"/>
                  </a:lnTo>
                  <a:lnTo>
                    <a:pt x="5946" y="2162"/>
                  </a:lnTo>
                  <a:lnTo>
                    <a:pt x="5922" y="2140"/>
                  </a:lnTo>
                  <a:lnTo>
                    <a:pt x="5898" y="2120"/>
                  </a:lnTo>
                  <a:lnTo>
                    <a:pt x="5872" y="2102"/>
                  </a:lnTo>
                  <a:lnTo>
                    <a:pt x="5846" y="2084"/>
                  </a:lnTo>
                  <a:lnTo>
                    <a:pt x="5820" y="2068"/>
                  </a:lnTo>
                  <a:lnTo>
                    <a:pt x="5792" y="2054"/>
                  </a:lnTo>
                  <a:lnTo>
                    <a:pt x="5764" y="2040"/>
                  </a:lnTo>
                  <a:lnTo>
                    <a:pt x="5734" y="2026"/>
                  </a:lnTo>
                  <a:lnTo>
                    <a:pt x="5704" y="2016"/>
                  </a:lnTo>
                  <a:lnTo>
                    <a:pt x="5674" y="2006"/>
                  </a:lnTo>
                  <a:lnTo>
                    <a:pt x="5642" y="1998"/>
                  </a:lnTo>
                  <a:lnTo>
                    <a:pt x="5612" y="1990"/>
                  </a:lnTo>
                  <a:lnTo>
                    <a:pt x="5578" y="1986"/>
                  </a:lnTo>
                  <a:lnTo>
                    <a:pt x="5546" y="1982"/>
                  </a:lnTo>
                  <a:lnTo>
                    <a:pt x="5512" y="1980"/>
                  </a:lnTo>
                  <a:lnTo>
                    <a:pt x="5512" y="1980"/>
                  </a:lnTo>
                  <a:close/>
                </a:path>
              </a:pathLst>
            </a:custGeom>
            <a:gradFill>
              <a:gsLst>
                <a:gs pos="0">
                  <a:srgbClr val="FFFFFF"/>
                </a:gs>
                <a:gs pos="100000">
                  <a:srgbClr val="FFFFFF"/>
                </a:gs>
              </a:gsLst>
              <a:lin ang="5400000" scaled="0"/>
            </a:gradFill>
            <a:ln w="6350" cap="flat" cmpd="sng" algn="ctr">
              <a:gradFill>
                <a:gsLst>
                  <a:gs pos="0">
                    <a:srgbClr val="C00000"/>
                  </a:gs>
                  <a:gs pos="100000">
                    <a:srgbClr val="FFFFFF">
                      <a:lumMod val="85000"/>
                    </a:srgbClr>
                  </a:gs>
                </a:gsLst>
                <a:lin ang="5400000" scaled="0"/>
              </a:gradFill>
              <a:prstDash val="solid"/>
              <a:miter lim="800000"/>
            </a:ln>
            <a:effectLst/>
          </p:spPr>
          <p:txBody>
            <a:bodyPr anchor="ctr"/>
            <a:lstStyle/>
            <a:p>
              <a:pPr algn="ctr" rtl="0">
                <a:defRPr/>
              </a:pPr>
              <a:endParaRPr lang="zh-CN" altLang="en-US" sz="800">
                <a:solidFill>
                  <a:prstClr val="white"/>
                </a:solidFill>
                <a:latin typeface="微软雅黑" panose="020B0503020204020204" pitchFamily="34" charset="-122"/>
                <a:ea typeface="微软雅黑"/>
                <a:cs typeface="+mn-cs"/>
              </a:endParaRPr>
            </a:p>
          </p:txBody>
        </p:sp>
        <p:pic>
          <p:nvPicPr>
            <p:cNvPr id="87" name="Picture 10" descr="C:\Users\Administrator\Desktop\云2-02.png">
              <a:extLst>
                <a:ext uri="{FF2B5EF4-FFF2-40B4-BE49-F238E27FC236}">
                  <a16:creationId xmlns:a16="http://schemas.microsoft.com/office/drawing/2014/main" id="{785B5839-A87D-0FE3-7719-B84E4461AAFA}"/>
                </a:ext>
              </a:extLst>
            </p:cNvPr>
            <p:cNvPicPr>
              <a:picLocks noChangeAspect="1" noChangeArrowheads="1"/>
            </p:cNvPicPr>
            <p:nvPr/>
          </p:nvPicPr>
          <p:blipFill>
            <a:blip r:embed="rId5" cstate="screen">
              <a:duotone>
                <a:srgbClr val="DDDDDD">
                  <a:shade val="45000"/>
                  <a:satMod val="135000"/>
                </a:srgbClr>
                <a:prstClr val="white"/>
              </a:duotone>
              <a:extLst>
                <a:ext uri="{BEBA8EAE-BF5A-486C-A8C5-ECC9F3942E4B}">
                  <a14:imgProps xmlns:a14="http://schemas.microsoft.com/office/drawing/2010/main">
                    <a14:imgLayer r:embed="rId6">
                      <a14:imgEffect>
                        <a14:saturation sat="0"/>
                      </a14:imgEffect>
                    </a14:imgLayer>
                  </a14:imgProps>
                </a:ext>
              </a:extLst>
            </a:blip>
            <a:srcRect/>
            <a:stretch>
              <a:fillRect/>
            </a:stretch>
          </p:blipFill>
          <p:spPr bwMode="auto">
            <a:xfrm>
              <a:off x="3968573" y="1446257"/>
              <a:ext cx="4051516" cy="1977506"/>
            </a:xfrm>
            <a:prstGeom prst="rect">
              <a:avLst/>
            </a:prstGeom>
            <a:noFill/>
            <a:ln w="9525">
              <a:noFill/>
              <a:miter lim="800000"/>
              <a:headEnd/>
              <a:tailEnd/>
            </a:ln>
          </p:spPr>
        </p:pic>
      </p:grpSp>
      <p:sp>
        <p:nvSpPr>
          <p:cNvPr id="88" name="矩形 87">
            <a:extLst>
              <a:ext uri="{FF2B5EF4-FFF2-40B4-BE49-F238E27FC236}">
                <a16:creationId xmlns:a16="http://schemas.microsoft.com/office/drawing/2014/main" id="{C390F04A-4027-D73D-8C5E-F6EC01EF8634}"/>
              </a:ext>
            </a:extLst>
          </p:cNvPr>
          <p:cNvSpPr/>
          <p:nvPr/>
        </p:nvSpPr>
        <p:spPr>
          <a:xfrm>
            <a:off x="1671256" y="4233535"/>
            <a:ext cx="1940014" cy="584775"/>
          </a:xfrm>
          <a:prstGeom prst="rect">
            <a:avLst/>
          </a:prstGeom>
        </p:spPr>
        <p:txBody>
          <a:bodyPr wrap="square">
            <a:spAutoFit/>
          </a:bodyPr>
          <a:lstStyle/>
          <a:p>
            <a:pPr algn="ctr" defTabSz="914478" rtl="0"/>
            <a:r>
              <a:rPr lang="en-US" altLang="zh-CN" sz="1600" b="1" kern="1200" dirty="0">
                <a:solidFill>
                  <a:srgbClr val="C00000"/>
                </a:solidFill>
                <a:latin typeface="微软雅黑" panose="020B0503020204020204" pitchFamily="34" charset="-122"/>
                <a:ea typeface="微软雅黑" panose="020B0503020204020204" pitchFamily="34" charset="-122"/>
              </a:rPr>
              <a:t>Cloud</a:t>
            </a:r>
          </a:p>
          <a:p>
            <a:pPr algn="ctr" defTabSz="914478" rtl="0"/>
            <a:r>
              <a:rPr lang="en-US" altLang="zh-CN" sz="1600" b="1" dirty="0">
                <a:solidFill>
                  <a:srgbClr val="C00000"/>
                </a:solidFill>
                <a:latin typeface="微软雅黑" panose="020B0503020204020204" pitchFamily="34" charset="-122"/>
                <a:ea typeface="微软雅黑" panose="020B0503020204020204" pitchFamily="34" charset="-122"/>
              </a:rPr>
              <a:t>Infrastructure</a:t>
            </a:r>
            <a:endParaRPr lang="zh-CN" altLang="en-US" sz="1600" kern="1200" dirty="0">
              <a:solidFill>
                <a:srgbClr val="C00000"/>
              </a:solidFill>
              <a:latin typeface="微软雅黑" panose="020B0503020204020204" pitchFamily="34" charset="-122"/>
              <a:ea typeface="微软雅黑" panose="020B0503020204020204" pitchFamily="34" charset="-122"/>
            </a:endParaRPr>
          </a:p>
        </p:txBody>
      </p:sp>
      <p:sp>
        <p:nvSpPr>
          <p:cNvPr id="90" name="矩形 89">
            <a:extLst>
              <a:ext uri="{FF2B5EF4-FFF2-40B4-BE49-F238E27FC236}">
                <a16:creationId xmlns:a16="http://schemas.microsoft.com/office/drawing/2014/main" id="{AEA91E23-74EF-B07B-E314-AC0463FC7DEA}"/>
              </a:ext>
            </a:extLst>
          </p:cNvPr>
          <p:cNvSpPr/>
          <p:nvPr/>
        </p:nvSpPr>
        <p:spPr>
          <a:xfrm>
            <a:off x="7507237" y="4240087"/>
            <a:ext cx="1709559" cy="584775"/>
          </a:xfrm>
          <a:prstGeom prst="rect">
            <a:avLst/>
          </a:prstGeom>
        </p:spPr>
        <p:txBody>
          <a:bodyPr wrap="square">
            <a:spAutoFit/>
          </a:bodyPr>
          <a:lstStyle/>
          <a:p>
            <a:pPr algn="ctr" defTabSz="914478" rtl="0"/>
            <a:r>
              <a:rPr lang="en-US" altLang="zh-CN" sz="1600" b="1" kern="1200" dirty="0">
                <a:solidFill>
                  <a:srgbClr val="C00000"/>
                </a:solidFill>
                <a:latin typeface="微软雅黑" panose="020B0503020204020204" pitchFamily="34" charset="-122"/>
                <a:ea typeface="微软雅黑" panose="020B0503020204020204" pitchFamily="34" charset="-122"/>
              </a:rPr>
              <a:t>Services</a:t>
            </a:r>
          </a:p>
          <a:p>
            <a:pPr algn="ctr" defTabSz="914478" rtl="0"/>
            <a:r>
              <a:rPr lang="en-US" altLang="zh-CN" sz="1600" b="1" kern="1200" dirty="0">
                <a:solidFill>
                  <a:srgbClr val="C00000"/>
                </a:solidFill>
                <a:latin typeface="微软雅黑" panose="020B0503020204020204" pitchFamily="34" charset="-122"/>
                <a:ea typeface="微软雅黑" panose="020B0503020204020204" pitchFamily="34" charset="-122"/>
              </a:rPr>
              <a:t>AI / LLM</a:t>
            </a:r>
          </a:p>
        </p:txBody>
      </p:sp>
      <p:pic>
        <p:nvPicPr>
          <p:cNvPr id="92" name="图片 91">
            <a:extLst>
              <a:ext uri="{FF2B5EF4-FFF2-40B4-BE49-F238E27FC236}">
                <a16:creationId xmlns:a16="http://schemas.microsoft.com/office/drawing/2014/main" id="{31303797-0EB0-F588-9282-7581CE67B5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81886" y="4262474"/>
            <a:ext cx="540000" cy="540000"/>
          </a:xfrm>
          <a:prstGeom prst="rect">
            <a:avLst/>
          </a:prstGeom>
        </p:spPr>
      </p:pic>
      <p:pic>
        <p:nvPicPr>
          <p:cNvPr id="94" name="图片 93">
            <a:extLst>
              <a:ext uri="{FF2B5EF4-FFF2-40B4-BE49-F238E27FC236}">
                <a16:creationId xmlns:a16="http://schemas.microsoft.com/office/drawing/2014/main" id="{F851A6E6-60E2-2860-6F7C-478FC13ABB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49151" y="4250702"/>
            <a:ext cx="540000" cy="540000"/>
          </a:xfrm>
          <a:prstGeom prst="rect">
            <a:avLst/>
          </a:prstGeom>
        </p:spPr>
      </p:pic>
      <p:sp>
        <p:nvSpPr>
          <p:cNvPr id="116" name="矩形 115">
            <a:extLst>
              <a:ext uri="{FF2B5EF4-FFF2-40B4-BE49-F238E27FC236}">
                <a16:creationId xmlns:a16="http://schemas.microsoft.com/office/drawing/2014/main" id="{E027452E-4598-3941-6F80-F63685FD7927}"/>
              </a:ext>
            </a:extLst>
          </p:cNvPr>
          <p:cNvSpPr/>
          <p:nvPr/>
        </p:nvSpPr>
        <p:spPr>
          <a:xfrm>
            <a:off x="3672869" y="4109054"/>
            <a:ext cx="1269899" cy="261610"/>
          </a:xfrm>
          <a:prstGeom prst="rect">
            <a:avLst/>
          </a:prstGeom>
          <a:ln w="9525">
            <a:solidFill>
              <a:schemeClr val="accent1"/>
            </a:solidFill>
          </a:ln>
        </p:spPr>
        <p:txBody>
          <a:bodyPr wrap="none" anchor="ctr">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srgbClr val="1D1D1A"/>
                </a:solidFill>
                <a:effectLst/>
                <a:uLnTx/>
                <a:uFillTx/>
                <a:latin typeface="微软雅黑"/>
                <a:ea typeface="微软雅黑"/>
                <a:cs typeface="+mn-cs"/>
              </a:rPr>
              <a:t>Hardware Fault</a:t>
            </a:r>
            <a:endParaRPr kumimoji="0" lang="zh-CN" altLang="en-US" sz="1050" b="1" i="0" u="none" strike="noStrike" kern="1200" cap="none" spc="0" normalizeH="0" baseline="0" noProof="0" dirty="0">
              <a:ln>
                <a:noFill/>
              </a:ln>
              <a:solidFill>
                <a:srgbClr val="1D1D1A"/>
              </a:solidFill>
              <a:effectLst/>
              <a:uLnTx/>
              <a:uFillTx/>
              <a:latin typeface="微软雅黑"/>
              <a:ea typeface="微软雅黑"/>
              <a:cs typeface="+mn-cs"/>
            </a:endParaRPr>
          </a:p>
        </p:txBody>
      </p:sp>
      <p:grpSp>
        <p:nvGrpSpPr>
          <p:cNvPr id="121" name="组合 120">
            <a:extLst>
              <a:ext uri="{FF2B5EF4-FFF2-40B4-BE49-F238E27FC236}">
                <a16:creationId xmlns:a16="http://schemas.microsoft.com/office/drawing/2014/main" id="{A683ED50-AE44-FD82-ABE8-0BE77B0DE824}"/>
              </a:ext>
            </a:extLst>
          </p:cNvPr>
          <p:cNvGrpSpPr/>
          <p:nvPr/>
        </p:nvGrpSpPr>
        <p:grpSpPr>
          <a:xfrm>
            <a:off x="3549672" y="4112901"/>
            <a:ext cx="4201285" cy="1040582"/>
            <a:chOff x="3549672" y="3937414"/>
            <a:chExt cx="4201285" cy="1040582"/>
          </a:xfrm>
        </p:grpSpPr>
        <p:sp>
          <p:nvSpPr>
            <p:cNvPr id="102" name="文本框 101">
              <a:extLst>
                <a:ext uri="{FF2B5EF4-FFF2-40B4-BE49-F238E27FC236}">
                  <a16:creationId xmlns:a16="http://schemas.microsoft.com/office/drawing/2014/main" id="{48E40672-A82D-7A9E-2286-C40688DF60D8}"/>
                </a:ext>
              </a:extLst>
            </p:cNvPr>
            <p:cNvSpPr txBox="1"/>
            <p:nvPr/>
          </p:nvSpPr>
          <p:spPr>
            <a:xfrm>
              <a:off x="3879508" y="4329058"/>
              <a:ext cx="3541612" cy="276999"/>
            </a:xfrm>
            <a:prstGeom prst="rect">
              <a:avLst/>
            </a:prstGeom>
            <a:noFill/>
          </p:spPr>
          <p:txBody>
            <a:bodyPr wrap="square">
              <a:spAutoFit/>
            </a:bodyPr>
            <a:lstStyle/>
            <a:p>
              <a:pPr algn="ctr" rtl="0">
                <a:defRPr/>
              </a:pPr>
              <a:r>
                <a:rPr lang="en-US" altLang="zh-CN" sz="1200" b="1" kern="1200" dirty="0">
                  <a:solidFill>
                    <a:srgbClr val="C00000"/>
                  </a:solidFill>
                  <a:latin typeface="微软雅黑" panose="020B0503020204020204" pitchFamily="34" charset="-122"/>
                  <a:ea typeface="微软雅黑" panose="020B0503020204020204" pitchFamily="34" charset="-122"/>
                </a:rPr>
                <a:t>Reliability Challenges</a:t>
              </a:r>
              <a:endParaRPr kumimoji="1" lang="zh-CN" altLang="en-US" sz="1200" b="1" kern="1200" spc="600" dirty="0">
                <a:solidFill>
                  <a:srgbClr val="1D1D1A"/>
                </a:solidFill>
                <a:latin typeface="微软雅黑" panose="020B0503020204020204" pitchFamily="34" charset="-122"/>
                <a:ea typeface="微软雅黑" panose="020B0503020204020204" pitchFamily="34" charset="-122"/>
              </a:endParaRPr>
            </a:p>
          </p:txBody>
        </p:sp>
        <p:sp>
          <p:nvSpPr>
            <p:cNvPr id="115" name="椭圆 114">
              <a:extLst>
                <a:ext uri="{FF2B5EF4-FFF2-40B4-BE49-F238E27FC236}">
                  <a16:creationId xmlns:a16="http://schemas.microsoft.com/office/drawing/2014/main" id="{A3D7F02F-882B-4AEC-5807-FE275E24FA4C}"/>
                </a:ext>
              </a:extLst>
            </p:cNvPr>
            <p:cNvSpPr/>
            <p:nvPr/>
          </p:nvSpPr>
          <p:spPr>
            <a:xfrm rot="10800000">
              <a:off x="3549672" y="4252305"/>
              <a:ext cx="4201285" cy="725691"/>
            </a:xfrm>
            <a:prstGeom prst="ellipse">
              <a:avLst/>
            </a:prstGeom>
            <a:noFill/>
            <a:ln w="9525" cap="flat" cmpd="sng" algn="ctr">
              <a:gradFill flip="none" rotWithShape="1">
                <a:gsLst>
                  <a:gs pos="0">
                    <a:srgbClr val="DDDDDD">
                      <a:lumMod val="50000"/>
                    </a:srgbClr>
                  </a:gs>
                  <a:gs pos="40000">
                    <a:srgbClr val="DDDDDD">
                      <a:lumMod val="25000"/>
                      <a:alpha val="0"/>
                    </a:srgbClr>
                  </a:gs>
                </a:gsLst>
                <a:lin ang="16200000" scaled="1"/>
                <a:tileRect/>
              </a:gra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Arial"/>
                <a:ea typeface="等线" panose="02010600030101010101" pitchFamily="2" charset="-122"/>
                <a:cs typeface="+mn-cs"/>
              </a:endParaRPr>
            </a:p>
          </p:txBody>
        </p:sp>
        <p:sp>
          <p:nvSpPr>
            <p:cNvPr id="118" name="矩形 117">
              <a:extLst>
                <a:ext uri="{FF2B5EF4-FFF2-40B4-BE49-F238E27FC236}">
                  <a16:creationId xmlns:a16="http://schemas.microsoft.com/office/drawing/2014/main" id="{43D2CB8C-5B6A-A155-104C-26436F22B43F}"/>
                </a:ext>
              </a:extLst>
            </p:cNvPr>
            <p:cNvSpPr/>
            <p:nvPr/>
          </p:nvSpPr>
          <p:spPr>
            <a:xfrm>
              <a:off x="4931326" y="3937414"/>
              <a:ext cx="1095172" cy="253916"/>
            </a:xfrm>
            <a:prstGeom prst="rect">
              <a:avLst/>
            </a:prstGeom>
            <a:ln w="9525">
              <a:noFill/>
            </a:ln>
          </p:spPr>
          <p:txBody>
            <a:bodyPr wrap="none">
              <a:spAutoFit/>
            </a:bodyPr>
            <a:lstStyle/>
            <a:p>
              <a:pPr lvl="0" algn="ctr">
                <a:defRPr/>
              </a:pPr>
              <a:r>
                <a:rPr lang="en-US" altLang="zh-CN" sz="1050" dirty="0">
                  <a:solidFill>
                    <a:srgbClr val="1D1D1A"/>
                  </a:solidFill>
                  <a:latin typeface="微软雅黑"/>
                  <a:ea typeface="微软雅黑"/>
                </a:rPr>
                <a:t>software bugs</a:t>
              </a:r>
            </a:p>
          </p:txBody>
        </p:sp>
        <p:sp>
          <p:nvSpPr>
            <p:cNvPr id="119" name="矩形 118">
              <a:extLst>
                <a:ext uri="{FF2B5EF4-FFF2-40B4-BE49-F238E27FC236}">
                  <a16:creationId xmlns:a16="http://schemas.microsoft.com/office/drawing/2014/main" id="{A43B50F0-92FA-5A74-75A7-DC3E3DF28EAF}"/>
                </a:ext>
              </a:extLst>
            </p:cNvPr>
            <p:cNvSpPr/>
            <p:nvPr/>
          </p:nvSpPr>
          <p:spPr>
            <a:xfrm>
              <a:off x="5998801" y="3937414"/>
              <a:ext cx="1301959" cy="253916"/>
            </a:xfrm>
            <a:prstGeom prst="rect">
              <a:avLst/>
            </a:prstGeom>
            <a:ln w="9525">
              <a:noFill/>
            </a:ln>
          </p:spPr>
          <p:txBody>
            <a:bodyPr wrap="none">
              <a:spAutoFit/>
            </a:bodyPr>
            <a:lstStyle/>
            <a:p>
              <a:pPr algn="ctr"/>
              <a:r>
                <a:rPr lang="en-US" altLang="zh-CN" sz="1050" dirty="0">
                  <a:solidFill>
                    <a:srgbClr val="1D1D1A"/>
                  </a:solidFill>
                  <a:latin typeface="微软雅黑"/>
                  <a:ea typeface="微软雅黑"/>
                </a:rPr>
                <a:t>unstable network</a:t>
              </a:r>
              <a:endParaRPr lang="zh-CN" altLang="en-US" sz="1050" dirty="0">
                <a:solidFill>
                  <a:srgbClr val="1D1D1A"/>
                </a:solidFill>
                <a:latin typeface="微软雅黑"/>
                <a:ea typeface="微软雅黑"/>
              </a:endParaRPr>
            </a:p>
          </p:txBody>
        </p:sp>
        <mc:AlternateContent xmlns:mc="http://schemas.openxmlformats.org/markup-compatibility/2006" xmlns:a14="http://schemas.microsoft.com/office/drawing/2010/main">
          <mc:Choice Requires="a14">
            <p:sp>
              <p:nvSpPr>
                <p:cNvPr id="120" name="矩形 119">
                  <a:extLst>
                    <a:ext uri="{FF2B5EF4-FFF2-40B4-BE49-F238E27FC236}">
                      <a16:creationId xmlns:a16="http://schemas.microsoft.com/office/drawing/2014/main" id="{3CA25854-D800-0D25-5675-8AF816816DBE}"/>
                    </a:ext>
                  </a:extLst>
                </p:cNvPr>
                <p:cNvSpPr/>
                <p:nvPr/>
              </p:nvSpPr>
              <p:spPr>
                <a:xfrm>
                  <a:off x="7248616" y="3937414"/>
                  <a:ext cx="340157" cy="253916"/>
                </a:xfrm>
                <a:prstGeom prst="rect">
                  <a:avLst/>
                </a:prstGeom>
                <a:ln w="9525">
                  <a:noFill/>
                </a:ln>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sz="1050" b="0" i="1" dirty="0" smtClean="0">
                            <a:solidFill>
                              <a:srgbClr val="1D1D1A"/>
                            </a:solidFill>
                            <a:latin typeface="Cambria Math" panose="02040503050406030204" pitchFamily="18" charset="0"/>
                            <a:ea typeface="微软雅黑"/>
                          </a:rPr>
                          <m:t>⋯</m:t>
                        </m:r>
                      </m:oMath>
                    </m:oMathPara>
                  </a14:m>
                  <a:endParaRPr lang="zh-CN" altLang="en-US" sz="1050" dirty="0">
                    <a:solidFill>
                      <a:srgbClr val="1D1D1A"/>
                    </a:solidFill>
                    <a:latin typeface="微软雅黑"/>
                    <a:ea typeface="微软雅黑"/>
                  </a:endParaRPr>
                </a:p>
              </p:txBody>
            </p:sp>
          </mc:Choice>
          <mc:Fallback xmlns="">
            <p:sp>
              <p:nvSpPr>
                <p:cNvPr id="120" name="矩形 119">
                  <a:extLst>
                    <a:ext uri="{FF2B5EF4-FFF2-40B4-BE49-F238E27FC236}">
                      <a16:creationId xmlns:a16="http://schemas.microsoft.com/office/drawing/2014/main" id="{3CA25854-D800-0D25-5675-8AF816816DBE}"/>
                    </a:ext>
                  </a:extLst>
                </p:cNvPr>
                <p:cNvSpPr>
                  <a:spLocks noRot="1" noChangeAspect="1" noMove="1" noResize="1" noEditPoints="1" noAdjustHandles="1" noChangeArrowheads="1" noChangeShapeType="1" noTextEdit="1"/>
                </p:cNvSpPr>
                <p:nvPr/>
              </p:nvSpPr>
              <p:spPr>
                <a:xfrm>
                  <a:off x="7248616" y="3937414"/>
                  <a:ext cx="340157" cy="253916"/>
                </a:xfrm>
                <a:prstGeom prst="rect">
                  <a:avLst/>
                </a:prstGeom>
                <a:blipFill>
                  <a:blip r:embed="rId11"/>
                  <a:stretch>
                    <a:fillRect/>
                  </a:stretch>
                </a:blipFill>
                <a:ln w="9525">
                  <a:noFill/>
                </a:ln>
              </p:spPr>
              <p:txBody>
                <a:bodyPr/>
                <a:lstStyle/>
                <a:p>
                  <a:r>
                    <a:rPr lang="zh-CN" altLang="en-US">
                      <a:noFill/>
                    </a:rPr>
                    <a:t> </a:t>
                  </a:r>
                </a:p>
              </p:txBody>
            </p:sp>
          </mc:Fallback>
        </mc:AlternateContent>
      </p:grpSp>
    </p:spTree>
    <p:extLst>
      <p:ext uri="{BB962C8B-B14F-4D97-AF65-F5344CB8AC3E}">
        <p14:creationId xmlns:p14="http://schemas.microsoft.com/office/powerpoint/2010/main" val="2135449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7BDA973-0564-3C9E-9076-C3CC6F3A5D7F}"/>
              </a:ext>
            </a:extLst>
          </p:cNvPr>
          <p:cNvSpPr txBox="1"/>
          <p:nvPr/>
        </p:nvSpPr>
        <p:spPr>
          <a:xfrm>
            <a:off x="790215" y="365302"/>
            <a:ext cx="7836200" cy="461665"/>
          </a:xfrm>
          <a:prstGeom prst="rect">
            <a:avLst/>
          </a:prstGeom>
          <a:noFill/>
        </p:spPr>
        <p:txBody>
          <a:bodyPr wrap="square" rtlCol="0">
            <a:spAutoFit/>
          </a:bodyPr>
          <a:lstStyle/>
          <a:p>
            <a:r>
              <a:rPr lang="en-US" altLang="zh-CN" sz="2400" b="1" dirty="0"/>
              <a:t>Background – Memory Faults, Errors and Failures</a:t>
            </a:r>
          </a:p>
        </p:txBody>
      </p:sp>
      <p:sp>
        <p:nvSpPr>
          <p:cNvPr id="14" name="文本框 36">
            <a:extLst>
              <a:ext uri="{FF2B5EF4-FFF2-40B4-BE49-F238E27FC236}">
                <a16:creationId xmlns:a16="http://schemas.microsoft.com/office/drawing/2014/main" id="{3C479E7E-3D3D-8FC3-7634-E37BA9F2B042}"/>
              </a:ext>
            </a:extLst>
          </p:cNvPr>
          <p:cNvSpPr txBox="1"/>
          <p:nvPr/>
        </p:nvSpPr>
        <p:spPr>
          <a:xfrm>
            <a:off x="676614" y="1045657"/>
            <a:ext cx="10843533" cy="3970895"/>
          </a:xfrm>
          <a:prstGeom prst="rect">
            <a:avLst/>
          </a:prstGeom>
          <a:noFill/>
        </p:spPr>
        <p:txBody>
          <a:bodyPr wrap="square" lIns="0" tIns="0" rIns="0" bIns="0" rtlCol="0">
            <a:spAutoFit/>
          </a:bodyPr>
          <a:lstStyle/>
          <a:p>
            <a:pPr marL="285750" indent="-285750">
              <a:lnSpc>
                <a:spcPct val="150000"/>
              </a:lnSpc>
              <a:buClr>
                <a:srgbClr val="C7000B"/>
              </a:buClr>
              <a:buFont typeface="Wingdings" panose="05000000000000000000" pitchFamily="2" charset="2"/>
              <a:buChar char="Ø"/>
            </a:pPr>
            <a:r>
              <a:rPr lang="en-US" altLang="zh-CN" sz="1900" b="1" dirty="0">
                <a:solidFill>
                  <a:schemeClr val="accent1"/>
                </a:solidFill>
                <a:latin typeface="+mn-ea"/>
              </a:rPr>
              <a:t>Memory Faults:</a:t>
            </a:r>
          </a:p>
          <a:p>
            <a:pPr marL="838179" lvl="1" indent="-228594" defTabSz="914400">
              <a:buFont typeface="Arial" panose="020B0604020202020204" pitchFamily="34" charset="0"/>
              <a:buChar char="•"/>
            </a:pPr>
            <a:r>
              <a:rPr kumimoji="1" lang="en-US" altLang="zh-CN" sz="1900" kern="0" dirty="0">
                <a:solidFill>
                  <a:srgbClr val="000000"/>
                </a:solidFill>
                <a:latin typeface="Quire Sans" panose="020B0604020202020204" charset="0"/>
                <a:ea typeface="Microsoft YaHei" panose="020B0503020204020204" pitchFamily="34" charset="-122"/>
                <a:cs typeface="Quire Sans" panose="020B0604020202020204" charset="0"/>
              </a:rPr>
              <a:t>The underlying causes of an error in DRAM. </a:t>
            </a:r>
          </a:p>
          <a:p>
            <a:pPr marL="1447764" lvl="2" indent="-228594" defTabSz="914400">
              <a:buFont typeface="Arial" panose="020B0604020202020204" pitchFamily="34" charset="0"/>
              <a:buChar char="•"/>
            </a:pPr>
            <a:r>
              <a:rPr kumimoji="1" lang="en-US" altLang="zh-CN" sz="1900" b="1" kern="0" dirty="0">
                <a:solidFill>
                  <a:srgbClr val="000000"/>
                </a:solidFill>
                <a:latin typeface="Quire Sans" panose="020B0604020202020204" charset="0"/>
                <a:ea typeface="Microsoft YaHei" panose="020B0503020204020204" pitchFamily="34" charset="-122"/>
                <a:cs typeface="Quire Sans" panose="020B0604020202020204" charset="0"/>
              </a:rPr>
              <a:t>Soft Faults</a:t>
            </a:r>
            <a:r>
              <a:rPr kumimoji="1" lang="en-US" altLang="zh-CN" sz="1900" kern="0" dirty="0">
                <a:solidFill>
                  <a:srgbClr val="000000"/>
                </a:solidFill>
                <a:latin typeface="Quire Sans" panose="020B0604020202020204" charset="0"/>
                <a:ea typeface="Microsoft YaHei" panose="020B0503020204020204" pitchFamily="34" charset="-122"/>
                <a:cs typeface="Quire Sans" panose="020B0604020202020204" charset="0"/>
              </a:rPr>
              <a:t>: particle impacts, cosmic rays. --recoverable</a:t>
            </a:r>
          </a:p>
          <a:p>
            <a:pPr marL="1447764" lvl="2" indent="-228594" defTabSz="914400">
              <a:buFont typeface="Arial" panose="020B0604020202020204" pitchFamily="34" charset="0"/>
              <a:buChar char="•"/>
            </a:pPr>
            <a:r>
              <a:rPr kumimoji="1" lang="en-US" altLang="zh-CN" sz="1900" b="1" kern="0" dirty="0">
                <a:solidFill>
                  <a:srgbClr val="000000"/>
                </a:solidFill>
                <a:latin typeface="Quire Sans" panose="020B0604020202020204" charset="0"/>
                <a:ea typeface="Microsoft YaHei" panose="020B0503020204020204" pitchFamily="34" charset="-122"/>
                <a:cs typeface="Quire Sans" panose="020B0604020202020204" charset="0"/>
              </a:rPr>
              <a:t>Hard Faults</a:t>
            </a:r>
            <a:r>
              <a:rPr kumimoji="1" lang="en-US" altLang="zh-CN" sz="1900" kern="0" dirty="0">
                <a:solidFill>
                  <a:srgbClr val="000000"/>
                </a:solidFill>
                <a:latin typeface="Quire Sans" panose="020B0604020202020204" charset="0"/>
                <a:ea typeface="Microsoft YaHei" panose="020B0503020204020204" pitchFamily="34" charset="-122"/>
                <a:cs typeface="Quire Sans" panose="020B0604020202020204" charset="0"/>
              </a:rPr>
              <a:t>: ware-out, manufacture defect. --repeatable</a:t>
            </a:r>
          </a:p>
          <a:p>
            <a:pPr marL="285750" indent="-285750">
              <a:lnSpc>
                <a:spcPct val="150000"/>
              </a:lnSpc>
              <a:buClr>
                <a:srgbClr val="C7000B"/>
              </a:buClr>
              <a:buFont typeface="Wingdings" panose="05000000000000000000" pitchFamily="2" charset="2"/>
              <a:buChar char="Ø"/>
            </a:pPr>
            <a:r>
              <a:rPr lang="en-US" altLang="zh-CN" sz="1900" b="1" dirty="0">
                <a:solidFill>
                  <a:schemeClr val="accent1"/>
                </a:solidFill>
                <a:latin typeface="+mn-ea"/>
              </a:rPr>
              <a:t>Memory Errors:</a:t>
            </a:r>
          </a:p>
          <a:p>
            <a:pPr marL="838179" lvl="1" indent="-228594" defTabSz="914400">
              <a:buFont typeface="Arial" panose="020B0604020202020204" pitchFamily="34" charset="0"/>
              <a:buChar char="•"/>
            </a:pPr>
            <a:r>
              <a:rPr kumimoji="1" lang="en-US" altLang="zh-CN" sz="1900" b="1" kern="0" dirty="0">
                <a:solidFill>
                  <a:srgbClr val="000000"/>
                </a:solidFill>
                <a:latin typeface="Quire Sans" panose="020B0604020202020204" charset="0"/>
                <a:ea typeface="Microsoft YaHei" panose="020B0503020204020204" pitchFamily="34" charset="-122"/>
                <a:cs typeface="Quire Sans" panose="020B0604020202020204" charset="0"/>
              </a:rPr>
              <a:t>Correctable Error (CE): </a:t>
            </a:r>
            <a:r>
              <a:rPr kumimoji="1" lang="en-US" altLang="zh-CN" sz="1900" kern="0" dirty="0">
                <a:solidFill>
                  <a:srgbClr val="000000"/>
                </a:solidFill>
                <a:latin typeface="Quire Sans" panose="020B0604020202020204" charset="0"/>
                <a:ea typeface="Microsoft YaHei" panose="020B0503020204020204" pitchFamily="34" charset="-122"/>
                <a:cs typeface="Quire Sans" panose="020B0604020202020204" charset="0"/>
              </a:rPr>
              <a:t>Errors that can be corrected by ECC mechanism.</a:t>
            </a:r>
          </a:p>
          <a:p>
            <a:pPr marL="838179" lvl="1" indent="-228594" defTabSz="914400">
              <a:buFont typeface="Arial" panose="020B0604020202020204" pitchFamily="34" charset="0"/>
              <a:buChar char="•"/>
            </a:pPr>
            <a:r>
              <a:rPr kumimoji="1" lang="en-US" altLang="zh-CN" sz="1900" b="1" kern="0" dirty="0">
                <a:solidFill>
                  <a:srgbClr val="000000"/>
                </a:solidFill>
                <a:latin typeface="Quire Sans" panose="020B0604020202020204" charset="0"/>
                <a:ea typeface="Microsoft YaHei" panose="020B0503020204020204" pitchFamily="34" charset="-122"/>
                <a:cs typeface="Quire Sans" panose="020B0604020202020204" charset="0"/>
              </a:rPr>
              <a:t>Uncorrectable error (UE): </a:t>
            </a:r>
            <a:r>
              <a:rPr kumimoji="1" lang="en-US" altLang="zh-CN" sz="1900" kern="0" dirty="0">
                <a:solidFill>
                  <a:srgbClr val="000000"/>
                </a:solidFill>
                <a:latin typeface="Quire Sans" panose="020B0604020202020204" charset="0"/>
                <a:ea typeface="Microsoft YaHei" panose="020B0503020204020204" pitchFamily="34" charset="-122"/>
                <a:cs typeface="Quire Sans" panose="020B0604020202020204" charset="0"/>
              </a:rPr>
              <a:t>uncorrected by ECC mechanism.</a:t>
            </a:r>
          </a:p>
          <a:p>
            <a:pPr marL="1447764" lvl="2" indent="-228594" defTabSz="914400">
              <a:buFont typeface="Arial" panose="020B0604020202020204" pitchFamily="34" charset="0"/>
              <a:buChar char="•"/>
            </a:pPr>
            <a:r>
              <a:rPr kumimoji="1" lang="en-US" altLang="zh-CN" sz="1900" b="1" kern="0" dirty="0">
                <a:solidFill>
                  <a:srgbClr val="000000"/>
                </a:solidFill>
                <a:latin typeface="Quire Sans" panose="020B0604020202020204" charset="0"/>
                <a:ea typeface="Microsoft YaHei" panose="020B0503020204020204" pitchFamily="34" charset="-122"/>
                <a:cs typeface="Quire Sans" panose="020B0604020202020204" charset="0"/>
              </a:rPr>
              <a:t>Sudden UE</a:t>
            </a:r>
            <a:r>
              <a:rPr kumimoji="1" lang="en-US" altLang="zh-CN" sz="1900" kern="0" dirty="0">
                <a:solidFill>
                  <a:srgbClr val="000000"/>
                </a:solidFill>
                <a:latin typeface="Quire Sans" panose="020B0604020202020204" charset="0"/>
                <a:ea typeface="Microsoft YaHei" panose="020B0503020204020204" pitchFamily="34" charset="-122"/>
                <a:cs typeface="Quire Sans" panose="020B0604020202020204" charset="0"/>
              </a:rPr>
              <a:t>: UEs that instantly corrupt data.</a:t>
            </a:r>
          </a:p>
          <a:p>
            <a:pPr marL="1447764" lvl="2" indent="-228594" defTabSz="914400">
              <a:buFont typeface="Arial" panose="020B0604020202020204" pitchFamily="34" charset="0"/>
              <a:buChar char="•"/>
            </a:pPr>
            <a:r>
              <a:rPr kumimoji="1" lang="en-US" altLang="zh-CN" sz="1900" b="1" kern="0" dirty="0">
                <a:solidFill>
                  <a:srgbClr val="000000"/>
                </a:solidFill>
                <a:latin typeface="Quire Sans" panose="020B0604020202020204" charset="0"/>
                <a:ea typeface="Microsoft YaHei" panose="020B0503020204020204" pitchFamily="34" charset="-122"/>
                <a:cs typeface="Quire Sans" panose="020B0604020202020204" charset="0"/>
              </a:rPr>
              <a:t>Predictable UE</a:t>
            </a:r>
            <a:r>
              <a:rPr kumimoji="1" lang="en-US" altLang="zh-CN" sz="1900" kern="0" dirty="0">
                <a:solidFill>
                  <a:srgbClr val="000000"/>
                </a:solidFill>
                <a:latin typeface="Quire Sans" panose="020B0604020202020204" charset="0"/>
                <a:ea typeface="Microsoft YaHei" panose="020B0503020204020204" pitchFamily="34" charset="-122"/>
                <a:cs typeface="Quire Sans" panose="020B0604020202020204" charset="0"/>
              </a:rPr>
              <a:t>: UEs that start as correctable errors and evolve to severe UEs.</a:t>
            </a:r>
          </a:p>
          <a:p>
            <a:pPr marL="285750" indent="-285750">
              <a:lnSpc>
                <a:spcPct val="150000"/>
              </a:lnSpc>
              <a:buClr>
                <a:srgbClr val="C7000B"/>
              </a:buClr>
              <a:buFont typeface="Wingdings" panose="05000000000000000000" pitchFamily="2" charset="2"/>
              <a:buChar char="Ø"/>
            </a:pPr>
            <a:r>
              <a:rPr lang="en-US" altLang="zh-CN" sz="1900" b="1" dirty="0">
                <a:solidFill>
                  <a:schemeClr val="accent1"/>
                </a:solidFill>
                <a:latin typeface="+mn-ea"/>
              </a:rPr>
              <a:t>Memory Failures:</a:t>
            </a:r>
          </a:p>
          <a:p>
            <a:pPr marL="838179" lvl="1" indent="-228594" defTabSz="914400">
              <a:buFont typeface="Arial" panose="020B0604020202020204" pitchFamily="34" charset="0"/>
              <a:buChar char="•"/>
            </a:pPr>
            <a:r>
              <a:rPr kumimoji="1" lang="en-US" altLang="zh-CN" sz="1900" kern="0" dirty="0">
                <a:solidFill>
                  <a:srgbClr val="000000"/>
                </a:solidFill>
                <a:latin typeface="Quire Sans" panose="020B0604020202020204" charset="0"/>
                <a:ea typeface="Microsoft YaHei" panose="020B0503020204020204" pitchFamily="34" charset="-122"/>
                <a:cs typeface="Quire Sans" panose="020B0604020202020204" charset="0"/>
              </a:rPr>
              <a:t>A critical event in which the delivered service </a:t>
            </a:r>
            <a:r>
              <a:rPr kumimoji="1" lang="en-US" altLang="zh-CN" sz="1900" b="1" kern="0" dirty="0">
                <a:solidFill>
                  <a:srgbClr val="236B9E"/>
                </a:solidFill>
                <a:latin typeface="Quire Sans" panose="020B0604020202020204" charset="0"/>
                <a:ea typeface="Microsoft YaHei" panose="020B0503020204020204" pitchFamily="34" charset="-122"/>
                <a:cs typeface="Quire Sans" panose="020B0604020202020204" charset="0"/>
              </a:rPr>
              <a:t>deviates from the correct service</a:t>
            </a:r>
            <a:r>
              <a:rPr kumimoji="1" lang="en-US" altLang="zh-CN" sz="1900" kern="0" dirty="0">
                <a:solidFill>
                  <a:srgbClr val="000000"/>
                </a:solidFill>
                <a:latin typeface="Quire Sans" panose="020B0604020202020204" charset="0"/>
                <a:ea typeface="Microsoft YaHei" panose="020B0503020204020204" pitchFamily="34" charset="-122"/>
                <a:cs typeface="Quire Sans" panose="020B0604020202020204" charset="0"/>
              </a:rPr>
              <a:t>. </a:t>
            </a:r>
            <a:r>
              <a:rPr kumimoji="1" lang="en-US" altLang="zh-CN" sz="1900" b="1" kern="0" dirty="0">
                <a:solidFill>
                  <a:srgbClr val="236B9E"/>
                </a:solidFill>
                <a:latin typeface="Quire Sans" panose="020B0604020202020204" charset="0"/>
                <a:ea typeface="Microsoft YaHei" panose="020B0503020204020204" pitchFamily="34" charset="-122"/>
                <a:cs typeface="Quire Sans" panose="020B0604020202020204" charset="0"/>
              </a:rPr>
              <a:t>UEs typically lead to catastrophic failures</a:t>
            </a:r>
            <a:r>
              <a:rPr kumimoji="1" lang="en-US" altLang="zh-CN" sz="1900" kern="0" dirty="0">
                <a:solidFill>
                  <a:srgbClr val="000000"/>
                </a:solidFill>
                <a:latin typeface="Quire Sans" panose="020B0604020202020204" charset="0"/>
                <a:ea typeface="Microsoft YaHei" panose="020B0503020204020204" pitchFamily="34" charset="-122"/>
                <a:cs typeface="Quire Sans" panose="020B0604020202020204" charset="0"/>
              </a:rPr>
              <a:t>, resulting in a crash.</a:t>
            </a:r>
          </a:p>
        </p:txBody>
      </p:sp>
      <p:sp>
        <p:nvSpPr>
          <p:cNvPr id="15" name="Rectangle: Rounded Corners 3">
            <a:extLst>
              <a:ext uri="{FF2B5EF4-FFF2-40B4-BE49-F238E27FC236}">
                <a16:creationId xmlns:a16="http://schemas.microsoft.com/office/drawing/2014/main" id="{DBBE0333-C70C-D1F2-3AE0-8BC9EEBC5CA3}"/>
              </a:ext>
            </a:extLst>
          </p:cNvPr>
          <p:cNvSpPr/>
          <p:nvPr/>
        </p:nvSpPr>
        <p:spPr>
          <a:xfrm>
            <a:off x="2792383" y="5541370"/>
            <a:ext cx="1712360" cy="602751"/>
          </a:xfrm>
          <a:prstGeom prst="roundRect">
            <a:avLst/>
          </a:prstGeom>
          <a:solidFill>
            <a:srgbClr val="F79646">
              <a:lumMod val="40000"/>
              <a:lumOff val="60000"/>
            </a:srgbClr>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133" b="1" i="0" u="none" strike="noStrike" kern="0" cap="none" spc="0" normalizeH="0" baseline="0" noProof="0" dirty="0">
                <a:ln>
                  <a:noFill/>
                </a:ln>
                <a:solidFill>
                  <a:prstClr val="black"/>
                </a:solidFill>
                <a:effectLst/>
                <a:uLnTx/>
                <a:uFillTx/>
                <a:latin typeface="Quire Sans" panose="020B0604020202020204"/>
                <a:ea typeface="+mn-ea"/>
                <a:cs typeface="+mn-cs"/>
              </a:rPr>
              <a:t>Faults</a:t>
            </a:r>
          </a:p>
        </p:txBody>
      </p:sp>
      <p:sp>
        <p:nvSpPr>
          <p:cNvPr id="16" name="Rectangle: Rounded Corners 6">
            <a:extLst>
              <a:ext uri="{FF2B5EF4-FFF2-40B4-BE49-F238E27FC236}">
                <a16:creationId xmlns:a16="http://schemas.microsoft.com/office/drawing/2014/main" id="{47151C20-27D9-82BD-4532-5AF8010FB402}"/>
              </a:ext>
            </a:extLst>
          </p:cNvPr>
          <p:cNvSpPr/>
          <p:nvPr/>
        </p:nvSpPr>
        <p:spPr>
          <a:xfrm>
            <a:off x="5242201" y="5541369"/>
            <a:ext cx="1712360" cy="602751"/>
          </a:xfrm>
          <a:prstGeom prst="roundRect">
            <a:avLst/>
          </a:prstGeom>
          <a:solidFill>
            <a:srgbClr val="C0504D">
              <a:lumMod val="40000"/>
              <a:lumOff val="60000"/>
            </a:srgbClr>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133" b="1" i="0" u="none" strike="noStrike" kern="0" cap="none" spc="0" normalizeH="0" baseline="0" noProof="0" dirty="0">
                <a:ln>
                  <a:noFill/>
                </a:ln>
                <a:solidFill>
                  <a:prstClr val="black"/>
                </a:solidFill>
                <a:effectLst/>
                <a:uLnTx/>
                <a:uFillTx/>
                <a:latin typeface="Quire Sans" panose="020B0604020202020204"/>
                <a:ea typeface="+mn-ea"/>
                <a:cs typeface="+mn-cs"/>
              </a:rPr>
              <a:t>Errors</a:t>
            </a:r>
          </a:p>
        </p:txBody>
      </p:sp>
      <p:sp>
        <p:nvSpPr>
          <p:cNvPr id="17" name="Rectangle: Rounded Corners 7">
            <a:extLst>
              <a:ext uri="{FF2B5EF4-FFF2-40B4-BE49-F238E27FC236}">
                <a16:creationId xmlns:a16="http://schemas.microsoft.com/office/drawing/2014/main" id="{4F48B400-773B-6DCB-A1A9-09D0D5C83625}"/>
              </a:ext>
            </a:extLst>
          </p:cNvPr>
          <p:cNvSpPr/>
          <p:nvPr/>
        </p:nvSpPr>
        <p:spPr>
          <a:xfrm>
            <a:off x="7668483" y="5541369"/>
            <a:ext cx="1712360" cy="602751"/>
          </a:xfrm>
          <a:prstGeom prst="roundRect">
            <a:avLst/>
          </a:prstGeom>
          <a:solidFill>
            <a:srgbClr val="EA002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133" b="1" i="0" u="none" strike="noStrike" kern="0" cap="none" spc="0" normalizeH="0" baseline="0" noProof="0" dirty="0">
                <a:ln>
                  <a:noFill/>
                </a:ln>
                <a:solidFill>
                  <a:prstClr val="black"/>
                </a:solidFill>
                <a:effectLst/>
                <a:uLnTx/>
                <a:uFillTx/>
                <a:latin typeface="Quire Sans" panose="020B0604020202020204"/>
                <a:ea typeface="+mn-ea"/>
                <a:cs typeface="+mn-cs"/>
              </a:rPr>
              <a:t>UE/Failure</a:t>
            </a:r>
          </a:p>
        </p:txBody>
      </p:sp>
      <p:sp>
        <p:nvSpPr>
          <p:cNvPr id="18" name="Arrow: Right 8">
            <a:extLst>
              <a:ext uri="{FF2B5EF4-FFF2-40B4-BE49-F238E27FC236}">
                <a16:creationId xmlns:a16="http://schemas.microsoft.com/office/drawing/2014/main" id="{F7E49F18-F249-A5FA-D9F4-6AEFD723411F}"/>
              </a:ext>
            </a:extLst>
          </p:cNvPr>
          <p:cNvSpPr/>
          <p:nvPr/>
        </p:nvSpPr>
        <p:spPr>
          <a:xfrm>
            <a:off x="4693456" y="5692055"/>
            <a:ext cx="465761" cy="301376"/>
          </a:xfrm>
          <a:prstGeom prst="rightArrow">
            <a:avLst/>
          </a:prstGeom>
          <a:solidFill>
            <a:srgbClr val="4F81BD">
              <a:lumMod val="20000"/>
              <a:lumOff val="80000"/>
            </a:srgbClr>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Arrow: Right 9">
            <a:extLst>
              <a:ext uri="{FF2B5EF4-FFF2-40B4-BE49-F238E27FC236}">
                <a16:creationId xmlns:a16="http://schemas.microsoft.com/office/drawing/2014/main" id="{AAAC7E5D-BEF5-7127-D220-744E473A7C69}"/>
              </a:ext>
            </a:extLst>
          </p:cNvPr>
          <p:cNvSpPr/>
          <p:nvPr/>
        </p:nvSpPr>
        <p:spPr>
          <a:xfrm>
            <a:off x="7119738" y="5692055"/>
            <a:ext cx="465761" cy="301376"/>
          </a:xfrm>
          <a:prstGeom prst="rightArrow">
            <a:avLst/>
          </a:prstGeom>
          <a:solidFill>
            <a:srgbClr val="EA002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0" name="TextBox 10">
            <a:extLst>
              <a:ext uri="{FF2B5EF4-FFF2-40B4-BE49-F238E27FC236}">
                <a16:creationId xmlns:a16="http://schemas.microsoft.com/office/drawing/2014/main" id="{8EC62DD4-851D-D66B-319F-0E3934ABC415}"/>
              </a:ext>
            </a:extLst>
          </p:cNvPr>
          <p:cNvSpPr txBox="1"/>
          <p:nvPr/>
        </p:nvSpPr>
        <p:spPr>
          <a:xfrm>
            <a:off x="4462506" y="5180813"/>
            <a:ext cx="1219201" cy="379656"/>
          </a:xfrm>
          <a:prstGeom prst="rect">
            <a:avLst/>
          </a:prstGeom>
          <a:noFill/>
        </p:spPr>
        <p:txBody>
          <a:bodyPr wrap="square" rtlCol="0">
            <a:spAutoFit/>
          </a:bodyPr>
          <a:lstStyle/>
          <a:p>
            <a:pPr defTabSz="914400"/>
            <a:r>
              <a:rPr lang="en-US" sz="1867" b="1" kern="0" dirty="0">
                <a:solidFill>
                  <a:sysClr val="windowText" lastClr="000000"/>
                </a:solidFill>
                <a:latin typeface="Quire Sans" panose="020B0604020202020204"/>
                <a:ea typeface="Microsoft YaHei" panose="020B0503020204020204" pitchFamily="34" charset="-122"/>
              </a:rPr>
              <a:t>Logging</a:t>
            </a:r>
          </a:p>
        </p:txBody>
      </p:sp>
      <p:sp>
        <p:nvSpPr>
          <p:cNvPr id="21" name="TextBox 11">
            <a:extLst>
              <a:ext uri="{FF2B5EF4-FFF2-40B4-BE49-F238E27FC236}">
                <a16:creationId xmlns:a16="http://schemas.microsoft.com/office/drawing/2014/main" id="{9F869D42-45FE-03D3-BD2A-CCFFFD8EC99C}"/>
              </a:ext>
            </a:extLst>
          </p:cNvPr>
          <p:cNvSpPr txBox="1"/>
          <p:nvPr/>
        </p:nvSpPr>
        <p:spPr>
          <a:xfrm>
            <a:off x="6802766" y="5176426"/>
            <a:ext cx="1345881" cy="379656"/>
          </a:xfrm>
          <a:prstGeom prst="rect">
            <a:avLst/>
          </a:prstGeom>
          <a:noFill/>
        </p:spPr>
        <p:txBody>
          <a:bodyPr wrap="square" rtlCol="0">
            <a:spAutoFit/>
          </a:bodyPr>
          <a:lstStyle/>
          <a:p>
            <a:pPr defTabSz="914400"/>
            <a:r>
              <a:rPr lang="en-US" sz="1867" b="1" kern="0" dirty="0">
                <a:solidFill>
                  <a:sysClr val="windowText" lastClr="000000"/>
                </a:solidFill>
                <a:latin typeface="Quire Sans" panose="020B0604020202020204"/>
                <a:ea typeface="Microsoft YaHei" panose="020B0503020204020204" pitchFamily="34" charset="-122"/>
              </a:rPr>
              <a:t>Predicting</a:t>
            </a:r>
          </a:p>
        </p:txBody>
      </p:sp>
    </p:spTree>
    <p:extLst>
      <p:ext uri="{BB962C8B-B14F-4D97-AF65-F5344CB8AC3E}">
        <p14:creationId xmlns:p14="http://schemas.microsoft.com/office/powerpoint/2010/main" val="3579919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6" name="组合 235">
            <a:extLst>
              <a:ext uri="{FF2B5EF4-FFF2-40B4-BE49-F238E27FC236}">
                <a16:creationId xmlns:a16="http://schemas.microsoft.com/office/drawing/2014/main" id="{2B3A0C62-E446-6300-C7D5-E55D73F6A6B8}"/>
              </a:ext>
            </a:extLst>
          </p:cNvPr>
          <p:cNvGrpSpPr/>
          <p:nvPr/>
        </p:nvGrpSpPr>
        <p:grpSpPr>
          <a:xfrm>
            <a:off x="5902852" y="4308026"/>
            <a:ext cx="5758060" cy="2150366"/>
            <a:chOff x="5844766" y="4342332"/>
            <a:chExt cx="5710345" cy="2150366"/>
          </a:xfrm>
        </p:grpSpPr>
        <p:sp>
          <p:nvSpPr>
            <p:cNvPr id="178" name="矩形: 圆角 177">
              <a:extLst>
                <a:ext uri="{FF2B5EF4-FFF2-40B4-BE49-F238E27FC236}">
                  <a16:creationId xmlns:a16="http://schemas.microsoft.com/office/drawing/2014/main" id="{CC819466-082F-C300-0DF9-CF698804410C}"/>
                </a:ext>
              </a:extLst>
            </p:cNvPr>
            <p:cNvSpPr/>
            <p:nvPr/>
          </p:nvSpPr>
          <p:spPr>
            <a:xfrm>
              <a:off x="6145558" y="4342332"/>
              <a:ext cx="5409553" cy="2150366"/>
            </a:xfrm>
            <a:prstGeom prst="roundRect">
              <a:avLst>
                <a:gd name="adj" fmla="val 9056"/>
              </a:avLst>
            </a:prstGeom>
            <a:solidFill>
              <a:schemeClr val="accent2">
                <a:alpha val="5098"/>
              </a:schemeClr>
            </a:solidFill>
            <a:ln>
              <a:noFill/>
            </a:ln>
            <a:effectLst>
              <a:outerShdw blurRad="50800" dist="127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b" anchorCtr="0" forceAA="0" compatLnSpc="1">
              <a:prstTxWarp prst="textNoShape">
                <a:avLst/>
              </a:prstTxWarp>
              <a:noAutofit/>
            </a:bodyPr>
            <a:lstStyle/>
            <a:p>
              <a:pPr marL="0" marR="0" lvl="0" indent="0" algn="ctr" defTabSz="91438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666666"/>
                </a:solidFill>
                <a:effectLst/>
                <a:uLnTx/>
                <a:uFillTx/>
                <a:latin typeface="Arial"/>
                <a:ea typeface="微软雅黑"/>
                <a:cs typeface="+mn-cs"/>
              </a:endParaRPr>
            </a:p>
          </p:txBody>
        </p:sp>
        <p:cxnSp>
          <p:nvCxnSpPr>
            <p:cNvPr id="179" name="直接箭头连接符 178">
              <a:extLst>
                <a:ext uri="{FF2B5EF4-FFF2-40B4-BE49-F238E27FC236}">
                  <a16:creationId xmlns:a16="http://schemas.microsoft.com/office/drawing/2014/main" id="{148E8744-B749-281E-38F8-2CC40DFCA1A4}"/>
                </a:ext>
              </a:extLst>
            </p:cNvPr>
            <p:cNvCxnSpPr>
              <a:cxnSpLocks/>
            </p:cNvCxnSpPr>
            <p:nvPr/>
          </p:nvCxnSpPr>
          <p:spPr>
            <a:xfrm flipV="1">
              <a:off x="6225396" y="5506218"/>
              <a:ext cx="4320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0" name="组合 179">
              <a:extLst>
                <a:ext uri="{FF2B5EF4-FFF2-40B4-BE49-F238E27FC236}">
                  <a16:creationId xmlns:a16="http://schemas.microsoft.com/office/drawing/2014/main" id="{5BD6EDF1-6483-590F-B778-6CA3F03F774B}"/>
                </a:ext>
              </a:extLst>
            </p:cNvPr>
            <p:cNvGrpSpPr/>
            <p:nvPr/>
          </p:nvGrpSpPr>
          <p:grpSpPr>
            <a:xfrm>
              <a:off x="6599223" y="5025799"/>
              <a:ext cx="3777695" cy="485587"/>
              <a:chOff x="3099500" y="4615235"/>
              <a:chExt cx="3777695" cy="457195"/>
            </a:xfrm>
          </p:grpSpPr>
          <p:cxnSp>
            <p:nvCxnSpPr>
              <p:cNvPr id="181" name="直接连接符 180">
                <a:extLst>
                  <a:ext uri="{FF2B5EF4-FFF2-40B4-BE49-F238E27FC236}">
                    <a16:creationId xmlns:a16="http://schemas.microsoft.com/office/drawing/2014/main" id="{5C01B0A9-6A0B-B729-DD59-5942491E2738}"/>
                  </a:ext>
                </a:extLst>
              </p:cNvPr>
              <p:cNvCxnSpPr>
                <a:cxnSpLocks/>
              </p:cNvCxnSpPr>
              <p:nvPr/>
            </p:nvCxnSpPr>
            <p:spPr>
              <a:xfrm>
                <a:off x="6121656" y="4615235"/>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直接连接符 181">
                <a:extLst>
                  <a:ext uri="{FF2B5EF4-FFF2-40B4-BE49-F238E27FC236}">
                    <a16:creationId xmlns:a16="http://schemas.microsoft.com/office/drawing/2014/main" id="{D7ADA8BD-A887-5C7D-E901-755D0015D5F0}"/>
                  </a:ext>
                </a:extLst>
              </p:cNvPr>
              <p:cNvCxnSpPr>
                <a:cxnSpLocks/>
              </p:cNvCxnSpPr>
              <p:nvPr/>
            </p:nvCxnSpPr>
            <p:spPr>
              <a:xfrm>
                <a:off x="6877195" y="4615235"/>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直接连接符 182">
                <a:extLst>
                  <a:ext uri="{FF2B5EF4-FFF2-40B4-BE49-F238E27FC236}">
                    <a16:creationId xmlns:a16="http://schemas.microsoft.com/office/drawing/2014/main" id="{A0F87F3D-19D2-4007-FAE1-6C6AFBA70536}"/>
                  </a:ext>
                </a:extLst>
              </p:cNvPr>
              <p:cNvCxnSpPr>
                <a:cxnSpLocks/>
              </p:cNvCxnSpPr>
              <p:nvPr/>
            </p:nvCxnSpPr>
            <p:spPr>
              <a:xfrm>
                <a:off x="4610578" y="4615235"/>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BF6EBF8C-D906-EB94-999A-7F3B1EE70BD8}"/>
                  </a:ext>
                </a:extLst>
              </p:cNvPr>
              <p:cNvCxnSpPr>
                <a:cxnSpLocks/>
              </p:cNvCxnSpPr>
              <p:nvPr/>
            </p:nvCxnSpPr>
            <p:spPr>
              <a:xfrm>
                <a:off x="5366117" y="4615235"/>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F74C0D67-9E09-A4E7-D8C4-B5E206C56167}"/>
                  </a:ext>
                </a:extLst>
              </p:cNvPr>
              <p:cNvCxnSpPr>
                <a:cxnSpLocks/>
              </p:cNvCxnSpPr>
              <p:nvPr/>
            </p:nvCxnSpPr>
            <p:spPr>
              <a:xfrm>
                <a:off x="3855039" y="4615235"/>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a:extLst>
                  <a:ext uri="{FF2B5EF4-FFF2-40B4-BE49-F238E27FC236}">
                    <a16:creationId xmlns:a16="http://schemas.microsoft.com/office/drawing/2014/main" id="{B9B13938-5985-D1DB-E173-207CD2D78B1E}"/>
                  </a:ext>
                </a:extLst>
              </p:cNvPr>
              <p:cNvCxnSpPr>
                <a:cxnSpLocks/>
              </p:cNvCxnSpPr>
              <p:nvPr/>
            </p:nvCxnSpPr>
            <p:spPr>
              <a:xfrm>
                <a:off x="3099500" y="4615235"/>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7" name="等腰三角形 186">
              <a:extLst>
                <a:ext uri="{FF2B5EF4-FFF2-40B4-BE49-F238E27FC236}">
                  <a16:creationId xmlns:a16="http://schemas.microsoft.com/office/drawing/2014/main" id="{09DECA3C-5FBD-C06D-5B47-A78FD2700A9D}"/>
                </a:ext>
              </a:extLst>
            </p:cNvPr>
            <p:cNvSpPr/>
            <p:nvPr/>
          </p:nvSpPr>
          <p:spPr>
            <a:xfrm>
              <a:off x="8070872" y="5295494"/>
              <a:ext cx="86263" cy="21072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88" name="等腰三角形 187">
              <a:extLst>
                <a:ext uri="{FF2B5EF4-FFF2-40B4-BE49-F238E27FC236}">
                  <a16:creationId xmlns:a16="http://schemas.microsoft.com/office/drawing/2014/main" id="{873D1136-B125-B6FE-86B5-E7BF57F3D7E2}"/>
                </a:ext>
              </a:extLst>
            </p:cNvPr>
            <p:cNvSpPr/>
            <p:nvPr/>
          </p:nvSpPr>
          <p:spPr>
            <a:xfrm>
              <a:off x="10336738" y="5295494"/>
              <a:ext cx="86263" cy="21072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89" name="左大括号 188">
              <a:extLst>
                <a:ext uri="{FF2B5EF4-FFF2-40B4-BE49-F238E27FC236}">
                  <a16:creationId xmlns:a16="http://schemas.microsoft.com/office/drawing/2014/main" id="{DA524C8B-5C78-771F-320F-4D6846C5ACF2}"/>
                </a:ext>
              </a:extLst>
            </p:cNvPr>
            <p:cNvSpPr/>
            <p:nvPr/>
          </p:nvSpPr>
          <p:spPr>
            <a:xfrm rot="16200000">
              <a:off x="9190921" y="5255314"/>
              <a:ext cx="105378" cy="75553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90" name="直接连接符 189">
              <a:extLst>
                <a:ext uri="{FF2B5EF4-FFF2-40B4-BE49-F238E27FC236}">
                  <a16:creationId xmlns:a16="http://schemas.microsoft.com/office/drawing/2014/main" id="{93FF5076-A917-2075-8F77-1A520CDC105D}"/>
                </a:ext>
              </a:extLst>
            </p:cNvPr>
            <p:cNvCxnSpPr>
              <a:cxnSpLocks/>
            </p:cNvCxnSpPr>
            <p:nvPr/>
          </p:nvCxnSpPr>
          <p:spPr>
            <a:xfrm flipH="1">
              <a:off x="9621379" y="4671055"/>
              <a:ext cx="1" cy="86162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1" name="等腰三角形 190">
              <a:extLst>
                <a:ext uri="{FF2B5EF4-FFF2-40B4-BE49-F238E27FC236}">
                  <a16:creationId xmlns:a16="http://schemas.microsoft.com/office/drawing/2014/main" id="{C12298FF-E996-E003-BC2C-7DD7575F12F9}"/>
                </a:ext>
              </a:extLst>
            </p:cNvPr>
            <p:cNvSpPr/>
            <p:nvPr/>
          </p:nvSpPr>
          <p:spPr>
            <a:xfrm>
              <a:off x="7315583" y="5295494"/>
              <a:ext cx="86263" cy="21072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2" name="等腰三角形 191">
              <a:extLst>
                <a:ext uri="{FF2B5EF4-FFF2-40B4-BE49-F238E27FC236}">
                  <a16:creationId xmlns:a16="http://schemas.microsoft.com/office/drawing/2014/main" id="{5242B3EC-2717-E9A9-83CD-D55A1A131AD1}"/>
                </a:ext>
              </a:extLst>
            </p:cNvPr>
            <p:cNvSpPr/>
            <p:nvPr/>
          </p:nvSpPr>
          <p:spPr>
            <a:xfrm>
              <a:off x="6560294" y="5295494"/>
              <a:ext cx="86263" cy="21072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3" name="等腰三角形 192">
              <a:extLst>
                <a:ext uri="{FF2B5EF4-FFF2-40B4-BE49-F238E27FC236}">
                  <a16:creationId xmlns:a16="http://schemas.microsoft.com/office/drawing/2014/main" id="{F8C60DE9-71F6-95E3-E316-75B104FCD2A2}"/>
                </a:ext>
              </a:extLst>
            </p:cNvPr>
            <p:cNvSpPr/>
            <p:nvPr/>
          </p:nvSpPr>
          <p:spPr>
            <a:xfrm>
              <a:off x="8826161" y="5295494"/>
              <a:ext cx="86263" cy="21072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4" name="左大括号 193">
              <a:extLst>
                <a:ext uri="{FF2B5EF4-FFF2-40B4-BE49-F238E27FC236}">
                  <a16:creationId xmlns:a16="http://schemas.microsoft.com/office/drawing/2014/main" id="{7ED9744B-A9E6-BB62-E17E-A199584940B5}"/>
                </a:ext>
              </a:extLst>
            </p:cNvPr>
            <p:cNvSpPr/>
            <p:nvPr/>
          </p:nvSpPr>
          <p:spPr>
            <a:xfrm rot="16200000">
              <a:off x="8058373" y="4229745"/>
              <a:ext cx="103859" cy="302215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95" name="直接箭头连接符 194">
              <a:extLst>
                <a:ext uri="{FF2B5EF4-FFF2-40B4-BE49-F238E27FC236}">
                  <a16:creationId xmlns:a16="http://schemas.microsoft.com/office/drawing/2014/main" id="{E8602210-D24B-E855-30A1-AA6F3FD08CDA}"/>
                </a:ext>
              </a:extLst>
            </p:cNvPr>
            <p:cNvCxnSpPr>
              <a:cxnSpLocks/>
            </p:cNvCxnSpPr>
            <p:nvPr/>
          </p:nvCxnSpPr>
          <p:spPr>
            <a:xfrm>
              <a:off x="6588803" y="4915131"/>
              <a:ext cx="755537"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6" name="等腰三角形 195">
              <a:extLst>
                <a:ext uri="{FF2B5EF4-FFF2-40B4-BE49-F238E27FC236}">
                  <a16:creationId xmlns:a16="http://schemas.microsoft.com/office/drawing/2014/main" id="{8194FC25-50D4-F775-FB2B-416A48A2C57B}"/>
                </a:ext>
              </a:extLst>
            </p:cNvPr>
            <p:cNvSpPr/>
            <p:nvPr/>
          </p:nvSpPr>
          <p:spPr>
            <a:xfrm>
              <a:off x="9581450" y="5295494"/>
              <a:ext cx="86263" cy="21072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mc:AlternateContent xmlns:mc="http://schemas.openxmlformats.org/markup-compatibility/2006" xmlns:a14="http://schemas.microsoft.com/office/drawing/2010/main">
          <mc:Choice Requires="a14">
            <p:sp>
              <p:nvSpPr>
                <p:cNvPr id="197" name="文本框 196">
                  <a:extLst>
                    <a:ext uri="{FF2B5EF4-FFF2-40B4-BE49-F238E27FC236}">
                      <a16:creationId xmlns:a16="http://schemas.microsoft.com/office/drawing/2014/main" id="{D01C3106-BB88-DE05-A035-3DF0B726D12C}"/>
                    </a:ext>
                  </a:extLst>
                </p:cNvPr>
                <p:cNvSpPr txBox="1"/>
                <p:nvPr/>
              </p:nvSpPr>
              <p:spPr>
                <a:xfrm>
                  <a:off x="7724064" y="5729030"/>
                  <a:ext cx="2981845" cy="294201"/>
                </a:xfrm>
                <a:prstGeom prst="rect">
                  <a:avLst/>
                </a:prstGeom>
                <a:noFill/>
              </p:spPr>
              <p:txBody>
                <a:bodyPr wrap="square">
                  <a:spAutoFit/>
                </a:bodyPr>
                <a:lstStyle/>
                <a:p>
                  <a:pPr algn="ctr"/>
                  <a:r>
                    <a:rPr lang="en-US" altLang="zh-CN" sz="1200" i="1" dirty="0">
                      <a:latin typeface="Cambria Math" panose="02040503050406030204" pitchFamily="18" charset="0"/>
                    </a:rPr>
                    <a:t>Short term </a:t>
                  </a:r>
                  <a14:m>
                    <m:oMath xmlns:m="http://schemas.openxmlformats.org/officeDocument/2006/math">
                      <m:r>
                        <a:rPr lang="en-US" altLang="zh-CN" sz="1200" i="1" dirty="0" smtClean="0">
                          <a:latin typeface="Cambria Math" panose="02040503050406030204" pitchFamily="18" charset="0"/>
                        </a:rPr>
                        <m:t>𝛥</m:t>
                      </m:r>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𝑡</m:t>
                          </m:r>
                        </m:e>
                        <m:sub>
                          <m:r>
                            <a:rPr lang="en-US" altLang="zh-CN" sz="1200" b="0" i="1" dirty="0" smtClean="0">
                              <a:latin typeface="Cambria Math" panose="02040503050406030204" pitchFamily="18" charset="0"/>
                            </a:rPr>
                            <m:t>𝑠</m:t>
                          </m:r>
                        </m:sub>
                      </m:sSub>
                      <m:r>
                        <a:rPr lang="en-US" altLang="zh-CN" sz="1200" b="0" i="1" dirty="0" smtClean="0">
                          <a:latin typeface="Cambria Math" panose="02040503050406030204" pitchFamily="18" charset="0"/>
                        </a:rPr>
                        <m:t>=15</m:t>
                      </m:r>
                      <m:r>
                        <a:rPr lang="en-US" altLang="zh-CN" sz="1200" b="0" i="1" dirty="0" smtClean="0">
                          <a:latin typeface="Cambria Math" panose="02040503050406030204" pitchFamily="18" charset="0"/>
                        </a:rPr>
                        <m:t>𝑚𝑖𝑛</m:t>
                      </m:r>
                    </m:oMath>
                  </a14:m>
                  <a:r>
                    <a:rPr lang="en-US" altLang="zh-CN" sz="1200" i="1" dirty="0">
                      <a:latin typeface="Cambria Math" panose="02040503050406030204" pitchFamily="18" charset="0"/>
                    </a:rPr>
                    <a:t> </a:t>
                  </a:r>
                  <a:endParaRPr lang="zh-CN" altLang="en-US" sz="1200" i="1" dirty="0"/>
                </a:p>
              </p:txBody>
            </p:sp>
          </mc:Choice>
          <mc:Fallback xmlns="">
            <p:sp>
              <p:nvSpPr>
                <p:cNvPr id="197" name="文本框 196">
                  <a:extLst>
                    <a:ext uri="{FF2B5EF4-FFF2-40B4-BE49-F238E27FC236}">
                      <a16:creationId xmlns:a16="http://schemas.microsoft.com/office/drawing/2014/main" id="{D01C3106-BB88-DE05-A035-3DF0B726D12C}"/>
                    </a:ext>
                  </a:extLst>
                </p:cNvPr>
                <p:cNvSpPr txBox="1">
                  <a:spLocks noRot="1" noChangeAspect="1" noMove="1" noResize="1" noEditPoints="1" noAdjustHandles="1" noChangeArrowheads="1" noChangeShapeType="1" noTextEdit="1"/>
                </p:cNvSpPr>
                <p:nvPr/>
              </p:nvSpPr>
              <p:spPr>
                <a:xfrm>
                  <a:off x="7724064" y="5729030"/>
                  <a:ext cx="2981845" cy="294201"/>
                </a:xfrm>
                <a:prstGeom prst="rect">
                  <a:avLst/>
                </a:prstGeom>
                <a:blipFill>
                  <a:blip r:embed="rId3"/>
                  <a:stretch>
                    <a:fillRect b="-104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8" name="文本框 197">
                  <a:extLst>
                    <a:ext uri="{FF2B5EF4-FFF2-40B4-BE49-F238E27FC236}">
                      <a16:creationId xmlns:a16="http://schemas.microsoft.com/office/drawing/2014/main" id="{7620EDE4-3B7F-94F9-4F83-9E4F79C378A6}"/>
                    </a:ext>
                  </a:extLst>
                </p:cNvPr>
                <p:cNvSpPr txBox="1"/>
                <p:nvPr/>
              </p:nvSpPr>
              <p:spPr>
                <a:xfrm>
                  <a:off x="6597532" y="5910647"/>
                  <a:ext cx="2981845" cy="294201"/>
                </a:xfrm>
                <a:prstGeom prst="rect">
                  <a:avLst/>
                </a:prstGeom>
                <a:noFill/>
              </p:spPr>
              <p:txBody>
                <a:bodyPr wrap="square">
                  <a:spAutoFit/>
                </a:bodyPr>
                <a:lstStyle/>
                <a:p>
                  <a:pPr algn="ctr"/>
                  <a:r>
                    <a:rPr lang="en-US" altLang="zh-CN" sz="1200" i="1" dirty="0">
                      <a:latin typeface="Cambria Math" panose="02040503050406030204" pitchFamily="18" charset="0"/>
                    </a:rPr>
                    <a:t>Long term </a:t>
                  </a:r>
                  <a14:m>
                    <m:oMath xmlns:m="http://schemas.openxmlformats.org/officeDocument/2006/math">
                      <m:r>
                        <a:rPr lang="en-US" altLang="zh-CN" sz="1200" i="1" dirty="0" smtClean="0">
                          <a:latin typeface="Cambria Math" panose="02040503050406030204" pitchFamily="18" charset="0"/>
                        </a:rPr>
                        <m:t>𝛥</m:t>
                      </m:r>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𝑡</m:t>
                          </m:r>
                        </m:e>
                        <m:sub>
                          <m:r>
                            <a:rPr lang="en-US" altLang="zh-CN" sz="1200" b="0" i="1" dirty="0" smtClean="0">
                              <a:latin typeface="Cambria Math" panose="02040503050406030204" pitchFamily="18" charset="0"/>
                            </a:rPr>
                            <m:t>𝑙</m:t>
                          </m:r>
                        </m:sub>
                      </m:sSub>
                      <m:r>
                        <a:rPr lang="en-US" altLang="zh-CN" sz="1200" b="0" i="1" dirty="0" smtClean="0">
                          <a:latin typeface="Cambria Math" panose="02040503050406030204" pitchFamily="18" charset="0"/>
                        </a:rPr>
                        <m:t>=60</m:t>
                      </m:r>
                      <m:r>
                        <a:rPr lang="en-US" altLang="zh-CN" sz="1200" b="0" i="1" dirty="0" smtClean="0">
                          <a:latin typeface="Cambria Math" panose="02040503050406030204" pitchFamily="18" charset="0"/>
                        </a:rPr>
                        <m:t>𝑚𝑖𝑛</m:t>
                      </m:r>
                    </m:oMath>
                  </a14:m>
                  <a:r>
                    <a:rPr lang="en-US" altLang="zh-CN" sz="1200" i="1" dirty="0">
                      <a:latin typeface="Cambria Math" panose="02040503050406030204" pitchFamily="18" charset="0"/>
                    </a:rPr>
                    <a:t> </a:t>
                  </a:r>
                  <a:endParaRPr lang="zh-CN" altLang="en-US" sz="1200" i="1" dirty="0"/>
                </a:p>
              </p:txBody>
            </p:sp>
          </mc:Choice>
          <mc:Fallback xmlns="">
            <p:sp>
              <p:nvSpPr>
                <p:cNvPr id="198" name="文本框 197">
                  <a:extLst>
                    <a:ext uri="{FF2B5EF4-FFF2-40B4-BE49-F238E27FC236}">
                      <a16:creationId xmlns:a16="http://schemas.microsoft.com/office/drawing/2014/main" id="{7620EDE4-3B7F-94F9-4F83-9E4F79C378A6}"/>
                    </a:ext>
                  </a:extLst>
                </p:cNvPr>
                <p:cNvSpPr txBox="1">
                  <a:spLocks noRot="1" noChangeAspect="1" noMove="1" noResize="1" noEditPoints="1" noAdjustHandles="1" noChangeArrowheads="1" noChangeShapeType="1" noTextEdit="1"/>
                </p:cNvSpPr>
                <p:nvPr/>
              </p:nvSpPr>
              <p:spPr>
                <a:xfrm>
                  <a:off x="6597532" y="5910647"/>
                  <a:ext cx="2981845" cy="294201"/>
                </a:xfrm>
                <a:prstGeom prst="rect">
                  <a:avLst/>
                </a:prstGeom>
                <a:blipFill>
                  <a:blip r:embed="rId4"/>
                  <a:stretch>
                    <a:fillRect t="-2083" b="-104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9" name="文本框 198">
                  <a:extLst>
                    <a:ext uri="{FF2B5EF4-FFF2-40B4-BE49-F238E27FC236}">
                      <a16:creationId xmlns:a16="http://schemas.microsoft.com/office/drawing/2014/main" id="{D7201FB9-AA18-FACD-C06B-068F0F0A5905}"/>
                    </a:ext>
                  </a:extLst>
                </p:cNvPr>
                <p:cNvSpPr txBox="1"/>
                <p:nvPr/>
              </p:nvSpPr>
              <p:spPr>
                <a:xfrm>
                  <a:off x="5844766" y="4344190"/>
                  <a:ext cx="2186363" cy="505522"/>
                </a:xfrm>
                <a:prstGeom prst="rect">
                  <a:avLst/>
                </a:prstGeom>
                <a:noFill/>
              </p:spPr>
              <p:txBody>
                <a:bodyPr wrap="square">
                  <a:spAutoFit/>
                </a:bodyPr>
                <a:lstStyle/>
                <a:p>
                  <a:pPr algn="ctr"/>
                  <a:r>
                    <a:rPr lang="en-US" altLang="zh-CN" sz="1200" i="1" dirty="0">
                      <a:latin typeface="Cambria Math" panose="02040503050406030204" pitchFamily="18" charset="0"/>
                    </a:rPr>
                    <a:t>Prediction interval</a:t>
                  </a:r>
                </a:p>
                <a:p>
                  <a:pPr algn="ctr"/>
                  <a14:m>
                    <m:oMathPara xmlns:m="http://schemas.openxmlformats.org/officeDocument/2006/math">
                      <m:oMathParaPr>
                        <m:jc m:val="centerGroup"/>
                      </m:oMathParaPr>
                      <m:oMath xmlns:m="http://schemas.openxmlformats.org/officeDocument/2006/math">
                        <m:r>
                          <a:rPr lang="en-US" altLang="zh-CN" sz="1200" i="1" dirty="0" smtClean="0">
                            <a:latin typeface="Cambria Math" panose="02040503050406030204" pitchFamily="18" charset="0"/>
                          </a:rPr>
                          <m:t>𝛥</m:t>
                        </m:r>
                        <m:sSub>
                          <m:sSubPr>
                            <m:ctrlPr>
                              <a:rPr lang="en-US" altLang="zh-CN" sz="1200" b="0" i="1" dirty="0" smtClean="0">
                                <a:latin typeface="Cambria Math" panose="02040503050406030204" pitchFamily="18" charset="0"/>
                              </a:rPr>
                            </m:ctrlPr>
                          </m:sSubPr>
                          <m:e>
                            <m:r>
                              <a:rPr lang="en-US" altLang="zh-CN" sz="1200" b="0" i="1" dirty="0" smtClean="0">
                                <a:latin typeface="Cambria Math" panose="02040503050406030204" pitchFamily="18" charset="0"/>
                              </a:rPr>
                              <m:t>𝑡</m:t>
                            </m:r>
                          </m:e>
                          <m:sub>
                            <m:r>
                              <a:rPr lang="en-US" altLang="zh-CN" sz="1200" b="0" i="1" dirty="0" smtClean="0">
                                <a:latin typeface="Cambria Math" panose="02040503050406030204" pitchFamily="18" charset="0"/>
                              </a:rPr>
                              <m:t>𝑝𝑟𝑒𝑑</m:t>
                            </m:r>
                            <m:r>
                              <a:rPr lang="en-US" altLang="zh-CN" sz="1200" b="0" i="1" dirty="0" smtClean="0">
                                <a:latin typeface="Cambria Math" panose="02040503050406030204" pitchFamily="18" charset="0"/>
                              </a:rPr>
                              <m:t>_</m:t>
                            </m:r>
                            <m:r>
                              <a:rPr lang="en-US" altLang="zh-CN" sz="1200" b="0" i="1" dirty="0" smtClean="0">
                                <a:latin typeface="Cambria Math" panose="02040503050406030204" pitchFamily="18" charset="0"/>
                              </a:rPr>
                              <m:t>𝑖𝑛𝑡</m:t>
                            </m:r>
                          </m:sub>
                        </m:sSub>
                      </m:oMath>
                    </m:oMathPara>
                  </a14:m>
                  <a:endParaRPr lang="zh-CN" altLang="en-US" sz="1200" i="1" dirty="0"/>
                </a:p>
              </p:txBody>
            </p:sp>
          </mc:Choice>
          <mc:Fallback xmlns="">
            <p:sp>
              <p:nvSpPr>
                <p:cNvPr id="199" name="文本框 198">
                  <a:extLst>
                    <a:ext uri="{FF2B5EF4-FFF2-40B4-BE49-F238E27FC236}">
                      <a16:creationId xmlns:a16="http://schemas.microsoft.com/office/drawing/2014/main" id="{D7201FB9-AA18-FACD-C06B-068F0F0A5905}"/>
                    </a:ext>
                  </a:extLst>
                </p:cNvPr>
                <p:cNvSpPr txBox="1">
                  <a:spLocks noRot="1" noChangeAspect="1" noMove="1" noResize="1" noEditPoints="1" noAdjustHandles="1" noChangeArrowheads="1" noChangeShapeType="1" noTextEdit="1"/>
                </p:cNvSpPr>
                <p:nvPr/>
              </p:nvSpPr>
              <p:spPr>
                <a:xfrm>
                  <a:off x="5844766" y="4344190"/>
                  <a:ext cx="2186363" cy="505522"/>
                </a:xfrm>
                <a:prstGeom prst="rect">
                  <a:avLst/>
                </a:prstGeom>
                <a:blipFill>
                  <a:blip r:embed="rId5"/>
                  <a:stretch>
                    <a:fillRect/>
                  </a:stretch>
                </a:blipFill>
              </p:spPr>
              <p:txBody>
                <a:bodyPr/>
                <a:lstStyle/>
                <a:p>
                  <a:r>
                    <a:rPr lang="zh-CN" altLang="en-US">
                      <a:noFill/>
                    </a:rPr>
                    <a:t> </a:t>
                  </a:r>
                </a:p>
              </p:txBody>
            </p:sp>
          </mc:Fallback>
        </mc:AlternateContent>
        <p:sp>
          <p:nvSpPr>
            <p:cNvPr id="200" name="文本框 199">
              <a:extLst>
                <a:ext uri="{FF2B5EF4-FFF2-40B4-BE49-F238E27FC236}">
                  <a16:creationId xmlns:a16="http://schemas.microsoft.com/office/drawing/2014/main" id="{F2F21A78-AD6F-D28E-0190-477AD6DAAE72}"/>
                </a:ext>
              </a:extLst>
            </p:cNvPr>
            <p:cNvSpPr txBox="1"/>
            <p:nvPr/>
          </p:nvSpPr>
          <p:spPr>
            <a:xfrm>
              <a:off x="9348429" y="4385105"/>
              <a:ext cx="1555111" cy="294201"/>
            </a:xfrm>
            <a:prstGeom prst="rect">
              <a:avLst/>
            </a:prstGeom>
            <a:noFill/>
          </p:spPr>
          <p:txBody>
            <a:bodyPr wrap="square">
              <a:spAutoFit/>
            </a:bodyPr>
            <a:lstStyle/>
            <a:p>
              <a:pPr algn="ctr"/>
              <a:r>
                <a:rPr lang="en-US" altLang="zh-CN" sz="1200" i="1" dirty="0">
                  <a:latin typeface="Cambria Math" panose="02040503050406030204" pitchFamily="18" charset="0"/>
                </a:rPr>
                <a:t>Inference Time</a:t>
              </a:r>
              <a:endParaRPr lang="zh-CN" altLang="en-US" sz="1200" i="1" dirty="0"/>
            </a:p>
          </p:txBody>
        </p:sp>
        <p:cxnSp>
          <p:nvCxnSpPr>
            <p:cNvPr id="201" name="直接连接符 200">
              <a:extLst>
                <a:ext uri="{FF2B5EF4-FFF2-40B4-BE49-F238E27FC236}">
                  <a16:creationId xmlns:a16="http://schemas.microsoft.com/office/drawing/2014/main" id="{E8C80B4B-4D83-D88D-4424-1434B72FB156}"/>
                </a:ext>
              </a:extLst>
            </p:cNvPr>
            <p:cNvCxnSpPr>
              <a:cxnSpLocks/>
            </p:cNvCxnSpPr>
            <p:nvPr/>
          </p:nvCxnSpPr>
          <p:spPr>
            <a:xfrm flipV="1">
              <a:off x="9723092" y="4679306"/>
              <a:ext cx="333560" cy="515615"/>
            </a:xfrm>
            <a:prstGeom prst="line">
              <a:avLst/>
            </a:prstGeom>
          </p:spPr>
          <p:style>
            <a:lnRef idx="1">
              <a:schemeClr val="dk1"/>
            </a:lnRef>
            <a:fillRef idx="0">
              <a:schemeClr val="dk1"/>
            </a:fillRef>
            <a:effectRef idx="0">
              <a:schemeClr val="dk1"/>
            </a:effectRef>
            <a:fontRef idx="minor">
              <a:schemeClr val="tx1"/>
            </a:fontRef>
          </p:style>
        </p:cxnSp>
      </p:grpSp>
      <p:sp>
        <p:nvSpPr>
          <p:cNvPr id="53" name="文本框 52">
            <a:extLst>
              <a:ext uri="{FF2B5EF4-FFF2-40B4-BE49-F238E27FC236}">
                <a16:creationId xmlns:a16="http://schemas.microsoft.com/office/drawing/2014/main" id="{B5085CA1-EFE3-4D90-8902-D9AE97E06E56}"/>
              </a:ext>
            </a:extLst>
          </p:cNvPr>
          <p:cNvSpPr txBox="1"/>
          <p:nvPr/>
        </p:nvSpPr>
        <p:spPr>
          <a:xfrm>
            <a:off x="790214" y="365302"/>
            <a:ext cx="7676053" cy="461665"/>
          </a:xfrm>
          <a:prstGeom prst="rect">
            <a:avLst/>
          </a:prstGeom>
          <a:noFill/>
        </p:spPr>
        <p:txBody>
          <a:bodyPr wrap="square" rtlCol="0">
            <a:spAutoFit/>
          </a:bodyPr>
          <a:lstStyle/>
          <a:p>
            <a:r>
              <a:rPr lang="en-US" altLang="zh-CN" sz="2400" b="1" dirty="0"/>
              <a:t>Data</a:t>
            </a:r>
            <a:r>
              <a:rPr lang="zh-CN" altLang="en-US" sz="2400" b="1" dirty="0"/>
              <a:t> </a:t>
            </a:r>
            <a:r>
              <a:rPr lang="en-US" altLang="zh-CN" sz="2400" b="1" dirty="0"/>
              <a:t>– Event Sequence-Driven Hardware Failure Prediction</a:t>
            </a:r>
          </a:p>
        </p:txBody>
      </p:sp>
      <p:sp>
        <p:nvSpPr>
          <p:cNvPr id="83" name="矩形: 圆角 82">
            <a:extLst>
              <a:ext uri="{FF2B5EF4-FFF2-40B4-BE49-F238E27FC236}">
                <a16:creationId xmlns:a16="http://schemas.microsoft.com/office/drawing/2014/main" id="{3E52798D-9A56-6346-922C-DEA54A627E11}"/>
              </a:ext>
            </a:extLst>
          </p:cNvPr>
          <p:cNvSpPr/>
          <p:nvPr/>
        </p:nvSpPr>
        <p:spPr>
          <a:xfrm>
            <a:off x="466244" y="2195651"/>
            <a:ext cx="11243395" cy="2024635"/>
          </a:xfrm>
          <a:prstGeom prst="roundRect">
            <a:avLst>
              <a:gd name="adj" fmla="val 9056"/>
            </a:avLst>
          </a:prstGeom>
          <a:solidFill>
            <a:srgbClr val="FFE2C8">
              <a:alpha val="5098"/>
            </a:srgbClr>
          </a:solidFill>
          <a:ln>
            <a:solidFill>
              <a:schemeClr val="bg1">
                <a:lumMod val="40000"/>
                <a:lumOff val="60000"/>
              </a:schemeClr>
            </a:solidFill>
          </a:ln>
          <a:effectLst>
            <a:outerShdw blurRad="50800" dist="127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ctr" defTabSz="91438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666666"/>
              </a:solidFill>
              <a:effectLst/>
              <a:uLnTx/>
              <a:uFillTx/>
              <a:latin typeface="Arial"/>
              <a:ea typeface="微软雅黑"/>
              <a:cs typeface="+mn-cs"/>
            </a:endParaRPr>
          </a:p>
        </p:txBody>
      </p:sp>
      <p:cxnSp>
        <p:nvCxnSpPr>
          <p:cNvPr id="84" name="直接箭头连接符 83">
            <a:extLst>
              <a:ext uri="{FF2B5EF4-FFF2-40B4-BE49-F238E27FC236}">
                <a16:creationId xmlns:a16="http://schemas.microsoft.com/office/drawing/2014/main" id="{A0A430BE-8082-5295-1FD6-19E38E65C724}"/>
              </a:ext>
            </a:extLst>
          </p:cNvPr>
          <p:cNvCxnSpPr/>
          <p:nvPr/>
        </p:nvCxnSpPr>
        <p:spPr>
          <a:xfrm>
            <a:off x="1374895" y="3415863"/>
            <a:ext cx="1000664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AC84F6EB-B428-6B65-EE07-7A17EEACAAF4}"/>
              </a:ext>
            </a:extLst>
          </p:cNvPr>
          <p:cNvCxnSpPr>
            <a:cxnSpLocks/>
          </p:cNvCxnSpPr>
          <p:nvPr/>
        </p:nvCxnSpPr>
        <p:spPr>
          <a:xfrm>
            <a:off x="4575295" y="2622233"/>
            <a:ext cx="0" cy="793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8CEB4BE6-FC2D-D459-B0BA-04F1451D4F16}"/>
              </a:ext>
            </a:extLst>
          </p:cNvPr>
          <p:cNvSpPr txBox="1"/>
          <p:nvPr/>
        </p:nvSpPr>
        <p:spPr>
          <a:xfrm>
            <a:off x="4016735" y="2218401"/>
            <a:ext cx="1117120" cy="369332"/>
          </a:xfrm>
          <a:prstGeom prst="rect">
            <a:avLst/>
          </a:prstGeom>
          <a:noFill/>
        </p:spPr>
        <p:txBody>
          <a:bodyPr wrap="square">
            <a:spAutoFit/>
          </a:bodyPr>
          <a:lstStyle/>
          <a:p>
            <a:pPr algn="ctr"/>
            <a:r>
              <a:rPr lang="en-US" altLang="zh-CN" sz="1800" dirty="0">
                <a:latin typeface="+mn-ea"/>
              </a:rPr>
              <a:t>Present</a:t>
            </a:r>
            <a:endParaRPr lang="zh-CN" altLang="en-US" dirty="0"/>
          </a:p>
        </p:txBody>
      </p:sp>
      <p:sp>
        <p:nvSpPr>
          <p:cNvPr id="87" name="文本框 86">
            <a:extLst>
              <a:ext uri="{FF2B5EF4-FFF2-40B4-BE49-F238E27FC236}">
                <a16:creationId xmlns:a16="http://schemas.microsoft.com/office/drawing/2014/main" id="{E5512F9C-6CDF-295E-34E3-9F06CE897064}"/>
              </a:ext>
            </a:extLst>
          </p:cNvPr>
          <p:cNvSpPr txBox="1"/>
          <p:nvPr/>
        </p:nvSpPr>
        <p:spPr>
          <a:xfrm>
            <a:off x="2333105" y="2218401"/>
            <a:ext cx="1117120" cy="369332"/>
          </a:xfrm>
          <a:prstGeom prst="rect">
            <a:avLst/>
          </a:prstGeom>
          <a:noFill/>
        </p:spPr>
        <p:txBody>
          <a:bodyPr wrap="square">
            <a:spAutoFit/>
          </a:bodyPr>
          <a:lstStyle/>
          <a:p>
            <a:pPr algn="ctr"/>
            <a:r>
              <a:rPr lang="en-US" altLang="zh-CN" sz="1800" dirty="0">
                <a:latin typeface="+mn-ea"/>
              </a:rPr>
              <a:t>Past</a:t>
            </a:r>
            <a:endParaRPr lang="zh-CN" altLang="en-US" dirty="0"/>
          </a:p>
        </p:txBody>
      </p:sp>
      <p:sp>
        <p:nvSpPr>
          <p:cNvPr id="88" name="文本框 87">
            <a:extLst>
              <a:ext uri="{FF2B5EF4-FFF2-40B4-BE49-F238E27FC236}">
                <a16:creationId xmlns:a16="http://schemas.microsoft.com/office/drawing/2014/main" id="{381C2A2C-813C-B342-0B49-08A67B2BA360}"/>
              </a:ext>
            </a:extLst>
          </p:cNvPr>
          <p:cNvSpPr txBox="1"/>
          <p:nvPr/>
        </p:nvSpPr>
        <p:spPr>
          <a:xfrm>
            <a:off x="7163144" y="2218401"/>
            <a:ext cx="1117120" cy="369332"/>
          </a:xfrm>
          <a:prstGeom prst="rect">
            <a:avLst/>
          </a:prstGeom>
          <a:noFill/>
        </p:spPr>
        <p:txBody>
          <a:bodyPr wrap="square">
            <a:spAutoFit/>
          </a:bodyPr>
          <a:lstStyle/>
          <a:p>
            <a:pPr algn="ctr"/>
            <a:r>
              <a:rPr lang="en-US" altLang="zh-CN" sz="1800" dirty="0">
                <a:latin typeface="+mn-ea"/>
              </a:rPr>
              <a:t>Future</a:t>
            </a:r>
            <a:endParaRPr lang="zh-CN" altLang="en-US" dirty="0"/>
          </a:p>
        </p:txBody>
      </p:sp>
      <p:grpSp>
        <p:nvGrpSpPr>
          <p:cNvPr id="89" name="组合 88">
            <a:extLst>
              <a:ext uri="{FF2B5EF4-FFF2-40B4-BE49-F238E27FC236}">
                <a16:creationId xmlns:a16="http://schemas.microsoft.com/office/drawing/2014/main" id="{07C1E073-3C24-95AA-A785-26CAD6AE9AE0}"/>
              </a:ext>
            </a:extLst>
          </p:cNvPr>
          <p:cNvGrpSpPr/>
          <p:nvPr/>
        </p:nvGrpSpPr>
        <p:grpSpPr>
          <a:xfrm>
            <a:off x="2310247" y="2958668"/>
            <a:ext cx="8310927" cy="457195"/>
            <a:chOff x="1867005" y="1811547"/>
            <a:chExt cx="8310927" cy="457195"/>
          </a:xfrm>
        </p:grpSpPr>
        <p:cxnSp>
          <p:nvCxnSpPr>
            <p:cNvPr id="90" name="直接连接符 89">
              <a:extLst>
                <a:ext uri="{FF2B5EF4-FFF2-40B4-BE49-F238E27FC236}">
                  <a16:creationId xmlns:a16="http://schemas.microsoft.com/office/drawing/2014/main" id="{A9675680-F9E8-F67D-235D-329D9601EF5E}"/>
                </a:ext>
              </a:extLst>
            </p:cNvPr>
            <p:cNvCxnSpPr>
              <a:cxnSpLocks/>
            </p:cNvCxnSpPr>
            <p:nvPr/>
          </p:nvCxnSpPr>
          <p:spPr>
            <a:xfrm>
              <a:off x="5644700"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38333048-3AE0-6ADD-F6CA-9416781EF03E}"/>
                </a:ext>
              </a:extLst>
            </p:cNvPr>
            <p:cNvCxnSpPr>
              <a:cxnSpLocks/>
            </p:cNvCxnSpPr>
            <p:nvPr/>
          </p:nvCxnSpPr>
          <p:spPr>
            <a:xfrm>
              <a:off x="6400239"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5862165D-D4B6-B370-5DE6-86DC744E53E8}"/>
                </a:ext>
              </a:extLst>
            </p:cNvPr>
            <p:cNvCxnSpPr>
              <a:cxnSpLocks/>
            </p:cNvCxnSpPr>
            <p:nvPr/>
          </p:nvCxnSpPr>
          <p:spPr>
            <a:xfrm>
              <a:off x="7155778"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12E6C860-5DDF-CFD0-EF31-98DA1CAAF560}"/>
                </a:ext>
              </a:extLst>
            </p:cNvPr>
            <p:cNvCxnSpPr>
              <a:cxnSpLocks/>
            </p:cNvCxnSpPr>
            <p:nvPr/>
          </p:nvCxnSpPr>
          <p:spPr>
            <a:xfrm>
              <a:off x="7911317"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A731D7A9-0F3B-33E3-CCF5-EF91241549B7}"/>
                </a:ext>
              </a:extLst>
            </p:cNvPr>
            <p:cNvCxnSpPr>
              <a:cxnSpLocks/>
            </p:cNvCxnSpPr>
            <p:nvPr/>
          </p:nvCxnSpPr>
          <p:spPr>
            <a:xfrm>
              <a:off x="8666856"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8DA0132F-389F-636E-ECD9-17FC27162E6A}"/>
                </a:ext>
              </a:extLst>
            </p:cNvPr>
            <p:cNvCxnSpPr>
              <a:cxnSpLocks/>
            </p:cNvCxnSpPr>
            <p:nvPr/>
          </p:nvCxnSpPr>
          <p:spPr>
            <a:xfrm>
              <a:off x="9422395"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BFE0A73D-E939-ECF8-D09D-347DA16B3461}"/>
                </a:ext>
              </a:extLst>
            </p:cNvPr>
            <p:cNvCxnSpPr>
              <a:cxnSpLocks/>
            </p:cNvCxnSpPr>
            <p:nvPr/>
          </p:nvCxnSpPr>
          <p:spPr>
            <a:xfrm>
              <a:off x="4133622"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195A5E60-196C-0C9A-A1C6-B59E44EFC152}"/>
                </a:ext>
              </a:extLst>
            </p:cNvPr>
            <p:cNvCxnSpPr>
              <a:cxnSpLocks/>
            </p:cNvCxnSpPr>
            <p:nvPr/>
          </p:nvCxnSpPr>
          <p:spPr>
            <a:xfrm>
              <a:off x="4889161"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43A36C8F-BD5D-EAD0-769E-F2A29C3B298E}"/>
                </a:ext>
              </a:extLst>
            </p:cNvPr>
            <p:cNvCxnSpPr>
              <a:cxnSpLocks/>
            </p:cNvCxnSpPr>
            <p:nvPr/>
          </p:nvCxnSpPr>
          <p:spPr>
            <a:xfrm>
              <a:off x="3378083"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78091985-A048-6102-1173-5B8318F6E98D}"/>
                </a:ext>
              </a:extLst>
            </p:cNvPr>
            <p:cNvCxnSpPr>
              <a:cxnSpLocks/>
            </p:cNvCxnSpPr>
            <p:nvPr/>
          </p:nvCxnSpPr>
          <p:spPr>
            <a:xfrm>
              <a:off x="2622544"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1C8F5A7F-CFB5-FE7D-DAB1-4A3A3C64BEE3}"/>
                </a:ext>
              </a:extLst>
            </p:cNvPr>
            <p:cNvCxnSpPr>
              <a:cxnSpLocks/>
            </p:cNvCxnSpPr>
            <p:nvPr/>
          </p:nvCxnSpPr>
          <p:spPr>
            <a:xfrm>
              <a:off x="1867005"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FC4316EA-10AF-6D79-895C-0A17E3371432}"/>
                </a:ext>
              </a:extLst>
            </p:cNvPr>
            <p:cNvCxnSpPr>
              <a:cxnSpLocks/>
            </p:cNvCxnSpPr>
            <p:nvPr/>
          </p:nvCxnSpPr>
          <p:spPr>
            <a:xfrm>
              <a:off x="10177932"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2" name="直接箭头连接符 101">
            <a:extLst>
              <a:ext uri="{FF2B5EF4-FFF2-40B4-BE49-F238E27FC236}">
                <a16:creationId xmlns:a16="http://schemas.microsoft.com/office/drawing/2014/main" id="{238BE589-6CFC-67F4-A6BD-3E31E1A9C60A}"/>
              </a:ext>
            </a:extLst>
          </p:cNvPr>
          <p:cNvCxnSpPr>
            <a:cxnSpLocks/>
          </p:cNvCxnSpPr>
          <p:nvPr/>
        </p:nvCxnSpPr>
        <p:spPr>
          <a:xfrm>
            <a:off x="9865637" y="2889656"/>
            <a:ext cx="755537"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 name="文本框 102">
                <a:extLst>
                  <a:ext uri="{FF2B5EF4-FFF2-40B4-BE49-F238E27FC236}">
                    <a16:creationId xmlns:a16="http://schemas.microsoft.com/office/drawing/2014/main" id="{B6AD3C5B-F840-516F-7850-CDFA303952AD}"/>
                  </a:ext>
                </a:extLst>
              </p:cNvPr>
              <p:cNvSpPr txBox="1"/>
              <p:nvPr/>
            </p:nvSpPr>
            <p:spPr>
              <a:xfrm>
                <a:off x="9150223" y="2343018"/>
                <a:ext cx="2186363" cy="539828"/>
              </a:xfrm>
              <a:prstGeom prst="rect">
                <a:avLst/>
              </a:prstGeom>
              <a:noFill/>
            </p:spPr>
            <p:txBody>
              <a:bodyPr wrap="square">
                <a:spAutoFit/>
              </a:bodyPr>
              <a:lstStyle/>
              <a:p>
                <a:pPr algn="ctr"/>
                <a:r>
                  <a:rPr lang="en-US" altLang="zh-CN" sz="1400" i="1" dirty="0">
                    <a:latin typeface="Cambria Math" panose="02040503050406030204" pitchFamily="18" charset="0"/>
                  </a:rPr>
                  <a:t>Prediction interval</a:t>
                </a:r>
              </a:p>
              <a:p>
                <a:pPr algn="ct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rPr>
                        <m:t>𝛥</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𝑡</m:t>
                          </m:r>
                        </m:e>
                        <m:sub>
                          <m:r>
                            <a:rPr lang="en-US" altLang="zh-CN" sz="1400" b="0" i="1" dirty="0" smtClean="0">
                              <a:latin typeface="Cambria Math" panose="02040503050406030204" pitchFamily="18" charset="0"/>
                            </a:rPr>
                            <m:t>𝑝𝑟𝑒𝑑</m:t>
                          </m:r>
                          <m:r>
                            <a:rPr lang="en-US" altLang="zh-CN" sz="1400" b="0" i="1" dirty="0" smtClean="0">
                              <a:latin typeface="Cambria Math" panose="02040503050406030204" pitchFamily="18" charset="0"/>
                            </a:rPr>
                            <m:t>_</m:t>
                          </m:r>
                          <m:r>
                            <a:rPr lang="en-US" altLang="zh-CN" sz="1400" b="0" i="1" dirty="0" smtClean="0">
                              <a:latin typeface="Cambria Math" panose="02040503050406030204" pitchFamily="18" charset="0"/>
                            </a:rPr>
                            <m:t>𝑖𝑛𝑡</m:t>
                          </m:r>
                        </m:sub>
                      </m:sSub>
                    </m:oMath>
                  </m:oMathPara>
                </a14:m>
                <a:endParaRPr lang="zh-CN" altLang="en-US" sz="1400" i="1" dirty="0"/>
              </a:p>
            </p:txBody>
          </p:sp>
        </mc:Choice>
        <mc:Fallback xmlns="">
          <p:sp>
            <p:nvSpPr>
              <p:cNvPr id="103" name="文本框 102">
                <a:extLst>
                  <a:ext uri="{FF2B5EF4-FFF2-40B4-BE49-F238E27FC236}">
                    <a16:creationId xmlns:a16="http://schemas.microsoft.com/office/drawing/2014/main" id="{B6AD3C5B-F840-516F-7850-CDFA303952AD}"/>
                  </a:ext>
                </a:extLst>
              </p:cNvPr>
              <p:cNvSpPr txBox="1">
                <a:spLocks noRot="1" noChangeAspect="1" noMove="1" noResize="1" noEditPoints="1" noAdjustHandles="1" noChangeArrowheads="1" noChangeShapeType="1" noTextEdit="1"/>
              </p:cNvSpPr>
              <p:nvPr/>
            </p:nvSpPr>
            <p:spPr>
              <a:xfrm>
                <a:off x="9150223" y="2343018"/>
                <a:ext cx="2186363" cy="539828"/>
              </a:xfrm>
              <a:prstGeom prst="rect">
                <a:avLst/>
              </a:prstGeom>
              <a:blipFill>
                <a:blip r:embed="rId6"/>
                <a:stretch>
                  <a:fillRect t="-2247" b="-11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4" name="文本框 103">
                <a:extLst>
                  <a:ext uri="{FF2B5EF4-FFF2-40B4-BE49-F238E27FC236}">
                    <a16:creationId xmlns:a16="http://schemas.microsoft.com/office/drawing/2014/main" id="{FCC946DB-60CE-038A-97D3-D71A663016DD}"/>
                  </a:ext>
                </a:extLst>
              </p:cNvPr>
              <p:cNvSpPr txBox="1"/>
              <p:nvPr/>
            </p:nvSpPr>
            <p:spPr>
              <a:xfrm>
                <a:off x="7025595" y="2634497"/>
                <a:ext cx="2186363" cy="539828"/>
              </a:xfrm>
              <a:prstGeom prst="rect">
                <a:avLst/>
              </a:prstGeom>
              <a:noFill/>
            </p:spPr>
            <p:txBody>
              <a:bodyPr wrap="square">
                <a:spAutoFit/>
              </a:bodyPr>
              <a:lstStyle/>
              <a:p>
                <a:pPr algn="ctr"/>
                <a:r>
                  <a:rPr lang="en-US" altLang="zh-CN" sz="1400" i="1" dirty="0">
                    <a:solidFill>
                      <a:schemeClr val="accent1"/>
                    </a:solidFill>
                    <a:latin typeface="Cambria Math" panose="02040503050406030204" pitchFamily="18" charset="0"/>
                  </a:rPr>
                  <a:t>Failure time</a:t>
                </a:r>
              </a:p>
              <a:p>
                <a:pPr algn="ctr"/>
                <a14:m>
                  <m:oMathPara xmlns:m="http://schemas.openxmlformats.org/officeDocument/2006/math">
                    <m:oMathParaPr>
                      <m:jc m:val="centerGroup"/>
                    </m:oMathParaPr>
                    <m:oMath xmlns:m="http://schemas.openxmlformats.org/officeDocument/2006/math">
                      <m:sSub>
                        <m:sSubPr>
                          <m:ctrlPr>
                            <a:rPr lang="en-US" altLang="zh-CN" sz="1400" b="0" i="1" smtClean="0">
                              <a:solidFill>
                                <a:schemeClr val="accent1"/>
                              </a:solidFill>
                              <a:latin typeface="Cambria Math" panose="02040503050406030204" pitchFamily="18" charset="0"/>
                            </a:rPr>
                          </m:ctrlPr>
                        </m:sSubPr>
                        <m:e>
                          <m:r>
                            <a:rPr lang="en-US" altLang="zh-CN" sz="1400" b="0" i="1" smtClean="0">
                              <a:solidFill>
                                <a:schemeClr val="accent1"/>
                              </a:solidFill>
                              <a:latin typeface="Cambria Math" panose="02040503050406030204" pitchFamily="18" charset="0"/>
                            </a:rPr>
                            <m:t>𝑡</m:t>
                          </m:r>
                        </m:e>
                        <m:sub>
                          <m:r>
                            <a:rPr lang="en-US" altLang="zh-CN" sz="1400" b="0" i="1" smtClean="0">
                              <a:solidFill>
                                <a:schemeClr val="accent1"/>
                              </a:solidFill>
                              <a:latin typeface="Cambria Math" panose="02040503050406030204" pitchFamily="18" charset="0"/>
                            </a:rPr>
                            <m:t>𝑓𝑎𝑖𝑙</m:t>
                          </m:r>
                        </m:sub>
                      </m:sSub>
                    </m:oMath>
                  </m:oMathPara>
                </a14:m>
                <a:endParaRPr lang="zh-CN" altLang="en-US" sz="1400" i="1" dirty="0">
                  <a:solidFill>
                    <a:schemeClr val="accent1"/>
                  </a:solidFill>
                </a:endParaRPr>
              </a:p>
            </p:txBody>
          </p:sp>
        </mc:Choice>
        <mc:Fallback xmlns="">
          <p:sp>
            <p:nvSpPr>
              <p:cNvPr id="104" name="文本框 103">
                <a:extLst>
                  <a:ext uri="{FF2B5EF4-FFF2-40B4-BE49-F238E27FC236}">
                    <a16:creationId xmlns:a16="http://schemas.microsoft.com/office/drawing/2014/main" id="{FCC946DB-60CE-038A-97D3-D71A663016DD}"/>
                  </a:ext>
                </a:extLst>
              </p:cNvPr>
              <p:cNvSpPr txBox="1">
                <a:spLocks noRot="1" noChangeAspect="1" noMove="1" noResize="1" noEditPoints="1" noAdjustHandles="1" noChangeArrowheads="1" noChangeShapeType="1" noTextEdit="1"/>
              </p:cNvSpPr>
              <p:nvPr/>
            </p:nvSpPr>
            <p:spPr>
              <a:xfrm>
                <a:off x="7025595" y="2634497"/>
                <a:ext cx="2186363" cy="539828"/>
              </a:xfrm>
              <a:prstGeom prst="rect">
                <a:avLst/>
              </a:prstGeom>
              <a:blipFill>
                <a:blip r:embed="rId7"/>
                <a:stretch>
                  <a:fillRect t="-3371" b="-11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5" name="文本框 104">
                <a:extLst>
                  <a:ext uri="{FF2B5EF4-FFF2-40B4-BE49-F238E27FC236}">
                    <a16:creationId xmlns:a16="http://schemas.microsoft.com/office/drawing/2014/main" id="{642F631C-F257-90D3-7FC9-2FEB88ED25C3}"/>
                  </a:ext>
                </a:extLst>
              </p:cNvPr>
              <p:cNvSpPr txBox="1"/>
              <p:nvPr/>
            </p:nvSpPr>
            <p:spPr>
              <a:xfrm>
                <a:off x="341043" y="3231197"/>
                <a:ext cx="1117120"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𝑆𝑁</m:t>
                      </m:r>
                      <m:r>
                        <a:rPr lang="en-US" altLang="zh-CN" sz="1800" i="1" dirty="0" smtClean="0">
                          <a:latin typeface="Cambria Math" panose="02040503050406030204" pitchFamily="18" charset="0"/>
                        </a:rPr>
                        <m:t>_</m:t>
                      </m:r>
                      <m:r>
                        <a:rPr lang="en-US" altLang="zh-CN" sz="1800" i="1" dirty="0" smtClean="0">
                          <a:latin typeface="Cambria Math" panose="02040503050406030204" pitchFamily="18" charset="0"/>
                        </a:rPr>
                        <m:t>𝑠</m:t>
                      </m:r>
                    </m:oMath>
                  </m:oMathPara>
                </a14:m>
                <a:endParaRPr lang="zh-CN" altLang="en-US" dirty="0"/>
              </a:p>
            </p:txBody>
          </p:sp>
        </mc:Choice>
        <mc:Fallback xmlns="">
          <p:sp>
            <p:nvSpPr>
              <p:cNvPr id="105" name="文本框 104">
                <a:extLst>
                  <a:ext uri="{FF2B5EF4-FFF2-40B4-BE49-F238E27FC236}">
                    <a16:creationId xmlns:a16="http://schemas.microsoft.com/office/drawing/2014/main" id="{642F631C-F257-90D3-7FC9-2FEB88ED25C3}"/>
                  </a:ext>
                </a:extLst>
              </p:cNvPr>
              <p:cNvSpPr txBox="1">
                <a:spLocks noRot="1" noChangeAspect="1" noMove="1" noResize="1" noEditPoints="1" noAdjustHandles="1" noChangeArrowheads="1" noChangeShapeType="1" noTextEdit="1"/>
              </p:cNvSpPr>
              <p:nvPr/>
            </p:nvSpPr>
            <p:spPr>
              <a:xfrm>
                <a:off x="341043" y="3231197"/>
                <a:ext cx="1117120" cy="369332"/>
              </a:xfrm>
              <a:prstGeom prst="rect">
                <a:avLst/>
              </a:prstGeom>
              <a:blipFill>
                <a:blip r:embed="rId8"/>
                <a:stretch>
                  <a:fillRect/>
                </a:stretch>
              </a:blipFill>
            </p:spPr>
            <p:txBody>
              <a:bodyPr/>
              <a:lstStyle/>
              <a:p>
                <a:r>
                  <a:rPr lang="zh-CN" altLang="en-US">
                    <a:noFill/>
                  </a:rPr>
                  <a:t> </a:t>
                </a:r>
              </a:p>
            </p:txBody>
          </p:sp>
        </mc:Fallback>
      </mc:AlternateContent>
      <p:cxnSp>
        <p:nvCxnSpPr>
          <p:cNvPr id="106" name="直接连接符 105">
            <a:extLst>
              <a:ext uri="{FF2B5EF4-FFF2-40B4-BE49-F238E27FC236}">
                <a16:creationId xmlns:a16="http://schemas.microsoft.com/office/drawing/2014/main" id="{69466099-D079-44EA-443D-22D3A14589BF}"/>
              </a:ext>
            </a:extLst>
          </p:cNvPr>
          <p:cNvCxnSpPr>
            <a:cxnSpLocks/>
          </p:cNvCxnSpPr>
          <p:nvPr/>
        </p:nvCxnSpPr>
        <p:spPr>
          <a:xfrm>
            <a:off x="8118777" y="3187264"/>
            <a:ext cx="0" cy="228598"/>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107" name="组合 106">
            <a:extLst>
              <a:ext uri="{FF2B5EF4-FFF2-40B4-BE49-F238E27FC236}">
                <a16:creationId xmlns:a16="http://schemas.microsoft.com/office/drawing/2014/main" id="{9339D0A6-52EF-B890-1DBB-E1E17E3749DD}"/>
              </a:ext>
            </a:extLst>
          </p:cNvPr>
          <p:cNvGrpSpPr/>
          <p:nvPr/>
        </p:nvGrpSpPr>
        <p:grpSpPr>
          <a:xfrm>
            <a:off x="1770722" y="3214895"/>
            <a:ext cx="7954388" cy="200968"/>
            <a:chOff x="1663909" y="2067774"/>
            <a:chExt cx="7954388" cy="200968"/>
          </a:xfrm>
        </p:grpSpPr>
        <p:sp>
          <p:nvSpPr>
            <p:cNvPr id="108" name="等腰三角形 107">
              <a:extLst>
                <a:ext uri="{FF2B5EF4-FFF2-40B4-BE49-F238E27FC236}">
                  <a16:creationId xmlns:a16="http://schemas.microsoft.com/office/drawing/2014/main" id="{1FE38AC8-74A9-BA3D-39D8-4EC7A4724749}"/>
                </a:ext>
              </a:extLst>
            </p:cNvPr>
            <p:cNvSpPr/>
            <p:nvPr/>
          </p:nvSpPr>
          <p:spPr>
            <a:xfrm>
              <a:off x="1663909"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09" name="等腰三角形 108">
              <a:extLst>
                <a:ext uri="{FF2B5EF4-FFF2-40B4-BE49-F238E27FC236}">
                  <a16:creationId xmlns:a16="http://schemas.microsoft.com/office/drawing/2014/main" id="{16BEDF44-AA89-48FD-E277-BE3B43BDE9EB}"/>
                </a:ext>
              </a:extLst>
            </p:cNvPr>
            <p:cNvSpPr/>
            <p:nvPr/>
          </p:nvSpPr>
          <p:spPr>
            <a:xfrm>
              <a:off x="1974685"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0" name="等腰三角形 109">
              <a:extLst>
                <a:ext uri="{FF2B5EF4-FFF2-40B4-BE49-F238E27FC236}">
                  <a16:creationId xmlns:a16="http://schemas.microsoft.com/office/drawing/2014/main" id="{1CDCBF3F-570F-0EC2-92FB-2C620F7C065F}"/>
                </a:ext>
              </a:extLst>
            </p:cNvPr>
            <p:cNvSpPr/>
            <p:nvPr/>
          </p:nvSpPr>
          <p:spPr>
            <a:xfrm>
              <a:off x="2452370"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1" name="等腰三角形 110">
              <a:extLst>
                <a:ext uri="{FF2B5EF4-FFF2-40B4-BE49-F238E27FC236}">
                  <a16:creationId xmlns:a16="http://schemas.microsoft.com/office/drawing/2014/main" id="{ECFA479A-C371-EE2E-392E-DA8AD14EC4C7}"/>
                </a:ext>
              </a:extLst>
            </p:cNvPr>
            <p:cNvSpPr/>
            <p:nvPr/>
          </p:nvSpPr>
          <p:spPr>
            <a:xfrm>
              <a:off x="3418838"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2" name="等腰三角形 111">
              <a:extLst>
                <a:ext uri="{FF2B5EF4-FFF2-40B4-BE49-F238E27FC236}">
                  <a16:creationId xmlns:a16="http://schemas.microsoft.com/office/drawing/2014/main" id="{AA6CF664-830D-1579-9FF3-6CBF80DC145A}"/>
                </a:ext>
              </a:extLst>
            </p:cNvPr>
            <p:cNvSpPr/>
            <p:nvPr/>
          </p:nvSpPr>
          <p:spPr>
            <a:xfrm>
              <a:off x="4011906"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113" name="等腰三角形 112">
              <a:extLst>
                <a:ext uri="{FF2B5EF4-FFF2-40B4-BE49-F238E27FC236}">
                  <a16:creationId xmlns:a16="http://schemas.microsoft.com/office/drawing/2014/main" id="{63EF5709-27EB-7831-94E7-A28372D2B384}"/>
                </a:ext>
              </a:extLst>
            </p:cNvPr>
            <p:cNvSpPr/>
            <p:nvPr/>
          </p:nvSpPr>
          <p:spPr>
            <a:xfrm>
              <a:off x="4755024"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4" name="等腰三角形 113">
              <a:extLst>
                <a:ext uri="{FF2B5EF4-FFF2-40B4-BE49-F238E27FC236}">
                  <a16:creationId xmlns:a16="http://schemas.microsoft.com/office/drawing/2014/main" id="{ADEAC9C9-A89F-DA67-CE74-9FDAA6308D74}"/>
                </a:ext>
              </a:extLst>
            </p:cNvPr>
            <p:cNvSpPr/>
            <p:nvPr/>
          </p:nvSpPr>
          <p:spPr>
            <a:xfrm>
              <a:off x="5709776"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5" name="等腰三角形 114">
              <a:extLst>
                <a:ext uri="{FF2B5EF4-FFF2-40B4-BE49-F238E27FC236}">
                  <a16:creationId xmlns:a16="http://schemas.microsoft.com/office/drawing/2014/main" id="{CA39AF09-7023-EEB9-508B-33F51373CDAF}"/>
                </a:ext>
              </a:extLst>
            </p:cNvPr>
            <p:cNvSpPr/>
            <p:nvPr/>
          </p:nvSpPr>
          <p:spPr>
            <a:xfrm>
              <a:off x="6970068"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sp>
          <p:nvSpPr>
            <p:cNvPr id="116" name="等腰三角形 115">
              <a:extLst>
                <a:ext uri="{FF2B5EF4-FFF2-40B4-BE49-F238E27FC236}">
                  <a16:creationId xmlns:a16="http://schemas.microsoft.com/office/drawing/2014/main" id="{6801D8BF-4E9C-0935-C92D-B3F2D1FE9DB9}"/>
                </a:ext>
              </a:extLst>
            </p:cNvPr>
            <p:cNvSpPr/>
            <p:nvPr/>
          </p:nvSpPr>
          <p:spPr>
            <a:xfrm>
              <a:off x="3303758"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7" name="等腰三角形 116">
              <a:extLst>
                <a:ext uri="{FF2B5EF4-FFF2-40B4-BE49-F238E27FC236}">
                  <a16:creationId xmlns:a16="http://schemas.microsoft.com/office/drawing/2014/main" id="{479A7C9C-AEF9-26EC-8007-D0939B18FB85}"/>
                </a:ext>
              </a:extLst>
            </p:cNvPr>
            <p:cNvSpPr/>
            <p:nvPr/>
          </p:nvSpPr>
          <p:spPr>
            <a:xfrm>
              <a:off x="8074169"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8" name="等腰三角形 117">
              <a:extLst>
                <a:ext uri="{FF2B5EF4-FFF2-40B4-BE49-F238E27FC236}">
                  <a16:creationId xmlns:a16="http://schemas.microsoft.com/office/drawing/2014/main" id="{AFA1290A-FD22-9966-DE1E-B6BD1AF478D0}"/>
                </a:ext>
              </a:extLst>
            </p:cNvPr>
            <p:cNvSpPr/>
            <p:nvPr/>
          </p:nvSpPr>
          <p:spPr>
            <a:xfrm>
              <a:off x="9532034"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9" name="等腰三角形 118">
              <a:extLst>
                <a:ext uri="{FF2B5EF4-FFF2-40B4-BE49-F238E27FC236}">
                  <a16:creationId xmlns:a16="http://schemas.microsoft.com/office/drawing/2014/main" id="{B1A2B867-6451-164D-7610-1B020453BF99}"/>
                </a:ext>
              </a:extLst>
            </p:cNvPr>
            <p:cNvSpPr/>
            <p:nvPr/>
          </p:nvSpPr>
          <p:spPr>
            <a:xfrm>
              <a:off x="5335763"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0" name="等腰三角形 119">
              <a:extLst>
                <a:ext uri="{FF2B5EF4-FFF2-40B4-BE49-F238E27FC236}">
                  <a16:creationId xmlns:a16="http://schemas.microsoft.com/office/drawing/2014/main" id="{FD79853F-C55D-CC7A-0D8D-B8CBF480B3B4}"/>
                </a:ext>
              </a:extLst>
            </p:cNvPr>
            <p:cNvSpPr/>
            <p:nvPr/>
          </p:nvSpPr>
          <p:spPr>
            <a:xfrm>
              <a:off x="6561488" y="2067774"/>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sp>
        <p:nvSpPr>
          <p:cNvPr id="121" name="左大括号 120">
            <a:extLst>
              <a:ext uri="{FF2B5EF4-FFF2-40B4-BE49-F238E27FC236}">
                <a16:creationId xmlns:a16="http://schemas.microsoft.com/office/drawing/2014/main" id="{4C051886-638E-866F-DB2D-7147315ED99E}"/>
              </a:ext>
            </a:extLst>
          </p:cNvPr>
          <p:cNvSpPr/>
          <p:nvPr/>
        </p:nvSpPr>
        <p:spPr>
          <a:xfrm rot="16200000">
            <a:off x="4566726" y="3114295"/>
            <a:ext cx="165989" cy="972006"/>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2" name="文本框 121">
                <a:extLst>
                  <a:ext uri="{FF2B5EF4-FFF2-40B4-BE49-F238E27FC236}">
                    <a16:creationId xmlns:a16="http://schemas.microsoft.com/office/drawing/2014/main" id="{F923C9F1-7044-CE00-B111-F8E88BC0D53F}"/>
                  </a:ext>
                </a:extLst>
              </p:cNvPr>
              <p:cNvSpPr txBox="1"/>
              <p:nvPr/>
            </p:nvSpPr>
            <p:spPr>
              <a:xfrm>
                <a:off x="3068669" y="2634497"/>
                <a:ext cx="2186363" cy="523220"/>
              </a:xfrm>
              <a:prstGeom prst="rect">
                <a:avLst/>
              </a:prstGeom>
              <a:noFill/>
            </p:spPr>
            <p:txBody>
              <a:bodyPr wrap="square">
                <a:spAutoFit/>
              </a:bodyPr>
              <a:lstStyle/>
              <a:p>
                <a:pPr algn="ctr"/>
                <a:r>
                  <a:rPr lang="en-US" altLang="zh-CN" sz="1400" i="1" dirty="0">
                    <a:solidFill>
                      <a:schemeClr val="accent1"/>
                    </a:solidFill>
                    <a:latin typeface="Cambria Math" panose="02040503050406030204" pitchFamily="18" charset="0"/>
                  </a:rPr>
                  <a:t>ith CE</a:t>
                </a:r>
              </a:p>
              <a:p>
                <a:pPr algn="ctr"/>
                <a14:m>
                  <m:oMathPara xmlns:m="http://schemas.openxmlformats.org/officeDocument/2006/math">
                    <m:oMathParaPr>
                      <m:jc m:val="centerGroup"/>
                    </m:oMathParaPr>
                    <m:oMath xmlns:m="http://schemas.openxmlformats.org/officeDocument/2006/math">
                      <m:sSub>
                        <m:sSubPr>
                          <m:ctrlPr>
                            <a:rPr lang="en-US" altLang="zh-CN" sz="1400" i="1" dirty="0" smtClean="0">
                              <a:solidFill>
                                <a:schemeClr val="accent1"/>
                              </a:solidFill>
                              <a:latin typeface="Cambria Math" panose="02040503050406030204" pitchFamily="18" charset="0"/>
                            </a:rPr>
                          </m:ctrlPr>
                        </m:sSubPr>
                        <m:e>
                          <m:r>
                            <a:rPr lang="en-US" altLang="zh-CN" sz="1400" i="1" dirty="0" smtClean="0">
                              <a:solidFill>
                                <a:schemeClr val="accent1"/>
                              </a:solidFill>
                              <a:latin typeface="Cambria Math" panose="02040503050406030204" pitchFamily="18" charset="0"/>
                            </a:rPr>
                            <m:t>𝑡</m:t>
                          </m:r>
                        </m:e>
                        <m:sub>
                          <m:r>
                            <a:rPr lang="en-US" altLang="zh-CN" sz="1400" i="1" dirty="0" smtClean="0">
                              <a:solidFill>
                                <a:schemeClr val="accent1"/>
                              </a:solidFill>
                              <a:latin typeface="Cambria Math" panose="02040503050406030204" pitchFamily="18" charset="0"/>
                            </a:rPr>
                            <m:t>𝑖</m:t>
                          </m:r>
                        </m:sub>
                      </m:sSub>
                    </m:oMath>
                  </m:oMathPara>
                </a14:m>
                <a:endParaRPr lang="zh-CN" altLang="en-US" sz="1400" i="1" dirty="0">
                  <a:solidFill>
                    <a:schemeClr val="accent1"/>
                  </a:solidFill>
                </a:endParaRPr>
              </a:p>
            </p:txBody>
          </p:sp>
        </mc:Choice>
        <mc:Fallback xmlns="">
          <p:sp>
            <p:nvSpPr>
              <p:cNvPr id="122" name="文本框 121">
                <a:extLst>
                  <a:ext uri="{FF2B5EF4-FFF2-40B4-BE49-F238E27FC236}">
                    <a16:creationId xmlns:a16="http://schemas.microsoft.com/office/drawing/2014/main" id="{F923C9F1-7044-CE00-B111-F8E88BC0D53F}"/>
                  </a:ext>
                </a:extLst>
              </p:cNvPr>
              <p:cNvSpPr txBox="1">
                <a:spLocks noRot="1" noChangeAspect="1" noMove="1" noResize="1" noEditPoints="1" noAdjustHandles="1" noChangeArrowheads="1" noChangeShapeType="1" noTextEdit="1"/>
              </p:cNvSpPr>
              <p:nvPr/>
            </p:nvSpPr>
            <p:spPr>
              <a:xfrm>
                <a:off x="3068669" y="2634497"/>
                <a:ext cx="2186363" cy="523220"/>
              </a:xfrm>
              <a:prstGeom prst="rect">
                <a:avLst/>
              </a:prstGeom>
              <a:blipFill>
                <a:blip r:embed="rId9"/>
                <a:stretch>
                  <a:fillRect t="-34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3" name="文本框 122">
                <a:extLst>
                  <a:ext uri="{FF2B5EF4-FFF2-40B4-BE49-F238E27FC236}">
                    <a16:creationId xmlns:a16="http://schemas.microsoft.com/office/drawing/2014/main" id="{4BA406EB-123D-8459-D728-5C4159F0B7E2}"/>
                  </a:ext>
                </a:extLst>
              </p:cNvPr>
              <p:cNvSpPr txBox="1"/>
              <p:nvPr/>
            </p:nvSpPr>
            <p:spPr>
              <a:xfrm>
                <a:off x="3556538" y="3686136"/>
                <a:ext cx="2186363" cy="523220"/>
              </a:xfrm>
              <a:prstGeom prst="rect">
                <a:avLst/>
              </a:prstGeom>
              <a:noFill/>
            </p:spPr>
            <p:txBody>
              <a:bodyPr wrap="square">
                <a:spAutoFit/>
              </a:bodyPr>
              <a:lstStyle/>
              <a:p>
                <a:pPr algn="ctr"/>
                <a:r>
                  <a:rPr lang="en-US" altLang="zh-CN" sz="1400" i="1" dirty="0">
                    <a:latin typeface="Cambria Math" panose="02040503050406030204" pitchFamily="18" charset="0"/>
                  </a:rPr>
                  <a:t>Lead prediction</a:t>
                </a:r>
              </a:p>
              <a:p>
                <a:pPr algn="ctr"/>
                <a14:m>
                  <m:oMathPara xmlns:m="http://schemas.openxmlformats.org/officeDocument/2006/math">
                    <m:oMathParaPr>
                      <m:jc m:val="centerGroup"/>
                    </m:oMathParaPr>
                    <m:oMath xmlns:m="http://schemas.openxmlformats.org/officeDocument/2006/math">
                      <m:r>
                        <m:rPr>
                          <m:sty m:val="p"/>
                        </m:rPr>
                        <a:rPr lang="en-US" altLang="zh-CN" sz="1400" b="0" i="0" dirty="0" smtClean="0">
                          <a:latin typeface="Cambria Math" panose="02040503050406030204" pitchFamily="18" charset="0"/>
                        </a:rPr>
                        <m:t>Δ</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𝑡</m:t>
                          </m:r>
                        </m:e>
                        <m:sub>
                          <m:r>
                            <a:rPr lang="en-US" altLang="zh-CN" sz="1400" b="0" i="1" dirty="0" smtClean="0">
                              <a:latin typeface="Cambria Math" panose="02040503050406030204" pitchFamily="18" charset="0"/>
                            </a:rPr>
                            <m:t>𝑙𝑒𝑎𝑑</m:t>
                          </m:r>
                        </m:sub>
                      </m:sSub>
                    </m:oMath>
                  </m:oMathPara>
                </a14:m>
                <a:endParaRPr lang="zh-CN" altLang="en-US" sz="1400" i="1" dirty="0"/>
              </a:p>
            </p:txBody>
          </p:sp>
        </mc:Choice>
        <mc:Fallback xmlns="">
          <p:sp>
            <p:nvSpPr>
              <p:cNvPr id="123" name="文本框 122">
                <a:extLst>
                  <a:ext uri="{FF2B5EF4-FFF2-40B4-BE49-F238E27FC236}">
                    <a16:creationId xmlns:a16="http://schemas.microsoft.com/office/drawing/2014/main" id="{4BA406EB-123D-8459-D728-5C4159F0B7E2}"/>
                  </a:ext>
                </a:extLst>
              </p:cNvPr>
              <p:cNvSpPr txBox="1">
                <a:spLocks noRot="1" noChangeAspect="1" noMove="1" noResize="1" noEditPoints="1" noAdjustHandles="1" noChangeArrowheads="1" noChangeShapeType="1" noTextEdit="1"/>
              </p:cNvSpPr>
              <p:nvPr/>
            </p:nvSpPr>
            <p:spPr>
              <a:xfrm>
                <a:off x="3556538" y="3686136"/>
                <a:ext cx="2186363" cy="523220"/>
              </a:xfrm>
              <a:prstGeom prst="rect">
                <a:avLst/>
              </a:prstGeom>
              <a:blipFill>
                <a:blip r:embed="rId10"/>
                <a:stretch>
                  <a:fillRect t="-3488"/>
                </a:stretch>
              </a:blipFill>
            </p:spPr>
            <p:txBody>
              <a:bodyPr/>
              <a:lstStyle/>
              <a:p>
                <a:r>
                  <a:rPr lang="zh-CN" altLang="en-US">
                    <a:noFill/>
                  </a:rPr>
                  <a:t> </a:t>
                </a:r>
              </a:p>
            </p:txBody>
          </p:sp>
        </mc:Fallback>
      </mc:AlternateContent>
      <p:sp>
        <p:nvSpPr>
          <p:cNvPr id="124" name="左大括号 123">
            <a:extLst>
              <a:ext uri="{FF2B5EF4-FFF2-40B4-BE49-F238E27FC236}">
                <a16:creationId xmlns:a16="http://schemas.microsoft.com/office/drawing/2014/main" id="{17BA467F-9DD6-F0A5-651A-3659B92ED391}"/>
              </a:ext>
            </a:extLst>
          </p:cNvPr>
          <p:cNvSpPr/>
          <p:nvPr/>
        </p:nvSpPr>
        <p:spPr>
          <a:xfrm rot="16200000">
            <a:off x="6930589" y="1742618"/>
            <a:ext cx="160024" cy="3721306"/>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5" name="文本框 124">
                <a:extLst>
                  <a:ext uri="{FF2B5EF4-FFF2-40B4-BE49-F238E27FC236}">
                    <a16:creationId xmlns:a16="http://schemas.microsoft.com/office/drawing/2014/main" id="{120A9363-1652-B2E5-8535-494281992FFF}"/>
                  </a:ext>
                </a:extLst>
              </p:cNvPr>
              <p:cNvSpPr txBox="1"/>
              <p:nvPr/>
            </p:nvSpPr>
            <p:spPr>
              <a:xfrm>
                <a:off x="5917419" y="3680458"/>
                <a:ext cx="2186363" cy="539828"/>
              </a:xfrm>
              <a:prstGeom prst="rect">
                <a:avLst/>
              </a:prstGeom>
              <a:noFill/>
            </p:spPr>
            <p:txBody>
              <a:bodyPr wrap="square">
                <a:spAutoFit/>
              </a:bodyPr>
              <a:lstStyle/>
              <a:p>
                <a:pPr algn="ctr"/>
                <a:r>
                  <a:rPr lang="en-US" altLang="zh-CN" sz="1400" i="1" dirty="0">
                    <a:latin typeface="Cambria Math" panose="02040503050406030204" pitchFamily="18" charset="0"/>
                  </a:rPr>
                  <a:t>Valid prediction</a:t>
                </a:r>
              </a:p>
              <a:p>
                <a:pPr algn="ctr"/>
                <a14:m>
                  <m:oMathPara xmlns:m="http://schemas.openxmlformats.org/officeDocument/2006/math">
                    <m:oMathParaPr>
                      <m:jc m:val="centerGroup"/>
                    </m:oMathParaPr>
                    <m:oMath xmlns:m="http://schemas.openxmlformats.org/officeDocument/2006/math">
                      <m:r>
                        <m:rPr>
                          <m:sty m:val="p"/>
                        </m:rPr>
                        <a:rPr lang="en-US" altLang="zh-CN" sz="1400" b="0" i="0" dirty="0" smtClean="0">
                          <a:latin typeface="Cambria Math" panose="02040503050406030204" pitchFamily="18" charset="0"/>
                        </a:rPr>
                        <m:t>Δ</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𝑡</m:t>
                          </m:r>
                        </m:e>
                        <m:sub>
                          <m:r>
                            <a:rPr lang="en-US" altLang="zh-CN" sz="1400" b="0" i="1" dirty="0" smtClean="0">
                              <a:latin typeface="Cambria Math" panose="02040503050406030204" pitchFamily="18" charset="0"/>
                            </a:rPr>
                            <m:t>𝑣𝑎𝑙𝑖𝑑</m:t>
                          </m:r>
                        </m:sub>
                      </m:sSub>
                    </m:oMath>
                  </m:oMathPara>
                </a14:m>
                <a:endParaRPr lang="zh-CN" altLang="en-US" sz="1400" i="1" dirty="0"/>
              </a:p>
            </p:txBody>
          </p:sp>
        </mc:Choice>
        <mc:Fallback xmlns="">
          <p:sp>
            <p:nvSpPr>
              <p:cNvPr id="125" name="文本框 124">
                <a:extLst>
                  <a:ext uri="{FF2B5EF4-FFF2-40B4-BE49-F238E27FC236}">
                    <a16:creationId xmlns:a16="http://schemas.microsoft.com/office/drawing/2014/main" id="{120A9363-1652-B2E5-8535-494281992FFF}"/>
                  </a:ext>
                </a:extLst>
              </p:cNvPr>
              <p:cNvSpPr txBox="1">
                <a:spLocks noRot="1" noChangeAspect="1" noMove="1" noResize="1" noEditPoints="1" noAdjustHandles="1" noChangeArrowheads="1" noChangeShapeType="1" noTextEdit="1"/>
              </p:cNvSpPr>
              <p:nvPr/>
            </p:nvSpPr>
            <p:spPr>
              <a:xfrm>
                <a:off x="5917419" y="3680458"/>
                <a:ext cx="2186363" cy="539828"/>
              </a:xfrm>
              <a:prstGeom prst="rect">
                <a:avLst/>
              </a:prstGeom>
              <a:blipFill>
                <a:blip r:embed="rId11"/>
                <a:stretch>
                  <a:fillRect t="-3409"/>
                </a:stretch>
              </a:blipFill>
            </p:spPr>
            <p:txBody>
              <a:bodyPr/>
              <a:lstStyle/>
              <a:p>
                <a:r>
                  <a:rPr lang="zh-CN" altLang="en-US">
                    <a:noFill/>
                  </a:rPr>
                  <a:t> </a:t>
                </a:r>
              </a:p>
            </p:txBody>
          </p:sp>
        </mc:Fallback>
      </mc:AlternateContent>
      <p:sp>
        <p:nvSpPr>
          <p:cNvPr id="126" name="等腰三角形 125">
            <a:extLst>
              <a:ext uri="{FF2B5EF4-FFF2-40B4-BE49-F238E27FC236}">
                <a16:creationId xmlns:a16="http://schemas.microsoft.com/office/drawing/2014/main" id="{EE46CD5F-9547-144E-2F55-DA5A20D1C0F8}"/>
              </a:ext>
            </a:extLst>
          </p:cNvPr>
          <p:cNvSpPr/>
          <p:nvPr/>
        </p:nvSpPr>
        <p:spPr>
          <a:xfrm>
            <a:off x="4118719" y="3217460"/>
            <a:ext cx="86263" cy="198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234" name="组合 233">
            <a:extLst>
              <a:ext uri="{FF2B5EF4-FFF2-40B4-BE49-F238E27FC236}">
                <a16:creationId xmlns:a16="http://schemas.microsoft.com/office/drawing/2014/main" id="{C6F94208-D15A-CE25-5320-C5B4265A214D}"/>
              </a:ext>
            </a:extLst>
          </p:cNvPr>
          <p:cNvGrpSpPr/>
          <p:nvPr/>
        </p:nvGrpSpPr>
        <p:grpSpPr>
          <a:xfrm>
            <a:off x="192507" y="4311581"/>
            <a:ext cx="10799803" cy="2158050"/>
            <a:chOff x="190850" y="4345887"/>
            <a:chExt cx="10799803" cy="2158050"/>
          </a:xfrm>
        </p:grpSpPr>
        <p:sp>
          <p:nvSpPr>
            <p:cNvPr id="60" name="矩形: 圆角 59">
              <a:extLst>
                <a:ext uri="{FF2B5EF4-FFF2-40B4-BE49-F238E27FC236}">
                  <a16:creationId xmlns:a16="http://schemas.microsoft.com/office/drawing/2014/main" id="{051E6ACA-F932-0CA2-948D-37B54A48CDEB}"/>
                </a:ext>
              </a:extLst>
            </p:cNvPr>
            <p:cNvSpPr/>
            <p:nvPr/>
          </p:nvSpPr>
          <p:spPr>
            <a:xfrm>
              <a:off x="502557" y="4345888"/>
              <a:ext cx="5547783" cy="2146810"/>
            </a:xfrm>
            <a:prstGeom prst="roundRect">
              <a:avLst>
                <a:gd name="adj" fmla="val 9056"/>
              </a:avLst>
            </a:prstGeom>
            <a:solidFill>
              <a:srgbClr val="00B0F0">
                <a:alpha val="5098"/>
              </a:srgbClr>
            </a:solidFill>
            <a:ln>
              <a:noFill/>
            </a:ln>
            <a:effectLst>
              <a:outerShdw blurRad="50800"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b" anchorCtr="0" forceAA="0" compatLnSpc="1">
              <a:prstTxWarp prst="textNoShape">
                <a:avLst/>
              </a:prstTxWarp>
              <a:noAutofit/>
            </a:bodyPr>
            <a:lstStyle/>
            <a:p>
              <a:pPr marL="0" marR="0" lvl="0" indent="0" algn="ctr" defTabSz="914387" rtl="0" eaLnBrk="1" fontAlgn="auto" latinLnBrk="0" hangingPunct="1">
                <a:lnSpc>
                  <a:spcPct val="100000"/>
                </a:lnSpc>
                <a:spcBef>
                  <a:spcPts val="0"/>
                </a:spcBef>
                <a:spcAft>
                  <a:spcPts val="0"/>
                </a:spcAft>
                <a:buClrTx/>
                <a:buSzTx/>
                <a:buFontTx/>
                <a:buNone/>
                <a:tabLst/>
                <a:defRPr/>
              </a:pPr>
              <a:endParaRPr kumimoji="0" lang="zh-CN" altLang="en-US" sz="1400" b="1" i="0" u="none" strike="noStrike" kern="1200" cap="none" spc="0" normalizeH="0" baseline="0" noProof="0" dirty="0">
                <a:ln>
                  <a:noFill/>
                </a:ln>
                <a:solidFill>
                  <a:srgbClr val="002060"/>
                </a:solidFill>
                <a:effectLst/>
                <a:uLnTx/>
                <a:uFillTx/>
                <a:latin typeface="Arial"/>
                <a:ea typeface="微软雅黑"/>
                <a:cs typeface="+mn-cs"/>
              </a:endParaRPr>
            </a:p>
          </p:txBody>
        </p:sp>
        <p:cxnSp>
          <p:nvCxnSpPr>
            <p:cNvPr id="136" name="直接箭头连接符 135">
              <a:extLst>
                <a:ext uri="{FF2B5EF4-FFF2-40B4-BE49-F238E27FC236}">
                  <a16:creationId xmlns:a16="http://schemas.microsoft.com/office/drawing/2014/main" id="{98D361AF-2D36-A825-E7D8-6A9D447A8EFE}"/>
                </a:ext>
              </a:extLst>
            </p:cNvPr>
            <p:cNvCxnSpPr>
              <a:cxnSpLocks/>
            </p:cNvCxnSpPr>
            <p:nvPr/>
          </p:nvCxnSpPr>
          <p:spPr>
            <a:xfrm flipV="1">
              <a:off x="646746" y="5451353"/>
              <a:ext cx="4320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7" name="等腰三角形 136">
              <a:extLst>
                <a:ext uri="{FF2B5EF4-FFF2-40B4-BE49-F238E27FC236}">
                  <a16:creationId xmlns:a16="http://schemas.microsoft.com/office/drawing/2014/main" id="{23DC860C-61DA-063D-37AD-0A0D3DFD846B}"/>
                </a:ext>
              </a:extLst>
            </p:cNvPr>
            <p:cNvSpPr/>
            <p:nvPr/>
          </p:nvSpPr>
          <p:spPr>
            <a:xfrm>
              <a:off x="1359298" y="5255448"/>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8" name="等腰三角形 137">
              <a:extLst>
                <a:ext uri="{FF2B5EF4-FFF2-40B4-BE49-F238E27FC236}">
                  <a16:creationId xmlns:a16="http://schemas.microsoft.com/office/drawing/2014/main" id="{35C8E313-8397-741F-8EC9-2624DB002C57}"/>
                </a:ext>
              </a:extLst>
            </p:cNvPr>
            <p:cNvSpPr/>
            <p:nvPr/>
          </p:nvSpPr>
          <p:spPr>
            <a:xfrm>
              <a:off x="2695484" y="5255448"/>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9" name="等腰三角形 138">
              <a:extLst>
                <a:ext uri="{FF2B5EF4-FFF2-40B4-BE49-F238E27FC236}">
                  <a16:creationId xmlns:a16="http://schemas.microsoft.com/office/drawing/2014/main" id="{511BB2C9-D2E7-0F2F-2D5F-0D149CA6AB1A}"/>
                </a:ext>
              </a:extLst>
            </p:cNvPr>
            <p:cNvSpPr/>
            <p:nvPr/>
          </p:nvSpPr>
          <p:spPr>
            <a:xfrm>
              <a:off x="3650236" y="5255448"/>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0" name="等腰三角形 139">
              <a:extLst>
                <a:ext uri="{FF2B5EF4-FFF2-40B4-BE49-F238E27FC236}">
                  <a16:creationId xmlns:a16="http://schemas.microsoft.com/office/drawing/2014/main" id="{66D1DD65-CE12-AA49-6866-65C8DF769B57}"/>
                </a:ext>
              </a:extLst>
            </p:cNvPr>
            <p:cNvSpPr/>
            <p:nvPr/>
          </p:nvSpPr>
          <p:spPr>
            <a:xfrm>
              <a:off x="4501948" y="5255448"/>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1" name="左大括号 140">
              <a:extLst>
                <a:ext uri="{FF2B5EF4-FFF2-40B4-BE49-F238E27FC236}">
                  <a16:creationId xmlns:a16="http://schemas.microsoft.com/office/drawing/2014/main" id="{9435AE65-CCF9-093F-8C8F-FC87B5BB6E09}"/>
                </a:ext>
              </a:extLst>
            </p:cNvPr>
            <p:cNvSpPr/>
            <p:nvPr/>
          </p:nvSpPr>
          <p:spPr>
            <a:xfrm rot="16200000">
              <a:off x="3511463" y="5190730"/>
              <a:ext cx="99217" cy="75553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2" name="文本框 141">
                  <a:extLst>
                    <a:ext uri="{FF2B5EF4-FFF2-40B4-BE49-F238E27FC236}">
                      <a16:creationId xmlns:a16="http://schemas.microsoft.com/office/drawing/2014/main" id="{063E490A-AE40-392C-4629-B39744F8F672}"/>
                    </a:ext>
                  </a:extLst>
                </p:cNvPr>
                <p:cNvSpPr txBox="1"/>
                <p:nvPr/>
              </p:nvSpPr>
              <p:spPr>
                <a:xfrm>
                  <a:off x="2070148" y="5649756"/>
                  <a:ext cx="2981845" cy="276999"/>
                </a:xfrm>
                <a:prstGeom prst="rect">
                  <a:avLst/>
                </a:prstGeom>
                <a:noFill/>
              </p:spPr>
              <p:txBody>
                <a:bodyPr wrap="square">
                  <a:spAutoFit/>
                </a:bodyPr>
                <a:lstStyle/>
                <a:p>
                  <a:pPr algn="ctr"/>
                  <a:r>
                    <a:rPr lang="en-US" altLang="zh-CN" sz="1200" i="1" dirty="0">
                      <a:latin typeface="Cambria Math" panose="02040503050406030204" pitchFamily="18" charset="0"/>
                    </a:rPr>
                    <a:t>Short term </a:t>
                  </a:r>
                  <a14:m>
                    <m:oMath xmlns:m="http://schemas.openxmlformats.org/officeDocument/2006/math">
                      <m:r>
                        <a:rPr lang="en-US" altLang="zh-CN" sz="1200" i="1" dirty="0" smtClean="0">
                          <a:latin typeface="Cambria Math" panose="02040503050406030204" pitchFamily="18" charset="0"/>
                        </a:rPr>
                        <m:t>𝛥</m:t>
                      </m:r>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𝑡</m:t>
                          </m:r>
                        </m:e>
                        <m:sub>
                          <m:r>
                            <a:rPr lang="en-US" altLang="zh-CN" sz="1200" b="0" i="1" dirty="0" smtClean="0">
                              <a:latin typeface="Cambria Math" panose="02040503050406030204" pitchFamily="18" charset="0"/>
                            </a:rPr>
                            <m:t>𝑠</m:t>
                          </m:r>
                        </m:sub>
                      </m:sSub>
                      <m:r>
                        <a:rPr lang="en-US" altLang="zh-CN" sz="1200" b="0" i="1" dirty="0" smtClean="0">
                          <a:latin typeface="Cambria Math" panose="02040503050406030204" pitchFamily="18" charset="0"/>
                        </a:rPr>
                        <m:t>=15</m:t>
                      </m:r>
                      <m:r>
                        <a:rPr lang="en-US" altLang="zh-CN" sz="1200" b="0" i="1" dirty="0" smtClean="0">
                          <a:latin typeface="Cambria Math" panose="02040503050406030204" pitchFamily="18" charset="0"/>
                        </a:rPr>
                        <m:t>𝑚𝑖𝑛</m:t>
                      </m:r>
                    </m:oMath>
                  </a14:m>
                  <a:r>
                    <a:rPr lang="en-US" altLang="zh-CN" sz="1200" i="1" dirty="0">
                      <a:latin typeface="Cambria Math" panose="02040503050406030204" pitchFamily="18" charset="0"/>
                    </a:rPr>
                    <a:t> </a:t>
                  </a:r>
                  <a:endParaRPr lang="zh-CN" altLang="en-US" sz="1200" i="1" dirty="0"/>
                </a:p>
              </p:txBody>
            </p:sp>
          </mc:Choice>
          <mc:Fallback xmlns="">
            <p:sp>
              <p:nvSpPr>
                <p:cNvPr id="142" name="文本框 141">
                  <a:extLst>
                    <a:ext uri="{FF2B5EF4-FFF2-40B4-BE49-F238E27FC236}">
                      <a16:creationId xmlns:a16="http://schemas.microsoft.com/office/drawing/2014/main" id="{063E490A-AE40-392C-4629-B39744F8F672}"/>
                    </a:ext>
                  </a:extLst>
                </p:cNvPr>
                <p:cNvSpPr txBox="1">
                  <a:spLocks noRot="1" noChangeAspect="1" noMove="1" noResize="1" noEditPoints="1" noAdjustHandles="1" noChangeArrowheads="1" noChangeShapeType="1" noTextEdit="1"/>
                </p:cNvSpPr>
                <p:nvPr/>
              </p:nvSpPr>
              <p:spPr>
                <a:xfrm>
                  <a:off x="2070148" y="5649756"/>
                  <a:ext cx="2981845" cy="276999"/>
                </a:xfrm>
                <a:prstGeom prst="rect">
                  <a:avLst/>
                </a:prstGeom>
                <a:blipFill>
                  <a:blip r:embed="rId12"/>
                  <a:stretch>
                    <a:fillRect b="-15217"/>
                  </a:stretch>
                </a:blipFill>
              </p:spPr>
              <p:txBody>
                <a:bodyPr/>
                <a:lstStyle/>
                <a:p>
                  <a:r>
                    <a:rPr lang="zh-CN" altLang="en-US">
                      <a:noFill/>
                    </a:rPr>
                    <a:t> </a:t>
                  </a:r>
                </a:p>
              </p:txBody>
            </p:sp>
          </mc:Fallback>
        </mc:AlternateContent>
        <p:cxnSp>
          <p:nvCxnSpPr>
            <p:cNvPr id="144" name="直接连接符 143">
              <a:extLst>
                <a:ext uri="{FF2B5EF4-FFF2-40B4-BE49-F238E27FC236}">
                  <a16:creationId xmlns:a16="http://schemas.microsoft.com/office/drawing/2014/main" id="{F459B81E-5BA0-5490-AA37-9C77FC100FA5}"/>
                </a:ext>
              </a:extLst>
            </p:cNvPr>
            <p:cNvCxnSpPr>
              <a:cxnSpLocks/>
            </p:cNvCxnSpPr>
            <p:nvPr/>
          </p:nvCxnSpPr>
          <p:spPr>
            <a:xfrm flipH="1">
              <a:off x="4052639" y="4642607"/>
              <a:ext cx="1" cy="8112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8" name="等腰三角形 157">
              <a:extLst>
                <a:ext uri="{FF2B5EF4-FFF2-40B4-BE49-F238E27FC236}">
                  <a16:creationId xmlns:a16="http://schemas.microsoft.com/office/drawing/2014/main" id="{467A4FF4-79B4-BC60-D784-2C69B6DA475D}"/>
                </a:ext>
              </a:extLst>
            </p:cNvPr>
            <p:cNvSpPr/>
            <p:nvPr/>
          </p:nvSpPr>
          <p:spPr>
            <a:xfrm>
              <a:off x="2915685" y="5255448"/>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9" name="等腰三角形 158">
              <a:extLst>
                <a:ext uri="{FF2B5EF4-FFF2-40B4-BE49-F238E27FC236}">
                  <a16:creationId xmlns:a16="http://schemas.microsoft.com/office/drawing/2014/main" id="{56414165-82E2-54E2-4098-1BA33713D20B}"/>
                </a:ext>
              </a:extLst>
            </p:cNvPr>
            <p:cNvSpPr/>
            <p:nvPr/>
          </p:nvSpPr>
          <p:spPr>
            <a:xfrm>
              <a:off x="2117679" y="5255448"/>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0" name="等腰三角形 159">
              <a:extLst>
                <a:ext uri="{FF2B5EF4-FFF2-40B4-BE49-F238E27FC236}">
                  <a16:creationId xmlns:a16="http://schemas.microsoft.com/office/drawing/2014/main" id="{7FAB1599-F0AB-B2BB-F48A-7CB350F3D470}"/>
                </a:ext>
              </a:extLst>
            </p:cNvPr>
            <p:cNvSpPr/>
            <p:nvPr/>
          </p:nvSpPr>
          <p:spPr>
            <a:xfrm>
              <a:off x="1817372" y="5255448"/>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1" name="等腰三角形 160">
              <a:extLst>
                <a:ext uri="{FF2B5EF4-FFF2-40B4-BE49-F238E27FC236}">
                  <a16:creationId xmlns:a16="http://schemas.microsoft.com/office/drawing/2014/main" id="{F98DA069-69A7-F40B-87D2-6481E896E94F}"/>
                </a:ext>
              </a:extLst>
            </p:cNvPr>
            <p:cNvSpPr/>
            <p:nvPr/>
          </p:nvSpPr>
          <p:spPr>
            <a:xfrm>
              <a:off x="1939128" y="5255448"/>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2" name="等腰三角形 161">
              <a:extLst>
                <a:ext uri="{FF2B5EF4-FFF2-40B4-BE49-F238E27FC236}">
                  <a16:creationId xmlns:a16="http://schemas.microsoft.com/office/drawing/2014/main" id="{67A32B75-C271-ECF4-A436-E4B827C830B9}"/>
                </a:ext>
              </a:extLst>
            </p:cNvPr>
            <p:cNvSpPr/>
            <p:nvPr/>
          </p:nvSpPr>
          <p:spPr>
            <a:xfrm>
              <a:off x="1059794" y="5255448"/>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3" name="等腰三角形 162">
              <a:extLst>
                <a:ext uri="{FF2B5EF4-FFF2-40B4-BE49-F238E27FC236}">
                  <a16:creationId xmlns:a16="http://schemas.microsoft.com/office/drawing/2014/main" id="{BC8F8337-9A9A-B7FB-D2E7-D3460C04489E}"/>
                </a:ext>
              </a:extLst>
            </p:cNvPr>
            <p:cNvSpPr/>
            <p:nvPr/>
          </p:nvSpPr>
          <p:spPr>
            <a:xfrm>
              <a:off x="3404763" y="5255448"/>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4" name="等腰三角形 163">
              <a:extLst>
                <a:ext uri="{FF2B5EF4-FFF2-40B4-BE49-F238E27FC236}">
                  <a16:creationId xmlns:a16="http://schemas.microsoft.com/office/drawing/2014/main" id="{F51DE1D9-F55D-A15B-B138-CA86BBB0F5F1}"/>
                </a:ext>
              </a:extLst>
            </p:cNvPr>
            <p:cNvSpPr/>
            <p:nvPr/>
          </p:nvSpPr>
          <p:spPr>
            <a:xfrm>
              <a:off x="1452099" y="5255448"/>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5" name="左大括号 164">
              <a:extLst>
                <a:ext uri="{FF2B5EF4-FFF2-40B4-BE49-F238E27FC236}">
                  <a16:creationId xmlns:a16="http://schemas.microsoft.com/office/drawing/2014/main" id="{AC287531-7D04-4AC2-82BF-069D5580E63A}"/>
                </a:ext>
              </a:extLst>
            </p:cNvPr>
            <p:cNvSpPr/>
            <p:nvPr/>
          </p:nvSpPr>
          <p:spPr>
            <a:xfrm rot="16200000">
              <a:off x="2378870" y="4158861"/>
              <a:ext cx="97786" cy="302215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6" name="文本框 165">
                  <a:extLst>
                    <a:ext uri="{FF2B5EF4-FFF2-40B4-BE49-F238E27FC236}">
                      <a16:creationId xmlns:a16="http://schemas.microsoft.com/office/drawing/2014/main" id="{A9EFA89E-EAB9-2E62-6EE1-EB527DB3FB32}"/>
                    </a:ext>
                  </a:extLst>
                </p:cNvPr>
                <p:cNvSpPr txBox="1"/>
                <p:nvPr/>
              </p:nvSpPr>
              <p:spPr>
                <a:xfrm>
                  <a:off x="943616" y="5820754"/>
                  <a:ext cx="2981845" cy="276999"/>
                </a:xfrm>
                <a:prstGeom prst="rect">
                  <a:avLst/>
                </a:prstGeom>
                <a:noFill/>
              </p:spPr>
              <p:txBody>
                <a:bodyPr wrap="square">
                  <a:spAutoFit/>
                </a:bodyPr>
                <a:lstStyle/>
                <a:p>
                  <a:pPr algn="ctr"/>
                  <a:r>
                    <a:rPr lang="en-US" altLang="zh-CN" sz="1200" i="1" dirty="0">
                      <a:latin typeface="Cambria Math" panose="02040503050406030204" pitchFamily="18" charset="0"/>
                    </a:rPr>
                    <a:t>Long term </a:t>
                  </a:r>
                  <a14:m>
                    <m:oMath xmlns:m="http://schemas.openxmlformats.org/officeDocument/2006/math">
                      <m:r>
                        <a:rPr lang="en-US" altLang="zh-CN" sz="1200" i="1" dirty="0" smtClean="0">
                          <a:latin typeface="Cambria Math" panose="02040503050406030204" pitchFamily="18" charset="0"/>
                        </a:rPr>
                        <m:t>𝛥</m:t>
                      </m:r>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𝑡</m:t>
                          </m:r>
                        </m:e>
                        <m:sub>
                          <m:r>
                            <a:rPr lang="en-US" altLang="zh-CN" sz="1200" b="0" i="1" dirty="0" smtClean="0">
                              <a:latin typeface="Cambria Math" panose="02040503050406030204" pitchFamily="18" charset="0"/>
                            </a:rPr>
                            <m:t>𝑙</m:t>
                          </m:r>
                        </m:sub>
                      </m:sSub>
                      <m:r>
                        <a:rPr lang="en-US" altLang="zh-CN" sz="1200" b="0" i="1" dirty="0" smtClean="0">
                          <a:latin typeface="Cambria Math" panose="02040503050406030204" pitchFamily="18" charset="0"/>
                        </a:rPr>
                        <m:t>=60</m:t>
                      </m:r>
                      <m:r>
                        <a:rPr lang="en-US" altLang="zh-CN" sz="1200" b="0" i="1" dirty="0" smtClean="0">
                          <a:latin typeface="Cambria Math" panose="02040503050406030204" pitchFamily="18" charset="0"/>
                        </a:rPr>
                        <m:t>𝑚𝑖𝑛</m:t>
                      </m:r>
                    </m:oMath>
                  </a14:m>
                  <a:r>
                    <a:rPr lang="en-US" altLang="zh-CN" sz="1200" i="1" dirty="0">
                      <a:latin typeface="Cambria Math" panose="02040503050406030204" pitchFamily="18" charset="0"/>
                    </a:rPr>
                    <a:t> </a:t>
                  </a:r>
                  <a:endParaRPr lang="zh-CN" altLang="en-US" sz="1200" i="1" dirty="0"/>
                </a:p>
              </p:txBody>
            </p:sp>
          </mc:Choice>
          <mc:Fallback xmlns="">
            <p:sp>
              <p:nvSpPr>
                <p:cNvPr id="166" name="文本框 165">
                  <a:extLst>
                    <a:ext uri="{FF2B5EF4-FFF2-40B4-BE49-F238E27FC236}">
                      <a16:creationId xmlns:a16="http://schemas.microsoft.com/office/drawing/2014/main" id="{A9EFA89E-EAB9-2E62-6EE1-EB527DB3FB32}"/>
                    </a:ext>
                  </a:extLst>
                </p:cNvPr>
                <p:cNvSpPr txBox="1">
                  <a:spLocks noRot="1" noChangeAspect="1" noMove="1" noResize="1" noEditPoints="1" noAdjustHandles="1" noChangeArrowheads="1" noChangeShapeType="1" noTextEdit="1"/>
                </p:cNvSpPr>
                <p:nvPr/>
              </p:nvSpPr>
              <p:spPr>
                <a:xfrm>
                  <a:off x="943616" y="5820754"/>
                  <a:ext cx="2981845" cy="276999"/>
                </a:xfrm>
                <a:prstGeom prst="rect">
                  <a:avLst/>
                </a:prstGeom>
                <a:blipFill>
                  <a:blip r:embed="rId13"/>
                  <a:stretch>
                    <a:fillRect b="-15217"/>
                  </a:stretch>
                </a:blipFill>
              </p:spPr>
              <p:txBody>
                <a:bodyPr/>
                <a:lstStyle/>
                <a:p>
                  <a:r>
                    <a:rPr lang="zh-CN" altLang="en-US">
                      <a:noFill/>
                    </a:rPr>
                    <a:t> </a:t>
                  </a:r>
                </a:p>
              </p:txBody>
            </p:sp>
          </mc:Fallback>
        </mc:AlternateContent>
        <p:cxnSp>
          <p:nvCxnSpPr>
            <p:cNvPr id="167" name="直接箭头连接符 166">
              <a:extLst>
                <a:ext uri="{FF2B5EF4-FFF2-40B4-BE49-F238E27FC236}">
                  <a16:creationId xmlns:a16="http://schemas.microsoft.com/office/drawing/2014/main" id="{7F453D7B-12CE-CBBE-A5CD-DC89ADA6FA3E}"/>
                </a:ext>
              </a:extLst>
            </p:cNvPr>
            <p:cNvCxnSpPr>
              <a:cxnSpLocks/>
            </p:cNvCxnSpPr>
            <p:nvPr/>
          </p:nvCxnSpPr>
          <p:spPr>
            <a:xfrm>
              <a:off x="906264" y="4892525"/>
              <a:ext cx="755537"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8" name="文本框 167">
                  <a:extLst>
                    <a:ext uri="{FF2B5EF4-FFF2-40B4-BE49-F238E27FC236}">
                      <a16:creationId xmlns:a16="http://schemas.microsoft.com/office/drawing/2014/main" id="{32C2A31F-4090-1B8B-980F-3DD244413A47}"/>
                    </a:ext>
                  </a:extLst>
                </p:cNvPr>
                <p:cNvSpPr txBox="1"/>
                <p:nvPr/>
              </p:nvSpPr>
              <p:spPr>
                <a:xfrm>
                  <a:off x="190850" y="4345887"/>
                  <a:ext cx="2186363" cy="475964"/>
                </a:xfrm>
                <a:prstGeom prst="rect">
                  <a:avLst/>
                </a:prstGeom>
                <a:noFill/>
              </p:spPr>
              <p:txBody>
                <a:bodyPr wrap="square">
                  <a:spAutoFit/>
                </a:bodyPr>
                <a:lstStyle/>
                <a:p>
                  <a:pPr algn="ctr"/>
                  <a:r>
                    <a:rPr lang="en-US" altLang="zh-CN" sz="1200" i="1" dirty="0">
                      <a:latin typeface="Cambria Math" panose="02040503050406030204" pitchFamily="18" charset="0"/>
                    </a:rPr>
                    <a:t>Prediction interval</a:t>
                  </a:r>
                </a:p>
                <a:p>
                  <a:pPr algn="ctr"/>
                  <a14:m>
                    <m:oMathPara xmlns:m="http://schemas.openxmlformats.org/officeDocument/2006/math">
                      <m:oMathParaPr>
                        <m:jc m:val="centerGroup"/>
                      </m:oMathParaPr>
                      <m:oMath xmlns:m="http://schemas.openxmlformats.org/officeDocument/2006/math">
                        <m:r>
                          <a:rPr lang="en-US" altLang="zh-CN" sz="1200" i="1" dirty="0" smtClean="0">
                            <a:latin typeface="Cambria Math" panose="02040503050406030204" pitchFamily="18" charset="0"/>
                          </a:rPr>
                          <m:t>𝛥</m:t>
                        </m:r>
                        <m:sSub>
                          <m:sSubPr>
                            <m:ctrlPr>
                              <a:rPr lang="en-US" altLang="zh-CN" sz="1200" b="0" i="1" dirty="0" smtClean="0">
                                <a:latin typeface="Cambria Math" panose="02040503050406030204" pitchFamily="18" charset="0"/>
                              </a:rPr>
                            </m:ctrlPr>
                          </m:sSubPr>
                          <m:e>
                            <m:r>
                              <a:rPr lang="en-US" altLang="zh-CN" sz="1200" b="0" i="1" dirty="0" smtClean="0">
                                <a:latin typeface="Cambria Math" panose="02040503050406030204" pitchFamily="18" charset="0"/>
                              </a:rPr>
                              <m:t>𝑡</m:t>
                            </m:r>
                          </m:e>
                          <m:sub>
                            <m:r>
                              <a:rPr lang="en-US" altLang="zh-CN" sz="1200" b="0" i="1" dirty="0" smtClean="0">
                                <a:latin typeface="Cambria Math" panose="02040503050406030204" pitchFamily="18" charset="0"/>
                              </a:rPr>
                              <m:t>𝑝𝑟𝑒𝑑</m:t>
                            </m:r>
                            <m:r>
                              <a:rPr lang="en-US" altLang="zh-CN" sz="1200" b="0" i="1" dirty="0" smtClean="0">
                                <a:latin typeface="Cambria Math" panose="02040503050406030204" pitchFamily="18" charset="0"/>
                              </a:rPr>
                              <m:t>_</m:t>
                            </m:r>
                            <m:r>
                              <a:rPr lang="en-US" altLang="zh-CN" sz="1200" b="0" i="1" dirty="0" smtClean="0">
                                <a:latin typeface="Cambria Math" panose="02040503050406030204" pitchFamily="18" charset="0"/>
                              </a:rPr>
                              <m:t>𝑖𝑛𝑡</m:t>
                            </m:r>
                          </m:sub>
                        </m:sSub>
                      </m:oMath>
                    </m:oMathPara>
                  </a14:m>
                  <a:endParaRPr lang="zh-CN" altLang="en-US" sz="1200" i="1" dirty="0"/>
                </a:p>
              </p:txBody>
            </p:sp>
          </mc:Choice>
          <mc:Fallback xmlns="">
            <p:sp>
              <p:nvSpPr>
                <p:cNvPr id="168" name="文本框 167">
                  <a:extLst>
                    <a:ext uri="{FF2B5EF4-FFF2-40B4-BE49-F238E27FC236}">
                      <a16:creationId xmlns:a16="http://schemas.microsoft.com/office/drawing/2014/main" id="{32C2A31F-4090-1B8B-980F-3DD244413A47}"/>
                    </a:ext>
                  </a:extLst>
                </p:cNvPr>
                <p:cNvSpPr txBox="1">
                  <a:spLocks noRot="1" noChangeAspect="1" noMove="1" noResize="1" noEditPoints="1" noAdjustHandles="1" noChangeArrowheads="1" noChangeShapeType="1" noTextEdit="1"/>
                </p:cNvSpPr>
                <p:nvPr/>
              </p:nvSpPr>
              <p:spPr>
                <a:xfrm>
                  <a:off x="190850" y="4345887"/>
                  <a:ext cx="2186363" cy="475964"/>
                </a:xfrm>
                <a:prstGeom prst="rect">
                  <a:avLst/>
                </a:prstGeom>
                <a:blipFill>
                  <a:blip r:embed="rId14"/>
                  <a:stretch>
                    <a:fillRect/>
                  </a:stretch>
                </a:blipFill>
              </p:spPr>
              <p:txBody>
                <a:bodyPr/>
                <a:lstStyle/>
                <a:p>
                  <a:r>
                    <a:rPr lang="zh-CN" altLang="en-US">
                      <a:noFill/>
                    </a:rPr>
                    <a:t> </a:t>
                  </a:r>
                </a:p>
              </p:txBody>
            </p:sp>
          </mc:Fallback>
        </mc:AlternateContent>
        <p:sp>
          <p:nvSpPr>
            <p:cNvPr id="169" name="文本框 168">
              <a:extLst>
                <a:ext uri="{FF2B5EF4-FFF2-40B4-BE49-F238E27FC236}">
                  <a16:creationId xmlns:a16="http://schemas.microsoft.com/office/drawing/2014/main" id="{00FF4785-AF5E-6975-9BAE-8655EEAAC161}"/>
                </a:ext>
              </a:extLst>
            </p:cNvPr>
            <p:cNvSpPr txBox="1"/>
            <p:nvPr/>
          </p:nvSpPr>
          <p:spPr>
            <a:xfrm>
              <a:off x="3777767" y="4406606"/>
              <a:ext cx="1555111" cy="276999"/>
            </a:xfrm>
            <a:prstGeom prst="rect">
              <a:avLst/>
            </a:prstGeom>
            <a:noFill/>
          </p:spPr>
          <p:txBody>
            <a:bodyPr wrap="square">
              <a:spAutoFit/>
            </a:bodyPr>
            <a:lstStyle/>
            <a:p>
              <a:pPr algn="ctr"/>
              <a:r>
                <a:rPr lang="en-US" altLang="zh-CN" sz="1200" i="1" dirty="0">
                  <a:latin typeface="Cambria Math" panose="02040503050406030204" pitchFamily="18" charset="0"/>
                </a:rPr>
                <a:t>Inference Time</a:t>
              </a:r>
              <a:endParaRPr lang="zh-CN" altLang="en-US" sz="1200" i="1" dirty="0"/>
            </a:p>
          </p:txBody>
        </p:sp>
        <p:grpSp>
          <p:nvGrpSpPr>
            <p:cNvPr id="170" name="组合 169">
              <a:extLst>
                <a:ext uri="{FF2B5EF4-FFF2-40B4-BE49-F238E27FC236}">
                  <a16:creationId xmlns:a16="http://schemas.microsoft.com/office/drawing/2014/main" id="{B5A89E3D-5F3E-2604-FE0A-B08E20E171BE}"/>
                </a:ext>
              </a:extLst>
            </p:cNvPr>
            <p:cNvGrpSpPr/>
            <p:nvPr/>
          </p:nvGrpSpPr>
          <p:grpSpPr>
            <a:xfrm>
              <a:off x="1020573" y="4988432"/>
              <a:ext cx="3777695" cy="457195"/>
              <a:chOff x="3099500" y="4615235"/>
              <a:chExt cx="3777695" cy="457195"/>
            </a:xfrm>
          </p:grpSpPr>
          <p:cxnSp>
            <p:nvCxnSpPr>
              <p:cNvPr id="171" name="直接连接符 170">
                <a:extLst>
                  <a:ext uri="{FF2B5EF4-FFF2-40B4-BE49-F238E27FC236}">
                    <a16:creationId xmlns:a16="http://schemas.microsoft.com/office/drawing/2014/main" id="{F0630BD4-B055-446C-69B3-F2D3539BFD17}"/>
                  </a:ext>
                </a:extLst>
              </p:cNvPr>
              <p:cNvCxnSpPr>
                <a:cxnSpLocks/>
              </p:cNvCxnSpPr>
              <p:nvPr/>
            </p:nvCxnSpPr>
            <p:spPr>
              <a:xfrm>
                <a:off x="6121656" y="4615235"/>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68386A8E-CD15-84A0-EB82-33576692749F}"/>
                  </a:ext>
                </a:extLst>
              </p:cNvPr>
              <p:cNvCxnSpPr>
                <a:cxnSpLocks/>
              </p:cNvCxnSpPr>
              <p:nvPr/>
            </p:nvCxnSpPr>
            <p:spPr>
              <a:xfrm>
                <a:off x="6877195" y="4615235"/>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A99356CB-56CC-D97E-AF04-549A90733CA0}"/>
                  </a:ext>
                </a:extLst>
              </p:cNvPr>
              <p:cNvCxnSpPr>
                <a:cxnSpLocks/>
              </p:cNvCxnSpPr>
              <p:nvPr/>
            </p:nvCxnSpPr>
            <p:spPr>
              <a:xfrm>
                <a:off x="4610578" y="4615235"/>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A4494F35-7752-3C05-8DDE-E766892AD037}"/>
                  </a:ext>
                </a:extLst>
              </p:cNvPr>
              <p:cNvCxnSpPr>
                <a:cxnSpLocks/>
              </p:cNvCxnSpPr>
              <p:nvPr/>
            </p:nvCxnSpPr>
            <p:spPr>
              <a:xfrm>
                <a:off x="5366117" y="4615235"/>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8435819-D690-6AB4-F45B-89DD29E0BD8F}"/>
                  </a:ext>
                </a:extLst>
              </p:cNvPr>
              <p:cNvCxnSpPr>
                <a:cxnSpLocks/>
              </p:cNvCxnSpPr>
              <p:nvPr/>
            </p:nvCxnSpPr>
            <p:spPr>
              <a:xfrm>
                <a:off x="3855039" y="4615235"/>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EB7EFB3B-C254-BE2C-CD3D-8232F1E117E5}"/>
                  </a:ext>
                </a:extLst>
              </p:cNvPr>
              <p:cNvCxnSpPr>
                <a:cxnSpLocks/>
              </p:cNvCxnSpPr>
              <p:nvPr/>
            </p:nvCxnSpPr>
            <p:spPr>
              <a:xfrm>
                <a:off x="3099500" y="4615235"/>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7" name="直接连接符 176">
              <a:extLst>
                <a:ext uri="{FF2B5EF4-FFF2-40B4-BE49-F238E27FC236}">
                  <a16:creationId xmlns:a16="http://schemas.microsoft.com/office/drawing/2014/main" id="{DDD7555E-0350-9E4D-9002-EC1A42C58533}"/>
                </a:ext>
              </a:extLst>
            </p:cNvPr>
            <p:cNvCxnSpPr>
              <a:cxnSpLocks/>
            </p:cNvCxnSpPr>
            <p:nvPr/>
          </p:nvCxnSpPr>
          <p:spPr>
            <a:xfrm flipV="1">
              <a:off x="4152430" y="4683605"/>
              <a:ext cx="333560" cy="485467"/>
            </a:xfrm>
            <a:prstGeom prst="line">
              <a:avLst/>
            </a:prstGeom>
          </p:spPr>
          <p:style>
            <a:lnRef idx="1">
              <a:schemeClr val="dk1"/>
            </a:lnRef>
            <a:fillRef idx="0">
              <a:schemeClr val="dk1"/>
            </a:fillRef>
            <a:effectRef idx="0">
              <a:schemeClr val="dk1"/>
            </a:effectRef>
            <a:fontRef idx="minor">
              <a:schemeClr val="tx1"/>
            </a:fontRef>
          </p:style>
        </p:cxnSp>
        <p:sp>
          <p:nvSpPr>
            <p:cNvPr id="202" name="文本框 201">
              <a:extLst>
                <a:ext uri="{FF2B5EF4-FFF2-40B4-BE49-F238E27FC236}">
                  <a16:creationId xmlns:a16="http://schemas.microsoft.com/office/drawing/2014/main" id="{C93609D6-FD02-E072-5E53-C5BAB4732AC0}"/>
                </a:ext>
              </a:extLst>
            </p:cNvPr>
            <p:cNvSpPr txBox="1"/>
            <p:nvPr/>
          </p:nvSpPr>
          <p:spPr>
            <a:xfrm>
              <a:off x="420233" y="6165383"/>
              <a:ext cx="4835567" cy="338554"/>
            </a:xfrm>
            <a:prstGeom prst="rect">
              <a:avLst/>
            </a:prstGeom>
            <a:noFill/>
          </p:spPr>
          <p:txBody>
            <a:bodyPr wrap="square">
              <a:spAutoFit/>
            </a:bodyPr>
            <a:lstStyle/>
            <a:p>
              <a:pPr algn="ctr"/>
              <a:r>
                <a:rPr lang="en-US" altLang="zh-CN" sz="1600" b="1" dirty="0">
                  <a:latin typeface="+mn-ea"/>
                </a:rPr>
                <a:t>Non-Uniformly Spaced Event Sequences</a:t>
              </a:r>
            </a:p>
          </p:txBody>
        </p:sp>
        <p:sp>
          <p:nvSpPr>
            <p:cNvPr id="237" name="文本框 236">
              <a:extLst>
                <a:ext uri="{FF2B5EF4-FFF2-40B4-BE49-F238E27FC236}">
                  <a16:creationId xmlns:a16="http://schemas.microsoft.com/office/drawing/2014/main" id="{3EF66A7D-9F8B-7B4B-83D8-FD976BC2D5C0}"/>
                </a:ext>
              </a:extLst>
            </p:cNvPr>
            <p:cNvSpPr txBox="1"/>
            <p:nvPr/>
          </p:nvSpPr>
          <p:spPr>
            <a:xfrm>
              <a:off x="6155086" y="6165383"/>
              <a:ext cx="4835567" cy="338554"/>
            </a:xfrm>
            <a:prstGeom prst="rect">
              <a:avLst/>
            </a:prstGeom>
            <a:noFill/>
          </p:spPr>
          <p:txBody>
            <a:bodyPr wrap="square">
              <a:spAutoFit/>
            </a:bodyPr>
            <a:lstStyle/>
            <a:p>
              <a:pPr algn="ctr"/>
              <a:r>
                <a:rPr lang="en-US" altLang="zh-CN" sz="1600" b="1" dirty="0">
                  <a:latin typeface="+mn-ea"/>
                </a:rPr>
                <a:t>Uniformly Spaced Event Sequences</a:t>
              </a:r>
            </a:p>
          </p:txBody>
        </p:sp>
      </p:grpSp>
      <p:sp>
        <p:nvSpPr>
          <p:cNvPr id="203" name="文本框 202">
            <a:extLst>
              <a:ext uri="{FF2B5EF4-FFF2-40B4-BE49-F238E27FC236}">
                <a16:creationId xmlns:a16="http://schemas.microsoft.com/office/drawing/2014/main" id="{A365191A-5D23-333F-6884-7014F41E495C}"/>
              </a:ext>
            </a:extLst>
          </p:cNvPr>
          <p:cNvSpPr txBox="1"/>
          <p:nvPr/>
        </p:nvSpPr>
        <p:spPr>
          <a:xfrm>
            <a:off x="4654376" y="5030434"/>
            <a:ext cx="1683209" cy="1352165"/>
          </a:xfrm>
          <a:prstGeom prst="rect">
            <a:avLst/>
          </a:prstGeom>
          <a:noFill/>
        </p:spPr>
        <p:txBody>
          <a:bodyPr wrap="square">
            <a:spAutoFit/>
          </a:bodyPr>
          <a:lstStyle/>
          <a:p>
            <a:pPr algn="ctr">
              <a:lnSpc>
                <a:spcPct val="150000"/>
              </a:lnSpc>
            </a:pPr>
            <a:r>
              <a:rPr lang="en-US" altLang="zh-CN" sz="1400" b="1" dirty="0">
                <a:solidFill>
                  <a:srgbClr val="002060"/>
                </a:solidFill>
                <a:latin typeface="+mn-ea"/>
              </a:rPr>
              <a:t>Memory Errors  </a:t>
            </a:r>
          </a:p>
          <a:p>
            <a:pPr algn="ctr">
              <a:lnSpc>
                <a:spcPct val="150000"/>
              </a:lnSpc>
            </a:pPr>
            <a:r>
              <a:rPr lang="en-US" altLang="zh-CN" sz="1400" b="1" dirty="0">
                <a:solidFill>
                  <a:srgbClr val="002060"/>
                </a:solidFill>
                <a:latin typeface="+mn-ea"/>
              </a:rPr>
              <a:t>System Alerts  </a:t>
            </a:r>
          </a:p>
          <a:p>
            <a:pPr algn="ctr">
              <a:lnSpc>
                <a:spcPct val="150000"/>
              </a:lnSpc>
            </a:pPr>
            <a:r>
              <a:rPr lang="en-US" altLang="zh-CN" sz="1400" b="1" dirty="0">
                <a:solidFill>
                  <a:srgbClr val="002060"/>
                </a:solidFill>
                <a:latin typeface="+mn-ea"/>
              </a:rPr>
              <a:t>User Behavior  </a:t>
            </a:r>
          </a:p>
          <a:p>
            <a:pPr algn="ctr">
              <a:lnSpc>
                <a:spcPct val="150000"/>
              </a:lnSpc>
            </a:pPr>
            <a:r>
              <a:rPr lang="en-US" altLang="zh-CN" sz="1400" b="1" dirty="0">
                <a:solidFill>
                  <a:srgbClr val="002060"/>
                </a:solidFill>
                <a:latin typeface="+mn-ea"/>
              </a:rPr>
              <a:t>(Logs)</a:t>
            </a:r>
          </a:p>
        </p:txBody>
      </p:sp>
      <p:sp>
        <p:nvSpPr>
          <p:cNvPr id="219" name="文本框 218">
            <a:extLst>
              <a:ext uri="{FF2B5EF4-FFF2-40B4-BE49-F238E27FC236}">
                <a16:creationId xmlns:a16="http://schemas.microsoft.com/office/drawing/2014/main" id="{7C6CAC9A-E914-93DE-281C-58DF2E38571A}"/>
              </a:ext>
            </a:extLst>
          </p:cNvPr>
          <p:cNvSpPr txBox="1"/>
          <p:nvPr/>
        </p:nvSpPr>
        <p:spPr>
          <a:xfrm>
            <a:off x="385872" y="1075356"/>
            <a:ext cx="4874685" cy="1029000"/>
          </a:xfrm>
          <a:prstGeom prst="rect">
            <a:avLst/>
          </a:prstGeom>
          <a:noFill/>
        </p:spPr>
        <p:txBody>
          <a:bodyPr wrap="square">
            <a:spAutoFit/>
          </a:bodyPr>
          <a:lstStyle/>
          <a:p>
            <a:pPr lvl="1" indent="-342900">
              <a:lnSpc>
                <a:spcPct val="150000"/>
              </a:lnSpc>
              <a:buClr>
                <a:srgbClr val="C7000B"/>
              </a:buClr>
              <a:buFont typeface="Wingdings" panose="05000000000000000000" pitchFamily="2" charset="2"/>
              <a:buChar char="p"/>
            </a:pPr>
            <a:r>
              <a:rPr lang="en-US" altLang="zh-CN" sz="1400" b="1" dirty="0">
                <a:latin typeface="+mn-ea"/>
              </a:rPr>
              <a:t>Event Sequence-Driven Failure Prediction: </a:t>
            </a:r>
            <a:r>
              <a:rPr lang="en-US" altLang="zh-CN" sz="1400" dirty="0">
                <a:latin typeface="+mn-ea"/>
              </a:rPr>
              <a:t>Based on historical event sequences, this approach predicts whether a failure will occur within a future time window.</a:t>
            </a:r>
          </a:p>
        </p:txBody>
      </p:sp>
      <p:grpSp>
        <p:nvGrpSpPr>
          <p:cNvPr id="220" name="组合 219">
            <a:extLst>
              <a:ext uri="{FF2B5EF4-FFF2-40B4-BE49-F238E27FC236}">
                <a16:creationId xmlns:a16="http://schemas.microsoft.com/office/drawing/2014/main" id="{D02AA40A-2437-5FCA-6176-322E71A0BDFA}"/>
              </a:ext>
            </a:extLst>
          </p:cNvPr>
          <p:cNvGrpSpPr/>
          <p:nvPr/>
        </p:nvGrpSpPr>
        <p:grpSpPr>
          <a:xfrm>
            <a:off x="5342632" y="1201597"/>
            <a:ext cx="6407047" cy="757397"/>
            <a:chOff x="4982662" y="3472279"/>
            <a:chExt cx="6407047" cy="757397"/>
          </a:xfrm>
        </p:grpSpPr>
        <p:sp>
          <p:nvSpPr>
            <p:cNvPr id="221" name="矩形 220">
              <a:extLst>
                <a:ext uri="{FF2B5EF4-FFF2-40B4-BE49-F238E27FC236}">
                  <a16:creationId xmlns:a16="http://schemas.microsoft.com/office/drawing/2014/main" id="{C571D4FF-B843-B3BE-5C59-B63A57C9F5CE}"/>
                </a:ext>
              </a:extLst>
            </p:cNvPr>
            <p:cNvSpPr/>
            <p:nvPr/>
          </p:nvSpPr>
          <p:spPr>
            <a:xfrm>
              <a:off x="5163638" y="3472279"/>
              <a:ext cx="2057400" cy="757397"/>
            </a:xfrm>
            <a:prstGeom prst="rect">
              <a:avLst/>
            </a:prstGeom>
            <a:noFill/>
            <a:ln w="12700" cap="flat" cmpd="sng" algn="ctr">
              <a:solidFill>
                <a:srgbClr val="1D1D1A"/>
              </a:solidFill>
              <a:prstDash val="solid"/>
              <a:miter lim="800000"/>
            </a:ln>
            <a:effectLst/>
          </p:spPr>
          <p:txBody>
            <a:bodyPr rot="0" spcFirstLastPara="0" vert="horz" wrap="square" lIns="91440" tIns="45720" rIns="91440" bIns="45720" numCol="1" spcCol="0" rtlCol="0" fromWordArt="0" anchor="t"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1D1D1A"/>
                  </a:solidFill>
                  <a:effectLst/>
                  <a:uLnTx/>
                  <a:uFillTx/>
                  <a:latin typeface="Calibri"/>
                  <a:ea typeface="等线" panose="02010600030101010101" pitchFamily="2" charset="-122"/>
                  <a:cs typeface="+mn-cs"/>
                </a:rPr>
                <a:t>Observation Window</a:t>
              </a:r>
              <a:endParaRPr kumimoji="0" lang="zh-CN" altLang="en-US" sz="1100" b="1" i="0" u="none" strike="noStrike" kern="1200" cap="none" spc="0" normalizeH="0" baseline="0" noProof="0" dirty="0">
                <a:ln>
                  <a:noFill/>
                </a:ln>
                <a:solidFill>
                  <a:srgbClr val="1D1D1A"/>
                </a:solidFill>
                <a:effectLst/>
                <a:uLnTx/>
                <a:uFillTx/>
                <a:latin typeface="Calibri"/>
                <a:ea typeface="等线" panose="02010600030101010101" pitchFamily="2" charset="-122"/>
                <a:cs typeface="+mn-cs"/>
              </a:endParaRPr>
            </a:p>
          </p:txBody>
        </p:sp>
        <p:sp>
          <p:nvSpPr>
            <p:cNvPr id="222" name="矩形 221">
              <a:extLst>
                <a:ext uri="{FF2B5EF4-FFF2-40B4-BE49-F238E27FC236}">
                  <a16:creationId xmlns:a16="http://schemas.microsoft.com/office/drawing/2014/main" id="{8235B39F-F790-1BDF-C71D-5BF252687AA1}"/>
                </a:ext>
              </a:extLst>
            </p:cNvPr>
            <p:cNvSpPr/>
            <p:nvPr/>
          </p:nvSpPr>
          <p:spPr>
            <a:xfrm>
              <a:off x="7325812" y="3472279"/>
              <a:ext cx="1733550" cy="757397"/>
            </a:xfrm>
            <a:prstGeom prst="rect">
              <a:avLst/>
            </a:prstGeom>
            <a:noFill/>
            <a:ln w="12700" cap="flat" cmpd="sng" algn="ctr">
              <a:solidFill>
                <a:srgbClr val="1D1D1A"/>
              </a:solidFill>
              <a:prstDash val="solid"/>
              <a:miter lim="800000"/>
            </a:ln>
            <a:effectLst/>
          </p:spPr>
          <p:txBody>
            <a:bodyPr rot="0" spcFirstLastPara="0" vert="horz" wrap="square" lIns="91440" tIns="45720" rIns="91440" bIns="45720" numCol="1" spcCol="0" rtlCol="0" fromWordArt="0" anchor="t"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1D1D1A"/>
                  </a:solidFill>
                  <a:effectLst/>
                  <a:uLnTx/>
                  <a:uFillTx/>
                  <a:latin typeface="Calibri"/>
                  <a:ea typeface="等线" panose="02010600030101010101" pitchFamily="2" charset="-122"/>
                  <a:cs typeface="+mn-cs"/>
                </a:rPr>
                <a:t>Lead Window</a:t>
              </a:r>
              <a:endParaRPr kumimoji="0" lang="zh-CN" altLang="en-US" sz="1100" b="1" i="0" u="none" strike="noStrike" kern="1200" cap="none" spc="0" normalizeH="0" baseline="0" noProof="0" dirty="0">
                <a:ln>
                  <a:noFill/>
                </a:ln>
                <a:solidFill>
                  <a:srgbClr val="1D1D1A"/>
                </a:solidFill>
                <a:effectLst/>
                <a:uLnTx/>
                <a:uFillTx/>
                <a:latin typeface="Calibri"/>
                <a:ea typeface="等线" panose="02010600030101010101" pitchFamily="2" charset="-122"/>
                <a:cs typeface="+mn-cs"/>
              </a:endParaRPr>
            </a:p>
          </p:txBody>
        </p:sp>
        <p:sp>
          <p:nvSpPr>
            <p:cNvPr id="223" name="矩形 222">
              <a:extLst>
                <a:ext uri="{FF2B5EF4-FFF2-40B4-BE49-F238E27FC236}">
                  <a16:creationId xmlns:a16="http://schemas.microsoft.com/office/drawing/2014/main" id="{A1059AFD-4D64-A453-C9EA-4205AE8A8222}"/>
                </a:ext>
              </a:extLst>
            </p:cNvPr>
            <p:cNvSpPr/>
            <p:nvPr/>
          </p:nvSpPr>
          <p:spPr>
            <a:xfrm>
              <a:off x="9164136" y="3472279"/>
              <a:ext cx="1495425" cy="757397"/>
            </a:xfrm>
            <a:prstGeom prst="rect">
              <a:avLst/>
            </a:prstGeom>
            <a:noFill/>
            <a:ln w="12700" cap="flat" cmpd="sng" algn="ctr">
              <a:solidFill>
                <a:srgbClr val="1D1D1A"/>
              </a:solidFill>
              <a:prstDash val="solid"/>
              <a:miter lim="800000"/>
            </a:ln>
            <a:effectLst/>
          </p:spPr>
          <p:txBody>
            <a:bodyPr rot="0" spcFirstLastPara="0" vert="horz" wrap="square" lIns="91440" tIns="45720" rIns="91440" bIns="45720" numCol="1" spcCol="0" rtlCol="0" fromWordArt="0" anchor="t"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1D1D1A"/>
                  </a:solidFill>
                  <a:effectLst/>
                  <a:uLnTx/>
                  <a:uFillTx/>
                  <a:latin typeface="Calibri"/>
                  <a:ea typeface="等线" panose="02010600030101010101" pitchFamily="2" charset="-122"/>
                  <a:cs typeface="+mn-cs"/>
                </a:rPr>
                <a:t>Prediction Window</a:t>
              </a:r>
              <a:endParaRPr kumimoji="0" lang="zh-CN" altLang="en-US" sz="1100" b="1" i="0" u="none" strike="noStrike" kern="1200" cap="none" spc="0" normalizeH="0" baseline="0" noProof="0" dirty="0">
                <a:ln>
                  <a:noFill/>
                </a:ln>
                <a:solidFill>
                  <a:srgbClr val="1D1D1A"/>
                </a:solidFill>
                <a:effectLst/>
                <a:uLnTx/>
                <a:uFillTx/>
                <a:latin typeface="Calibri"/>
                <a:ea typeface="等线" panose="02010600030101010101" pitchFamily="2" charset="-122"/>
                <a:cs typeface="+mn-cs"/>
              </a:endParaRPr>
            </a:p>
          </p:txBody>
        </p:sp>
        <p:cxnSp>
          <p:nvCxnSpPr>
            <p:cNvPr id="224" name="直接箭头连接符 223">
              <a:extLst>
                <a:ext uri="{FF2B5EF4-FFF2-40B4-BE49-F238E27FC236}">
                  <a16:creationId xmlns:a16="http://schemas.microsoft.com/office/drawing/2014/main" id="{17DDC787-A992-7AA5-BB15-66DFEB5BF919}"/>
                </a:ext>
              </a:extLst>
            </p:cNvPr>
            <p:cNvCxnSpPr/>
            <p:nvPr/>
          </p:nvCxnSpPr>
          <p:spPr>
            <a:xfrm>
              <a:off x="4982662" y="4058874"/>
              <a:ext cx="5932284" cy="0"/>
            </a:xfrm>
            <a:prstGeom prst="straightConnector1">
              <a:avLst/>
            </a:prstGeom>
            <a:noFill/>
            <a:ln w="6350" cap="flat" cmpd="sng" algn="ctr">
              <a:solidFill>
                <a:srgbClr val="1D1D1A"/>
              </a:solidFill>
              <a:prstDash val="solid"/>
              <a:miter lim="800000"/>
              <a:tailEnd type="triangle"/>
            </a:ln>
            <a:effectLst/>
          </p:spPr>
        </p:cxnSp>
        <p:sp>
          <p:nvSpPr>
            <p:cNvPr id="225" name="文本框 18">
              <a:extLst>
                <a:ext uri="{FF2B5EF4-FFF2-40B4-BE49-F238E27FC236}">
                  <a16:creationId xmlns:a16="http://schemas.microsoft.com/office/drawing/2014/main" id="{E4A1AC96-8A6D-0201-CA90-947A5AECDCE7}"/>
                </a:ext>
              </a:extLst>
            </p:cNvPr>
            <p:cNvSpPr txBox="1"/>
            <p:nvPr/>
          </p:nvSpPr>
          <p:spPr>
            <a:xfrm>
              <a:off x="10802134" y="3923390"/>
              <a:ext cx="587575" cy="26161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1D1D1A"/>
                  </a:solidFill>
                  <a:effectLst/>
                  <a:uLnTx/>
                  <a:uFillTx/>
                  <a:latin typeface="Calibri"/>
                  <a:ea typeface="等线" panose="02010600030101010101" pitchFamily="2" charset="-122"/>
                  <a:cs typeface="+mn-cs"/>
                </a:rPr>
                <a:t>Time</a:t>
              </a:r>
              <a:endParaRPr kumimoji="0" lang="zh-CN" altLang="en-US" sz="1100" b="1" i="0" u="none" strike="noStrike" kern="1200" cap="none" spc="0" normalizeH="0" baseline="0" noProof="0" dirty="0">
                <a:ln>
                  <a:noFill/>
                </a:ln>
                <a:solidFill>
                  <a:srgbClr val="1D1D1A"/>
                </a:solidFill>
                <a:effectLst/>
                <a:uLnTx/>
                <a:uFillTx/>
                <a:latin typeface="Calibri"/>
                <a:ea typeface="等线" panose="02010600030101010101" pitchFamily="2" charset="-122"/>
                <a:cs typeface="+mn-cs"/>
              </a:endParaRPr>
            </a:p>
          </p:txBody>
        </p:sp>
        <p:sp>
          <p:nvSpPr>
            <p:cNvPr id="226" name="平行四边形 225">
              <a:extLst>
                <a:ext uri="{FF2B5EF4-FFF2-40B4-BE49-F238E27FC236}">
                  <a16:creationId xmlns:a16="http://schemas.microsoft.com/office/drawing/2014/main" id="{E2E85937-A2A2-4A40-7056-8D0CC8F589D3}"/>
                </a:ext>
              </a:extLst>
            </p:cNvPr>
            <p:cNvSpPr/>
            <p:nvPr/>
          </p:nvSpPr>
          <p:spPr>
            <a:xfrm>
              <a:off x="5256196" y="3934056"/>
              <a:ext cx="228600" cy="249636"/>
            </a:xfrm>
            <a:prstGeom prst="parallelogram">
              <a:avLst/>
            </a:prstGeom>
            <a:solidFill>
              <a:srgbClr val="FCC800">
                <a:lumMod val="40000"/>
                <a:lumOff val="60000"/>
              </a:srgbClr>
            </a:solidFill>
            <a:ln w="12700" cap="flat" cmpd="sng" algn="ctr">
              <a:solidFill>
                <a:srgbClr val="DDDDDD">
                  <a:lumMod val="50000"/>
                </a:srgbClr>
              </a:solid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a:ea typeface="等线" panose="02010600030101010101" pitchFamily="2" charset="-122"/>
                <a:cs typeface="+mn-cs"/>
              </a:endParaRPr>
            </a:p>
          </p:txBody>
        </p:sp>
        <p:sp>
          <p:nvSpPr>
            <p:cNvPr id="227" name="平行四边形 226">
              <a:extLst>
                <a:ext uri="{FF2B5EF4-FFF2-40B4-BE49-F238E27FC236}">
                  <a16:creationId xmlns:a16="http://schemas.microsoft.com/office/drawing/2014/main" id="{790345CC-A256-1E0A-B45E-3464E0D8862C}"/>
                </a:ext>
              </a:extLst>
            </p:cNvPr>
            <p:cNvSpPr/>
            <p:nvPr/>
          </p:nvSpPr>
          <p:spPr>
            <a:xfrm>
              <a:off x="5665772" y="3934056"/>
              <a:ext cx="228600" cy="249636"/>
            </a:xfrm>
            <a:prstGeom prst="parallelogram">
              <a:avLst/>
            </a:prstGeom>
            <a:solidFill>
              <a:srgbClr val="FCC800">
                <a:lumMod val="40000"/>
                <a:lumOff val="60000"/>
              </a:srgbClr>
            </a:solidFill>
            <a:ln w="12700" cap="flat" cmpd="sng" algn="ctr">
              <a:solidFill>
                <a:srgbClr val="DDDDDD">
                  <a:lumMod val="50000"/>
                </a:srgbClr>
              </a:solid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a:ea typeface="等线" panose="02010600030101010101" pitchFamily="2" charset="-122"/>
                <a:cs typeface="+mn-cs"/>
              </a:endParaRPr>
            </a:p>
          </p:txBody>
        </p:sp>
        <p:sp>
          <p:nvSpPr>
            <p:cNvPr id="228" name="平行四边形 227">
              <a:extLst>
                <a:ext uri="{FF2B5EF4-FFF2-40B4-BE49-F238E27FC236}">
                  <a16:creationId xmlns:a16="http://schemas.microsoft.com/office/drawing/2014/main" id="{91AA100E-F404-3B8F-CA8F-525A43A2658D}"/>
                </a:ext>
              </a:extLst>
            </p:cNvPr>
            <p:cNvSpPr/>
            <p:nvPr/>
          </p:nvSpPr>
          <p:spPr>
            <a:xfrm>
              <a:off x="5919529" y="3934056"/>
              <a:ext cx="228600" cy="249636"/>
            </a:xfrm>
            <a:prstGeom prst="parallelogram">
              <a:avLst/>
            </a:prstGeom>
            <a:solidFill>
              <a:srgbClr val="FCC800">
                <a:lumMod val="40000"/>
                <a:lumOff val="60000"/>
              </a:srgbClr>
            </a:solidFill>
            <a:ln w="12700" cap="flat" cmpd="sng" algn="ctr">
              <a:solidFill>
                <a:srgbClr val="DDDDDD">
                  <a:lumMod val="50000"/>
                </a:srgbClr>
              </a:solid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a:ea typeface="等线" panose="02010600030101010101" pitchFamily="2" charset="-122"/>
                <a:cs typeface="+mn-cs"/>
              </a:endParaRPr>
            </a:p>
          </p:txBody>
        </p:sp>
        <p:sp>
          <p:nvSpPr>
            <p:cNvPr id="229" name="平行四边形 228">
              <a:extLst>
                <a:ext uri="{FF2B5EF4-FFF2-40B4-BE49-F238E27FC236}">
                  <a16:creationId xmlns:a16="http://schemas.microsoft.com/office/drawing/2014/main" id="{576D8B97-A7CF-39EB-E24B-9CED77BC59F5}"/>
                </a:ext>
              </a:extLst>
            </p:cNvPr>
            <p:cNvSpPr/>
            <p:nvPr/>
          </p:nvSpPr>
          <p:spPr>
            <a:xfrm>
              <a:off x="6564900" y="3934056"/>
              <a:ext cx="228600" cy="249636"/>
            </a:xfrm>
            <a:prstGeom prst="parallelogram">
              <a:avLst/>
            </a:prstGeom>
            <a:solidFill>
              <a:srgbClr val="FCC800">
                <a:lumMod val="40000"/>
                <a:lumOff val="60000"/>
              </a:srgbClr>
            </a:solidFill>
            <a:ln w="12700" cap="flat" cmpd="sng" algn="ctr">
              <a:solidFill>
                <a:srgbClr val="DDDDDD">
                  <a:lumMod val="50000"/>
                </a:srgbClr>
              </a:solid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a:ea typeface="等线" panose="02010600030101010101" pitchFamily="2" charset="-122"/>
                <a:cs typeface="+mn-cs"/>
              </a:endParaRPr>
            </a:p>
          </p:txBody>
        </p:sp>
        <p:sp>
          <p:nvSpPr>
            <p:cNvPr id="230" name="平行四边形 229">
              <a:extLst>
                <a:ext uri="{FF2B5EF4-FFF2-40B4-BE49-F238E27FC236}">
                  <a16:creationId xmlns:a16="http://schemas.microsoft.com/office/drawing/2014/main" id="{75531F15-F723-3455-51FE-4F1D5F8FFE7A}"/>
                </a:ext>
              </a:extLst>
            </p:cNvPr>
            <p:cNvSpPr/>
            <p:nvPr/>
          </p:nvSpPr>
          <p:spPr>
            <a:xfrm>
              <a:off x="6963363" y="3934056"/>
              <a:ext cx="228600" cy="249636"/>
            </a:xfrm>
            <a:prstGeom prst="parallelogram">
              <a:avLst/>
            </a:prstGeom>
            <a:solidFill>
              <a:srgbClr val="FCC800">
                <a:lumMod val="40000"/>
                <a:lumOff val="60000"/>
              </a:srgbClr>
            </a:solidFill>
            <a:ln w="12700" cap="flat" cmpd="sng" algn="ctr">
              <a:solidFill>
                <a:srgbClr val="DDDDDD">
                  <a:lumMod val="50000"/>
                </a:srgbClr>
              </a:solid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a:ea typeface="等线" panose="02010600030101010101" pitchFamily="2" charset="-122"/>
                <a:cs typeface="+mn-cs"/>
              </a:endParaRPr>
            </a:p>
          </p:txBody>
        </p:sp>
        <p:sp>
          <p:nvSpPr>
            <p:cNvPr id="231" name="爆炸形: 8 pt  230">
              <a:extLst>
                <a:ext uri="{FF2B5EF4-FFF2-40B4-BE49-F238E27FC236}">
                  <a16:creationId xmlns:a16="http://schemas.microsoft.com/office/drawing/2014/main" id="{8541D904-C4C6-1C5F-2D29-4669EA2A7129}"/>
                </a:ext>
              </a:extLst>
            </p:cNvPr>
            <p:cNvSpPr/>
            <p:nvPr/>
          </p:nvSpPr>
          <p:spPr>
            <a:xfrm>
              <a:off x="9848198" y="3960229"/>
              <a:ext cx="165100" cy="197290"/>
            </a:xfrm>
            <a:prstGeom prst="irregularSeal1">
              <a:avLst/>
            </a:prstGeom>
            <a:solidFill>
              <a:srgbClr val="7F0000">
                <a:lumMod val="60000"/>
                <a:lumOff val="40000"/>
              </a:srgb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a:ea typeface="等线" panose="02010600030101010101" pitchFamily="2" charset="-122"/>
                <a:cs typeface="+mn-cs"/>
              </a:endParaRPr>
            </a:p>
          </p:txBody>
        </p:sp>
        <p:sp>
          <p:nvSpPr>
            <p:cNvPr id="232" name="文本框 32">
              <a:extLst>
                <a:ext uri="{FF2B5EF4-FFF2-40B4-BE49-F238E27FC236}">
                  <a16:creationId xmlns:a16="http://schemas.microsoft.com/office/drawing/2014/main" id="{8EF10F02-7885-D467-2181-6E121AEC4F9C}"/>
                </a:ext>
              </a:extLst>
            </p:cNvPr>
            <p:cNvSpPr txBox="1"/>
            <p:nvPr/>
          </p:nvSpPr>
          <p:spPr>
            <a:xfrm>
              <a:off x="5438863" y="3689452"/>
              <a:ext cx="1495425" cy="24511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rgbClr val="FCC800">
                      <a:lumMod val="75000"/>
                    </a:srgbClr>
                  </a:solidFill>
                  <a:effectLst/>
                  <a:uLnTx/>
                  <a:uFillTx/>
                  <a:latin typeface="Calibri"/>
                  <a:ea typeface="等线" panose="02010600030101010101" pitchFamily="2" charset="-122"/>
                  <a:cs typeface="+mn-cs"/>
                </a:rPr>
                <a:t>Event sequence</a:t>
              </a:r>
              <a:endParaRPr kumimoji="0" lang="zh-CN" altLang="en-US" sz="1000" b="1" i="0" u="none" strike="noStrike" kern="1200" cap="none" spc="0" normalizeH="0" baseline="0" noProof="0" dirty="0">
                <a:ln>
                  <a:noFill/>
                </a:ln>
                <a:solidFill>
                  <a:srgbClr val="FCC800">
                    <a:lumMod val="75000"/>
                  </a:srgbClr>
                </a:solidFill>
                <a:effectLst/>
                <a:uLnTx/>
                <a:uFillTx/>
                <a:latin typeface="Calibri"/>
                <a:ea typeface="等线" panose="02010600030101010101" pitchFamily="2" charset="-122"/>
                <a:cs typeface="+mn-cs"/>
              </a:endParaRPr>
            </a:p>
          </p:txBody>
        </p:sp>
        <p:sp>
          <p:nvSpPr>
            <p:cNvPr id="233" name="文本框 33">
              <a:extLst>
                <a:ext uri="{FF2B5EF4-FFF2-40B4-BE49-F238E27FC236}">
                  <a16:creationId xmlns:a16="http://schemas.microsoft.com/office/drawing/2014/main" id="{527DF11B-F3C3-0A42-F5EA-61BBC0D86FCE}"/>
                </a:ext>
              </a:extLst>
            </p:cNvPr>
            <p:cNvSpPr txBox="1"/>
            <p:nvPr/>
          </p:nvSpPr>
          <p:spPr>
            <a:xfrm>
              <a:off x="9164136" y="3691700"/>
              <a:ext cx="1495426" cy="24511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solidFill>
                    <a:srgbClr val="E9002F"/>
                  </a:solidFill>
                  <a:latin typeface="Calibri"/>
                  <a:ea typeface="等线" panose="02010600030101010101" pitchFamily="2" charset="-122"/>
                </a:rPr>
                <a:t>Memory Failure</a:t>
              </a:r>
              <a:endParaRPr kumimoji="0" lang="zh-CN" altLang="en-US" sz="1000" b="1" i="0" u="none" strike="noStrike" kern="1200" cap="none" spc="0" normalizeH="0" baseline="0" noProof="0" dirty="0">
                <a:ln>
                  <a:noFill/>
                </a:ln>
                <a:solidFill>
                  <a:srgbClr val="E9002F"/>
                </a:solidFill>
                <a:effectLst/>
                <a:uLnTx/>
                <a:uFillTx/>
                <a:latin typeface="Calibri"/>
                <a:ea typeface="等线" panose="02010600030101010101" pitchFamily="2" charset="-122"/>
                <a:cs typeface="+mn-cs"/>
              </a:endParaRPr>
            </a:p>
          </p:txBody>
        </p:sp>
      </p:grpSp>
      <p:sp>
        <p:nvSpPr>
          <p:cNvPr id="238" name="文本框 237">
            <a:extLst>
              <a:ext uri="{FF2B5EF4-FFF2-40B4-BE49-F238E27FC236}">
                <a16:creationId xmlns:a16="http://schemas.microsoft.com/office/drawing/2014/main" id="{3D2BD7F5-2A13-CEBF-CB23-C02A2E97158B}"/>
              </a:ext>
            </a:extLst>
          </p:cNvPr>
          <p:cNvSpPr txBox="1"/>
          <p:nvPr/>
        </p:nvSpPr>
        <p:spPr>
          <a:xfrm>
            <a:off x="10296967" y="5034519"/>
            <a:ext cx="1683209" cy="1352165"/>
          </a:xfrm>
          <a:prstGeom prst="rect">
            <a:avLst/>
          </a:prstGeom>
          <a:noFill/>
        </p:spPr>
        <p:txBody>
          <a:bodyPr wrap="square">
            <a:spAutoFit/>
          </a:bodyPr>
          <a:lstStyle/>
          <a:p>
            <a:pPr algn="ctr">
              <a:lnSpc>
                <a:spcPct val="150000"/>
              </a:lnSpc>
            </a:pPr>
            <a:r>
              <a:rPr lang="en-US" altLang="zh-CN" sz="1400" b="1" dirty="0">
                <a:solidFill>
                  <a:schemeClr val="accent2"/>
                </a:solidFill>
                <a:latin typeface="+mn-ea"/>
              </a:rPr>
              <a:t>Disk Metrics  </a:t>
            </a:r>
          </a:p>
          <a:p>
            <a:pPr algn="ctr">
              <a:lnSpc>
                <a:spcPct val="150000"/>
              </a:lnSpc>
            </a:pPr>
            <a:r>
              <a:rPr lang="en-US" altLang="zh-CN" sz="1400" b="1" dirty="0">
                <a:solidFill>
                  <a:schemeClr val="accent2"/>
                </a:solidFill>
                <a:latin typeface="+mn-ea"/>
              </a:rPr>
              <a:t>System KPIs  </a:t>
            </a:r>
          </a:p>
          <a:p>
            <a:pPr algn="ctr">
              <a:lnSpc>
                <a:spcPct val="150000"/>
              </a:lnSpc>
            </a:pPr>
            <a:r>
              <a:rPr lang="en-US" altLang="zh-CN" sz="1400" b="1" dirty="0">
                <a:solidFill>
                  <a:schemeClr val="accent2"/>
                </a:solidFill>
                <a:latin typeface="+mn-ea"/>
              </a:rPr>
              <a:t>Traffic Records  </a:t>
            </a:r>
          </a:p>
          <a:p>
            <a:pPr algn="ctr">
              <a:lnSpc>
                <a:spcPct val="150000"/>
              </a:lnSpc>
            </a:pPr>
            <a:r>
              <a:rPr lang="en-US" altLang="zh-CN" sz="1400" b="1" dirty="0">
                <a:solidFill>
                  <a:schemeClr val="accent2"/>
                </a:solidFill>
                <a:latin typeface="+mn-ea"/>
              </a:rPr>
              <a:t>(Metrics)</a:t>
            </a:r>
          </a:p>
        </p:txBody>
      </p:sp>
    </p:spTree>
    <p:extLst>
      <p:ext uri="{BB962C8B-B14F-4D97-AF65-F5344CB8AC3E}">
        <p14:creationId xmlns:p14="http://schemas.microsoft.com/office/powerpoint/2010/main" val="539879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CC65E090-5354-42DF-BA76-C6AFCE3421C9}"/>
              </a:ext>
            </a:extLst>
          </p:cNvPr>
          <p:cNvSpPr txBox="1"/>
          <p:nvPr/>
        </p:nvSpPr>
        <p:spPr>
          <a:xfrm>
            <a:off x="790215" y="365302"/>
            <a:ext cx="7836200" cy="461665"/>
          </a:xfrm>
          <a:prstGeom prst="rect">
            <a:avLst/>
          </a:prstGeom>
          <a:noFill/>
        </p:spPr>
        <p:txBody>
          <a:bodyPr wrap="square" rtlCol="0">
            <a:spAutoFit/>
          </a:bodyPr>
          <a:lstStyle/>
          <a:p>
            <a:r>
              <a:rPr lang="en-US" altLang="zh-CN" sz="2400" b="1" dirty="0"/>
              <a:t>Data – Multi-Level Memory Fault Logs (CE logs)</a:t>
            </a:r>
          </a:p>
        </p:txBody>
      </p:sp>
      <p:sp>
        <p:nvSpPr>
          <p:cNvPr id="125" name="矩形 124">
            <a:extLst>
              <a:ext uri="{FF2B5EF4-FFF2-40B4-BE49-F238E27FC236}">
                <a16:creationId xmlns:a16="http://schemas.microsoft.com/office/drawing/2014/main" id="{67F3B131-CD8D-7158-45BE-2CF34105FDC6}"/>
              </a:ext>
            </a:extLst>
          </p:cNvPr>
          <p:cNvSpPr/>
          <p:nvPr/>
        </p:nvSpPr>
        <p:spPr>
          <a:xfrm>
            <a:off x="8114258" y="1064882"/>
            <a:ext cx="2242170" cy="3472044"/>
          </a:xfrm>
          <a:prstGeom prst="rect">
            <a:avLst/>
          </a:prstGeom>
          <a:solidFill>
            <a:srgbClr val="F0F0F0"/>
          </a:solidFill>
          <a:ln w="12700" cap="flat" cmpd="sng" algn="ctr">
            <a:solidFill>
              <a:srgbClr val="4874CB">
                <a:shade val="15000"/>
              </a:srgbClr>
            </a:solid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Memory Access</a:t>
            </a:r>
            <a:endParaRPr kumimoji="0" lang="zh-CN" altLang="en-US"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26" name="矩形 125">
            <a:extLst>
              <a:ext uri="{FF2B5EF4-FFF2-40B4-BE49-F238E27FC236}">
                <a16:creationId xmlns:a16="http://schemas.microsoft.com/office/drawing/2014/main" id="{B820CB4B-B7B9-F26A-F299-37D2B7A5450E}"/>
              </a:ext>
            </a:extLst>
          </p:cNvPr>
          <p:cNvSpPr/>
          <p:nvPr/>
        </p:nvSpPr>
        <p:spPr>
          <a:xfrm>
            <a:off x="3090417" y="1064882"/>
            <a:ext cx="4828337" cy="3472044"/>
          </a:xfrm>
          <a:prstGeom prst="rect">
            <a:avLst/>
          </a:prstGeom>
          <a:solidFill>
            <a:srgbClr val="F0F0F0"/>
          </a:solidFill>
          <a:ln w="12700" cap="flat" cmpd="sng" algn="ctr">
            <a:solidFill>
              <a:srgbClr val="4874CB">
                <a:shade val="15000"/>
              </a:srgbClr>
            </a:solid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DIMM</a:t>
            </a:r>
            <a:endParaRPr kumimoji="0" lang="zh-CN" altLang="en-US"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27" name="矩形 126">
            <a:extLst>
              <a:ext uri="{FF2B5EF4-FFF2-40B4-BE49-F238E27FC236}">
                <a16:creationId xmlns:a16="http://schemas.microsoft.com/office/drawing/2014/main" id="{F050C709-47BA-B274-AE3D-68359D99888E}"/>
              </a:ext>
            </a:extLst>
          </p:cNvPr>
          <p:cNvSpPr/>
          <p:nvPr/>
        </p:nvSpPr>
        <p:spPr>
          <a:xfrm>
            <a:off x="3334322" y="1589045"/>
            <a:ext cx="4373880" cy="2646043"/>
          </a:xfrm>
          <a:prstGeom prst="rect">
            <a:avLst/>
          </a:prstGeom>
          <a:solidFill>
            <a:srgbClr val="EE822F">
              <a:lumMod val="20000"/>
              <a:lumOff val="80000"/>
            </a:srgbClr>
          </a:solidFill>
          <a:ln w="12700" cap="flat" cmpd="sng" algn="ctr">
            <a:solidFill>
              <a:srgbClr val="4874CB">
                <a:shade val="15000"/>
              </a:srgbClr>
            </a:solid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Rank</a:t>
            </a:r>
            <a:endParaRPr kumimoji="0" lang="zh-CN" altLang="en-US" sz="11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28" name="矩形: 圆角 127">
            <a:extLst>
              <a:ext uri="{FF2B5EF4-FFF2-40B4-BE49-F238E27FC236}">
                <a16:creationId xmlns:a16="http://schemas.microsoft.com/office/drawing/2014/main" id="{BB34F1BE-6B9E-9FDB-34AE-D49EAFE4B871}"/>
              </a:ext>
            </a:extLst>
          </p:cNvPr>
          <p:cNvSpPr/>
          <p:nvPr/>
        </p:nvSpPr>
        <p:spPr>
          <a:xfrm>
            <a:off x="3779704" y="1751209"/>
            <a:ext cx="887757" cy="197931"/>
          </a:xfrm>
          <a:prstGeom prst="roundRect">
            <a:avLst/>
          </a:prstGeom>
          <a:solidFill>
            <a:srgbClr val="4874CB">
              <a:lumMod val="20000"/>
              <a:lumOff val="80000"/>
            </a:srgbClr>
          </a:solidFill>
          <a:ln w="12700" cap="flat" cmpd="sng" algn="ctr">
            <a:solidFill>
              <a:srgbClr val="4874CB">
                <a:shade val="15000"/>
              </a:srgbClr>
            </a:solidFill>
            <a:prstDash val="solid"/>
            <a:miter lim="800000"/>
          </a:ln>
          <a:effectLst/>
        </p:spPr>
        <p:txBody>
          <a:bodyPr wrap="square"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Device 0</a:t>
            </a:r>
            <a:endParaRPr kumimoji="0" lang="zh-CN" altLang="en-US"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29" name="矩形: 圆角 128">
            <a:extLst>
              <a:ext uri="{FF2B5EF4-FFF2-40B4-BE49-F238E27FC236}">
                <a16:creationId xmlns:a16="http://schemas.microsoft.com/office/drawing/2014/main" id="{4772E5D9-CA60-04E0-DA2A-D163C171E207}"/>
              </a:ext>
            </a:extLst>
          </p:cNvPr>
          <p:cNvSpPr/>
          <p:nvPr/>
        </p:nvSpPr>
        <p:spPr>
          <a:xfrm>
            <a:off x="4747234" y="1751209"/>
            <a:ext cx="887757" cy="197931"/>
          </a:xfrm>
          <a:prstGeom prst="roundRect">
            <a:avLst/>
          </a:prstGeom>
          <a:solidFill>
            <a:srgbClr val="4874CB">
              <a:lumMod val="20000"/>
              <a:lumOff val="80000"/>
            </a:srgbClr>
          </a:solidFill>
          <a:ln w="12700" cap="flat" cmpd="sng" algn="ctr">
            <a:solidFill>
              <a:srgbClr val="4874CB">
                <a:shade val="15000"/>
              </a:srgbClr>
            </a:solidFill>
            <a:prstDash val="solid"/>
            <a:miter lim="800000"/>
          </a:ln>
          <a:effectLst/>
        </p:spPr>
        <p:txBody>
          <a:bodyPr wrap="square"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Device 1</a:t>
            </a:r>
            <a:endParaRPr kumimoji="0" lang="zh-CN" altLang="en-US"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30" name="矩形: 圆角 129">
            <a:extLst>
              <a:ext uri="{FF2B5EF4-FFF2-40B4-BE49-F238E27FC236}">
                <a16:creationId xmlns:a16="http://schemas.microsoft.com/office/drawing/2014/main" id="{C978F8AC-C60C-AA41-AC66-FC797CE299B4}"/>
              </a:ext>
            </a:extLst>
          </p:cNvPr>
          <p:cNvSpPr/>
          <p:nvPr/>
        </p:nvSpPr>
        <p:spPr>
          <a:xfrm>
            <a:off x="6069655" y="1751209"/>
            <a:ext cx="1158909" cy="197931"/>
          </a:xfrm>
          <a:prstGeom prst="roundRect">
            <a:avLst/>
          </a:prstGeom>
          <a:solidFill>
            <a:srgbClr val="75BD42">
              <a:lumMod val="20000"/>
              <a:lumOff val="80000"/>
            </a:srgbClr>
          </a:solidFill>
          <a:ln w="12700" cap="flat" cmpd="sng" algn="ctr">
            <a:solidFill>
              <a:srgbClr val="4874CB">
                <a:shade val="15000"/>
              </a:srgbClr>
            </a:solidFill>
            <a:prstDash val="solid"/>
            <a:miter lim="800000"/>
          </a:ln>
          <a:effectLst/>
        </p:spPr>
        <p:txBody>
          <a:bodyPr wrap="square"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Device ECC</a:t>
            </a:r>
            <a:endParaRPr kumimoji="0" lang="zh-CN" altLang="en-US"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1" name="文本框 130">
                <a:extLst>
                  <a:ext uri="{FF2B5EF4-FFF2-40B4-BE49-F238E27FC236}">
                    <a16:creationId xmlns:a16="http://schemas.microsoft.com/office/drawing/2014/main" id="{93A913C5-02FC-0C70-53D1-DF2FE5751145}"/>
                  </a:ext>
                </a:extLst>
              </p:cNvPr>
              <p:cNvSpPr txBox="1"/>
              <p:nvPr/>
            </p:nvSpPr>
            <p:spPr>
              <a:xfrm>
                <a:off x="5695712" y="1696286"/>
                <a:ext cx="351325" cy="307777"/>
              </a:xfrm>
              <a:prstGeom prst="rect">
                <a:avLst/>
              </a:prstGeom>
              <a:noFill/>
            </p:spPr>
            <p:txBody>
              <a:bodyPr wrap="square">
                <a:spAutoFit/>
              </a:bodyPr>
              <a:lstStyle/>
              <a:p>
                <a:pPr algn="ctr" defTabSz="914400"/>
                <a14:m>
                  <m:oMathPara xmlns:m="http://schemas.openxmlformats.org/officeDocument/2006/math">
                    <m:oMathParaPr>
                      <m:jc m:val="center"/>
                    </m:oMathParaPr>
                    <m:oMath xmlns:m="http://schemas.openxmlformats.org/officeDocument/2006/math">
                      <m:r>
                        <a:rPr lang="en-US" altLang="zh-CN" sz="1400" b="1" i="1" smtClean="0">
                          <a:solidFill>
                            <a:prstClr val="black"/>
                          </a:solidFill>
                          <a:latin typeface="Cambria Math" panose="02040503050406030204" pitchFamily="18" charset="0"/>
                        </a:rPr>
                        <m:t>⋯</m:t>
                      </m:r>
                    </m:oMath>
                  </m:oMathPara>
                </a14:m>
                <a:endParaRPr lang="en-US" altLang="zh-CN" sz="1400" b="1" dirty="0">
                  <a:solidFill>
                    <a:prstClr val="black"/>
                  </a:solidFill>
                  <a:latin typeface="等线" panose="02010600030101010101" pitchFamily="2" charset="-122"/>
                  <a:cs typeface="Times New Roman" panose="02020603050405020304" pitchFamily="18" charset="0"/>
                </a:endParaRPr>
              </a:p>
            </p:txBody>
          </p:sp>
        </mc:Choice>
        <mc:Fallback xmlns="">
          <p:sp>
            <p:nvSpPr>
              <p:cNvPr id="131" name="文本框 130">
                <a:extLst>
                  <a:ext uri="{FF2B5EF4-FFF2-40B4-BE49-F238E27FC236}">
                    <a16:creationId xmlns:a16="http://schemas.microsoft.com/office/drawing/2014/main" id="{93A913C5-02FC-0C70-53D1-DF2FE5751145}"/>
                  </a:ext>
                </a:extLst>
              </p:cNvPr>
              <p:cNvSpPr txBox="1">
                <a:spLocks noRot="1" noChangeAspect="1" noMove="1" noResize="1" noEditPoints="1" noAdjustHandles="1" noChangeArrowheads="1" noChangeShapeType="1" noTextEdit="1"/>
              </p:cNvSpPr>
              <p:nvPr/>
            </p:nvSpPr>
            <p:spPr>
              <a:xfrm>
                <a:off x="5695712" y="1696286"/>
                <a:ext cx="351325" cy="307777"/>
              </a:xfrm>
              <a:prstGeom prst="rect">
                <a:avLst/>
              </a:prstGeom>
              <a:blipFill>
                <a:blip r:embed="rId3"/>
                <a:stretch>
                  <a:fillRect/>
                </a:stretch>
              </a:blipFill>
            </p:spPr>
            <p:txBody>
              <a:bodyPr/>
              <a:lstStyle/>
              <a:p>
                <a:r>
                  <a:rPr lang="zh-CN" altLang="en-US">
                    <a:noFill/>
                  </a:rPr>
                  <a:t> </a:t>
                </a:r>
              </a:p>
            </p:txBody>
          </p:sp>
        </mc:Fallback>
      </mc:AlternateContent>
      <p:sp>
        <p:nvSpPr>
          <p:cNvPr id="132" name="矩形 131">
            <a:extLst>
              <a:ext uri="{FF2B5EF4-FFF2-40B4-BE49-F238E27FC236}">
                <a16:creationId xmlns:a16="http://schemas.microsoft.com/office/drawing/2014/main" id="{FEE99B08-2657-132C-91A2-0C0024FECEE3}"/>
              </a:ext>
            </a:extLst>
          </p:cNvPr>
          <p:cNvSpPr/>
          <p:nvPr/>
        </p:nvSpPr>
        <p:spPr>
          <a:xfrm>
            <a:off x="3596424" y="2109782"/>
            <a:ext cx="3892793" cy="1873400"/>
          </a:xfrm>
          <a:prstGeom prst="rect">
            <a:avLst/>
          </a:prstGeom>
          <a:solidFill>
            <a:srgbClr val="4874CB">
              <a:lumMod val="20000"/>
              <a:lumOff val="80000"/>
            </a:srgbClr>
          </a:solidFill>
          <a:ln w="12700" cap="flat" cmpd="sng" algn="ctr">
            <a:solidFill>
              <a:srgbClr val="4874CB">
                <a:shade val="15000"/>
              </a:srgbClr>
            </a:solidFill>
            <a:prstDash val="solid"/>
            <a:miter lim="800000"/>
          </a:ln>
          <a:effectLst/>
        </p:spPr>
        <p:txBody>
          <a:bodyPr wrap="square" rtlCol="0" anchor="b">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Device</a:t>
            </a:r>
            <a:endParaRPr kumimoji="0" lang="zh-CN" altLang="en-US" sz="11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34" name="矩形 133">
            <a:extLst>
              <a:ext uri="{FF2B5EF4-FFF2-40B4-BE49-F238E27FC236}">
                <a16:creationId xmlns:a16="http://schemas.microsoft.com/office/drawing/2014/main" id="{E5D9F9C9-A1AD-53AA-72C5-74865B92740F}"/>
              </a:ext>
            </a:extLst>
          </p:cNvPr>
          <p:cNvSpPr/>
          <p:nvPr/>
        </p:nvSpPr>
        <p:spPr>
          <a:xfrm>
            <a:off x="3823911" y="2180331"/>
            <a:ext cx="954000" cy="954000"/>
          </a:xfrm>
          <a:prstGeom prst="rect">
            <a:avLst/>
          </a:prstGeom>
          <a:solidFill>
            <a:sysClr val="window" lastClr="FFFFFF"/>
          </a:solidFill>
          <a:ln w="12700" cap="flat" cmpd="sng" algn="ctr">
            <a:solidFill>
              <a:sysClr val="windowText" lastClr="000000"/>
            </a:solidFill>
            <a:prstDash val="solid"/>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35" name="文本框 134">
            <a:extLst>
              <a:ext uri="{FF2B5EF4-FFF2-40B4-BE49-F238E27FC236}">
                <a16:creationId xmlns:a16="http://schemas.microsoft.com/office/drawing/2014/main" id="{5FF28385-C30A-A245-1D7F-393772646326}"/>
              </a:ext>
            </a:extLst>
          </p:cNvPr>
          <p:cNvSpPr txBox="1"/>
          <p:nvPr/>
        </p:nvSpPr>
        <p:spPr>
          <a:xfrm>
            <a:off x="3823911" y="2160812"/>
            <a:ext cx="503470" cy="21544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prstClr val="black"/>
                </a:solidFill>
                <a:effectLst/>
                <a:uLnTx/>
                <a:uFillTx/>
                <a:latin typeface="等线" panose="02010600030101010101" pitchFamily="2" charset="-122"/>
                <a:cs typeface="Times New Roman" panose="02020603050405020304" pitchFamily="18" charset="0"/>
              </a:rPr>
              <a:t>Bank 0</a:t>
            </a:r>
            <a:endParaRPr kumimoji="0" lang="zh-CN" altLang="en-US" sz="800" b="1" i="0" u="none" strike="noStrike" kern="0" cap="none" spc="0" normalizeH="0" baseline="0" noProof="0" dirty="0">
              <a:ln>
                <a:noFill/>
              </a:ln>
              <a:solidFill>
                <a:prstClr val="black"/>
              </a:solidFill>
              <a:effectLst/>
              <a:uLnTx/>
              <a:uFillTx/>
              <a:latin typeface="等线" panose="02010600030101010101" pitchFamily="2" charset="-122"/>
              <a:cs typeface="Times New Roman" panose="02020603050405020304" pitchFamily="18" charset="0"/>
            </a:endParaRPr>
          </a:p>
        </p:txBody>
      </p:sp>
      <p:sp>
        <p:nvSpPr>
          <p:cNvPr id="137" name="矩形 136">
            <a:extLst>
              <a:ext uri="{FF2B5EF4-FFF2-40B4-BE49-F238E27FC236}">
                <a16:creationId xmlns:a16="http://schemas.microsoft.com/office/drawing/2014/main" id="{E224A182-B6F5-CBB0-DAFA-C2E2C3CF02AE}"/>
              </a:ext>
            </a:extLst>
          </p:cNvPr>
          <p:cNvSpPr/>
          <p:nvPr/>
        </p:nvSpPr>
        <p:spPr>
          <a:xfrm>
            <a:off x="3976311" y="2332731"/>
            <a:ext cx="954000" cy="954000"/>
          </a:xfrm>
          <a:prstGeom prst="rect">
            <a:avLst/>
          </a:prstGeom>
          <a:solidFill>
            <a:sysClr val="window" lastClr="FFFFFF"/>
          </a:solidFill>
          <a:ln w="12700" cap="flat" cmpd="sng" algn="ctr">
            <a:solidFill>
              <a:sysClr val="windowText" lastClr="000000"/>
            </a:solidFill>
            <a:prstDash val="solid"/>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38" name="文本框 137">
            <a:extLst>
              <a:ext uri="{FF2B5EF4-FFF2-40B4-BE49-F238E27FC236}">
                <a16:creationId xmlns:a16="http://schemas.microsoft.com/office/drawing/2014/main" id="{4BB70C98-FC69-DF83-221E-DC20B1EDDD26}"/>
              </a:ext>
            </a:extLst>
          </p:cNvPr>
          <p:cNvSpPr txBox="1"/>
          <p:nvPr/>
        </p:nvSpPr>
        <p:spPr>
          <a:xfrm>
            <a:off x="3976311" y="2313212"/>
            <a:ext cx="503470" cy="21544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prstClr val="black"/>
                </a:solidFill>
                <a:effectLst/>
                <a:uLnTx/>
                <a:uFillTx/>
                <a:latin typeface="等线" panose="02010600030101010101" pitchFamily="2" charset="-122"/>
                <a:cs typeface="Times New Roman" panose="02020603050405020304" pitchFamily="18" charset="0"/>
              </a:rPr>
              <a:t>Bank 1</a:t>
            </a:r>
            <a:endParaRPr kumimoji="0" lang="zh-CN" altLang="en-US" sz="800" b="1" i="0" u="none" strike="noStrike" kern="0" cap="none" spc="0" normalizeH="0" baseline="0" noProof="0" dirty="0">
              <a:ln>
                <a:noFill/>
              </a:ln>
              <a:solidFill>
                <a:prstClr val="black"/>
              </a:solidFill>
              <a:effectLst/>
              <a:uLnTx/>
              <a:uFillTx/>
              <a:latin typeface="等线" panose="02010600030101010101" pitchFamily="2" charset="-122"/>
              <a:cs typeface="Times New Roman" panose="02020603050405020304" pitchFamily="18" charset="0"/>
            </a:endParaRPr>
          </a:p>
        </p:txBody>
      </p:sp>
      <p:sp>
        <p:nvSpPr>
          <p:cNvPr id="140" name="矩形 139">
            <a:extLst>
              <a:ext uri="{FF2B5EF4-FFF2-40B4-BE49-F238E27FC236}">
                <a16:creationId xmlns:a16="http://schemas.microsoft.com/office/drawing/2014/main" id="{CBB6D718-6551-76BA-04D1-AAD7B8532593}"/>
              </a:ext>
            </a:extLst>
          </p:cNvPr>
          <p:cNvSpPr/>
          <p:nvPr/>
        </p:nvSpPr>
        <p:spPr>
          <a:xfrm>
            <a:off x="4128711" y="2485131"/>
            <a:ext cx="954000" cy="954000"/>
          </a:xfrm>
          <a:prstGeom prst="rect">
            <a:avLst/>
          </a:prstGeom>
          <a:solidFill>
            <a:sysClr val="window" lastClr="FFFFFF"/>
          </a:solidFill>
          <a:ln w="12700" cap="flat" cmpd="sng" algn="ctr">
            <a:solidFill>
              <a:sysClr val="windowText" lastClr="000000"/>
            </a:solidFill>
            <a:prstDash val="solid"/>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1" name="文本框 140">
                <a:extLst>
                  <a:ext uri="{FF2B5EF4-FFF2-40B4-BE49-F238E27FC236}">
                    <a16:creationId xmlns:a16="http://schemas.microsoft.com/office/drawing/2014/main" id="{202BD041-30F6-1F1F-19B9-4AC01502943D}"/>
                  </a:ext>
                </a:extLst>
              </p:cNvPr>
              <p:cNvSpPr txBox="1"/>
              <p:nvPr/>
            </p:nvSpPr>
            <p:spPr>
              <a:xfrm>
                <a:off x="4128711" y="2465612"/>
                <a:ext cx="503470" cy="21544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m:t>
                      </m:r>
                    </m:oMath>
                  </m:oMathPara>
                </a14:m>
                <a:endParaRPr kumimoji="0" lang="en-US" altLang="zh-CN" sz="800" b="1" i="0" u="none" strike="noStrike" kern="0" cap="none" spc="0" normalizeH="0" baseline="0" noProof="0" dirty="0">
                  <a:ln>
                    <a:noFill/>
                  </a:ln>
                  <a:solidFill>
                    <a:prstClr val="black"/>
                  </a:solidFill>
                  <a:effectLst/>
                  <a:uLnTx/>
                  <a:uFillTx/>
                  <a:latin typeface="等线" panose="02010600030101010101" pitchFamily="2" charset="-122"/>
                  <a:cs typeface="Times New Roman" panose="02020603050405020304" pitchFamily="18" charset="0"/>
                </a:endParaRPr>
              </a:p>
            </p:txBody>
          </p:sp>
        </mc:Choice>
        <mc:Fallback xmlns="">
          <p:sp>
            <p:nvSpPr>
              <p:cNvPr id="141" name="文本框 140">
                <a:extLst>
                  <a:ext uri="{FF2B5EF4-FFF2-40B4-BE49-F238E27FC236}">
                    <a16:creationId xmlns:a16="http://schemas.microsoft.com/office/drawing/2014/main" id="{202BD041-30F6-1F1F-19B9-4AC01502943D}"/>
                  </a:ext>
                </a:extLst>
              </p:cNvPr>
              <p:cNvSpPr txBox="1">
                <a:spLocks noRot="1" noChangeAspect="1" noMove="1" noResize="1" noEditPoints="1" noAdjustHandles="1" noChangeArrowheads="1" noChangeShapeType="1" noTextEdit="1"/>
              </p:cNvSpPr>
              <p:nvPr/>
            </p:nvSpPr>
            <p:spPr>
              <a:xfrm>
                <a:off x="4128711" y="2465612"/>
                <a:ext cx="503470" cy="215444"/>
              </a:xfrm>
              <a:prstGeom prst="rect">
                <a:avLst/>
              </a:prstGeom>
              <a:blipFill>
                <a:blip r:embed="rId4"/>
                <a:stretch>
                  <a:fillRect/>
                </a:stretch>
              </a:blipFill>
            </p:spPr>
            <p:txBody>
              <a:bodyPr/>
              <a:lstStyle/>
              <a:p>
                <a:r>
                  <a:rPr lang="zh-CN" altLang="en-US">
                    <a:noFill/>
                  </a:rPr>
                  <a:t> </a:t>
                </a:r>
              </a:p>
            </p:txBody>
          </p:sp>
        </mc:Fallback>
      </mc:AlternateContent>
      <p:pic>
        <p:nvPicPr>
          <p:cNvPr id="142" name="图片 141">
            <a:extLst>
              <a:ext uri="{FF2B5EF4-FFF2-40B4-BE49-F238E27FC236}">
                <a16:creationId xmlns:a16="http://schemas.microsoft.com/office/drawing/2014/main" id="{A4E05CE2-4208-F14B-A6F5-D8AF82037411}"/>
              </a:ext>
            </a:extLst>
          </p:cNvPr>
          <p:cNvPicPr>
            <a:picLocks noChangeAspect="1"/>
          </p:cNvPicPr>
          <p:nvPr/>
        </p:nvPicPr>
        <p:blipFill>
          <a:blip r:embed="rId5"/>
          <a:stretch>
            <a:fillRect/>
          </a:stretch>
        </p:blipFill>
        <p:spPr>
          <a:xfrm>
            <a:off x="4273218" y="2661537"/>
            <a:ext cx="957224" cy="955615"/>
          </a:xfrm>
          <a:prstGeom prst="rect">
            <a:avLst/>
          </a:prstGeom>
          <a:ln>
            <a:solidFill>
              <a:sysClr val="windowText" lastClr="000000"/>
            </a:solidFill>
          </a:ln>
        </p:spPr>
      </p:pic>
      <p:sp>
        <p:nvSpPr>
          <p:cNvPr id="143" name="文本框 142">
            <a:extLst>
              <a:ext uri="{FF2B5EF4-FFF2-40B4-BE49-F238E27FC236}">
                <a16:creationId xmlns:a16="http://schemas.microsoft.com/office/drawing/2014/main" id="{DDC71B6C-CCE6-D290-CE8A-69193C5451D7}"/>
              </a:ext>
            </a:extLst>
          </p:cNvPr>
          <p:cNvSpPr txBox="1"/>
          <p:nvPr/>
        </p:nvSpPr>
        <p:spPr>
          <a:xfrm>
            <a:off x="4500095" y="3584695"/>
            <a:ext cx="503470" cy="215444"/>
          </a:xfrm>
          <a:prstGeom prst="rect">
            <a:avLst/>
          </a:prstGeom>
          <a:noFill/>
        </p:spPr>
        <p:txBody>
          <a:bodyPr wrap="square">
            <a:spAutoFit/>
          </a:bodyPr>
          <a:lstStyle/>
          <a:p>
            <a:pPr algn="ctr" defTabSz="914400"/>
            <a:r>
              <a:rPr lang="en-US" altLang="zh-CN" sz="800" b="1" dirty="0">
                <a:solidFill>
                  <a:prstClr val="black"/>
                </a:solidFill>
                <a:latin typeface="等线" panose="02010600030101010101" pitchFamily="2" charset="-122"/>
                <a:cs typeface="Times New Roman" panose="02020603050405020304" pitchFamily="18" charset="0"/>
              </a:rPr>
              <a:t>Bank</a:t>
            </a:r>
            <a:endParaRPr lang="zh-CN" altLang="en-US" sz="800" b="1" dirty="0">
              <a:solidFill>
                <a:prstClr val="black"/>
              </a:solidFill>
              <a:latin typeface="等线" panose="02010600030101010101" pitchFamily="2" charset="-122"/>
              <a:cs typeface="Times New Roman" panose="02020603050405020304" pitchFamily="18" charset="0"/>
            </a:endParaRPr>
          </a:p>
        </p:txBody>
      </p:sp>
      <p:sp>
        <p:nvSpPr>
          <p:cNvPr id="144" name="矩形 143">
            <a:extLst>
              <a:ext uri="{FF2B5EF4-FFF2-40B4-BE49-F238E27FC236}">
                <a16:creationId xmlns:a16="http://schemas.microsoft.com/office/drawing/2014/main" id="{869DF5F2-B100-3655-E0A8-A900F944C2FE}"/>
              </a:ext>
            </a:extLst>
          </p:cNvPr>
          <p:cNvSpPr/>
          <p:nvPr/>
        </p:nvSpPr>
        <p:spPr>
          <a:xfrm>
            <a:off x="5737727" y="2168083"/>
            <a:ext cx="1499530" cy="1563157"/>
          </a:xfrm>
          <a:prstGeom prst="rect">
            <a:avLst/>
          </a:prstGeom>
          <a:solidFill>
            <a:srgbClr val="30C0B4">
              <a:lumMod val="20000"/>
              <a:lumOff val="80000"/>
            </a:srgbClr>
          </a:solidFill>
          <a:ln w="12700" cap="flat" cmpd="sng" algn="ctr">
            <a:solidFill>
              <a:srgbClr val="4874CB">
                <a:shade val="15000"/>
              </a:srgbClr>
            </a:solid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Bank</a:t>
            </a:r>
            <a:endParaRPr kumimoji="0" lang="zh-CN" altLang="en-US" sz="10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pic>
        <p:nvPicPr>
          <p:cNvPr id="145" name="图片 144">
            <a:extLst>
              <a:ext uri="{FF2B5EF4-FFF2-40B4-BE49-F238E27FC236}">
                <a16:creationId xmlns:a16="http://schemas.microsoft.com/office/drawing/2014/main" id="{6BC43484-CAD1-7B21-8C77-62F1501C8F8A}"/>
              </a:ext>
            </a:extLst>
          </p:cNvPr>
          <p:cNvPicPr>
            <a:picLocks noChangeAspect="1"/>
          </p:cNvPicPr>
          <p:nvPr/>
        </p:nvPicPr>
        <p:blipFill>
          <a:blip r:embed="rId6"/>
          <a:stretch>
            <a:fillRect/>
          </a:stretch>
        </p:blipFill>
        <p:spPr>
          <a:xfrm>
            <a:off x="5978027" y="2302370"/>
            <a:ext cx="1188000" cy="1188000"/>
          </a:xfrm>
          <a:prstGeom prst="rect">
            <a:avLst/>
          </a:prstGeom>
        </p:spPr>
      </p:pic>
      <p:sp>
        <p:nvSpPr>
          <p:cNvPr id="146" name="文本框 145">
            <a:extLst>
              <a:ext uri="{FF2B5EF4-FFF2-40B4-BE49-F238E27FC236}">
                <a16:creationId xmlns:a16="http://schemas.microsoft.com/office/drawing/2014/main" id="{DD0610A1-B45C-B6AA-1B0F-2FB3403DB356}"/>
              </a:ext>
            </a:extLst>
          </p:cNvPr>
          <p:cNvSpPr txBox="1"/>
          <p:nvPr/>
        </p:nvSpPr>
        <p:spPr>
          <a:xfrm>
            <a:off x="6434470" y="2125349"/>
            <a:ext cx="629124" cy="215444"/>
          </a:xfrm>
          <a:prstGeom prst="rect">
            <a:avLst/>
          </a:prstGeom>
          <a:noFill/>
        </p:spPr>
        <p:txBody>
          <a:bodyPr wrap="square">
            <a:spAutoFit/>
          </a:bodyPr>
          <a:lstStyle/>
          <a:p>
            <a:pPr algn="ctr" defTabSz="914400"/>
            <a:r>
              <a:rPr lang="en-US" altLang="zh-CN" sz="800" b="1" dirty="0">
                <a:solidFill>
                  <a:prstClr val="black"/>
                </a:solidFill>
                <a:latin typeface="等线" panose="02010600030101010101" pitchFamily="2" charset="-122"/>
                <a:cs typeface="Times New Roman" panose="02020603050405020304" pitchFamily="18" charset="0"/>
              </a:rPr>
              <a:t>Column</a:t>
            </a:r>
            <a:endParaRPr lang="zh-CN" altLang="en-US" sz="800" b="1" dirty="0">
              <a:solidFill>
                <a:prstClr val="black"/>
              </a:solidFill>
              <a:latin typeface="等线" panose="02010600030101010101" pitchFamily="2" charset="-122"/>
              <a:cs typeface="Times New Roman" panose="02020603050405020304" pitchFamily="18" charset="0"/>
            </a:endParaRPr>
          </a:p>
        </p:txBody>
      </p:sp>
      <p:sp>
        <p:nvSpPr>
          <p:cNvPr id="147" name="矩形 146">
            <a:extLst>
              <a:ext uri="{FF2B5EF4-FFF2-40B4-BE49-F238E27FC236}">
                <a16:creationId xmlns:a16="http://schemas.microsoft.com/office/drawing/2014/main" id="{6B0CAE3D-97CD-F5F1-8616-0B97E53476AA}"/>
              </a:ext>
            </a:extLst>
          </p:cNvPr>
          <p:cNvSpPr/>
          <p:nvPr/>
        </p:nvSpPr>
        <p:spPr>
          <a:xfrm>
            <a:off x="5978027" y="2539742"/>
            <a:ext cx="1188000" cy="118800"/>
          </a:xfrm>
          <a:prstGeom prst="rect">
            <a:avLst/>
          </a:prstGeom>
          <a:solidFill>
            <a:srgbClr val="30B5C5">
              <a:lumMod val="50000"/>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b="1" kern="0" dirty="0">
              <a:solidFill>
                <a:srgbClr val="666666"/>
              </a:solidFill>
              <a:latin typeface="等线" panose="02010600030101010101" pitchFamily="2" charset="-122"/>
              <a:cs typeface="Times New Roman" panose="02020603050405020304" pitchFamily="18" charset="0"/>
            </a:endParaRPr>
          </a:p>
        </p:txBody>
      </p:sp>
      <p:sp>
        <p:nvSpPr>
          <p:cNvPr id="148" name="文本框 147">
            <a:extLst>
              <a:ext uri="{FF2B5EF4-FFF2-40B4-BE49-F238E27FC236}">
                <a16:creationId xmlns:a16="http://schemas.microsoft.com/office/drawing/2014/main" id="{33AEAEBD-9FEB-431D-4BD6-896E9230F809}"/>
              </a:ext>
            </a:extLst>
          </p:cNvPr>
          <p:cNvSpPr txBox="1"/>
          <p:nvPr/>
        </p:nvSpPr>
        <p:spPr>
          <a:xfrm>
            <a:off x="5663711" y="2491420"/>
            <a:ext cx="398602" cy="215444"/>
          </a:xfrm>
          <a:prstGeom prst="rect">
            <a:avLst/>
          </a:prstGeom>
          <a:noFill/>
        </p:spPr>
        <p:txBody>
          <a:bodyPr wrap="square">
            <a:spAutoFit/>
          </a:bodyPr>
          <a:lstStyle/>
          <a:p>
            <a:pPr algn="ctr" defTabSz="914400"/>
            <a:r>
              <a:rPr lang="en-US" altLang="zh-CN" sz="800" b="1" dirty="0">
                <a:solidFill>
                  <a:prstClr val="black"/>
                </a:solidFill>
                <a:latin typeface="等线" panose="02010600030101010101" pitchFamily="2" charset="-122"/>
                <a:cs typeface="Times New Roman" panose="02020603050405020304" pitchFamily="18" charset="0"/>
              </a:rPr>
              <a:t>Row</a:t>
            </a:r>
            <a:endParaRPr lang="zh-CN" altLang="en-US" sz="800" b="1" dirty="0">
              <a:solidFill>
                <a:prstClr val="black"/>
              </a:solidFill>
              <a:latin typeface="等线" panose="02010600030101010101" pitchFamily="2" charset="-122"/>
              <a:cs typeface="Times New Roman" panose="02020603050405020304" pitchFamily="18" charset="0"/>
            </a:endParaRPr>
          </a:p>
        </p:txBody>
      </p:sp>
      <p:sp>
        <p:nvSpPr>
          <p:cNvPr id="149" name="矩形 148">
            <a:extLst>
              <a:ext uri="{FF2B5EF4-FFF2-40B4-BE49-F238E27FC236}">
                <a16:creationId xmlns:a16="http://schemas.microsoft.com/office/drawing/2014/main" id="{B10E9153-1274-5F55-DCEE-0144734B503C}"/>
              </a:ext>
            </a:extLst>
          </p:cNvPr>
          <p:cNvSpPr/>
          <p:nvPr/>
        </p:nvSpPr>
        <p:spPr>
          <a:xfrm>
            <a:off x="6689153" y="2300214"/>
            <a:ext cx="119759" cy="1188000"/>
          </a:xfrm>
          <a:prstGeom prst="rect">
            <a:avLst/>
          </a:prstGeom>
          <a:solidFill>
            <a:srgbClr val="30B5C5">
              <a:lumMod val="50000"/>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b="1" kern="0" dirty="0">
              <a:solidFill>
                <a:srgbClr val="666666"/>
              </a:solidFill>
              <a:latin typeface="等线" panose="02010600030101010101" pitchFamily="2" charset="-122"/>
              <a:cs typeface="Times New Roman" panose="02020603050405020304" pitchFamily="18" charset="0"/>
            </a:endParaRPr>
          </a:p>
        </p:txBody>
      </p:sp>
      <p:cxnSp>
        <p:nvCxnSpPr>
          <p:cNvPr id="150" name="直接连接符 149">
            <a:extLst>
              <a:ext uri="{FF2B5EF4-FFF2-40B4-BE49-F238E27FC236}">
                <a16:creationId xmlns:a16="http://schemas.microsoft.com/office/drawing/2014/main" id="{B3FB8D62-C6F0-FA5C-2AD7-C11294438A58}"/>
              </a:ext>
            </a:extLst>
          </p:cNvPr>
          <p:cNvCxnSpPr/>
          <p:nvPr/>
        </p:nvCxnSpPr>
        <p:spPr>
          <a:xfrm flipV="1">
            <a:off x="5230442" y="2168083"/>
            <a:ext cx="507285" cy="493454"/>
          </a:xfrm>
          <a:prstGeom prst="line">
            <a:avLst/>
          </a:prstGeom>
          <a:noFill/>
          <a:ln w="12700" cap="flat" cmpd="sng" algn="ctr">
            <a:solidFill>
              <a:sysClr val="windowText" lastClr="000000"/>
            </a:solidFill>
            <a:prstDash val="solid"/>
            <a:miter lim="800000"/>
          </a:ln>
          <a:effectLst/>
        </p:spPr>
      </p:cxnSp>
      <p:cxnSp>
        <p:nvCxnSpPr>
          <p:cNvPr id="151" name="直接连接符 150">
            <a:extLst>
              <a:ext uri="{FF2B5EF4-FFF2-40B4-BE49-F238E27FC236}">
                <a16:creationId xmlns:a16="http://schemas.microsoft.com/office/drawing/2014/main" id="{4A4B8A4D-0AE8-49FD-7D8D-B0A36B3FC2F2}"/>
              </a:ext>
            </a:extLst>
          </p:cNvPr>
          <p:cNvCxnSpPr/>
          <p:nvPr/>
        </p:nvCxnSpPr>
        <p:spPr>
          <a:xfrm>
            <a:off x="5234354" y="3617152"/>
            <a:ext cx="503373" cy="114088"/>
          </a:xfrm>
          <a:prstGeom prst="line">
            <a:avLst/>
          </a:prstGeom>
          <a:noFill/>
          <a:ln w="12700" cap="flat" cmpd="sng" algn="ctr">
            <a:solidFill>
              <a:sysClr val="windowText" lastClr="000000"/>
            </a:solidFill>
            <a:prstDash val="solid"/>
            <a:miter lim="800000"/>
          </a:ln>
          <a:effectLst/>
        </p:spPr>
      </p:cxnSp>
      <p:sp>
        <p:nvSpPr>
          <p:cNvPr id="152" name="矩形 151">
            <a:extLst>
              <a:ext uri="{FF2B5EF4-FFF2-40B4-BE49-F238E27FC236}">
                <a16:creationId xmlns:a16="http://schemas.microsoft.com/office/drawing/2014/main" id="{01A98B5E-BE04-CCDF-0FB7-DA797D61C8C3}"/>
              </a:ext>
            </a:extLst>
          </p:cNvPr>
          <p:cNvSpPr/>
          <p:nvPr/>
        </p:nvSpPr>
        <p:spPr>
          <a:xfrm>
            <a:off x="6346044" y="2787821"/>
            <a:ext cx="212014" cy="97131"/>
          </a:xfrm>
          <a:prstGeom prst="rect">
            <a:avLst/>
          </a:prstGeom>
          <a:solidFill>
            <a:sysClr val="window" lastClr="FFFFFF"/>
          </a:solidFill>
          <a:ln w="12700" cap="flat" cmpd="sng" algn="ctr">
            <a:solidFill>
              <a:sysClr val="window" lastClr="FFFFFF"/>
            </a:solidFill>
            <a:prstDash val="solid"/>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53" name="文本框 152">
            <a:extLst>
              <a:ext uri="{FF2B5EF4-FFF2-40B4-BE49-F238E27FC236}">
                <a16:creationId xmlns:a16="http://schemas.microsoft.com/office/drawing/2014/main" id="{5859B3C3-FAB3-0FC6-DAC7-5A675E7048D4}"/>
              </a:ext>
            </a:extLst>
          </p:cNvPr>
          <p:cNvSpPr txBox="1"/>
          <p:nvPr/>
        </p:nvSpPr>
        <p:spPr>
          <a:xfrm>
            <a:off x="6130711" y="2777703"/>
            <a:ext cx="629124" cy="164982"/>
          </a:xfrm>
          <a:prstGeom prst="rect">
            <a:avLst/>
          </a:prstGeom>
          <a:noFill/>
        </p:spPr>
        <p:txBody>
          <a:bodyPr wrap="square">
            <a:spAutoFit/>
          </a:bodyPr>
          <a:lstStyle/>
          <a:p>
            <a:pPr algn="ctr" defTabSz="914400">
              <a:lnSpc>
                <a:spcPct val="50000"/>
              </a:lnSpc>
            </a:pPr>
            <a:r>
              <a:rPr lang="en-US" altLang="zh-CN" sz="800" b="1" dirty="0">
                <a:solidFill>
                  <a:prstClr val="black"/>
                </a:solidFill>
                <a:latin typeface="等线" panose="02010600030101010101" pitchFamily="2" charset="-122"/>
                <a:cs typeface="Times New Roman" panose="02020603050405020304" pitchFamily="18" charset="0"/>
              </a:rPr>
              <a:t>Cell</a:t>
            </a:r>
            <a:endParaRPr lang="zh-CN" altLang="en-US" sz="800" b="1" dirty="0">
              <a:solidFill>
                <a:prstClr val="black"/>
              </a:solidFill>
              <a:latin typeface="等线" panose="02010600030101010101" pitchFamily="2" charset="-122"/>
              <a:cs typeface="Times New Roman" panose="02020603050405020304" pitchFamily="18" charset="0"/>
            </a:endParaRPr>
          </a:p>
        </p:txBody>
      </p:sp>
      <p:cxnSp>
        <p:nvCxnSpPr>
          <p:cNvPr id="154" name="直接连接符 153">
            <a:extLst>
              <a:ext uri="{FF2B5EF4-FFF2-40B4-BE49-F238E27FC236}">
                <a16:creationId xmlns:a16="http://schemas.microsoft.com/office/drawing/2014/main" id="{79D59FA0-62F5-A764-0FEF-7D08CADF6864}"/>
              </a:ext>
            </a:extLst>
          </p:cNvPr>
          <p:cNvCxnSpPr>
            <a:stCxn id="153" idx="0"/>
          </p:cNvCxnSpPr>
          <p:nvPr/>
        </p:nvCxnSpPr>
        <p:spPr>
          <a:xfrm flipV="1">
            <a:off x="6445273" y="2628060"/>
            <a:ext cx="281098" cy="149643"/>
          </a:xfrm>
          <a:prstGeom prst="line">
            <a:avLst/>
          </a:prstGeom>
          <a:noFill/>
          <a:ln w="6350" cap="flat" cmpd="sng" algn="ctr">
            <a:solidFill>
              <a:sysClr val="windowText" lastClr="000000"/>
            </a:solidFill>
            <a:prstDash val="solid"/>
            <a:miter lim="800000"/>
          </a:ln>
          <a:effectLst/>
        </p:spPr>
      </p:cxnSp>
      <p:sp>
        <p:nvSpPr>
          <p:cNvPr id="155" name="矩形: 对角圆角 154">
            <a:extLst>
              <a:ext uri="{FF2B5EF4-FFF2-40B4-BE49-F238E27FC236}">
                <a16:creationId xmlns:a16="http://schemas.microsoft.com/office/drawing/2014/main" id="{760EEE7F-CD92-7DB3-4AD9-D9659D1137BE}"/>
              </a:ext>
            </a:extLst>
          </p:cNvPr>
          <p:cNvSpPr/>
          <p:nvPr/>
        </p:nvSpPr>
        <p:spPr>
          <a:xfrm>
            <a:off x="5003565" y="1123201"/>
            <a:ext cx="2704638" cy="410989"/>
          </a:xfrm>
          <a:prstGeom prst="round2DiagRect">
            <a:avLst/>
          </a:prstGeom>
          <a:solidFill>
            <a:sysClr val="window" lastClr="FFFFFF"/>
          </a:solidFill>
          <a:ln w="12700" cap="flat" cmpd="sng" algn="ctr">
            <a:solidFill>
              <a:srgbClr val="4874CB">
                <a:shade val="15000"/>
              </a:srgbClr>
            </a:solidFill>
            <a:prstDash val="solid"/>
            <a:miter lim="800000"/>
          </a:ln>
          <a:effectLst/>
        </p:spPr>
        <p:txBody>
          <a:bodyPr wrap="square"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DIMM &gt; Rank &gt; Device &gt; Bank &gt; Row/Column &gt; Cell</a:t>
            </a:r>
            <a:endParaRPr kumimoji="0" lang="zh-CN" altLang="en-US"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56" name="文本框 155">
            <a:extLst>
              <a:ext uri="{FF2B5EF4-FFF2-40B4-BE49-F238E27FC236}">
                <a16:creationId xmlns:a16="http://schemas.microsoft.com/office/drawing/2014/main" id="{3C1DD236-03EE-CFFE-423E-34CF5D327EBB}"/>
              </a:ext>
            </a:extLst>
          </p:cNvPr>
          <p:cNvSpPr txBox="1"/>
          <p:nvPr/>
        </p:nvSpPr>
        <p:spPr>
          <a:xfrm>
            <a:off x="4397460" y="4565526"/>
            <a:ext cx="2213195" cy="276999"/>
          </a:xfrm>
          <a:prstGeom prst="rect">
            <a:avLst/>
          </a:prstGeom>
          <a:noFill/>
        </p:spPr>
        <p:txBody>
          <a:bodyPr wrap="square" rtlCol="0">
            <a:spAutoFit/>
          </a:bodyPr>
          <a:lstStyle/>
          <a:p>
            <a:pPr algn="ctr" defTabSz="914400"/>
            <a:r>
              <a:rPr lang="en-US" altLang="zh-CN" sz="1200" b="1" dirty="0">
                <a:solidFill>
                  <a:prstClr val="black"/>
                </a:solidFill>
                <a:latin typeface="等线" panose="02010600030101010101" pitchFamily="2" charset="-122"/>
                <a:cs typeface="Times New Roman" panose="02020603050405020304" pitchFamily="18" charset="0"/>
              </a:rPr>
              <a:t>Ⅱ.</a:t>
            </a:r>
            <a:r>
              <a:rPr lang="zh-CN" altLang="en-US" sz="1200" b="1" dirty="0">
                <a:solidFill>
                  <a:prstClr val="black"/>
                </a:solidFill>
                <a:latin typeface="等线" panose="02010600030101010101" pitchFamily="2" charset="-122"/>
                <a:cs typeface="Times New Roman" panose="02020603050405020304" pitchFamily="18" charset="0"/>
              </a:rPr>
              <a:t> </a:t>
            </a:r>
            <a:r>
              <a:rPr lang="en-US" altLang="zh-CN" sz="1200" b="1" dirty="0">
                <a:solidFill>
                  <a:prstClr val="black"/>
                </a:solidFill>
                <a:latin typeface="等线" panose="02010600030101010101" pitchFamily="2" charset="-122"/>
                <a:cs typeface="Times New Roman" panose="02020603050405020304" pitchFamily="18" charset="0"/>
              </a:rPr>
              <a:t>DIMM-level Info</a:t>
            </a:r>
            <a:endParaRPr lang="zh-CN" altLang="en-US" sz="1200" b="1" dirty="0">
              <a:solidFill>
                <a:prstClr val="black"/>
              </a:solidFill>
              <a:latin typeface="等线" panose="02010600030101010101" pitchFamily="2" charset="-122"/>
              <a:cs typeface="Times New Roman" panose="02020603050405020304" pitchFamily="18" charset="0"/>
            </a:endParaRPr>
          </a:p>
        </p:txBody>
      </p:sp>
      <p:sp>
        <p:nvSpPr>
          <p:cNvPr id="157" name="矩形 156">
            <a:extLst>
              <a:ext uri="{FF2B5EF4-FFF2-40B4-BE49-F238E27FC236}">
                <a16:creationId xmlns:a16="http://schemas.microsoft.com/office/drawing/2014/main" id="{60096FDD-ECF8-11EE-157C-3F4942D9CCDE}"/>
              </a:ext>
            </a:extLst>
          </p:cNvPr>
          <p:cNvSpPr/>
          <p:nvPr/>
        </p:nvSpPr>
        <p:spPr>
          <a:xfrm>
            <a:off x="1848072" y="1064882"/>
            <a:ext cx="1050298" cy="3472044"/>
          </a:xfrm>
          <a:prstGeom prst="rect">
            <a:avLst/>
          </a:prstGeom>
          <a:solidFill>
            <a:srgbClr val="F0F0F0"/>
          </a:solidFill>
          <a:ln w="12700" cap="flat" cmpd="sng" algn="ctr">
            <a:solidFill>
              <a:srgbClr val="4874CB">
                <a:shade val="15000"/>
              </a:srgbClr>
            </a:solid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Server</a:t>
            </a:r>
            <a:endParaRPr kumimoji="0" lang="zh-CN" altLang="en-US"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58" name="矩形: 圆角 157">
            <a:extLst>
              <a:ext uri="{FF2B5EF4-FFF2-40B4-BE49-F238E27FC236}">
                <a16:creationId xmlns:a16="http://schemas.microsoft.com/office/drawing/2014/main" id="{9EBAF917-8C14-54C1-7699-3693B48FB1EF}"/>
              </a:ext>
            </a:extLst>
          </p:cNvPr>
          <p:cNvSpPr/>
          <p:nvPr/>
        </p:nvSpPr>
        <p:spPr>
          <a:xfrm>
            <a:off x="2045891" y="1172116"/>
            <a:ext cx="654661" cy="252765"/>
          </a:xfrm>
          <a:prstGeom prst="roundRect">
            <a:avLst/>
          </a:prstGeom>
          <a:solidFill>
            <a:srgbClr val="FFF2F2"/>
          </a:solidFill>
          <a:ln w="12700" cap="flat" cmpd="sng" algn="ctr">
            <a:solidFill>
              <a:srgbClr val="4874CB">
                <a:shade val="15000"/>
              </a:srgbClr>
            </a:solidFill>
            <a:prstDash val="solid"/>
            <a:miter lim="800000"/>
          </a:ln>
          <a:effectLst/>
        </p:spPr>
        <p:txBody>
          <a:bodyPr wrap="square"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CPU 0</a:t>
            </a:r>
            <a:endParaRPr kumimoji="0" lang="zh-CN" altLang="en-US"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59" name="矩形: 圆角 158">
            <a:extLst>
              <a:ext uri="{FF2B5EF4-FFF2-40B4-BE49-F238E27FC236}">
                <a16:creationId xmlns:a16="http://schemas.microsoft.com/office/drawing/2014/main" id="{BB0EFF2F-28F6-AD32-8B2B-B0D7AF76BB60}"/>
              </a:ext>
            </a:extLst>
          </p:cNvPr>
          <p:cNvSpPr/>
          <p:nvPr/>
        </p:nvSpPr>
        <p:spPr>
          <a:xfrm>
            <a:off x="2045891" y="1506681"/>
            <a:ext cx="654661" cy="252765"/>
          </a:xfrm>
          <a:prstGeom prst="roundRect">
            <a:avLst/>
          </a:prstGeom>
          <a:solidFill>
            <a:srgbClr val="FFF2F2"/>
          </a:solidFill>
          <a:ln w="12700" cap="flat" cmpd="sng" algn="ctr">
            <a:solidFill>
              <a:srgbClr val="4874CB">
                <a:shade val="15000"/>
              </a:srgbClr>
            </a:solidFill>
            <a:prstDash val="solid"/>
            <a:miter lim="800000"/>
          </a:ln>
          <a:effectLst/>
        </p:spPr>
        <p:txBody>
          <a:bodyPr wrap="square"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CPU 1</a:t>
            </a:r>
            <a:endParaRPr kumimoji="0" lang="zh-CN" altLang="en-US"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0" name="文本框 159">
                <a:extLst>
                  <a:ext uri="{FF2B5EF4-FFF2-40B4-BE49-F238E27FC236}">
                    <a16:creationId xmlns:a16="http://schemas.microsoft.com/office/drawing/2014/main" id="{8AF372E7-0833-8D9E-4979-B62EFF6858E1}"/>
                  </a:ext>
                </a:extLst>
              </p:cNvPr>
              <p:cNvSpPr txBox="1"/>
              <p:nvPr/>
            </p:nvSpPr>
            <p:spPr>
              <a:xfrm>
                <a:off x="2197559" y="1841246"/>
                <a:ext cx="351325" cy="307777"/>
              </a:xfrm>
              <a:prstGeom prst="rect">
                <a:avLst/>
              </a:prstGeom>
              <a:noFill/>
            </p:spPr>
            <p:txBody>
              <a:bodyPr wrap="square">
                <a:spAutoFit/>
              </a:bodyPr>
              <a:lstStyle/>
              <a:p>
                <a:pPr algn="ctr" defTabSz="914400"/>
                <a14:m>
                  <m:oMathPara xmlns:m="http://schemas.openxmlformats.org/officeDocument/2006/math">
                    <m:oMathParaPr>
                      <m:jc m:val="center"/>
                    </m:oMathParaPr>
                    <m:oMath xmlns:m="http://schemas.openxmlformats.org/officeDocument/2006/math">
                      <m:r>
                        <a:rPr lang="en-US" altLang="zh-CN" sz="1400" b="1" i="1" smtClean="0">
                          <a:solidFill>
                            <a:prstClr val="black"/>
                          </a:solidFill>
                          <a:latin typeface="Cambria Math" panose="02040503050406030204" pitchFamily="18" charset="0"/>
                        </a:rPr>
                        <m:t>⋯</m:t>
                      </m:r>
                    </m:oMath>
                  </m:oMathPara>
                </a14:m>
                <a:endParaRPr lang="en-US" altLang="zh-CN" sz="1400" b="1" dirty="0">
                  <a:solidFill>
                    <a:prstClr val="black"/>
                  </a:solidFill>
                  <a:latin typeface="等线" panose="02010600030101010101" pitchFamily="2" charset="-122"/>
                  <a:cs typeface="Times New Roman" panose="02020603050405020304" pitchFamily="18" charset="0"/>
                </a:endParaRPr>
              </a:p>
            </p:txBody>
          </p:sp>
        </mc:Choice>
        <mc:Fallback xmlns="">
          <p:sp>
            <p:nvSpPr>
              <p:cNvPr id="160" name="文本框 159">
                <a:extLst>
                  <a:ext uri="{FF2B5EF4-FFF2-40B4-BE49-F238E27FC236}">
                    <a16:creationId xmlns:a16="http://schemas.microsoft.com/office/drawing/2014/main" id="{8AF372E7-0833-8D9E-4979-B62EFF6858E1}"/>
                  </a:ext>
                </a:extLst>
              </p:cNvPr>
              <p:cNvSpPr txBox="1">
                <a:spLocks noRot="1" noChangeAspect="1" noMove="1" noResize="1" noEditPoints="1" noAdjustHandles="1" noChangeArrowheads="1" noChangeShapeType="1" noTextEdit="1"/>
              </p:cNvSpPr>
              <p:nvPr/>
            </p:nvSpPr>
            <p:spPr>
              <a:xfrm>
                <a:off x="2197559" y="1841246"/>
                <a:ext cx="351325" cy="307777"/>
              </a:xfrm>
              <a:prstGeom prst="rect">
                <a:avLst/>
              </a:prstGeom>
              <a:blipFill>
                <a:blip r:embed="rId7"/>
                <a:stretch>
                  <a:fillRect/>
                </a:stretch>
              </a:blipFill>
            </p:spPr>
            <p:txBody>
              <a:bodyPr/>
              <a:lstStyle/>
              <a:p>
                <a:r>
                  <a:rPr lang="zh-CN" altLang="en-US">
                    <a:noFill/>
                  </a:rPr>
                  <a:t> </a:t>
                </a:r>
              </a:p>
            </p:txBody>
          </p:sp>
        </mc:Fallback>
      </mc:AlternateContent>
      <p:sp>
        <p:nvSpPr>
          <p:cNvPr id="161" name="矩形 160">
            <a:extLst>
              <a:ext uri="{FF2B5EF4-FFF2-40B4-BE49-F238E27FC236}">
                <a16:creationId xmlns:a16="http://schemas.microsoft.com/office/drawing/2014/main" id="{9C8B868F-4122-ADF2-5719-C98DB97E7F9C}"/>
              </a:ext>
            </a:extLst>
          </p:cNvPr>
          <p:cNvSpPr/>
          <p:nvPr/>
        </p:nvSpPr>
        <p:spPr>
          <a:xfrm>
            <a:off x="1932962" y="2249414"/>
            <a:ext cx="880518" cy="1985674"/>
          </a:xfrm>
          <a:prstGeom prst="rect">
            <a:avLst/>
          </a:prstGeom>
          <a:solidFill>
            <a:srgbClr val="FFF2F2"/>
          </a:solidFill>
          <a:ln w="12700" cap="flat" cmpd="sng" algn="ctr">
            <a:solidFill>
              <a:srgbClr val="4874CB">
                <a:shade val="15000"/>
              </a:srgbClr>
            </a:solid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CPU</a:t>
            </a:r>
            <a:endParaRPr kumimoji="0" lang="zh-CN" altLang="en-US"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pic>
        <p:nvPicPr>
          <p:cNvPr id="162" name="图片 161">
            <a:extLst>
              <a:ext uri="{FF2B5EF4-FFF2-40B4-BE49-F238E27FC236}">
                <a16:creationId xmlns:a16="http://schemas.microsoft.com/office/drawing/2014/main" id="{F1FFB742-4096-BF6E-7796-0A8A683F521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430397" y="2390545"/>
            <a:ext cx="229029" cy="229029"/>
          </a:xfrm>
          <a:prstGeom prst="rect">
            <a:avLst/>
          </a:prstGeom>
        </p:spPr>
      </p:pic>
      <p:sp>
        <p:nvSpPr>
          <p:cNvPr id="163" name="文本框 162">
            <a:extLst>
              <a:ext uri="{FF2B5EF4-FFF2-40B4-BE49-F238E27FC236}">
                <a16:creationId xmlns:a16="http://schemas.microsoft.com/office/drawing/2014/main" id="{90705364-8960-1E72-234C-92C420148738}"/>
              </a:ext>
            </a:extLst>
          </p:cNvPr>
          <p:cNvSpPr txBox="1"/>
          <p:nvPr/>
        </p:nvSpPr>
        <p:spPr>
          <a:xfrm>
            <a:off x="1573242" y="4565526"/>
            <a:ext cx="1599958" cy="276999"/>
          </a:xfrm>
          <a:prstGeom prst="rect">
            <a:avLst/>
          </a:prstGeom>
          <a:noFill/>
        </p:spPr>
        <p:txBody>
          <a:bodyPr wrap="square" rtlCol="0">
            <a:spAutoFit/>
          </a:bodyPr>
          <a:lstStyle/>
          <a:p>
            <a:pPr algn="ctr" defTabSz="914400"/>
            <a:r>
              <a:rPr lang="en-US" altLang="zh-CN" sz="1200" b="1" dirty="0">
                <a:solidFill>
                  <a:prstClr val="black"/>
                </a:solidFill>
                <a:latin typeface="等线" panose="02010600030101010101" pitchFamily="2" charset="-122"/>
                <a:cs typeface="Times New Roman" panose="02020603050405020304" pitchFamily="18" charset="0"/>
              </a:rPr>
              <a:t>Ⅰ.</a:t>
            </a:r>
            <a:r>
              <a:rPr lang="zh-CN" altLang="en-US" sz="1200" b="1" dirty="0">
                <a:solidFill>
                  <a:prstClr val="black"/>
                </a:solidFill>
                <a:latin typeface="等线" panose="02010600030101010101" pitchFamily="2" charset="-122"/>
                <a:cs typeface="Times New Roman" panose="02020603050405020304" pitchFamily="18" charset="0"/>
              </a:rPr>
              <a:t> </a:t>
            </a:r>
            <a:r>
              <a:rPr lang="en-US" altLang="zh-CN" sz="1200" b="1" dirty="0">
                <a:solidFill>
                  <a:prstClr val="black"/>
                </a:solidFill>
                <a:latin typeface="等线" panose="02010600030101010101" pitchFamily="2" charset="-122"/>
                <a:cs typeface="Times New Roman" panose="02020603050405020304" pitchFamily="18" charset="0"/>
              </a:rPr>
              <a:t>Server-level Info</a:t>
            </a:r>
            <a:endParaRPr lang="zh-CN" altLang="en-US" sz="1200" b="1" dirty="0">
              <a:solidFill>
                <a:prstClr val="black"/>
              </a:solidFill>
              <a:latin typeface="等线" panose="02010600030101010101" pitchFamily="2" charset="-122"/>
              <a:cs typeface="Times New Roman" panose="02020603050405020304" pitchFamily="18" charset="0"/>
            </a:endParaRPr>
          </a:p>
        </p:txBody>
      </p:sp>
      <p:sp>
        <p:nvSpPr>
          <p:cNvPr id="164" name="文本框 163">
            <a:extLst>
              <a:ext uri="{FF2B5EF4-FFF2-40B4-BE49-F238E27FC236}">
                <a16:creationId xmlns:a16="http://schemas.microsoft.com/office/drawing/2014/main" id="{174961B1-C226-E605-824A-EFC63304E247}"/>
              </a:ext>
            </a:extLst>
          </p:cNvPr>
          <p:cNvSpPr txBox="1"/>
          <p:nvPr/>
        </p:nvSpPr>
        <p:spPr>
          <a:xfrm>
            <a:off x="2035282" y="2759193"/>
            <a:ext cx="675879" cy="215444"/>
          </a:xfrm>
          <a:prstGeom prst="rect">
            <a:avLst/>
          </a:prstGeom>
          <a:noFill/>
        </p:spPr>
        <p:txBody>
          <a:bodyPr wrap="square">
            <a:spAutoFit/>
          </a:bodyPr>
          <a:lstStyle/>
          <a:p>
            <a:pPr algn="ctr" defTabSz="914400"/>
            <a:r>
              <a:rPr lang="en-US" altLang="zh-CN" sz="800" b="1" dirty="0">
                <a:solidFill>
                  <a:prstClr val="black"/>
                </a:solidFill>
                <a:latin typeface="等线" panose="02010600030101010101" pitchFamily="2" charset="-122"/>
                <a:cs typeface="Times New Roman" panose="02020603050405020304" pitchFamily="18" charset="0"/>
              </a:rPr>
              <a:t>Channel 0</a:t>
            </a:r>
            <a:endParaRPr lang="zh-CN" altLang="en-US" sz="800" b="1" dirty="0">
              <a:solidFill>
                <a:prstClr val="black"/>
              </a:solidFill>
              <a:latin typeface="等线" panose="02010600030101010101" pitchFamily="2" charset="-122"/>
              <a:cs typeface="Times New Roman" panose="02020603050405020304" pitchFamily="18" charset="0"/>
            </a:endParaRPr>
          </a:p>
        </p:txBody>
      </p:sp>
      <p:sp>
        <p:nvSpPr>
          <p:cNvPr id="165" name="文本框 164">
            <a:extLst>
              <a:ext uri="{FF2B5EF4-FFF2-40B4-BE49-F238E27FC236}">
                <a16:creationId xmlns:a16="http://schemas.microsoft.com/office/drawing/2014/main" id="{7F60DC83-B65F-44BE-232D-690471D18817}"/>
              </a:ext>
            </a:extLst>
          </p:cNvPr>
          <p:cNvSpPr txBox="1"/>
          <p:nvPr/>
        </p:nvSpPr>
        <p:spPr>
          <a:xfrm>
            <a:off x="2303757" y="2598902"/>
            <a:ext cx="482308" cy="184666"/>
          </a:xfrm>
          <a:prstGeom prst="rect">
            <a:avLst/>
          </a:prstGeom>
          <a:noFill/>
        </p:spPr>
        <p:txBody>
          <a:bodyPr wrap="square">
            <a:spAutoFit/>
          </a:bodyPr>
          <a:lstStyle/>
          <a:p>
            <a:pPr algn="ctr" defTabSz="914400"/>
            <a:r>
              <a:rPr lang="en-US" altLang="zh-CN" sz="600" b="1" dirty="0">
                <a:solidFill>
                  <a:prstClr val="black"/>
                </a:solidFill>
                <a:latin typeface="等线" panose="02010600030101010101" pitchFamily="2" charset="-122"/>
                <a:cs typeface="Times New Roman" panose="02020603050405020304" pitchFamily="18" charset="0"/>
              </a:rPr>
              <a:t>DIMM 1</a:t>
            </a:r>
            <a:endParaRPr lang="zh-CN" altLang="en-US" sz="600" b="1" dirty="0">
              <a:solidFill>
                <a:prstClr val="black"/>
              </a:solidFill>
              <a:latin typeface="等线" panose="02010600030101010101" pitchFamily="2" charset="-122"/>
              <a:cs typeface="Times New Roman" panose="02020603050405020304" pitchFamily="18" charset="0"/>
            </a:endParaRPr>
          </a:p>
        </p:txBody>
      </p:sp>
      <p:pic>
        <p:nvPicPr>
          <p:cNvPr id="166" name="图片 165">
            <a:extLst>
              <a:ext uri="{FF2B5EF4-FFF2-40B4-BE49-F238E27FC236}">
                <a16:creationId xmlns:a16="http://schemas.microsoft.com/office/drawing/2014/main" id="{180F98BD-A8AD-F5C8-8810-35BB6CE2A8A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088434" y="2390565"/>
            <a:ext cx="229029" cy="229029"/>
          </a:xfrm>
          <a:prstGeom prst="rect">
            <a:avLst/>
          </a:prstGeom>
        </p:spPr>
      </p:pic>
      <p:sp>
        <p:nvSpPr>
          <p:cNvPr id="167" name="文本框 166">
            <a:extLst>
              <a:ext uri="{FF2B5EF4-FFF2-40B4-BE49-F238E27FC236}">
                <a16:creationId xmlns:a16="http://schemas.microsoft.com/office/drawing/2014/main" id="{E01DF04C-8325-6763-6073-CE9A02E7C38D}"/>
              </a:ext>
            </a:extLst>
          </p:cNvPr>
          <p:cNvSpPr txBox="1"/>
          <p:nvPr/>
        </p:nvSpPr>
        <p:spPr>
          <a:xfrm>
            <a:off x="1961794" y="2598922"/>
            <a:ext cx="482308" cy="184666"/>
          </a:xfrm>
          <a:prstGeom prst="rect">
            <a:avLst/>
          </a:prstGeom>
          <a:noFill/>
        </p:spPr>
        <p:txBody>
          <a:bodyPr wrap="square">
            <a:spAutoFit/>
          </a:bodyPr>
          <a:lstStyle/>
          <a:p>
            <a:pPr algn="ctr" defTabSz="914400"/>
            <a:r>
              <a:rPr lang="en-US" altLang="zh-CN" sz="600" b="1" dirty="0">
                <a:solidFill>
                  <a:prstClr val="black"/>
                </a:solidFill>
                <a:latin typeface="等线" panose="02010600030101010101" pitchFamily="2" charset="-122"/>
                <a:cs typeface="Times New Roman" panose="02020603050405020304" pitchFamily="18" charset="0"/>
              </a:rPr>
              <a:t>DIMM 0</a:t>
            </a:r>
            <a:endParaRPr lang="zh-CN" altLang="en-US" sz="600" b="1" dirty="0">
              <a:solidFill>
                <a:prstClr val="black"/>
              </a:solidFill>
              <a:latin typeface="等线" panose="02010600030101010101" pitchFamily="2" charset="-122"/>
              <a:cs typeface="Times New Roman" panose="02020603050405020304" pitchFamily="18" charset="0"/>
            </a:endParaRPr>
          </a:p>
        </p:txBody>
      </p:sp>
      <p:sp>
        <p:nvSpPr>
          <p:cNvPr id="168" name="矩形 167">
            <a:extLst>
              <a:ext uri="{FF2B5EF4-FFF2-40B4-BE49-F238E27FC236}">
                <a16:creationId xmlns:a16="http://schemas.microsoft.com/office/drawing/2014/main" id="{9075B883-7412-E7FD-D6E6-F0D999385F54}"/>
              </a:ext>
            </a:extLst>
          </p:cNvPr>
          <p:cNvSpPr/>
          <p:nvPr/>
        </p:nvSpPr>
        <p:spPr>
          <a:xfrm>
            <a:off x="1999244" y="2329730"/>
            <a:ext cx="747954" cy="618522"/>
          </a:xfrm>
          <a:prstGeom prst="rect">
            <a:avLst/>
          </a:prstGeom>
          <a:noFill/>
          <a:ln w="12700" cap="flat" cmpd="sng" algn="ctr">
            <a:solidFill>
              <a:sysClr val="windowText" lastClr="000000"/>
            </a:solidFill>
            <a:prstDash val="dash"/>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pic>
        <p:nvPicPr>
          <p:cNvPr id="169" name="图片 168">
            <a:extLst>
              <a:ext uri="{FF2B5EF4-FFF2-40B4-BE49-F238E27FC236}">
                <a16:creationId xmlns:a16="http://schemas.microsoft.com/office/drawing/2014/main" id="{53E29CF1-17B9-5663-4E4C-2DF7271F2A6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430397" y="3135843"/>
            <a:ext cx="229029" cy="229029"/>
          </a:xfrm>
          <a:prstGeom prst="rect">
            <a:avLst/>
          </a:prstGeom>
        </p:spPr>
      </p:pic>
      <p:sp>
        <p:nvSpPr>
          <p:cNvPr id="170" name="文本框 169">
            <a:extLst>
              <a:ext uri="{FF2B5EF4-FFF2-40B4-BE49-F238E27FC236}">
                <a16:creationId xmlns:a16="http://schemas.microsoft.com/office/drawing/2014/main" id="{6D1E86E2-5061-3078-657E-BA8F89248A44}"/>
              </a:ext>
            </a:extLst>
          </p:cNvPr>
          <p:cNvSpPr txBox="1"/>
          <p:nvPr/>
        </p:nvSpPr>
        <p:spPr>
          <a:xfrm>
            <a:off x="2035282" y="3504491"/>
            <a:ext cx="675879" cy="215444"/>
          </a:xfrm>
          <a:prstGeom prst="rect">
            <a:avLst/>
          </a:prstGeom>
          <a:noFill/>
        </p:spPr>
        <p:txBody>
          <a:bodyPr wrap="square">
            <a:spAutoFit/>
          </a:bodyPr>
          <a:lstStyle/>
          <a:p>
            <a:pPr algn="ctr" defTabSz="914400"/>
            <a:r>
              <a:rPr lang="en-US" altLang="zh-CN" sz="800" b="1" dirty="0">
                <a:solidFill>
                  <a:prstClr val="black"/>
                </a:solidFill>
                <a:latin typeface="等线" panose="02010600030101010101" pitchFamily="2" charset="-122"/>
                <a:cs typeface="Times New Roman" panose="02020603050405020304" pitchFamily="18" charset="0"/>
              </a:rPr>
              <a:t>Channel 1</a:t>
            </a:r>
            <a:endParaRPr lang="zh-CN" altLang="en-US" sz="800" b="1" dirty="0">
              <a:solidFill>
                <a:prstClr val="black"/>
              </a:solidFill>
              <a:latin typeface="等线" panose="02010600030101010101" pitchFamily="2" charset="-122"/>
              <a:cs typeface="Times New Roman" panose="02020603050405020304" pitchFamily="18" charset="0"/>
            </a:endParaRPr>
          </a:p>
        </p:txBody>
      </p:sp>
      <p:sp>
        <p:nvSpPr>
          <p:cNvPr id="171" name="文本框 170">
            <a:extLst>
              <a:ext uri="{FF2B5EF4-FFF2-40B4-BE49-F238E27FC236}">
                <a16:creationId xmlns:a16="http://schemas.microsoft.com/office/drawing/2014/main" id="{9FFD2193-F8E0-D4C6-340C-3C88C8E89E34}"/>
              </a:ext>
            </a:extLst>
          </p:cNvPr>
          <p:cNvSpPr txBox="1"/>
          <p:nvPr/>
        </p:nvSpPr>
        <p:spPr>
          <a:xfrm>
            <a:off x="2303757" y="3344200"/>
            <a:ext cx="482308" cy="184666"/>
          </a:xfrm>
          <a:prstGeom prst="rect">
            <a:avLst/>
          </a:prstGeom>
          <a:noFill/>
        </p:spPr>
        <p:txBody>
          <a:bodyPr wrap="square">
            <a:spAutoFit/>
          </a:bodyPr>
          <a:lstStyle/>
          <a:p>
            <a:pPr algn="ctr" defTabSz="914400"/>
            <a:r>
              <a:rPr lang="en-US" altLang="zh-CN" sz="600" b="1" dirty="0">
                <a:solidFill>
                  <a:prstClr val="black"/>
                </a:solidFill>
                <a:latin typeface="等线" panose="02010600030101010101" pitchFamily="2" charset="-122"/>
                <a:cs typeface="Times New Roman" panose="02020603050405020304" pitchFamily="18" charset="0"/>
              </a:rPr>
              <a:t>DIMM 1</a:t>
            </a:r>
            <a:endParaRPr lang="zh-CN" altLang="en-US" sz="600" b="1" dirty="0">
              <a:solidFill>
                <a:prstClr val="black"/>
              </a:solidFill>
              <a:latin typeface="等线" panose="02010600030101010101" pitchFamily="2" charset="-122"/>
              <a:cs typeface="Times New Roman" panose="02020603050405020304" pitchFamily="18" charset="0"/>
            </a:endParaRPr>
          </a:p>
        </p:txBody>
      </p:sp>
      <p:pic>
        <p:nvPicPr>
          <p:cNvPr id="172" name="图片 171">
            <a:extLst>
              <a:ext uri="{FF2B5EF4-FFF2-40B4-BE49-F238E27FC236}">
                <a16:creationId xmlns:a16="http://schemas.microsoft.com/office/drawing/2014/main" id="{17947481-BD53-E4F9-49AB-2F5B862BC50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088434" y="3135863"/>
            <a:ext cx="229029" cy="229029"/>
          </a:xfrm>
          <a:prstGeom prst="rect">
            <a:avLst/>
          </a:prstGeom>
        </p:spPr>
      </p:pic>
      <p:sp>
        <p:nvSpPr>
          <p:cNvPr id="173" name="文本框 172">
            <a:extLst>
              <a:ext uri="{FF2B5EF4-FFF2-40B4-BE49-F238E27FC236}">
                <a16:creationId xmlns:a16="http://schemas.microsoft.com/office/drawing/2014/main" id="{40D69729-46A5-2BA9-D95D-B1C8D27D5DCD}"/>
              </a:ext>
            </a:extLst>
          </p:cNvPr>
          <p:cNvSpPr txBox="1"/>
          <p:nvPr/>
        </p:nvSpPr>
        <p:spPr>
          <a:xfrm>
            <a:off x="1961794" y="3344220"/>
            <a:ext cx="482308" cy="184666"/>
          </a:xfrm>
          <a:prstGeom prst="rect">
            <a:avLst/>
          </a:prstGeom>
          <a:noFill/>
        </p:spPr>
        <p:txBody>
          <a:bodyPr wrap="square">
            <a:spAutoFit/>
          </a:bodyPr>
          <a:lstStyle/>
          <a:p>
            <a:pPr algn="ctr" defTabSz="914400"/>
            <a:r>
              <a:rPr lang="en-US" altLang="zh-CN" sz="600" b="1" dirty="0">
                <a:solidFill>
                  <a:prstClr val="black"/>
                </a:solidFill>
                <a:latin typeface="等线" panose="02010600030101010101" pitchFamily="2" charset="-122"/>
                <a:cs typeface="Times New Roman" panose="02020603050405020304" pitchFamily="18" charset="0"/>
              </a:rPr>
              <a:t>DIMM 0</a:t>
            </a:r>
            <a:endParaRPr lang="zh-CN" altLang="en-US" sz="600" b="1" dirty="0">
              <a:solidFill>
                <a:prstClr val="black"/>
              </a:solidFill>
              <a:latin typeface="等线" panose="02010600030101010101" pitchFamily="2" charset="-122"/>
              <a:cs typeface="Times New Roman" panose="02020603050405020304" pitchFamily="18" charset="0"/>
            </a:endParaRPr>
          </a:p>
        </p:txBody>
      </p:sp>
      <p:sp>
        <p:nvSpPr>
          <p:cNvPr id="174" name="矩形 173">
            <a:extLst>
              <a:ext uri="{FF2B5EF4-FFF2-40B4-BE49-F238E27FC236}">
                <a16:creationId xmlns:a16="http://schemas.microsoft.com/office/drawing/2014/main" id="{EB34E0FB-5AD9-9B20-FD37-81D333DD87C6}"/>
              </a:ext>
            </a:extLst>
          </p:cNvPr>
          <p:cNvSpPr/>
          <p:nvPr/>
        </p:nvSpPr>
        <p:spPr>
          <a:xfrm>
            <a:off x="1999244" y="3075028"/>
            <a:ext cx="747954" cy="618522"/>
          </a:xfrm>
          <a:prstGeom prst="rect">
            <a:avLst/>
          </a:prstGeom>
          <a:noFill/>
          <a:ln w="12700" cap="flat" cmpd="sng" algn="ctr">
            <a:solidFill>
              <a:sysClr val="windowText" lastClr="000000"/>
            </a:solidFill>
            <a:prstDash val="dash"/>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5" name="文本框 174">
                <a:extLst>
                  <a:ext uri="{FF2B5EF4-FFF2-40B4-BE49-F238E27FC236}">
                    <a16:creationId xmlns:a16="http://schemas.microsoft.com/office/drawing/2014/main" id="{91A6C86C-C1B7-E116-D628-BF2DEAB36BC2}"/>
                  </a:ext>
                </a:extLst>
              </p:cNvPr>
              <p:cNvSpPr txBox="1"/>
              <p:nvPr/>
            </p:nvSpPr>
            <p:spPr>
              <a:xfrm>
                <a:off x="2197559" y="3705645"/>
                <a:ext cx="351325" cy="307777"/>
              </a:xfrm>
              <a:prstGeom prst="rect">
                <a:avLst/>
              </a:prstGeom>
              <a:noFill/>
            </p:spPr>
            <p:txBody>
              <a:bodyPr wrap="square">
                <a:spAutoFit/>
              </a:bodyPr>
              <a:lstStyle/>
              <a:p>
                <a:pPr algn="ctr" defTabSz="914400"/>
                <a14:m>
                  <m:oMathPara xmlns:m="http://schemas.openxmlformats.org/officeDocument/2006/math">
                    <m:oMathParaPr>
                      <m:jc m:val="center"/>
                    </m:oMathParaPr>
                    <m:oMath xmlns:m="http://schemas.openxmlformats.org/officeDocument/2006/math">
                      <m:r>
                        <a:rPr lang="en-US" altLang="zh-CN" sz="1400" b="1" i="1" smtClean="0">
                          <a:solidFill>
                            <a:prstClr val="black"/>
                          </a:solidFill>
                          <a:latin typeface="Cambria Math" panose="02040503050406030204" pitchFamily="18" charset="0"/>
                        </a:rPr>
                        <m:t>⋯</m:t>
                      </m:r>
                    </m:oMath>
                  </m:oMathPara>
                </a14:m>
                <a:endParaRPr lang="en-US" altLang="zh-CN" sz="1400" b="1" dirty="0">
                  <a:solidFill>
                    <a:prstClr val="black"/>
                  </a:solidFill>
                  <a:latin typeface="等线" panose="02010600030101010101" pitchFamily="2" charset="-122"/>
                  <a:cs typeface="Times New Roman" panose="02020603050405020304" pitchFamily="18" charset="0"/>
                </a:endParaRPr>
              </a:p>
            </p:txBody>
          </p:sp>
        </mc:Choice>
        <mc:Fallback xmlns="">
          <p:sp>
            <p:nvSpPr>
              <p:cNvPr id="175" name="文本框 174">
                <a:extLst>
                  <a:ext uri="{FF2B5EF4-FFF2-40B4-BE49-F238E27FC236}">
                    <a16:creationId xmlns:a16="http://schemas.microsoft.com/office/drawing/2014/main" id="{91A6C86C-C1B7-E116-D628-BF2DEAB36BC2}"/>
                  </a:ext>
                </a:extLst>
              </p:cNvPr>
              <p:cNvSpPr txBox="1">
                <a:spLocks noRot="1" noChangeAspect="1" noMove="1" noResize="1" noEditPoints="1" noAdjustHandles="1" noChangeArrowheads="1" noChangeShapeType="1" noTextEdit="1"/>
              </p:cNvSpPr>
              <p:nvPr/>
            </p:nvSpPr>
            <p:spPr>
              <a:xfrm>
                <a:off x="2197559" y="3705645"/>
                <a:ext cx="351325" cy="307777"/>
              </a:xfrm>
              <a:prstGeom prst="rect">
                <a:avLst/>
              </a:prstGeom>
              <a:blipFill>
                <a:blip r:embed="rId9"/>
                <a:stretch>
                  <a:fillRect/>
                </a:stretch>
              </a:blipFill>
            </p:spPr>
            <p:txBody>
              <a:bodyPr/>
              <a:lstStyle/>
              <a:p>
                <a:r>
                  <a:rPr lang="zh-CN" altLang="en-US">
                    <a:noFill/>
                  </a:rPr>
                  <a:t> </a:t>
                </a:r>
              </a:p>
            </p:txBody>
          </p:sp>
        </mc:Fallback>
      </mc:AlternateContent>
      <p:sp>
        <p:nvSpPr>
          <p:cNvPr id="176" name="矩形: 圆角 175">
            <a:extLst>
              <a:ext uri="{FF2B5EF4-FFF2-40B4-BE49-F238E27FC236}">
                <a16:creationId xmlns:a16="http://schemas.microsoft.com/office/drawing/2014/main" id="{036F06E1-0832-B015-ECD6-6E793A9B7569}"/>
              </a:ext>
            </a:extLst>
          </p:cNvPr>
          <p:cNvSpPr/>
          <p:nvPr/>
        </p:nvSpPr>
        <p:spPr>
          <a:xfrm>
            <a:off x="3889194" y="1200179"/>
            <a:ext cx="862636" cy="252765"/>
          </a:xfrm>
          <a:prstGeom prst="roundRect">
            <a:avLst/>
          </a:prstGeom>
          <a:solidFill>
            <a:srgbClr val="EE822F">
              <a:lumMod val="20000"/>
              <a:lumOff val="80000"/>
            </a:srgbClr>
          </a:solidFill>
          <a:ln w="12700" cap="flat" cmpd="sng" algn="ctr">
            <a:solidFill>
              <a:srgbClr val="4874CB">
                <a:shade val="15000"/>
              </a:srgbClr>
            </a:solidFill>
            <a:prstDash val="solid"/>
            <a:miter lim="800000"/>
          </a:ln>
          <a:effectLst/>
        </p:spPr>
        <p:txBody>
          <a:bodyPr wrap="square"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Rank 0</a:t>
            </a:r>
            <a:endParaRPr kumimoji="0" lang="zh-CN" altLang="en-US"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pic>
        <p:nvPicPr>
          <p:cNvPr id="177" name="图片 176">
            <a:extLst>
              <a:ext uri="{FF2B5EF4-FFF2-40B4-BE49-F238E27FC236}">
                <a16:creationId xmlns:a16="http://schemas.microsoft.com/office/drawing/2014/main" id="{2B92C288-4469-B13A-7755-E1047C7A6E0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131624" y="1114507"/>
            <a:ext cx="415257" cy="415257"/>
          </a:xfrm>
          <a:prstGeom prst="rect">
            <a:avLst/>
          </a:prstGeom>
        </p:spPr>
      </p:pic>
      <p:cxnSp>
        <p:nvCxnSpPr>
          <p:cNvPr id="178" name="直接连接符 177">
            <a:extLst>
              <a:ext uri="{FF2B5EF4-FFF2-40B4-BE49-F238E27FC236}">
                <a16:creationId xmlns:a16="http://schemas.microsoft.com/office/drawing/2014/main" id="{7A31016A-F80E-D4E0-0058-E96EDC0FCC7F}"/>
              </a:ext>
            </a:extLst>
          </p:cNvPr>
          <p:cNvCxnSpPr>
            <a:stCxn id="177" idx="3"/>
            <a:endCxn id="176" idx="1"/>
          </p:cNvCxnSpPr>
          <p:nvPr/>
        </p:nvCxnSpPr>
        <p:spPr>
          <a:xfrm>
            <a:off x="3546881" y="1322136"/>
            <a:ext cx="342313" cy="4426"/>
          </a:xfrm>
          <a:prstGeom prst="line">
            <a:avLst/>
          </a:prstGeom>
          <a:noFill/>
          <a:ln w="12700" cap="flat" cmpd="sng" algn="ctr">
            <a:solidFill>
              <a:sysClr val="windowText" lastClr="000000"/>
            </a:solidFill>
            <a:prstDash val="solid"/>
            <a:miter lim="800000"/>
          </a:ln>
          <a:effectLst/>
        </p:spPr>
      </p:cxnSp>
      <p:cxnSp>
        <p:nvCxnSpPr>
          <p:cNvPr id="179" name="直接连接符 178">
            <a:extLst>
              <a:ext uri="{FF2B5EF4-FFF2-40B4-BE49-F238E27FC236}">
                <a16:creationId xmlns:a16="http://schemas.microsoft.com/office/drawing/2014/main" id="{33BC42BF-A9C8-609F-6A13-6EE74C8E9B08}"/>
              </a:ext>
            </a:extLst>
          </p:cNvPr>
          <p:cNvCxnSpPr>
            <a:stCxn id="177" idx="3"/>
          </p:cNvCxnSpPr>
          <p:nvPr/>
        </p:nvCxnSpPr>
        <p:spPr>
          <a:xfrm flipH="1">
            <a:off x="3334322" y="1322136"/>
            <a:ext cx="212559" cy="266909"/>
          </a:xfrm>
          <a:prstGeom prst="line">
            <a:avLst/>
          </a:prstGeom>
          <a:noFill/>
          <a:ln w="12700" cap="flat" cmpd="sng" algn="ctr">
            <a:solidFill>
              <a:sysClr val="windowText" lastClr="000000"/>
            </a:solidFill>
            <a:prstDash val="solid"/>
            <a:miter lim="800000"/>
          </a:ln>
          <a:effectLst/>
        </p:spPr>
      </p:cxnSp>
      <p:graphicFrame>
        <p:nvGraphicFramePr>
          <p:cNvPr id="180" name="表格 179">
            <a:extLst>
              <a:ext uri="{FF2B5EF4-FFF2-40B4-BE49-F238E27FC236}">
                <a16:creationId xmlns:a16="http://schemas.microsoft.com/office/drawing/2014/main" id="{04D7403B-7AC4-B11D-5E5B-E25E3F18567F}"/>
              </a:ext>
            </a:extLst>
          </p:cNvPr>
          <p:cNvGraphicFramePr>
            <a:graphicFrameLocks noGrp="1"/>
          </p:cNvGraphicFramePr>
          <p:nvPr/>
        </p:nvGraphicFramePr>
        <p:xfrm>
          <a:off x="8367065" y="2098615"/>
          <a:ext cx="1080000" cy="2160000"/>
        </p:xfrm>
        <a:graphic>
          <a:graphicData uri="http://schemas.openxmlformats.org/drawingml/2006/table">
            <a:tbl>
              <a:tblPr firstRow="1" bandRow="1"/>
              <a:tblGrid>
                <a:gridCol w="270000">
                  <a:extLst>
                    <a:ext uri="{9D8B030D-6E8A-4147-A177-3AD203B41FA5}">
                      <a16:colId xmlns:a16="http://schemas.microsoft.com/office/drawing/2014/main" val="20000"/>
                    </a:ext>
                  </a:extLst>
                </a:gridCol>
                <a:gridCol w="270000">
                  <a:extLst>
                    <a:ext uri="{9D8B030D-6E8A-4147-A177-3AD203B41FA5}">
                      <a16:colId xmlns:a16="http://schemas.microsoft.com/office/drawing/2014/main" val="20001"/>
                    </a:ext>
                  </a:extLst>
                </a:gridCol>
                <a:gridCol w="270000">
                  <a:extLst>
                    <a:ext uri="{9D8B030D-6E8A-4147-A177-3AD203B41FA5}">
                      <a16:colId xmlns:a16="http://schemas.microsoft.com/office/drawing/2014/main" val="20002"/>
                    </a:ext>
                  </a:extLst>
                </a:gridCol>
                <a:gridCol w="270000">
                  <a:extLst>
                    <a:ext uri="{9D8B030D-6E8A-4147-A177-3AD203B41FA5}">
                      <a16:colId xmlns:a16="http://schemas.microsoft.com/office/drawing/2014/main" val="20003"/>
                    </a:ext>
                  </a:extLst>
                </a:gridCol>
              </a:tblGrid>
              <a:tr h="27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dirty="0">
                          <a:solidFill>
                            <a:schemeClr val="tx1"/>
                          </a:solidFill>
                          <a:latin typeface="Arial Unicode MS"/>
                          <a:ea typeface="+mn-ea"/>
                          <a:cs typeface="+mn-cs"/>
                        </a:rPr>
                        <a:t>1</a:t>
                      </a:r>
                      <a:endParaRPr lang="zh-CN" altLang="en-US" sz="1000" kern="120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EE695"/>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dirty="0">
                          <a:solidFill>
                            <a:schemeClr val="tx1"/>
                          </a:solidFill>
                          <a:latin typeface="Arial Unicode MS"/>
                          <a:ea typeface="+mn-ea"/>
                          <a:cs typeface="+mn-cs"/>
                        </a:rPr>
                        <a:t>0</a:t>
                      </a:r>
                      <a:endParaRPr lang="zh-CN" altLang="en-US" sz="1000" kern="120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dirty="0">
                          <a:solidFill>
                            <a:schemeClr val="tx1"/>
                          </a:solidFill>
                          <a:latin typeface="Arial Unicode MS"/>
                          <a:ea typeface="+mn-ea"/>
                          <a:cs typeface="+mn-cs"/>
                        </a:rPr>
                        <a:t>1</a:t>
                      </a:r>
                      <a:endParaRPr lang="zh-CN" altLang="en-US" sz="1000" kern="120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EE695"/>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dirty="0">
                          <a:solidFill>
                            <a:schemeClr val="tx1"/>
                          </a:solidFill>
                          <a:latin typeface="Arial Unicode MS"/>
                          <a:ea typeface="+mn-ea"/>
                          <a:cs typeface="+mn-cs"/>
                        </a:rPr>
                        <a:t>1</a:t>
                      </a:r>
                      <a:endParaRPr lang="zh-CN" altLang="en-US" sz="1000" kern="120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EE695"/>
                    </a:solidFill>
                  </a:tcPr>
                </a:tc>
                <a:extLst>
                  <a:ext uri="{0D108BD9-81ED-4DB2-BD59-A6C34878D82A}">
                    <a16:rowId xmlns:a16="http://schemas.microsoft.com/office/drawing/2014/main" val="10000"/>
                  </a:ext>
                </a:extLst>
              </a:tr>
              <a:tr h="27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1</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EE695"/>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7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1</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EE695"/>
                    </a:solidFill>
                  </a:tcPr>
                </a:tc>
                <a:extLst>
                  <a:ext uri="{0D108BD9-81ED-4DB2-BD59-A6C34878D82A}">
                    <a16:rowId xmlns:a16="http://schemas.microsoft.com/office/drawing/2014/main" val="10002"/>
                  </a:ext>
                </a:extLst>
              </a:tr>
              <a:tr h="27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1</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EE695"/>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7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7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27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27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1</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EE695"/>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000" kern="1200" noProof="0" dirty="0">
                          <a:solidFill>
                            <a:schemeClr val="tx1"/>
                          </a:solidFill>
                          <a:latin typeface="Arial Unicode MS"/>
                          <a:ea typeface="+mn-ea"/>
                          <a:cs typeface="+mn-cs"/>
                        </a:rPr>
                        <a:t>0</a:t>
                      </a:r>
                      <a:endParaRPr lang="zh-CN" altLang="en-US" sz="10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bl>
          </a:graphicData>
        </a:graphic>
      </p:graphicFrame>
      <p:sp>
        <p:nvSpPr>
          <p:cNvPr id="181" name="矩形: 圆角 180">
            <a:extLst>
              <a:ext uri="{FF2B5EF4-FFF2-40B4-BE49-F238E27FC236}">
                <a16:creationId xmlns:a16="http://schemas.microsoft.com/office/drawing/2014/main" id="{F6DFEB4C-3FF1-67AF-2A1F-C0D67F0819AB}"/>
              </a:ext>
            </a:extLst>
          </p:cNvPr>
          <p:cNvSpPr/>
          <p:nvPr/>
        </p:nvSpPr>
        <p:spPr>
          <a:xfrm>
            <a:off x="8367066" y="1487646"/>
            <a:ext cx="1079999" cy="252000"/>
          </a:xfrm>
          <a:prstGeom prst="roundRect">
            <a:avLst/>
          </a:prstGeom>
          <a:solidFill>
            <a:srgbClr val="4874CB">
              <a:lumMod val="20000"/>
              <a:lumOff val="80000"/>
            </a:srgbClr>
          </a:solidFill>
          <a:ln w="12700" cap="flat" cmpd="sng" algn="ctr">
            <a:solidFill>
              <a:srgbClr val="4874CB">
                <a:shade val="15000"/>
              </a:srgbClr>
            </a:solidFill>
            <a:prstDash val="solid"/>
            <a:miter lim="800000"/>
          </a:ln>
          <a:effectLst/>
        </p:spPr>
        <p:txBody>
          <a:bodyPr wrap="square"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Device 0</a:t>
            </a:r>
            <a:endParaRPr kumimoji="0" lang="zh-CN" altLang="en-US" sz="11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82" name="文本框 181">
            <a:extLst>
              <a:ext uri="{FF2B5EF4-FFF2-40B4-BE49-F238E27FC236}">
                <a16:creationId xmlns:a16="http://schemas.microsoft.com/office/drawing/2014/main" id="{B8FDF696-30B0-99F5-F041-03698E720936}"/>
              </a:ext>
            </a:extLst>
          </p:cNvPr>
          <p:cNvSpPr txBox="1"/>
          <p:nvPr/>
        </p:nvSpPr>
        <p:spPr>
          <a:xfrm>
            <a:off x="8015261" y="1768472"/>
            <a:ext cx="503470" cy="246221"/>
          </a:xfrm>
          <a:prstGeom prst="rect">
            <a:avLst/>
          </a:prstGeom>
          <a:noFill/>
        </p:spPr>
        <p:txBody>
          <a:bodyPr wrap="square">
            <a:spAutoFit/>
          </a:bodyPr>
          <a:lstStyle/>
          <a:p>
            <a:pPr algn="ctr" defTabSz="914400"/>
            <a:r>
              <a:rPr lang="en-US" altLang="zh-CN" sz="1000" b="1" dirty="0">
                <a:solidFill>
                  <a:prstClr val="black"/>
                </a:solidFill>
                <a:latin typeface="等线" panose="02010600030101010101" pitchFamily="2" charset="-122"/>
                <a:cs typeface="Times New Roman" panose="02020603050405020304" pitchFamily="18" charset="0"/>
              </a:rPr>
              <a:t>DQs</a:t>
            </a:r>
            <a:endParaRPr lang="zh-CN" altLang="en-US" sz="1000" b="1" dirty="0">
              <a:solidFill>
                <a:prstClr val="black"/>
              </a:solidFill>
              <a:latin typeface="等线" panose="02010600030101010101" pitchFamily="2" charset="-122"/>
              <a:cs typeface="Times New Roman" panose="02020603050405020304" pitchFamily="18" charset="0"/>
            </a:endParaRPr>
          </a:p>
        </p:txBody>
      </p:sp>
      <p:sp>
        <p:nvSpPr>
          <p:cNvPr id="183" name="文本框 182">
            <a:extLst>
              <a:ext uri="{FF2B5EF4-FFF2-40B4-BE49-F238E27FC236}">
                <a16:creationId xmlns:a16="http://schemas.microsoft.com/office/drawing/2014/main" id="{C2A0E106-F1F8-5024-B8CE-C7F61760AA39}"/>
              </a:ext>
            </a:extLst>
          </p:cNvPr>
          <p:cNvSpPr txBox="1"/>
          <p:nvPr/>
        </p:nvSpPr>
        <p:spPr>
          <a:xfrm>
            <a:off x="8255080" y="1911201"/>
            <a:ext cx="503470" cy="230832"/>
          </a:xfrm>
          <a:prstGeom prst="rect">
            <a:avLst/>
          </a:prstGeom>
          <a:noFill/>
        </p:spPr>
        <p:txBody>
          <a:bodyPr wrap="square">
            <a:spAutoFit/>
          </a:bodyPr>
          <a:lstStyle/>
          <a:p>
            <a:pPr algn="ctr" defTabSz="914400"/>
            <a:r>
              <a:rPr lang="en-US" altLang="zh-CN" sz="900" b="1" dirty="0">
                <a:solidFill>
                  <a:prstClr val="black"/>
                </a:solidFill>
                <a:latin typeface="等线" panose="02010600030101010101" pitchFamily="2" charset="-122"/>
                <a:cs typeface="Times New Roman" panose="02020603050405020304" pitchFamily="18" charset="0"/>
              </a:rPr>
              <a:t>0</a:t>
            </a:r>
            <a:endParaRPr lang="zh-CN" altLang="en-US" sz="900" b="1" dirty="0">
              <a:solidFill>
                <a:prstClr val="black"/>
              </a:solidFill>
              <a:latin typeface="等线" panose="02010600030101010101" pitchFamily="2" charset="-122"/>
              <a:cs typeface="Times New Roman" panose="02020603050405020304" pitchFamily="18" charset="0"/>
            </a:endParaRPr>
          </a:p>
        </p:txBody>
      </p:sp>
      <p:sp>
        <p:nvSpPr>
          <p:cNvPr id="184" name="文本框 183">
            <a:extLst>
              <a:ext uri="{FF2B5EF4-FFF2-40B4-BE49-F238E27FC236}">
                <a16:creationId xmlns:a16="http://schemas.microsoft.com/office/drawing/2014/main" id="{376801B2-9471-AD14-B010-EC9BB5856000}"/>
              </a:ext>
            </a:extLst>
          </p:cNvPr>
          <p:cNvSpPr txBox="1"/>
          <p:nvPr/>
        </p:nvSpPr>
        <p:spPr>
          <a:xfrm>
            <a:off x="8525474" y="1911201"/>
            <a:ext cx="503470" cy="230832"/>
          </a:xfrm>
          <a:prstGeom prst="rect">
            <a:avLst/>
          </a:prstGeom>
          <a:noFill/>
        </p:spPr>
        <p:txBody>
          <a:bodyPr wrap="square">
            <a:spAutoFit/>
          </a:bodyPr>
          <a:lstStyle/>
          <a:p>
            <a:pPr algn="ctr" defTabSz="914400"/>
            <a:r>
              <a:rPr lang="en-US" altLang="zh-CN" sz="900" b="1" dirty="0">
                <a:solidFill>
                  <a:prstClr val="black"/>
                </a:solidFill>
                <a:latin typeface="等线" panose="02010600030101010101" pitchFamily="2" charset="-122"/>
                <a:cs typeface="Times New Roman" panose="02020603050405020304" pitchFamily="18" charset="0"/>
              </a:rPr>
              <a:t>1</a:t>
            </a:r>
            <a:endParaRPr lang="zh-CN" altLang="en-US" sz="900" b="1" dirty="0">
              <a:solidFill>
                <a:prstClr val="black"/>
              </a:solidFill>
              <a:latin typeface="等线" panose="02010600030101010101" pitchFamily="2" charset="-122"/>
              <a:cs typeface="Times New Roman" panose="02020603050405020304" pitchFamily="18" charset="0"/>
            </a:endParaRPr>
          </a:p>
        </p:txBody>
      </p:sp>
      <p:sp>
        <p:nvSpPr>
          <p:cNvPr id="185" name="文本框 184">
            <a:extLst>
              <a:ext uri="{FF2B5EF4-FFF2-40B4-BE49-F238E27FC236}">
                <a16:creationId xmlns:a16="http://schemas.microsoft.com/office/drawing/2014/main" id="{67D57D95-F5CD-7DF8-FBC0-FA5502C1FF48}"/>
              </a:ext>
            </a:extLst>
          </p:cNvPr>
          <p:cNvSpPr txBox="1"/>
          <p:nvPr/>
        </p:nvSpPr>
        <p:spPr>
          <a:xfrm>
            <a:off x="8795868" y="1911201"/>
            <a:ext cx="503470" cy="230832"/>
          </a:xfrm>
          <a:prstGeom prst="rect">
            <a:avLst/>
          </a:prstGeom>
          <a:noFill/>
        </p:spPr>
        <p:txBody>
          <a:bodyPr wrap="square">
            <a:spAutoFit/>
          </a:bodyPr>
          <a:lstStyle/>
          <a:p>
            <a:pPr algn="ctr" defTabSz="914400"/>
            <a:r>
              <a:rPr lang="en-US" altLang="zh-CN" sz="900" b="1" dirty="0">
                <a:solidFill>
                  <a:prstClr val="black"/>
                </a:solidFill>
                <a:latin typeface="等线" panose="02010600030101010101" pitchFamily="2" charset="-122"/>
                <a:cs typeface="Times New Roman" panose="02020603050405020304" pitchFamily="18" charset="0"/>
              </a:rPr>
              <a:t>2</a:t>
            </a:r>
            <a:endParaRPr lang="zh-CN" altLang="en-US" sz="900" b="1" dirty="0">
              <a:solidFill>
                <a:prstClr val="black"/>
              </a:solidFill>
              <a:latin typeface="等线" panose="02010600030101010101" pitchFamily="2" charset="-122"/>
              <a:cs typeface="Times New Roman" panose="02020603050405020304" pitchFamily="18" charset="0"/>
            </a:endParaRPr>
          </a:p>
        </p:txBody>
      </p:sp>
      <p:sp>
        <p:nvSpPr>
          <p:cNvPr id="186" name="文本框 185">
            <a:extLst>
              <a:ext uri="{FF2B5EF4-FFF2-40B4-BE49-F238E27FC236}">
                <a16:creationId xmlns:a16="http://schemas.microsoft.com/office/drawing/2014/main" id="{A01A3B47-4B22-45EE-C508-8E3DFA97D4FD}"/>
              </a:ext>
            </a:extLst>
          </p:cNvPr>
          <p:cNvSpPr txBox="1"/>
          <p:nvPr/>
        </p:nvSpPr>
        <p:spPr>
          <a:xfrm>
            <a:off x="9066261" y="1911201"/>
            <a:ext cx="503470" cy="230832"/>
          </a:xfrm>
          <a:prstGeom prst="rect">
            <a:avLst/>
          </a:prstGeom>
          <a:noFill/>
        </p:spPr>
        <p:txBody>
          <a:bodyPr wrap="square">
            <a:spAutoFit/>
          </a:bodyPr>
          <a:lstStyle/>
          <a:p>
            <a:pPr algn="ctr" defTabSz="914400"/>
            <a:r>
              <a:rPr lang="en-US" altLang="zh-CN" sz="900" b="1" dirty="0">
                <a:solidFill>
                  <a:prstClr val="black"/>
                </a:solidFill>
                <a:latin typeface="等线" panose="02010600030101010101" pitchFamily="2" charset="-122"/>
                <a:cs typeface="Times New Roman" panose="02020603050405020304" pitchFamily="18" charset="0"/>
              </a:rPr>
              <a:t>3</a:t>
            </a:r>
            <a:endParaRPr lang="zh-CN" altLang="en-US" sz="900" b="1" dirty="0">
              <a:solidFill>
                <a:prstClr val="black"/>
              </a:solidFill>
              <a:latin typeface="等线" panose="02010600030101010101" pitchFamily="2" charset="-122"/>
              <a:cs typeface="Times New Roman" panose="02020603050405020304" pitchFamily="18" charset="0"/>
            </a:endParaRPr>
          </a:p>
        </p:txBody>
      </p:sp>
      <p:cxnSp>
        <p:nvCxnSpPr>
          <p:cNvPr id="187" name="直接箭头连接符 186">
            <a:extLst>
              <a:ext uri="{FF2B5EF4-FFF2-40B4-BE49-F238E27FC236}">
                <a16:creationId xmlns:a16="http://schemas.microsoft.com/office/drawing/2014/main" id="{EB9960D8-4695-C694-F138-89AE0DD10BF4}"/>
              </a:ext>
            </a:extLst>
          </p:cNvPr>
          <p:cNvCxnSpPr/>
          <p:nvPr/>
        </p:nvCxnSpPr>
        <p:spPr>
          <a:xfrm>
            <a:off x="8506815" y="1762663"/>
            <a:ext cx="0" cy="216000"/>
          </a:xfrm>
          <a:prstGeom prst="straightConnector1">
            <a:avLst/>
          </a:prstGeom>
          <a:noFill/>
          <a:ln w="6350" cap="flat" cmpd="sng" algn="ctr">
            <a:solidFill>
              <a:sysClr val="windowText" lastClr="000000"/>
            </a:solidFill>
            <a:prstDash val="solid"/>
            <a:miter lim="800000"/>
            <a:headEnd type="triangle" w="sm" len="sm"/>
            <a:tailEnd type="triangle" w="sm" len="sm"/>
          </a:ln>
          <a:effectLst/>
        </p:spPr>
      </p:cxnSp>
      <p:cxnSp>
        <p:nvCxnSpPr>
          <p:cNvPr id="188" name="直接箭头连接符 187">
            <a:extLst>
              <a:ext uri="{FF2B5EF4-FFF2-40B4-BE49-F238E27FC236}">
                <a16:creationId xmlns:a16="http://schemas.microsoft.com/office/drawing/2014/main" id="{91442D0E-AF8E-B856-45A5-EA087BD18934}"/>
              </a:ext>
            </a:extLst>
          </p:cNvPr>
          <p:cNvCxnSpPr/>
          <p:nvPr/>
        </p:nvCxnSpPr>
        <p:spPr>
          <a:xfrm>
            <a:off x="8776517" y="1762663"/>
            <a:ext cx="0" cy="216000"/>
          </a:xfrm>
          <a:prstGeom prst="straightConnector1">
            <a:avLst/>
          </a:prstGeom>
          <a:noFill/>
          <a:ln w="6350" cap="flat" cmpd="sng" algn="ctr">
            <a:solidFill>
              <a:sysClr val="windowText" lastClr="000000"/>
            </a:solidFill>
            <a:prstDash val="solid"/>
            <a:miter lim="800000"/>
            <a:headEnd type="triangle" w="sm" len="sm"/>
            <a:tailEnd type="triangle" w="sm" len="sm"/>
          </a:ln>
          <a:effectLst/>
        </p:spPr>
      </p:cxnSp>
      <p:cxnSp>
        <p:nvCxnSpPr>
          <p:cNvPr id="189" name="直接箭头连接符 188">
            <a:extLst>
              <a:ext uri="{FF2B5EF4-FFF2-40B4-BE49-F238E27FC236}">
                <a16:creationId xmlns:a16="http://schemas.microsoft.com/office/drawing/2014/main" id="{2CFCB5F0-F158-44AF-DB6E-D99DA809E6E0}"/>
              </a:ext>
            </a:extLst>
          </p:cNvPr>
          <p:cNvCxnSpPr/>
          <p:nvPr/>
        </p:nvCxnSpPr>
        <p:spPr>
          <a:xfrm>
            <a:off x="9046219" y="1762663"/>
            <a:ext cx="0" cy="216000"/>
          </a:xfrm>
          <a:prstGeom prst="straightConnector1">
            <a:avLst/>
          </a:prstGeom>
          <a:noFill/>
          <a:ln w="6350" cap="flat" cmpd="sng" algn="ctr">
            <a:solidFill>
              <a:sysClr val="windowText" lastClr="000000"/>
            </a:solidFill>
            <a:prstDash val="solid"/>
            <a:miter lim="800000"/>
            <a:headEnd type="triangle" w="sm" len="sm"/>
            <a:tailEnd type="triangle" w="sm" len="sm"/>
          </a:ln>
          <a:effectLst/>
        </p:spPr>
      </p:cxnSp>
      <p:cxnSp>
        <p:nvCxnSpPr>
          <p:cNvPr id="190" name="直接箭头连接符 189">
            <a:extLst>
              <a:ext uri="{FF2B5EF4-FFF2-40B4-BE49-F238E27FC236}">
                <a16:creationId xmlns:a16="http://schemas.microsoft.com/office/drawing/2014/main" id="{A42FEC08-B8C8-A045-5683-66868E1D1745}"/>
              </a:ext>
            </a:extLst>
          </p:cNvPr>
          <p:cNvCxnSpPr/>
          <p:nvPr/>
        </p:nvCxnSpPr>
        <p:spPr>
          <a:xfrm>
            <a:off x="9315920" y="1762663"/>
            <a:ext cx="0" cy="216000"/>
          </a:xfrm>
          <a:prstGeom prst="straightConnector1">
            <a:avLst/>
          </a:prstGeom>
          <a:noFill/>
          <a:ln w="6350" cap="flat" cmpd="sng" algn="ctr">
            <a:solidFill>
              <a:sysClr val="windowText" lastClr="000000"/>
            </a:solidFill>
            <a:prstDash val="solid"/>
            <a:miter lim="800000"/>
            <a:headEnd type="triangle" w="sm" len="sm"/>
            <a:tailEnd type="triangle" w="sm" len="sm"/>
          </a:ln>
          <a:effectLst/>
        </p:spPr>
      </p:cxnSp>
      <p:sp>
        <p:nvSpPr>
          <p:cNvPr id="191" name="文本框 190">
            <a:extLst>
              <a:ext uri="{FF2B5EF4-FFF2-40B4-BE49-F238E27FC236}">
                <a16:creationId xmlns:a16="http://schemas.microsoft.com/office/drawing/2014/main" id="{677F80F9-3BA3-C3CD-5445-F0C7DB9583DB}"/>
              </a:ext>
            </a:extLst>
          </p:cNvPr>
          <p:cNvSpPr txBox="1"/>
          <p:nvPr/>
        </p:nvSpPr>
        <p:spPr>
          <a:xfrm>
            <a:off x="9481659" y="2518675"/>
            <a:ext cx="641544" cy="246221"/>
          </a:xfrm>
          <a:prstGeom prst="rect">
            <a:avLst/>
          </a:prstGeom>
          <a:noFill/>
        </p:spPr>
        <p:txBody>
          <a:bodyPr wrap="square">
            <a:spAutoFit/>
          </a:bodyPr>
          <a:lstStyle/>
          <a:p>
            <a:pPr algn="ctr" defTabSz="914400"/>
            <a:r>
              <a:rPr lang="en-US" altLang="zh-CN" sz="1000" b="1" dirty="0">
                <a:solidFill>
                  <a:prstClr val="black"/>
                </a:solidFill>
                <a:latin typeface="等线" panose="02010600030101010101" pitchFamily="2" charset="-122"/>
                <a:cs typeface="Times New Roman" panose="02020603050405020304" pitchFamily="18" charset="0"/>
              </a:rPr>
              <a:t>Beats</a:t>
            </a:r>
            <a:endParaRPr lang="zh-CN" altLang="en-US" sz="1000" b="1" dirty="0">
              <a:solidFill>
                <a:prstClr val="black"/>
              </a:solidFill>
              <a:latin typeface="等线" panose="02010600030101010101" pitchFamily="2" charset="-122"/>
              <a:cs typeface="Times New Roman" panose="02020603050405020304" pitchFamily="18" charset="0"/>
            </a:endParaRPr>
          </a:p>
        </p:txBody>
      </p:sp>
      <p:sp>
        <p:nvSpPr>
          <p:cNvPr id="192" name="文本框 191">
            <a:extLst>
              <a:ext uri="{FF2B5EF4-FFF2-40B4-BE49-F238E27FC236}">
                <a16:creationId xmlns:a16="http://schemas.microsoft.com/office/drawing/2014/main" id="{6BA6AC17-1F33-D6B7-8442-CDEAD3CF8DE4}"/>
              </a:ext>
            </a:extLst>
          </p:cNvPr>
          <p:cNvSpPr txBox="1"/>
          <p:nvPr/>
        </p:nvSpPr>
        <p:spPr>
          <a:xfrm>
            <a:off x="9302924" y="2113116"/>
            <a:ext cx="503470" cy="230832"/>
          </a:xfrm>
          <a:prstGeom prst="rect">
            <a:avLst/>
          </a:prstGeom>
          <a:noFill/>
        </p:spPr>
        <p:txBody>
          <a:bodyPr wrap="square">
            <a:spAutoFit/>
          </a:bodyPr>
          <a:lstStyle/>
          <a:p>
            <a:pPr algn="ctr" defTabSz="914400"/>
            <a:r>
              <a:rPr lang="en-US" altLang="zh-CN" sz="900" b="1" dirty="0">
                <a:solidFill>
                  <a:prstClr val="black"/>
                </a:solidFill>
                <a:latin typeface="等线" panose="02010600030101010101" pitchFamily="2" charset="-122"/>
                <a:cs typeface="Times New Roman" panose="02020603050405020304" pitchFamily="18" charset="0"/>
              </a:rPr>
              <a:t>1</a:t>
            </a:r>
            <a:endParaRPr lang="zh-CN" altLang="en-US" sz="900" b="1" dirty="0">
              <a:solidFill>
                <a:prstClr val="black"/>
              </a:solidFill>
              <a:latin typeface="等线" panose="02010600030101010101" pitchFamily="2" charset="-122"/>
              <a:cs typeface="Times New Roman" panose="02020603050405020304" pitchFamily="18" charset="0"/>
            </a:endParaRPr>
          </a:p>
        </p:txBody>
      </p:sp>
      <p:sp>
        <p:nvSpPr>
          <p:cNvPr id="193" name="文本框 192">
            <a:extLst>
              <a:ext uri="{FF2B5EF4-FFF2-40B4-BE49-F238E27FC236}">
                <a16:creationId xmlns:a16="http://schemas.microsoft.com/office/drawing/2014/main" id="{FA1B214D-8985-F69A-18EB-745CC6FE3D1F}"/>
              </a:ext>
            </a:extLst>
          </p:cNvPr>
          <p:cNvSpPr txBox="1"/>
          <p:nvPr/>
        </p:nvSpPr>
        <p:spPr>
          <a:xfrm>
            <a:off x="9302924" y="2383620"/>
            <a:ext cx="503470" cy="230832"/>
          </a:xfrm>
          <a:prstGeom prst="rect">
            <a:avLst/>
          </a:prstGeom>
          <a:noFill/>
        </p:spPr>
        <p:txBody>
          <a:bodyPr wrap="square">
            <a:spAutoFit/>
          </a:bodyPr>
          <a:lstStyle/>
          <a:p>
            <a:pPr algn="ctr" defTabSz="914400"/>
            <a:r>
              <a:rPr lang="en-US" altLang="zh-CN" sz="900" b="1" dirty="0">
                <a:solidFill>
                  <a:prstClr val="black"/>
                </a:solidFill>
                <a:latin typeface="等线" panose="02010600030101010101" pitchFamily="2" charset="-122"/>
                <a:cs typeface="Times New Roman" panose="02020603050405020304" pitchFamily="18" charset="0"/>
              </a:rPr>
              <a:t>2</a:t>
            </a:r>
            <a:endParaRPr lang="zh-CN" altLang="en-US" sz="900" b="1" dirty="0">
              <a:solidFill>
                <a:prstClr val="black"/>
              </a:solidFill>
              <a:latin typeface="等线" panose="02010600030101010101" pitchFamily="2" charset="-122"/>
              <a:cs typeface="Times New Roman" panose="02020603050405020304" pitchFamily="18" charset="0"/>
            </a:endParaRPr>
          </a:p>
        </p:txBody>
      </p:sp>
      <p:sp>
        <p:nvSpPr>
          <p:cNvPr id="194" name="文本框 193">
            <a:extLst>
              <a:ext uri="{FF2B5EF4-FFF2-40B4-BE49-F238E27FC236}">
                <a16:creationId xmlns:a16="http://schemas.microsoft.com/office/drawing/2014/main" id="{BA4EDD07-F7A1-8A7B-A787-0EC4EE1ED41E}"/>
              </a:ext>
            </a:extLst>
          </p:cNvPr>
          <p:cNvSpPr txBox="1"/>
          <p:nvPr/>
        </p:nvSpPr>
        <p:spPr>
          <a:xfrm>
            <a:off x="9302924" y="2654124"/>
            <a:ext cx="503470" cy="230832"/>
          </a:xfrm>
          <a:prstGeom prst="rect">
            <a:avLst/>
          </a:prstGeom>
          <a:noFill/>
        </p:spPr>
        <p:txBody>
          <a:bodyPr wrap="square">
            <a:spAutoFit/>
          </a:bodyPr>
          <a:lstStyle/>
          <a:p>
            <a:pPr algn="ctr" defTabSz="914400"/>
            <a:r>
              <a:rPr lang="en-US" altLang="zh-CN" sz="900" b="1" dirty="0">
                <a:solidFill>
                  <a:prstClr val="black"/>
                </a:solidFill>
                <a:latin typeface="等线" panose="02010600030101010101" pitchFamily="2" charset="-122"/>
                <a:cs typeface="Times New Roman" panose="02020603050405020304" pitchFamily="18" charset="0"/>
              </a:rPr>
              <a:t>3</a:t>
            </a:r>
            <a:endParaRPr lang="zh-CN" altLang="en-US" sz="900" b="1" dirty="0">
              <a:solidFill>
                <a:prstClr val="black"/>
              </a:solidFill>
              <a:latin typeface="等线" panose="02010600030101010101" pitchFamily="2" charset="-122"/>
              <a:cs typeface="Times New Roman" panose="02020603050405020304" pitchFamily="18" charset="0"/>
            </a:endParaRPr>
          </a:p>
        </p:txBody>
      </p:sp>
      <p:sp>
        <p:nvSpPr>
          <p:cNvPr id="195" name="文本框 194">
            <a:extLst>
              <a:ext uri="{FF2B5EF4-FFF2-40B4-BE49-F238E27FC236}">
                <a16:creationId xmlns:a16="http://schemas.microsoft.com/office/drawing/2014/main" id="{D0E14411-4F1C-A41C-4214-95C682D067FA}"/>
              </a:ext>
            </a:extLst>
          </p:cNvPr>
          <p:cNvSpPr txBox="1"/>
          <p:nvPr/>
        </p:nvSpPr>
        <p:spPr>
          <a:xfrm>
            <a:off x="9302924" y="2924628"/>
            <a:ext cx="503470" cy="230832"/>
          </a:xfrm>
          <a:prstGeom prst="rect">
            <a:avLst/>
          </a:prstGeom>
          <a:noFill/>
        </p:spPr>
        <p:txBody>
          <a:bodyPr wrap="square">
            <a:spAutoFit/>
          </a:bodyPr>
          <a:lstStyle/>
          <a:p>
            <a:pPr algn="ctr" defTabSz="914400"/>
            <a:r>
              <a:rPr lang="en-US" altLang="zh-CN" sz="900" b="1" dirty="0">
                <a:solidFill>
                  <a:prstClr val="black"/>
                </a:solidFill>
                <a:latin typeface="等线" panose="02010600030101010101" pitchFamily="2" charset="-122"/>
                <a:cs typeface="Times New Roman" panose="02020603050405020304" pitchFamily="18" charset="0"/>
              </a:rPr>
              <a:t>4</a:t>
            </a:r>
            <a:endParaRPr lang="zh-CN" altLang="en-US" sz="900" b="1" dirty="0">
              <a:solidFill>
                <a:prstClr val="black"/>
              </a:solidFill>
              <a:latin typeface="等线" panose="02010600030101010101" pitchFamily="2" charset="-122"/>
              <a:cs typeface="Times New Roman" panose="02020603050405020304" pitchFamily="18" charset="0"/>
            </a:endParaRPr>
          </a:p>
        </p:txBody>
      </p:sp>
      <p:sp>
        <p:nvSpPr>
          <p:cNvPr id="196" name="文本框 195">
            <a:extLst>
              <a:ext uri="{FF2B5EF4-FFF2-40B4-BE49-F238E27FC236}">
                <a16:creationId xmlns:a16="http://schemas.microsoft.com/office/drawing/2014/main" id="{44C5E06A-E165-7653-9C1A-EB5752E0437C}"/>
              </a:ext>
            </a:extLst>
          </p:cNvPr>
          <p:cNvSpPr txBox="1"/>
          <p:nvPr/>
        </p:nvSpPr>
        <p:spPr>
          <a:xfrm>
            <a:off x="9302924" y="3195132"/>
            <a:ext cx="503470" cy="230832"/>
          </a:xfrm>
          <a:prstGeom prst="rect">
            <a:avLst/>
          </a:prstGeom>
          <a:noFill/>
        </p:spPr>
        <p:txBody>
          <a:bodyPr wrap="square">
            <a:spAutoFit/>
          </a:bodyPr>
          <a:lstStyle/>
          <a:p>
            <a:pPr algn="ctr" defTabSz="914400"/>
            <a:r>
              <a:rPr lang="en-US" altLang="zh-CN" sz="900" b="1" dirty="0">
                <a:solidFill>
                  <a:prstClr val="black"/>
                </a:solidFill>
                <a:latin typeface="等线" panose="02010600030101010101" pitchFamily="2" charset="-122"/>
                <a:cs typeface="Times New Roman" panose="02020603050405020304" pitchFamily="18" charset="0"/>
              </a:rPr>
              <a:t>5</a:t>
            </a:r>
            <a:endParaRPr lang="zh-CN" altLang="en-US" sz="900" b="1" dirty="0">
              <a:solidFill>
                <a:prstClr val="black"/>
              </a:solidFill>
              <a:latin typeface="等线" panose="02010600030101010101" pitchFamily="2" charset="-122"/>
              <a:cs typeface="Times New Roman" panose="02020603050405020304" pitchFamily="18" charset="0"/>
            </a:endParaRPr>
          </a:p>
        </p:txBody>
      </p:sp>
      <p:sp>
        <p:nvSpPr>
          <p:cNvPr id="197" name="文本框 196">
            <a:extLst>
              <a:ext uri="{FF2B5EF4-FFF2-40B4-BE49-F238E27FC236}">
                <a16:creationId xmlns:a16="http://schemas.microsoft.com/office/drawing/2014/main" id="{F2DB9566-37B9-5135-F0E1-EFF1099B1616}"/>
              </a:ext>
            </a:extLst>
          </p:cNvPr>
          <p:cNvSpPr txBox="1"/>
          <p:nvPr/>
        </p:nvSpPr>
        <p:spPr>
          <a:xfrm>
            <a:off x="9302924" y="3465636"/>
            <a:ext cx="503470" cy="230832"/>
          </a:xfrm>
          <a:prstGeom prst="rect">
            <a:avLst/>
          </a:prstGeom>
          <a:noFill/>
        </p:spPr>
        <p:txBody>
          <a:bodyPr wrap="square">
            <a:spAutoFit/>
          </a:bodyPr>
          <a:lstStyle/>
          <a:p>
            <a:pPr algn="ctr" defTabSz="914400"/>
            <a:r>
              <a:rPr lang="en-US" altLang="zh-CN" sz="900" b="1" dirty="0">
                <a:solidFill>
                  <a:prstClr val="black"/>
                </a:solidFill>
                <a:latin typeface="等线" panose="02010600030101010101" pitchFamily="2" charset="-122"/>
                <a:cs typeface="Times New Roman" panose="02020603050405020304" pitchFamily="18" charset="0"/>
              </a:rPr>
              <a:t>6</a:t>
            </a:r>
            <a:endParaRPr lang="zh-CN" altLang="en-US" sz="900" b="1" dirty="0">
              <a:solidFill>
                <a:prstClr val="black"/>
              </a:solidFill>
              <a:latin typeface="等线" panose="02010600030101010101" pitchFamily="2" charset="-122"/>
              <a:cs typeface="Times New Roman" panose="02020603050405020304" pitchFamily="18" charset="0"/>
            </a:endParaRPr>
          </a:p>
        </p:txBody>
      </p:sp>
      <p:sp>
        <p:nvSpPr>
          <p:cNvPr id="198" name="文本框 197">
            <a:extLst>
              <a:ext uri="{FF2B5EF4-FFF2-40B4-BE49-F238E27FC236}">
                <a16:creationId xmlns:a16="http://schemas.microsoft.com/office/drawing/2014/main" id="{E0BE390A-DE24-C233-EC67-4A25E977B39F}"/>
              </a:ext>
            </a:extLst>
          </p:cNvPr>
          <p:cNvSpPr txBox="1"/>
          <p:nvPr/>
        </p:nvSpPr>
        <p:spPr>
          <a:xfrm>
            <a:off x="9302924" y="3736140"/>
            <a:ext cx="503470" cy="230832"/>
          </a:xfrm>
          <a:prstGeom prst="rect">
            <a:avLst/>
          </a:prstGeom>
          <a:noFill/>
        </p:spPr>
        <p:txBody>
          <a:bodyPr wrap="square">
            <a:spAutoFit/>
          </a:bodyPr>
          <a:lstStyle/>
          <a:p>
            <a:pPr algn="ctr" defTabSz="914400"/>
            <a:r>
              <a:rPr lang="en-US" altLang="zh-CN" sz="900" b="1" dirty="0">
                <a:solidFill>
                  <a:prstClr val="black"/>
                </a:solidFill>
                <a:latin typeface="等线" panose="02010600030101010101" pitchFamily="2" charset="-122"/>
                <a:cs typeface="Times New Roman" panose="02020603050405020304" pitchFamily="18" charset="0"/>
              </a:rPr>
              <a:t>7</a:t>
            </a:r>
            <a:endParaRPr lang="zh-CN" altLang="en-US" sz="900" b="1" dirty="0">
              <a:solidFill>
                <a:prstClr val="black"/>
              </a:solidFill>
              <a:latin typeface="等线" panose="02010600030101010101" pitchFamily="2" charset="-122"/>
              <a:cs typeface="Times New Roman" panose="02020603050405020304" pitchFamily="18" charset="0"/>
            </a:endParaRPr>
          </a:p>
        </p:txBody>
      </p:sp>
      <p:sp>
        <p:nvSpPr>
          <p:cNvPr id="199" name="文本框 198">
            <a:extLst>
              <a:ext uri="{FF2B5EF4-FFF2-40B4-BE49-F238E27FC236}">
                <a16:creationId xmlns:a16="http://schemas.microsoft.com/office/drawing/2014/main" id="{E43A1DB5-886E-DCE8-B6E1-EA1ADBB601A0}"/>
              </a:ext>
            </a:extLst>
          </p:cNvPr>
          <p:cNvSpPr txBox="1"/>
          <p:nvPr/>
        </p:nvSpPr>
        <p:spPr>
          <a:xfrm>
            <a:off x="9302924" y="4006645"/>
            <a:ext cx="503470" cy="230832"/>
          </a:xfrm>
          <a:prstGeom prst="rect">
            <a:avLst/>
          </a:prstGeom>
          <a:noFill/>
        </p:spPr>
        <p:txBody>
          <a:bodyPr wrap="square">
            <a:spAutoFit/>
          </a:bodyPr>
          <a:lstStyle/>
          <a:p>
            <a:pPr algn="ctr" defTabSz="914400"/>
            <a:r>
              <a:rPr lang="en-US" altLang="zh-CN" sz="900" b="1" dirty="0">
                <a:solidFill>
                  <a:prstClr val="black"/>
                </a:solidFill>
                <a:latin typeface="等线" panose="02010600030101010101" pitchFamily="2" charset="-122"/>
                <a:cs typeface="Times New Roman" panose="02020603050405020304" pitchFamily="18" charset="0"/>
              </a:rPr>
              <a:t>8</a:t>
            </a:r>
            <a:endParaRPr lang="zh-CN" altLang="en-US" sz="900" b="1" dirty="0">
              <a:solidFill>
                <a:prstClr val="black"/>
              </a:solidFill>
              <a:latin typeface="等线"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00" name="文本框 199">
                <a:extLst>
                  <a:ext uri="{FF2B5EF4-FFF2-40B4-BE49-F238E27FC236}">
                    <a16:creationId xmlns:a16="http://schemas.microsoft.com/office/drawing/2014/main" id="{09526C6C-A7FB-8E0F-C24D-515F24A77196}"/>
                  </a:ext>
                </a:extLst>
              </p:cNvPr>
              <p:cNvSpPr txBox="1"/>
              <p:nvPr/>
            </p:nvSpPr>
            <p:spPr>
              <a:xfrm>
                <a:off x="9858783" y="1447010"/>
                <a:ext cx="351325" cy="307777"/>
              </a:xfrm>
              <a:prstGeom prst="rect">
                <a:avLst/>
              </a:prstGeom>
              <a:noFill/>
            </p:spPr>
            <p:txBody>
              <a:bodyPr wrap="square">
                <a:spAutoFit/>
              </a:bodyPr>
              <a:lstStyle/>
              <a:p>
                <a:pPr algn="ctr" defTabSz="914400"/>
                <a14:m>
                  <m:oMathPara xmlns:m="http://schemas.openxmlformats.org/officeDocument/2006/math">
                    <m:oMathParaPr>
                      <m:jc m:val="center"/>
                    </m:oMathParaPr>
                    <m:oMath xmlns:m="http://schemas.openxmlformats.org/officeDocument/2006/math">
                      <m:r>
                        <a:rPr lang="en-US" altLang="zh-CN" sz="1400" b="1" i="1" smtClean="0">
                          <a:solidFill>
                            <a:prstClr val="black"/>
                          </a:solidFill>
                          <a:latin typeface="Cambria Math" panose="02040503050406030204" pitchFamily="18" charset="0"/>
                        </a:rPr>
                        <m:t>⋯</m:t>
                      </m:r>
                    </m:oMath>
                  </m:oMathPara>
                </a14:m>
                <a:endParaRPr lang="en-US" altLang="zh-CN" sz="1400" b="1" dirty="0">
                  <a:solidFill>
                    <a:prstClr val="black"/>
                  </a:solidFill>
                  <a:latin typeface="等线" panose="02010600030101010101" pitchFamily="2" charset="-122"/>
                  <a:cs typeface="Times New Roman" panose="02020603050405020304" pitchFamily="18" charset="0"/>
                </a:endParaRPr>
              </a:p>
            </p:txBody>
          </p:sp>
        </mc:Choice>
        <mc:Fallback xmlns="">
          <p:sp>
            <p:nvSpPr>
              <p:cNvPr id="200" name="文本框 199">
                <a:extLst>
                  <a:ext uri="{FF2B5EF4-FFF2-40B4-BE49-F238E27FC236}">
                    <a16:creationId xmlns:a16="http://schemas.microsoft.com/office/drawing/2014/main" id="{09526C6C-A7FB-8E0F-C24D-515F24A77196}"/>
                  </a:ext>
                </a:extLst>
              </p:cNvPr>
              <p:cNvSpPr txBox="1">
                <a:spLocks noRot="1" noChangeAspect="1" noMove="1" noResize="1" noEditPoints="1" noAdjustHandles="1" noChangeArrowheads="1" noChangeShapeType="1" noTextEdit="1"/>
              </p:cNvSpPr>
              <p:nvPr/>
            </p:nvSpPr>
            <p:spPr>
              <a:xfrm>
                <a:off x="9858783" y="1447010"/>
                <a:ext cx="351325" cy="30777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1" name="文本框 200">
                <a:extLst>
                  <a:ext uri="{FF2B5EF4-FFF2-40B4-BE49-F238E27FC236}">
                    <a16:creationId xmlns:a16="http://schemas.microsoft.com/office/drawing/2014/main" id="{C057BE6B-A765-3E60-F557-EAF311FEE8EE}"/>
                  </a:ext>
                </a:extLst>
              </p:cNvPr>
              <p:cNvSpPr txBox="1"/>
              <p:nvPr/>
            </p:nvSpPr>
            <p:spPr>
              <a:xfrm>
                <a:off x="9928843" y="3005541"/>
                <a:ext cx="351325" cy="307777"/>
              </a:xfrm>
              <a:prstGeom prst="rect">
                <a:avLst/>
              </a:prstGeom>
              <a:noFill/>
            </p:spPr>
            <p:txBody>
              <a:bodyPr wrap="square">
                <a:spAutoFit/>
              </a:bodyPr>
              <a:lstStyle/>
              <a:p>
                <a:pPr algn="ctr" defTabSz="914400"/>
                <a14:m>
                  <m:oMathPara xmlns:m="http://schemas.openxmlformats.org/officeDocument/2006/math">
                    <m:oMathParaPr>
                      <m:jc m:val="center"/>
                    </m:oMathParaPr>
                    <m:oMath xmlns:m="http://schemas.openxmlformats.org/officeDocument/2006/math">
                      <m:r>
                        <a:rPr lang="en-US" altLang="zh-CN" sz="1400" b="1" i="1" smtClean="0">
                          <a:solidFill>
                            <a:prstClr val="black"/>
                          </a:solidFill>
                          <a:latin typeface="Cambria Math" panose="02040503050406030204" pitchFamily="18" charset="0"/>
                        </a:rPr>
                        <m:t>⋯</m:t>
                      </m:r>
                    </m:oMath>
                  </m:oMathPara>
                </a14:m>
                <a:endParaRPr lang="en-US" altLang="zh-CN" sz="1400" b="1" dirty="0">
                  <a:solidFill>
                    <a:prstClr val="black"/>
                  </a:solidFill>
                  <a:latin typeface="等线" panose="02010600030101010101" pitchFamily="2" charset="-122"/>
                  <a:cs typeface="Times New Roman" panose="02020603050405020304" pitchFamily="18" charset="0"/>
                </a:endParaRPr>
              </a:p>
            </p:txBody>
          </p:sp>
        </mc:Choice>
        <mc:Fallback xmlns="">
          <p:sp>
            <p:nvSpPr>
              <p:cNvPr id="201" name="文本框 200">
                <a:extLst>
                  <a:ext uri="{FF2B5EF4-FFF2-40B4-BE49-F238E27FC236}">
                    <a16:creationId xmlns:a16="http://schemas.microsoft.com/office/drawing/2014/main" id="{C057BE6B-A765-3E60-F557-EAF311FEE8EE}"/>
                  </a:ext>
                </a:extLst>
              </p:cNvPr>
              <p:cNvSpPr txBox="1">
                <a:spLocks noRot="1" noChangeAspect="1" noMove="1" noResize="1" noEditPoints="1" noAdjustHandles="1" noChangeArrowheads="1" noChangeShapeType="1" noTextEdit="1"/>
              </p:cNvSpPr>
              <p:nvPr/>
            </p:nvSpPr>
            <p:spPr>
              <a:xfrm>
                <a:off x="9928843" y="3005541"/>
                <a:ext cx="351325" cy="307777"/>
              </a:xfrm>
              <a:prstGeom prst="rect">
                <a:avLst/>
              </a:prstGeom>
              <a:blipFill>
                <a:blip r:embed="rId10"/>
                <a:stretch>
                  <a:fillRect/>
                </a:stretch>
              </a:blipFill>
            </p:spPr>
            <p:txBody>
              <a:bodyPr/>
              <a:lstStyle/>
              <a:p>
                <a:r>
                  <a:rPr lang="zh-CN" altLang="en-US">
                    <a:noFill/>
                  </a:rPr>
                  <a:t> </a:t>
                </a:r>
              </a:p>
            </p:txBody>
          </p:sp>
        </mc:Fallback>
      </mc:AlternateContent>
      <p:sp>
        <p:nvSpPr>
          <p:cNvPr id="202" name="矩形: 圆角 201">
            <a:extLst>
              <a:ext uri="{FF2B5EF4-FFF2-40B4-BE49-F238E27FC236}">
                <a16:creationId xmlns:a16="http://schemas.microsoft.com/office/drawing/2014/main" id="{7A2C52AD-1ACE-66EC-7A1B-D34B83D1F56F}"/>
              </a:ext>
            </a:extLst>
          </p:cNvPr>
          <p:cNvSpPr/>
          <p:nvPr/>
        </p:nvSpPr>
        <p:spPr>
          <a:xfrm>
            <a:off x="9539223" y="1485000"/>
            <a:ext cx="112704" cy="252000"/>
          </a:xfrm>
          <a:prstGeom prst="roundRect">
            <a:avLst/>
          </a:prstGeom>
          <a:solidFill>
            <a:srgbClr val="4874CB">
              <a:lumMod val="20000"/>
              <a:lumOff val="80000"/>
            </a:srgbClr>
          </a:solidFill>
          <a:ln w="12700" cap="flat" cmpd="sng" algn="ctr">
            <a:solidFill>
              <a:srgbClr val="4874CB">
                <a:shade val="15000"/>
              </a:srgbClr>
            </a:solidFill>
            <a:prstDash val="solid"/>
            <a:miter lim="800000"/>
          </a:ln>
          <a:effectLst/>
        </p:spPr>
        <p:txBody>
          <a:bodyPr wrap="square"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endParaRPr kumimoji="0" lang="zh-CN" altLang="en-US" sz="11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203" name="矩形: 圆角 202">
            <a:extLst>
              <a:ext uri="{FF2B5EF4-FFF2-40B4-BE49-F238E27FC236}">
                <a16:creationId xmlns:a16="http://schemas.microsoft.com/office/drawing/2014/main" id="{DB03370A-7349-A57D-F99E-35CAB6776F27}"/>
              </a:ext>
            </a:extLst>
          </p:cNvPr>
          <p:cNvSpPr/>
          <p:nvPr/>
        </p:nvSpPr>
        <p:spPr>
          <a:xfrm>
            <a:off x="9746079" y="1485000"/>
            <a:ext cx="112704" cy="252000"/>
          </a:xfrm>
          <a:prstGeom prst="roundRect">
            <a:avLst/>
          </a:prstGeom>
          <a:solidFill>
            <a:srgbClr val="4874CB">
              <a:lumMod val="20000"/>
              <a:lumOff val="80000"/>
            </a:srgbClr>
          </a:solidFill>
          <a:ln w="12700" cap="flat" cmpd="sng" algn="ctr">
            <a:solidFill>
              <a:srgbClr val="4874CB">
                <a:shade val="15000"/>
              </a:srgbClr>
            </a:solidFill>
            <a:prstDash val="solid"/>
            <a:miter lim="800000"/>
          </a:ln>
          <a:effectLst/>
        </p:spPr>
        <p:txBody>
          <a:bodyPr wrap="square"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endParaRPr kumimoji="0" lang="zh-CN" altLang="en-US" sz="11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204" name="矩形: 圆角 203">
            <a:extLst>
              <a:ext uri="{FF2B5EF4-FFF2-40B4-BE49-F238E27FC236}">
                <a16:creationId xmlns:a16="http://schemas.microsoft.com/office/drawing/2014/main" id="{A7101C06-C3F6-3843-235B-998F056BDDDB}"/>
              </a:ext>
            </a:extLst>
          </p:cNvPr>
          <p:cNvSpPr/>
          <p:nvPr/>
        </p:nvSpPr>
        <p:spPr>
          <a:xfrm>
            <a:off x="10167464" y="1485000"/>
            <a:ext cx="112704" cy="252000"/>
          </a:xfrm>
          <a:prstGeom prst="roundRect">
            <a:avLst/>
          </a:prstGeom>
          <a:solidFill>
            <a:srgbClr val="E3F2D9"/>
          </a:solidFill>
          <a:ln w="12700" cap="flat" cmpd="sng" algn="ctr">
            <a:solidFill>
              <a:srgbClr val="4874CB">
                <a:shade val="15000"/>
              </a:srgbClr>
            </a:solidFill>
            <a:prstDash val="solid"/>
            <a:miter lim="800000"/>
          </a:ln>
          <a:effectLst/>
        </p:spPr>
        <p:txBody>
          <a:bodyPr wrap="square"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endParaRPr kumimoji="0" lang="zh-CN" altLang="en-US" sz="11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205" name="矩形: 圆角 204">
            <a:extLst>
              <a:ext uri="{FF2B5EF4-FFF2-40B4-BE49-F238E27FC236}">
                <a16:creationId xmlns:a16="http://schemas.microsoft.com/office/drawing/2014/main" id="{7028E5DF-4729-FB08-3EE7-6BFDA59AA398}"/>
              </a:ext>
            </a:extLst>
          </p:cNvPr>
          <p:cNvSpPr/>
          <p:nvPr/>
        </p:nvSpPr>
        <p:spPr>
          <a:xfrm>
            <a:off x="8209794" y="1108845"/>
            <a:ext cx="2070369" cy="208418"/>
          </a:xfrm>
          <a:prstGeom prst="roundRect">
            <a:avLst/>
          </a:prstGeom>
          <a:solidFill>
            <a:srgbClr val="FFF2F2"/>
          </a:solidFill>
          <a:ln w="12700" cap="flat" cmpd="sng" algn="ctr">
            <a:solidFill>
              <a:srgbClr val="4874CB">
                <a:shade val="15000"/>
              </a:srgbClr>
            </a:solidFill>
            <a:prstDash val="solid"/>
            <a:miter lim="800000"/>
          </a:ln>
          <a:effectLst/>
        </p:spPr>
        <p:txBody>
          <a:bodyPr wrap="square"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IMC of</a:t>
            </a:r>
            <a:r>
              <a:rPr kumimoji="0" lang="zh-CN" altLang="en-US"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 </a:t>
            </a: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CPU</a:t>
            </a:r>
          </a:p>
        </p:txBody>
      </p:sp>
      <p:cxnSp>
        <p:nvCxnSpPr>
          <p:cNvPr id="206" name="直接箭头连接符 205">
            <a:extLst>
              <a:ext uri="{FF2B5EF4-FFF2-40B4-BE49-F238E27FC236}">
                <a16:creationId xmlns:a16="http://schemas.microsoft.com/office/drawing/2014/main" id="{AD0DD41F-0FD6-F82E-4421-77332FA7F31B}"/>
              </a:ext>
            </a:extLst>
          </p:cNvPr>
          <p:cNvCxnSpPr/>
          <p:nvPr/>
        </p:nvCxnSpPr>
        <p:spPr>
          <a:xfrm>
            <a:off x="8924154" y="1327798"/>
            <a:ext cx="0" cy="144000"/>
          </a:xfrm>
          <a:prstGeom prst="straightConnector1">
            <a:avLst/>
          </a:prstGeom>
          <a:noFill/>
          <a:ln w="6350" cap="flat" cmpd="sng" algn="ctr">
            <a:solidFill>
              <a:sysClr val="windowText" lastClr="000000"/>
            </a:solidFill>
            <a:prstDash val="solid"/>
            <a:miter lim="800000"/>
            <a:headEnd type="triangle" w="sm" len="sm"/>
            <a:tailEnd type="triangle" w="sm" len="sm"/>
          </a:ln>
          <a:effectLst/>
        </p:spPr>
      </p:cxnSp>
      <p:cxnSp>
        <p:nvCxnSpPr>
          <p:cNvPr id="207" name="直接箭头连接符 206">
            <a:extLst>
              <a:ext uri="{FF2B5EF4-FFF2-40B4-BE49-F238E27FC236}">
                <a16:creationId xmlns:a16="http://schemas.microsoft.com/office/drawing/2014/main" id="{574AB18A-158B-C4DE-2F7A-BD5457DC6E12}"/>
              </a:ext>
            </a:extLst>
          </p:cNvPr>
          <p:cNvCxnSpPr/>
          <p:nvPr/>
        </p:nvCxnSpPr>
        <p:spPr>
          <a:xfrm>
            <a:off x="9595575" y="1327798"/>
            <a:ext cx="0" cy="144000"/>
          </a:xfrm>
          <a:prstGeom prst="straightConnector1">
            <a:avLst/>
          </a:prstGeom>
          <a:noFill/>
          <a:ln w="6350" cap="flat" cmpd="sng" algn="ctr">
            <a:solidFill>
              <a:sysClr val="windowText" lastClr="000000"/>
            </a:solidFill>
            <a:prstDash val="solid"/>
            <a:miter lim="800000"/>
            <a:headEnd type="triangle" w="sm" len="sm"/>
            <a:tailEnd type="triangle" w="sm" len="sm"/>
          </a:ln>
          <a:effectLst/>
        </p:spPr>
      </p:cxnSp>
      <p:cxnSp>
        <p:nvCxnSpPr>
          <p:cNvPr id="208" name="直接箭头连接符 207">
            <a:extLst>
              <a:ext uri="{FF2B5EF4-FFF2-40B4-BE49-F238E27FC236}">
                <a16:creationId xmlns:a16="http://schemas.microsoft.com/office/drawing/2014/main" id="{DC741CF7-349D-9596-3161-08313A761E0D}"/>
              </a:ext>
            </a:extLst>
          </p:cNvPr>
          <p:cNvCxnSpPr/>
          <p:nvPr/>
        </p:nvCxnSpPr>
        <p:spPr>
          <a:xfrm>
            <a:off x="9802431" y="1327798"/>
            <a:ext cx="0" cy="144000"/>
          </a:xfrm>
          <a:prstGeom prst="straightConnector1">
            <a:avLst/>
          </a:prstGeom>
          <a:noFill/>
          <a:ln w="6350" cap="flat" cmpd="sng" algn="ctr">
            <a:solidFill>
              <a:sysClr val="windowText" lastClr="000000"/>
            </a:solidFill>
            <a:prstDash val="solid"/>
            <a:miter lim="800000"/>
            <a:headEnd type="triangle" w="sm" len="sm"/>
            <a:tailEnd type="triangle" w="sm" len="sm"/>
          </a:ln>
          <a:effectLst/>
        </p:spPr>
      </p:cxnSp>
      <p:cxnSp>
        <p:nvCxnSpPr>
          <p:cNvPr id="209" name="直接箭头连接符 208">
            <a:extLst>
              <a:ext uri="{FF2B5EF4-FFF2-40B4-BE49-F238E27FC236}">
                <a16:creationId xmlns:a16="http://schemas.microsoft.com/office/drawing/2014/main" id="{14A6A978-E3A6-0B66-096E-BE90AEA55328}"/>
              </a:ext>
            </a:extLst>
          </p:cNvPr>
          <p:cNvCxnSpPr/>
          <p:nvPr/>
        </p:nvCxnSpPr>
        <p:spPr>
          <a:xfrm>
            <a:off x="10223816" y="1327798"/>
            <a:ext cx="0" cy="144000"/>
          </a:xfrm>
          <a:prstGeom prst="straightConnector1">
            <a:avLst/>
          </a:prstGeom>
          <a:noFill/>
          <a:ln w="6350" cap="flat" cmpd="sng" algn="ctr">
            <a:solidFill>
              <a:sysClr val="windowText" lastClr="000000"/>
            </a:solidFill>
            <a:prstDash val="solid"/>
            <a:miter lim="800000"/>
            <a:headEnd type="triangle" w="sm" len="sm"/>
            <a:tailEnd type="triangle" w="sm" len="sm"/>
          </a:ln>
          <a:effectLst/>
        </p:spPr>
      </p:cxnSp>
      <p:sp>
        <p:nvSpPr>
          <p:cNvPr id="210" name="文本框 209">
            <a:extLst>
              <a:ext uri="{FF2B5EF4-FFF2-40B4-BE49-F238E27FC236}">
                <a16:creationId xmlns:a16="http://schemas.microsoft.com/office/drawing/2014/main" id="{C0C0E01A-AA5F-6D4D-15A5-141A53D69FA9}"/>
              </a:ext>
            </a:extLst>
          </p:cNvPr>
          <p:cNvSpPr txBox="1"/>
          <p:nvPr/>
        </p:nvSpPr>
        <p:spPr>
          <a:xfrm>
            <a:off x="8128745" y="4565526"/>
            <a:ext cx="2213195" cy="276999"/>
          </a:xfrm>
          <a:prstGeom prst="rect">
            <a:avLst/>
          </a:prstGeom>
          <a:noFill/>
        </p:spPr>
        <p:txBody>
          <a:bodyPr wrap="square" rtlCol="0">
            <a:spAutoFit/>
          </a:bodyPr>
          <a:lstStyle/>
          <a:p>
            <a:pPr algn="ctr" defTabSz="914400"/>
            <a:r>
              <a:rPr lang="en-US" altLang="zh-CN" sz="1200" b="1" dirty="0">
                <a:solidFill>
                  <a:prstClr val="black"/>
                </a:solidFill>
                <a:latin typeface="等线" panose="02010600030101010101" pitchFamily="2" charset="-122"/>
                <a:cs typeface="Times New Roman" panose="02020603050405020304" pitchFamily="18" charset="0"/>
              </a:rPr>
              <a:t>Ⅲ.</a:t>
            </a:r>
            <a:r>
              <a:rPr lang="zh-CN" altLang="en-US" sz="1200" b="1" dirty="0">
                <a:solidFill>
                  <a:prstClr val="black"/>
                </a:solidFill>
                <a:latin typeface="等线" panose="02010600030101010101" pitchFamily="2" charset="-122"/>
                <a:cs typeface="Times New Roman" panose="02020603050405020304" pitchFamily="18" charset="0"/>
              </a:rPr>
              <a:t> </a:t>
            </a:r>
            <a:r>
              <a:rPr lang="en-US" altLang="zh-CN" sz="1200" b="1" dirty="0">
                <a:solidFill>
                  <a:prstClr val="black"/>
                </a:solidFill>
                <a:latin typeface="等线" panose="02010600030101010101" pitchFamily="2" charset="-122"/>
                <a:cs typeface="Times New Roman" panose="02020603050405020304" pitchFamily="18" charset="0"/>
              </a:rPr>
              <a:t>Bit-level Info</a:t>
            </a:r>
            <a:endParaRPr lang="zh-CN" altLang="en-US" sz="1200" b="1" dirty="0">
              <a:solidFill>
                <a:prstClr val="black"/>
              </a:solidFill>
              <a:latin typeface="等线" panose="02010600030101010101" pitchFamily="2" charset="-122"/>
              <a:cs typeface="Times New Roman" panose="02020603050405020304" pitchFamily="18" charset="0"/>
            </a:endParaRPr>
          </a:p>
        </p:txBody>
      </p:sp>
      <p:sp>
        <p:nvSpPr>
          <p:cNvPr id="211" name="椭圆 210">
            <a:extLst>
              <a:ext uri="{FF2B5EF4-FFF2-40B4-BE49-F238E27FC236}">
                <a16:creationId xmlns:a16="http://schemas.microsoft.com/office/drawing/2014/main" id="{566C3F8C-9B46-9159-834C-7F2807CC3CAC}"/>
              </a:ext>
            </a:extLst>
          </p:cNvPr>
          <p:cNvSpPr/>
          <p:nvPr/>
        </p:nvSpPr>
        <p:spPr>
          <a:xfrm>
            <a:off x="2373221" y="2343948"/>
            <a:ext cx="357867" cy="310176"/>
          </a:xfrm>
          <a:prstGeom prst="ellipse">
            <a:avLst/>
          </a:prstGeom>
          <a:noFill/>
          <a:ln w="12700" cap="flat" cmpd="sng" algn="ctr">
            <a:solidFill>
              <a:srgbClr val="E54C5E"/>
            </a:solidFill>
            <a:prstDash val="solid"/>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12" name="直接箭头连接符 211">
            <a:extLst>
              <a:ext uri="{FF2B5EF4-FFF2-40B4-BE49-F238E27FC236}">
                <a16:creationId xmlns:a16="http://schemas.microsoft.com/office/drawing/2014/main" id="{B3C1934C-5D22-4B9D-53FB-725043B67B46}"/>
              </a:ext>
            </a:extLst>
          </p:cNvPr>
          <p:cNvCxnSpPr>
            <a:stCxn id="211" idx="7"/>
          </p:cNvCxnSpPr>
          <p:nvPr/>
        </p:nvCxnSpPr>
        <p:spPr>
          <a:xfrm flipV="1">
            <a:off x="2678680" y="1485000"/>
            <a:ext cx="494520" cy="904372"/>
          </a:xfrm>
          <a:prstGeom prst="straightConnector1">
            <a:avLst/>
          </a:prstGeom>
          <a:noFill/>
          <a:ln w="12700" cap="flat" cmpd="sng" algn="ctr">
            <a:solidFill>
              <a:srgbClr val="E54C5E"/>
            </a:solidFill>
            <a:prstDash val="solid"/>
            <a:miter lim="800000"/>
            <a:tailEnd type="triangle"/>
          </a:ln>
          <a:effectLst/>
        </p:spPr>
      </p:cxnSp>
      <p:sp>
        <p:nvSpPr>
          <p:cNvPr id="213" name="椭圆 212">
            <a:extLst>
              <a:ext uri="{FF2B5EF4-FFF2-40B4-BE49-F238E27FC236}">
                <a16:creationId xmlns:a16="http://schemas.microsoft.com/office/drawing/2014/main" id="{4199255E-6AB2-468B-08CA-4AE91CBD48DF}"/>
              </a:ext>
            </a:extLst>
          </p:cNvPr>
          <p:cNvSpPr/>
          <p:nvPr/>
        </p:nvSpPr>
        <p:spPr>
          <a:xfrm>
            <a:off x="3346111" y="1647800"/>
            <a:ext cx="4356429" cy="404963"/>
          </a:xfrm>
          <a:prstGeom prst="ellipse">
            <a:avLst/>
          </a:prstGeom>
          <a:noFill/>
          <a:ln w="12700" cap="flat" cmpd="sng" algn="ctr">
            <a:solidFill>
              <a:srgbClr val="E54C5E"/>
            </a:solidFill>
            <a:prstDash val="solid"/>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14" name="直接箭头连接符 213">
            <a:extLst>
              <a:ext uri="{FF2B5EF4-FFF2-40B4-BE49-F238E27FC236}">
                <a16:creationId xmlns:a16="http://schemas.microsoft.com/office/drawing/2014/main" id="{1F51AF94-80DD-2626-6212-D18F14E1E575}"/>
              </a:ext>
            </a:extLst>
          </p:cNvPr>
          <p:cNvCxnSpPr>
            <a:cxnSpLocks/>
            <a:stCxn id="213" idx="6"/>
          </p:cNvCxnSpPr>
          <p:nvPr/>
        </p:nvCxnSpPr>
        <p:spPr>
          <a:xfrm flipV="1">
            <a:off x="7702540" y="1614445"/>
            <a:ext cx="610305" cy="235837"/>
          </a:xfrm>
          <a:prstGeom prst="straightConnector1">
            <a:avLst/>
          </a:prstGeom>
          <a:noFill/>
          <a:ln w="12700" cap="flat" cmpd="sng" algn="ctr">
            <a:solidFill>
              <a:srgbClr val="E54C5E"/>
            </a:solidFill>
            <a:prstDash val="solid"/>
            <a:miter lim="800000"/>
            <a:tailEnd type="triangle"/>
          </a:ln>
          <a:effectLst/>
        </p:spPr>
      </p:cxnSp>
      <p:sp>
        <p:nvSpPr>
          <p:cNvPr id="215" name="椭圆 214">
            <a:extLst>
              <a:ext uri="{FF2B5EF4-FFF2-40B4-BE49-F238E27FC236}">
                <a16:creationId xmlns:a16="http://schemas.microsoft.com/office/drawing/2014/main" id="{2D84C3DB-A5A2-C266-139E-1DD986A88D4D}"/>
              </a:ext>
            </a:extLst>
          </p:cNvPr>
          <p:cNvSpPr/>
          <p:nvPr/>
        </p:nvSpPr>
        <p:spPr>
          <a:xfrm>
            <a:off x="5068442" y="4314730"/>
            <a:ext cx="162000" cy="162000"/>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rPr>
              <a:t>1</a:t>
            </a:r>
            <a:endParaRPr kumimoji="0" lang="zh-CN" altLang="en-US" sz="10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p:sp>
        <p:nvSpPr>
          <p:cNvPr id="216" name="椭圆 215">
            <a:extLst>
              <a:ext uri="{FF2B5EF4-FFF2-40B4-BE49-F238E27FC236}">
                <a16:creationId xmlns:a16="http://schemas.microsoft.com/office/drawing/2014/main" id="{6E60192A-0B9E-46F3-FF2F-F361939D9A7C}"/>
              </a:ext>
            </a:extLst>
          </p:cNvPr>
          <p:cNvSpPr/>
          <p:nvPr/>
        </p:nvSpPr>
        <p:spPr>
          <a:xfrm>
            <a:off x="5149442" y="4028135"/>
            <a:ext cx="162000" cy="162000"/>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rPr>
              <a:t>2</a:t>
            </a:r>
            <a:endParaRPr kumimoji="0" lang="zh-CN" altLang="en-US" sz="10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p:sp>
        <p:nvSpPr>
          <p:cNvPr id="217" name="椭圆 216">
            <a:extLst>
              <a:ext uri="{FF2B5EF4-FFF2-40B4-BE49-F238E27FC236}">
                <a16:creationId xmlns:a16="http://schemas.microsoft.com/office/drawing/2014/main" id="{372D66FF-0892-50B2-A6A5-1A722738C65B}"/>
              </a:ext>
            </a:extLst>
          </p:cNvPr>
          <p:cNvSpPr/>
          <p:nvPr/>
        </p:nvSpPr>
        <p:spPr>
          <a:xfrm>
            <a:off x="5116582" y="3776193"/>
            <a:ext cx="162000" cy="162000"/>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rPr>
              <a:t>3</a:t>
            </a:r>
            <a:endParaRPr kumimoji="0" lang="zh-CN" altLang="en-US" sz="10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p:sp>
        <p:nvSpPr>
          <p:cNvPr id="218" name="椭圆 217">
            <a:extLst>
              <a:ext uri="{FF2B5EF4-FFF2-40B4-BE49-F238E27FC236}">
                <a16:creationId xmlns:a16="http://schemas.microsoft.com/office/drawing/2014/main" id="{BF6436DF-1CCB-3F99-EA10-A721E42CB5F4}"/>
              </a:ext>
            </a:extLst>
          </p:cNvPr>
          <p:cNvSpPr/>
          <p:nvPr/>
        </p:nvSpPr>
        <p:spPr>
          <a:xfrm>
            <a:off x="6130711" y="3529707"/>
            <a:ext cx="162000" cy="162000"/>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rPr>
              <a:t>4</a:t>
            </a:r>
            <a:endParaRPr kumimoji="0" lang="zh-CN" altLang="en-US" sz="10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p:sp>
        <p:nvSpPr>
          <p:cNvPr id="219" name="椭圆 218">
            <a:extLst>
              <a:ext uri="{FF2B5EF4-FFF2-40B4-BE49-F238E27FC236}">
                <a16:creationId xmlns:a16="http://schemas.microsoft.com/office/drawing/2014/main" id="{BF035DA9-92CD-4F97-35C8-00EA1B13E13E}"/>
              </a:ext>
            </a:extLst>
          </p:cNvPr>
          <p:cNvSpPr/>
          <p:nvPr/>
        </p:nvSpPr>
        <p:spPr>
          <a:xfrm>
            <a:off x="8485802" y="4326296"/>
            <a:ext cx="162000" cy="162000"/>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rPr>
              <a:t>5</a:t>
            </a:r>
            <a:endParaRPr kumimoji="0" lang="zh-CN" altLang="en-US" sz="10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4" name="文本框 223">
                <a:extLst>
                  <a:ext uri="{FF2B5EF4-FFF2-40B4-BE49-F238E27FC236}">
                    <a16:creationId xmlns:a16="http://schemas.microsoft.com/office/drawing/2014/main" id="{D46956A5-0BD4-BD95-1291-FD1A64FCE276}"/>
                  </a:ext>
                </a:extLst>
              </p:cNvPr>
              <p:cNvSpPr txBox="1"/>
              <p:nvPr/>
            </p:nvSpPr>
            <p:spPr>
              <a:xfrm>
                <a:off x="197191" y="4894547"/>
                <a:ext cx="6516005" cy="1532022"/>
              </a:xfrm>
              <a:prstGeom prst="rect">
                <a:avLst/>
              </a:prstGeom>
              <a:noFill/>
            </p:spPr>
            <p:txBody>
              <a:bodyPr wrap="square">
                <a:spAutoFit/>
              </a:bodyPr>
              <a:lstStyle/>
              <a:p>
                <a:pPr marL="285750" indent="-285750">
                  <a:lnSpc>
                    <a:spcPct val="150000"/>
                  </a:lnSpc>
                  <a:buClr>
                    <a:srgbClr val="C7000B"/>
                  </a:buClr>
                  <a:buFont typeface="Wingdings" panose="05000000000000000000" pitchFamily="2" charset="2"/>
                  <a:buChar char="Ø"/>
                </a:pPr>
                <a:r>
                  <a:rPr lang="en-US" altLang="zh-CN" sz="1600" dirty="0"/>
                  <a:t>Formally, for any DIMM </a:t>
                </a:r>
                <a14:m>
                  <m:oMath xmlns:m="http://schemas.openxmlformats.org/officeDocument/2006/math">
                    <m:r>
                      <a:rPr lang="en-US" altLang="zh-CN" sz="1600" smtClean="0">
                        <a:latin typeface="Cambria Math" panose="02040503050406030204" pitchFamily="18" charset="0"/>
                        <a:ea typeface="等线" panose="02010600030101010101" pitchFamily="2" charset="-122"/>
                      </a:rPr>
                      <m:t>𝑑</m:t>
                    </m:r>
                  </m:oMath>
                </a14:m>
                <a:r>
                  <a:rPr lang="en-US" altLang="zh-CN" sz="1600" dirty="0"/>
                  <a:t>, we denote the event sequence corresponding to this DIMM as </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ℰ</m:t>
                        </m:r>
                      </m:e>
                      <m:sub>
                        <m:r>
                          <a:rPr lang="en-US" altLang="zh-CN" sz="1600">
                            <a:latin typeface="Cambria Math" panose="02040503050406030204" pitchFamily="18" charset="0"/>
                          </a:rPr>
                          <m:t>𝑑</m:t>
                        </m:r>
                      </m:sub>
                    </m:sSub>
                  </m:oMath>
                </a14:m>
                <a:r>
                  <a:rPr lang="en-US" altLang="zh-CN" sz="1600" dirty="0"/>
                  <a:t>​. Each event </a:t>
                </a:r>
                <a14:m>
                  <m:oMath xmlns:m="http://schemas.openxmlformats.org/officeDocument/2006/math">
                    <m:r>
                      <a:rPr lang="en-US" altLang="zh-CN" sz="1600">
                        <a:latin typeface="Cambria Math" panose="02040503050406030204" pitchFamily="18" charset="0"/>
                      </a:rPr>
                      <m:t>𝑒</m:t>
                    </m:r>
                  </m:oMath>
                </a14:m>
                <a:r>
                  <a:rPr lang="en-US" altLang="zh-CN" sz="1600" dirty="0"/>
                  <a:t> (where </a:t>
                </a:r>
                <a14:m>
                  <m:oMath xmlns:m="http://schemas.openxmlformats.org/officeDocument/2006/math">
                    <m:r>
                      <a:rPr lang="en-US" altLang="zh-CN" sz="1600">
                        <a:latin typeface="Cambria Math" panose="02040503050406030204" pitchFamily="18" charset="0"/>
                      </a:rPr>
                      <m:t>𝑒</m:t>
                    </m:r>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ℰ</m:t>
                        </m:r>
                      </m:e>
                      <m:sub>
                        <m:r>
                          <a:rPr lang="en-US" altLang="zh-CN" sz="1600">
                            <a:latin typeface="Cambria Math" panose="02040503050406030204" pitchFamily="18" charset="0"/>
                          </a:rPr>
                          <m:t>𝑑</m:t>
                        </m:r>
                      </m:sub>
                    </m:sSub>
                  </m:oMath>
                </a14:m>
                <a:r>
                  <a:rPr lang="en-US" altLang="zh-CN" sz="1600" dirty="0"/>
                  <a:t>​) contains three core pieces of information: the error type (read CE or scrub CE), the log timestamp, and the spatial location information organized by hierarchy.</a:t>
                </a:r>
                <a:endParaRPr lang="zh-CN" altLang="zh-CN" sz="1600" dirty="0">
                  <a:latin typeface="等线" panose="02010600030101010101" pitchFamily="2" charset="-122"/>
                  <a:ea typeface="等线" panose="02010600030101010101" pitchFamily="2" charset="-122"/>
                </a:endParaRPr>
              </a:p>
            </p:txBody>
          </p:sp>
        </mc:Choice>
        <mc:Fallback xmlns="">
          <p:sp>
            <p:nvSpPr>
              <p:cNvPr id="224" name="文本框 223">
                <a:extLst>
                  <a:ext uri="{FF2B5EF4-FFF2-40B4-BE49-F238E27FC236}">
                    <a16:creationId xmlns:a16="http://schemas.microsoft.com/office/drawing/2014/main" id="{D46956A5-0BD4-BD95-1291-FD1A64FCE276}"/>
                  </a:ext>
                </a:extLst>
              </p:cNvPr>
              <p:cNvSpPr txBox="1">
                <a:spLocks noRot="1" noChangeAspect="1" noMove="1" noResize="1" noEditPoints="1" noAdjustHandles="1" noChangeArrowheads="1" noChangeShapeType="1" noTextEdit="1"/>
              </p:cNvSpPr>
              <p:nvPr/>
            </p:nvSpPr>
            <p:spPr>
              <a:xfrm>
                <a:off x="197191" y="4894547"/>
                <a:ext cx="6516005" cy="1532022"/>
              </a:xfrm>
              <a:prstGeom prst="rect">
                <a:avLst/>
              </a:prstGeom>
              <a:blipFill>
                <a:blip r:embed="rId11"/>
                <a:stretch>
                  <a:fillRect l="-374" r="-374" b="-4382"/>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309D621D-54BF-8414-0288-94B9CCC1A0D1}"/>
              </a:ext>
            </a:extLst>
          </p:cNvPr>
          <p:cNvPicPr>
            <a:picLocks noChangeAspect="1"/>
          </p:cNvPicPr>
          <p:nvPr/>
        </p:nvPicPr>
        <p:blipFill>
          <a:blip r:embed="rId12"/>
          <a:stretch>
            <a:fillRect/>
          </a:stretch>
        </p:blipFill>
        <p:spPr>
          <a:xfrm>
            <a:off x="6721651" y="4774298"/>
            <a:ext cx="5155374" cy="1939106"/>
          </a:xfrm>
          <a:prstGeom prst="rect">
            <a:avLst/>
          </a:prstGeom>
        </p:spPr>
      </p:pic>
    </p:spTree>
    <p:extLst>
      <p:ext uri="{BB962C8B-B14F-4D97-AF65-F5344CB8AC3E}">
        <p14:creationId xmlns:p14="http://schemas.microsoft.com/office/powerpoint/2010/main" val="3925657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CC65E090-5354-42DF-BA76-C6AFCE3421C9}"/>
              </a:ext>
            </a:extLst>
          </p:cNvPr>
          <p:cNvSpPr txBox="1"/>
          <p:nvPr/>
        </p:nvSpPr>
        <p:spPr>
          <a:xfrm>
            <a:off x="790215" y="365302"/>
            <a:ext cx="7836200" cy="461665"/>
          </a:xfrm>
          <a:prstGeom prst="rect">
            <a:avLst/>
          </a:prstGeom>
          <a:noFill/>
        </p:spPr>
        <p:txBody>
          <a:bodyPr wrap="square" rtlCol="0">
            <a:spAutoFit/>
          </a:bodyPr>
          <a:lstStyle/>
          <a:p>
            <a:r>
              <a:rPr lang="en-US" altLang="zh-CN" sz="2400" b="1" i="0" dirty="0">
                <a:solidFill>
                  <a:srgbClr val="060607"/>
                </a:solidFill>
                <a:effectLst/>
                <a:latin typeface="-apple-system"/>
              </a:rPr>
              <a:t>Current Situation – Limitations of Existing Methods</a:t>
            </a:r>
            <a:endParaRPr lang="en-US" altLang="zh-CN" sz="2400" b="1" dirty="0"/>
          </a:p>
        </p:txBody>
      </p:sp>
      <p:sp>
        <p:nvSpPr>
          <p:cNvPr id="3" name="矩形 2">
            <a:extLst>
              <a:ext uri="{FF2B5EF4-FFF2-40B4-BE49-F238E27FC236}">
                <a16:creationId xmlns:a16="http://schemas.microsoft.com/office/drawing/2014/main" id="{F3E8ADE8-58E5-4003-954D-496E70BBDE50}"/>
              </a:ext>
            </a:extLst>
          </p:cNvPr>
          <p:cNvSpPr/>
          <p:nvPr/>
        </p:nvSpPr>
        <p:spPr>
          <a:xfrm>
            <a:off x="148155" y="1051739"/>
            <a:ext cx="6684554" cy="5363175"/>
          </a:xfrm>
          <a:prstGeom prst="rect">
            <a:avLst/>
          </a:prstGeom>
          <a:noFill/>
        </p:spPr>
        <p:txBody>
          <a:bodyPr wrap="square">
            <a:noAutofit/>
          </a:bodyPr>
          <a:lstStyle/>
          <a:p>
            <a:pPr lvl="0" indent="-342900" algn="just">
              <a:lnSpc>
                <a:spcPct val="140000"/>
              </a:lnSpc>
              <a:spcBef>
                <a:spcPts val="0"/>
              </a:spcBef>
              <a:spcAft>
                <a:spcPts val="0"/>
              </a:spcAft>
              <a:buClr>
                <a:srgbClr val="C7000B"/>
              </a:buClr>
              <a:buSzTx/>
              <a:buFont typeface="Wingdings" panose="05000000000000000000" pitchFamily="2" charset="2"/>
              <a:buChar char="p"/>
            </a:pPr>
            <a:r>
              <a:rPr lang="en-US" altLang="zh-CN" sz="1600" b="1" dirty="0">
                <a:latin typeface="+mn-ea"/>
              </a:rPr>
              <a:t>Classifier Based on Raw Event Sequence Features</a:t>
            </a:r>
          </a:p>
          <a:p>
            <a:pPr lvl="1">
              <a:lnSpc>
                <a:spcPct val="140000"/>
              </a:lnSpc>
              <a:buClr>
                <a:srgbClr val="C7000B"/>
              </a:buClr>
            </a:pPr>
            <a:r>
              <a:rPr lang="en-US" altLang="zh-CN" sz="1400" dirty="0">
                <a:latin typeface="+mn-ea"/>
              </a:rPr>
              <a:t>1. Only uses raw event sequence features  </a:t>
            </a:r>
          </a:p>
          <a:p>
            <a:pPr lvl="1">
              <a:lnSpc>
                <a:spcPct val="140000"/>
              </a:lnSpc>
              <a:buClr>
                <a:srgbClr val="C7000B"/>
              </a:buClr>
            </a:pPr>
            <a:r>
              <a:rPr lang="en-US" altLang="zh-CN" sz="1400" dirty="0">
                <a:latin typeface="+mn-ea"/>
              </a:rPr>
              <a:t>2. Generates higher-order features by simple combinations of raw features</a:t>
            </a:r>
          </a:p>
          <a:p>
            <a:pPr lvl="1">
              <a:lnSpc>
                <a:spcPct val="140000"/>
              </a:lnSpc>
              <a:buClr>
                <a:srgbClr val="C7000B"/>
              </a:buClr>
            </a:pPr>
            <a:r>
              <a:rPr lang="en-US" altLang="zh-CN" sz="1400" dirty="0">
                <a:solidFill>
                  <a:schemeClr val="accent1"/>
                </a:solidFill>
                <a:latin typeface="+mn-ea"/>
              </a:rPr>
              <a:t>Issues: The features are too simple, not considering the characteristics of memory failure data, and fail to explore features related to abnormal patterns.</a:t>
            </a:r>
          </a:p>
          <a:p>
            <a:pPr lvl="0" indent="-342900" algn="just">
              <a:lnSpc>
                <a:spcPct val="140000"/>
              </a:lnSpc>
              <a:spcBef>
                <a:spcPts val="0"/>
              </a:spcBef>
              <a:spcAft>
                <a:spcPts val="0"/>
              </a:spcAft>
              <a:buClr>
                <a:srgbClr val="C7000B"/>
              </a:buClr>
              <a:buSzTx/>
              <a:buFont typeface="Wingdings" panose="05000000000000000000" pitchFamily="2" charset="2"/>
              <a:buChar char="p"/>
            </a:pPr>
            <a:r>
              <a:rPr lang="en-US" altLang="zh-CN" sz="1600" b="1" dirty="0">
                <a:latin typeface="+mn-ea"/>
              </a:rPr>
              <a:t>Classifier Based on Event Sequence Statistical Features</a:t>
            </a:r>
          </a:p>
          <a:p>
            <a:pPr lvl="1">
              <a:lnSpc>
                <a:spcPct val="140000"/>
              </a:lnSpc>
              <a:buClr>
                <a:srgbClr val="C7000B"/>
              </a:buClr>
            </a:pPr>
            <a:r>
              <a:rPr lang="en-US" altLang="zh-CN" sz="1400" dirty="0">
                <a:latin typeface="+mn-ea"/>
              </a:rPr>
              <a:t>1. Manually selects failure prediction features and uses aggregated features to train the classifier</a:t>
            </a:r>
          </a:p>
          <a:p>
            <a:pPr lvl="1">
              <a:lnSpc>
                <a:spcPct val="140000"/>
              </a:lnSpc>
              <a:buClr>
                <a:srgbClr val="C7000B"/>
              </a:buClr>
            </a:pPr>
            <a:r>
              <a:rPr lang="en-US" altLang="zh-CN" sz="1400" dirty="0">
                <a:latin typeface="+mn-ea"/>
              </a:rPr>
              <a:t>2. Uses aggregated spatial features and employs transformers to capture the association between aggregated features and failures  </a:t>
            </a:r>
            <a:endParaRPr lang="en-US" altLang="zh-CN" sz="1400" dirty="0">
              <a:solidFill>
                <a:schemeClr val="accent1"/>
              </a:solidFill>
              <a:latin typeface="+mn-ea"/>
            </a:endParaRPr>
          </a:p>
          <a:p>
            <a:pPr lvl="1">
              <a:lnSpc>
                <a:spcPct val="140000"/>
              </a:lnSpc>
              <a:buClr>
                <a:srgbClr val="C7000B"/>
              </a:buClr>
            </a:pPr>
            <a:r>
              <a:rPr lang="en-US" altLang="zh-CN" sz="1400" dirty="0">
                <a:solidFill>
                  <a:schemeClr val="accent1"/>
                </a:solidFill>
                <a:latin typeface="+mn-ea"/>
              </a:rPr>
              <a:t>Issues: Only aggregated features are used, with no consideration of how features at different granularities and scales affect model performance.</a:t>
            </a:r>
          </a:p>
          <a:p>
            <a:pPr indent="-342900" algn="just">
              <a:lnSpc>
                <a:spcPct val="140000"/>
              </a:lnSpc>
              <a:buClr>
                <a:srgbClr val="C7000B"/>
              </a:buClr>
              <a:buFont typeface="Wingdings" panose="05000000000000000000" pitchFamily="2" charset="2"/>
              <a:buChar char="p"/>
            </a:pPr>
            <a:r>
              <a:rPr lang="en-US" altLang="zh-CN" sz="1600" b="1" dirty="0">
                <a:latin typeface="+mn-ea"/>
              </a:rPr>
              <a:t>Classifier Using Expert Knowledge to Design Features </a:t>
            </a:r>
          </a:p>
          <a:p>
            <a:pPr lvl="1">
              <a:lnSpc>
                <a:spcPct val="140000"/>
              </a:lnSpc>
              <a:buClr>
                <a:srgbClr val="C7000B"/>
              </a:buClr>
            </a:pPr>
            <a:r>
              <a:rPr lang="en-US" altLang="zh-CN" sz="1400" dirty="0">
                <a:latin typeface="+mn-ea"/>
              </a:rPr>
              <a:t>1. Leverages extensive expert knowledge to design spatial features at different levels and trains machine learning models for failure prediction  </a:t>
            </a:r>
          </a:p>
          <a:p>
            <a:pPr lvl="1">
              <a:lnSpc>
                <a:spcPct val="140000"/>
              </a:lnSpc>
              <a:buClr>
                <a:srgbClr val="C7000B"/>
              </a:buClr>
            </a:pPr>
            <a:r>
              <a:rPr lang="en-US" altLang="zh-CN" sz="1400" dirty="0">
                <a:solidFill>
                  <a:schemeClr val="accent1"/>
                </a:solidFill>
                <a:latin typeface="+mn-ea"/>
              </a:rPr>
              <a:t>Issues: Requires a large amount of expert knowledge, the feature design process is complex.</a:t>
            </a:r>
          </a:p>
          <a:p>
            <a:pPr>
              <a:lnSpc>
                <a:spcPct val="140000"/>
              </a:lnSpc>
              <a:buClr>
                <a:srgbClr val="C7000B"/>
              </a:buClr>
            </a:pPr>
            <a:endParaRPr lang="en-US" altLang="zh-CN" sz="1200" dirty="0">
              <a:latin typeface="+mn-ea"/>
            </a:endParaRPr>
          </a:p>
        </p:txBody>
      </p:sp>
      <p:grpSp>
        <p:nvGrpSpPr>
          <p:cNvPr id="2" name="组合 1">
            <a:extLst>
              <a:ext uri="{FF2B5EF4-FFF2-40B4-BE49-F238E27FC236}">
                <a16:creationId xmlns:a16="http://schemas.microsoft.com/office/drawing/2014/main" id="{F4A9ABC2-03DC-2EF8-1F63-290C9E46083C}"/>
              </a:ext>
            </a:extLst>
          </p:cNvPr>
          <p:cNvGrpSpPr/>
          <p:nvPr/>
        </p:nvGrpSpPr>
        <p:grpSpPr>
          <a:xfrm>
            <a:off x="6739724" y="1051739"/>
            <a:ext cx="5258828" cy="1463824"/>
            <a:chOff x="263523" y="2441336"/>
            <a:chExt cx="11433811" cy="2767973"/>
          </a:xfrm>
        </p:grpSpPr>
        <p:pic>
          <p:nvPicPr>
            <p:cNvPr id="8" name="图片 7">
              <a:extLst>
                <a:ext uri="{FF2B5EF4-FFF2-40B4-BE49-F238E27FC236}">
                  <a16:creationId xmlns:a16="http://schemas.microsoft.com/office/drawing/2014/main" id="{A79AD2DD-5070-452F-AFDA-2B505BC45561}"/>
                </a:ext>
              </a:extLst>
            </p:cNvPr>
            <p:cNvPicPr>
              <a:picLocks noChangeAspect="1"/>
            </p:cNvPicPr>
            <p:nvPr/>
          </p:nvPicPr>
          <p:blipFill>
            <a:blip r:embed="rId3"/>
            <a:stretch>
              <a:fillRect/>
            </a:stretch>
          </p:blipFill>
          <p:spPr>
            <a:xfrm>
              <a:off x="339688" y="2813542"/>
              <a:ext cx="4316479" cy="2025425"/>
            </a:xfrm>
            <a:prstGeom prst="rect">
              <a:avLst/>
            </a:prstGeom>
          </p:spPr>
        </p:pic>
        <p:sp>
          <p:nvSpPr>
            <p:cNvPr id="10" name="矩形: 圆角 9">
              <a:extLst>
                <a:ext uri="{FF2B5EF4-FFF2-40B4-BE49-F238E27FC236}">
                  <a16:creationId xmlns:a16="http://schemas.microsoft.com/office/drawing/2014/main" id="{0134A3C1-B287-4A7D-82FB-CA545BB5C601}"/>
                </a:ext>
              </a:extLst>
            </p:cNvPr>
            <p:cNvSpPr/>
            <p:nvPr/>
          </p:nvSpPr>
          <p:spPr>
            <a:xfrm>
              <a:off x="263523" y="2441336"/>
              <a:ext cx="11433811" cy="2767973"/>
            </a:xfrm>
            <a:prstGeom prst="roundRect">
              <a:avLst>
                <a:gd name="adj" fmla="val 9056"/>
              </a:avLst>
            </a:prstGeom>
            <a:noFill/>
            <a:ln>
              <a:solidFill>
                <a:schemeClr val="bg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ctr" defTabSz="91438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Arial"/>
                <a:ea typeface="微软雅黑"/>
                <a:cs typeface="+mn-cs"/>
              </a:endParaRPr>
            </a:p>
          </p:txBody>
        </p:sp>
        <p:pic>
          <p:nvPicPr>
            <p:cNvPr id="18" name="图片 17">
              <a:extLst>
                <a:ext uri="{FF2B5EF4-FFF2-40B4-BE49-F238E27FC236}">
                  <a16:creationId xmlns:a16="http://schemas.microsoft.com/office/drawing/2014/main" id="{863B34F4-AF0B-4B45-8FE7-0E26DFCD27EE}"/>
                </a:ext>
              </a:extLst>
            </p:cNvPr>
            <p:cNvPicPr>
              <a:picLocks noChangeAspect="1"/>
            </p:cNvPicPr>
            <p:nvPr/>
          </p:nvPicPr>
          <p:blipFill>
            <a:blip r:embed="rId4"/>
            <a:stretch>
              <a:fillRect/>
            </a:stretch>
          </p:blipFill>
          <p:spPr>
            <a:xfrm>
              <a:off x="4681845" y="2510787"/>
              <a:ext cx="2597165" cy="2624631"/>
            </a:xfrm>
            <a:prstGeom prst="rect">
              <a:avLst/>
            </a:prstGeom>
          </p:spPr>
        </p:pic>
        <p:pic>
          <p:nvPicPr>
            <p:cNvPr id="21" name="图片 20">
              <a:extLst>
                <a:ext uri="{FF2B5EF4-FFF2-40B4-BE49-F238E27FC236}">
                  <a16:creationId xmlns:a16="http://schemas.microsoft.com/office/drawing/2014/main" id="{264184A8-5D9E-41BF-A958-399D08ED0F29}"/>
                </a:ext>
              </a:extLst>
            </p:cNvPr>
            <p:cNvPicPr>
              <a:picLocks noChangeAspect="1"/>
            </p:cNvPicPr>
            <p:nvPr/>
          </p:nvPicPr>
          <p:blipFill>
            <a:blip r:embed="rId5"/>
            <a:stretch>
              <a:fillRect/>
            </a:stretch>
          </p:blipFill>
          <p:spPr>
            <a:xfrm>
              <a:off x="7312179" y="3069084"/>
              <a:ext cx="4244966" cy="1567571"/>
            </a:xfrm>
            <a:prstGeom prst="rect">
              <a:avLst/>
            </a:prstGeom>
          </p:spPr>
        </p:pic>
      </p:grpSp>
      <p:grpSp>
        <p:nvGrpSpPr>
          <p:cNvPr id="12" name="组合 11">
            <a:extLst>
              <a:ext uri="{FF2B5EF4-FFF2-40B4-BE49-F238E27FC236}">
                <a16:creationId xmlns:a16="http://schemas.microsoft.com/office/drawing/2014/main" id="{8C58B654-26DB-988F-2BCA-65614B5EBA74}"/>
              </a:ext>
            </a:extLst>
          </p:cNvPr>
          <p:cNvGrpSpPr/>
          <p:nvPr/>
        </p:nvGrpSpPr>
        <p:grpSpPr>
          <a:xfrm>
            <a:off x="6739724" y="2808467"/>
            <a:ext cx="5258828" cy="1359671"/>
            <a:chOff x="263525" y="2140446"/>
            <a:chExt cx="11433811" cy="3136172"/>
          </a:xfrm>
        </p:grpSpPr>
        <p:sp>
          <p:nvSpPr>
            <p:cNvPr id="5" name="矩形: 圆角 4">
              <a:extLst>
                <a:ext uri="{FF2B5EF4-FFF2-40B4-BE49-F238E27FC236}">
                  <a16:creationId xmlns:a16="http://schemas.microsoft.com/office/drawing/2014/main" id="{D170B7E1-4AE4-C4F2-18B5-ED457A6F61D1}"/>
                </a:ext>
              </a:extLst>
            </p:cNvPr>
            <p:cNvSpPr/>
            <p:nvPr/>
          </p:nvSpPr>
          <p:spPr>
            <a:xfrm>
              <a:off x="263525" y="2140446"/>
              <a:ext cx="11433811" cy="3136172"/>
            </a:xfrm>
            <a:prstGeom prst="roundRect">
              <a:avLst>
                <a:gd name="adj" fmla="val 9056"/>
              </a:avLst>
            </a:prstGeom>
            <a:noFill/>
            <a:ln>
              <a:solidFill>
                <a:schemeClr val="bg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ctr" defTabSz="91438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Arial"/>
                <a:ea typeface="微软雅黑"/>
                <a:cs typeface="+mn-cs"/>
              </a:endParaRPr>
            </a:p>
          </p:txBody>
        </p:sp>
        <p:pic>
          <p:nvPicPr>
            <p:cNvPr id="7" name="图片 6">
              <a:extLst>
                <a:ext uri="{FF2B5EF4-FFF2-40B4-BE49-F238E27FC236}">
                  <a16:creationId xmlns:a16="http://schemas.microsoft.com/office/drawing/2014/main" id="{AD39E6C0-CB7A-B2D4-0021-8AC4043F18CF}"/>
                </a:ext>
              </a:extLst>
            </p:cNvPr>
            <p:cNvPicPr>
              <a:picLocks noChangeAspect="1"/>
            </p:cNvPicPr>
            <p:nvPr/>
          </p:nvPicPr>
          <p:blipFill>
            <a:blip r:embed="rId6"/>
            <a:stretch>
              <a:fillRect/>
            </a:stretch>
          </p:blipFill>
          <p:spPr>
            <a:xfrm>
              <a:off x="614497" y="2233684"/>
              <a:ext cx="4104152" cy="2973008"/>
            </a:xfrm>
            <a:prstGeom prst="rect">
              <a:avLst/>
            </a:prstGeom>
          </p:spPr>
        </p:pic>
        <p:pic>
          <p:nvPicPr>
            <p:cNvPr id="11" name="图片 10">
              <a:extLst>
                <a:ext uri="{FF2B5EF4-FFF2-40B4-BE49-F238E27FC236}">
                  <a16:creationId xmlns:a16="http://schemas.microsoft.com/office/drawing/2014/main" id="{7F15A572-A7C8-56AC-A12A-144705155920}"/>
                </a:ext>
              </a:extLst>
            </p:cNvPr>
            <p:cNvPicPr>
              <a:picLocks noChangeAspect="1"/>
            </p:cNvPicPr>
            <p:nvPr/>
          </p:nvPicPr>
          <p:blipFill>
            <a:blip r:embed="rId7"/>
            <a:stretch>
              <a:fillRect/>
            </a:stretch>
          </p:blipFill>
          <p:spPr>
            <a:xfrm>
              <a:off x="4867453" y="2348587"/>
              <a:ext cx="6686192" cy="2743202"/>
            </a:xfrm>
            <a:prstGeom prst="rect">
              <a:avLst/>
            </a:prstGeom>
          </p:spPr>
        </p:pic>
      </p:grpSp>
      <p:grpSp>
        <p:nvGrpSpPr>
          <p:cNvPr id="15" name="组合 14">
            <a:extLst>
              <a:ext uri="{FF2B5EF4-FFF2-40B4-BE49-F238E27FC236}">
                <a16:creationId xmlns:a16="http://schemas.microsoft.com/office/drawing/2014/main" id="{83EFE249-A526-54C5-AEA0-8E62817885B8}"/>
              </a:ext>
            </a:extLst>
          </p:cNvPr>
          <p:cNvGrpSpPr/>
          <p:nvPr/>
        </p:nvGrpSpPr>
        <p:grpSpPr>
          <a:xfrm>
            <a:off x="6739723" y="4558764"/>
            <a:ext cx="5258829" cy="1728022"/>
            <a:chOff x="263525" y="1820173"/>
            <a:chExt cx="11433811" cy="3723445"/>
          </a:xfrm>
        </p:grpSpPr>
        <p:sp>
          <p:nvSpPr>
            <p:cNvPr id="13" name="矩形: 圆角 12">
              <a:extLst>
                <a:ext uri="{FF2B5EF4-FFF2-40B4-BE49-F238E27FC236}">
                  <a16:creationId xmlns:a16="http://schemas.microsoft.com/office/drawing/2014/main" id="{A884C473-3395-09D7-4194-CB2E8CB3F3A8}"/>
                </a:ext>
              </a:extLst>
            </p:cNvPr>
            <p:cNvSpPr/>
            <p:nvPr/>
          </p:nvSpPr>
          <p:spPr>
            <a:xfrm>
              <a:off x="263525" y="1820173"/>
              <a:ext cx="11433811" cy="3723445"/>
            </a:xfrm>
            <a:prstGeom prst="roundRect">
              <a:avLst>
                <a:gd name="adj" fmla="val 9056"/>
              </a:avLst>
            </a:prstGeom>
            <a:noFill/>
            <a:ln>
              <a:solidFill>
                <a:schemeClr val="bg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ctr" defTabSz="91438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Arial"/>
                <a:ea typeface="微软雅黑"/>
                <a:cs typeface="+mn-cs"/>
              </a:endParaRPr>
            </a:p>
          </p:txBody>
        </p:sp>
        <p:pic>
          <p:nvPicPr>
            <p:cNvPr id="14" name="图片 13">
              <a:extLst>
                <a:ext uri="{FF2B5EF4-FFF2-40B4-BE49-F238E27FC236}">
                  <a16:creationId xmlns:a16="http://schemas.microsoft.com/office/drawing/2014/main" id="{8C23FE91-34CF-56E0-5DC9-EF39429DE924}"/>
                </a:ext>
              </a:extLst>
            </p:cNvPr>
            <p:cNvPicPr>
              <a:picLocks noChangeAspect="1"/>
            </p:cNvPicPr>
            <p:nvPr/>
          </p:nvPicPr>
          <p:blipFill>
            <a:blip r:embed="rId8"/>
            <a:stretch>
              <a:fillRect/>
            </a:stretch>
          </p:blipFill>
          <p:spPr>
            <a:xfrm>
              <a:off x="2428328" y="1899499"/>
              <a:ext cx="6713841" cy="3588227"/>
            </a:xfrm>
            <a:prstGeom prst="rect">
              <a:avLst/>
            </a:prstGeom>
          </p:spPr>
        </p:pic>
      </p:grpSp>
    </p:spTree>
    <p:extLst>
      <p:ext uri="{BB962C8B-B14F-4D97-AF65-F5344CB8AC3E}">
        <p14:creationId xmlns:p14="http://schemas.microsoft.com/office/powerpoint/2010/main" val="2632375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CC65E090-5354-42DF-BA76-C6AFCE3421C9}"/>
              </a:ext>
            </a:extLst>
          </p:cNvPr>
          <p:cNvSpPr txBox="1"/>
          <p:nvPr/>
        </p:nvSpPr>
        <p:spPr>
          <a:xfrm>
            <a:off x="736947" y="93767"/>
            <a:ext cx="7202197" cy="830997"/>
          </a:xfrm>
          <a:prstGeom prst="rect">
            <a:avLst/>
          </a:prstGeom>
          <a:noFill/>
        </p:spPr>
        <p:txBody>
          <a:bodyPr wrap="square" rtlCol="0">
            <a:spAutoFit/>
          </a:bodyPr>
          <a:lstStyle/>
          <a:p>
            <a:r>
              <a:rPr lang="en-US" altLang="zh-CN" sz="2400" b="1" dirty="0"/>
              <a:t>Framework – Heterogeneous Event Sequence Analysis and Failure Prediction Framework</a:t>
            </a:r>
          </a:p>
        </p:txBody>
      </p:sp>
      <p:sp>
        <p:nvSpPr>
          <p:cNvPr id="2" name="矩形: 圆角 1">
            <a:extLst>
              <a:ext uri="{FF2B5EF4-FFF2-40B4-BE49-F238E27FC236}">
                <a16:creationId xmlns:a16="http://schemas.microsoft.com/office/drawing/2014/main" id="{FA12F0F1-13A4-B0BF-55E4-DE2063C78EE8}"/>
              </a:ext>
            </a:extLst>
          </p:cNvPr>
          <p:cNvSpPr/>
          <p:nvPr/>
        </p:nvSpPr>
        <p:spPr>
          <a:xfrm>
            <a:off x="406090" y="1973202"/>
            <a:ext cx="5072936" cy="3083308"/>
          </a:xfrm>
          <a:prstGeom prst="roundRect">
            <a:avLst/>
          </a:prstGeom>
          <a:noFill/>
          <a:ln w="19050" cap="flat" cmpd="sng" algn="ctr">
            <a:solidFill>
              <a:srgbClr val="4874CB">
                <a:shade val="15000"/>
              </a:srgbClr>
            </a:solidFill>
            <a:prstDash val="dash"/>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3" name="矩形: 圆角 2">
            <a:extLst>
              <a:ext uri="{FF2B5EF4-FFF2-40B4-BE49-F238E27FC236}">
                <a16:creationId xmlns:a16="http://schemas.microsoft.com/office/drawing/2014/main" id="{D5A9B530-D1F7-E3B2-FBE7-15C384948D50}"/>
              </a:ext>
            </a:extLst>
          </p:cNvPr>
          <p:cNvSpPr/>
          <p:nvPr/>
        </p:nvSpPr>
        <p:spPr>
          <a:xfrm>
            <a:off x="2703116" y="2232477"/>
            <a:ext cx="2547708" cy="552298"/>
          </a:xfrm>
          <a:prstGeom prst="roundRect">
            <a:avLst/>
          </a:prstGeom>
          <a:solidFill>
            <a:srgbClr val="DEECF8"/>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b="1" kern="100" dirty="0">
                <a:solidFill>
                  <a:schemeClr val="tx1"/>
                </a:solidFill>
                <a:effectLst/>
                <a:latin typeface="+mn-ea"/>
                <a:cs typeface="Times New Roman" panose="02020603050405020304" pitchFamily="18" charset="0"/>
              </a:rPr>
              <a:t>Event Sequence Analysis</a:t>
            </a:r>
            <a:endParaRPr lang="zh-CN" altLang="en-US" sz="1600" b="1" dirty="0">
              <a:solidFill>
                <a:schemeClr val="tx1"/>
              </a:solidFill>
              <a:latin typeface="+mn-ea"/>
            </a:endParaRPr>
          </a:p>
        </p:txBody>
      </p:sp>
      <p:sp>
        <p:nvSpPr>
          <p:cNvPr id="4" name="矩形: 圆角 3">
            <a:extLst>
              <a:ext uri="{FF2B5EF4-FFF2-40B4-BE49-F238E27FC236}">
                <a16:creationId xmlns:a16="http://schemas.microsoft.com/office/drawing/2014/main" id="{86258EA9-4B82-1602-BC36-8D913DF8B0B8}"/>
              </a:ext>
            </a:extLst>
          </p:cNvPr>
          <p:cNvSpPr/>
          <p:nvPr/>
        </p:nvSpPr>
        <p:spPr>
          <a:xfrm>
            <a:off x="2703116" y="3238707"/>
            <a:ext cx="2547708" cy="552298"/>
          </a:xfrm>
          <a:prstGeom prst="roundRect">
            <a:avLst/>
          </a:prstGeom>
          <a:solidFill>
            <a:srgbClr val="E3F0D9"/>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b="1" kern="100" dirty="0">
                <a:solidFill>
                  <a:schemeClr val="tx1"/>
                </a:solidFill>
                <a:effectLst/>
                <a:latin typeface="+mn-ea"/>
                <a:cs typeface="Times New Roman" panose="02020603050405020304" pitchFamily="18" charset="0"/>
              </a:rPr>
              <a:t>Memory Failure Prediction</a:t>
            </a:r>
            <a:endParaRPr lang="zh-CN" altLang="en-US" sz="1600" b="1" dirty="0">
              <a:solidFill>
                <a:schemeClr val="tx1"/>
              </a:solidFill>
              <a:latin typeface="+mn-ea"/>
            </a:endParaRPr>
          </a:p>
        </p:txBody>
      </p:sp>
      <p:sp>
        <p:nvSpPr>
          <p:cNvPr id="5" name="矩形: 圆角 4">
            <a:extLst>
              <a:ext uri="{FF2B5EF4-FFF2-40B4-BE49-F238E27FC236}">
                <a16:creationId xmlns:a16="http://schemas.microsoft.com/office/drawing/2014/main" id="{06D63FD6-2D27-3D6E-568D-A855D049FACB}"/>
              </a:ext>
            </a:extLst>
          </p:cNvPr>
          <p:cNvSpPr/>
          <p:nvPr/>
        </p:nvSpPr>
        <p:spPr>
          <a:xfrm>
            <a:off x="2703116" y="4244936"/>
            <a:ext cx="2547708" cy="552298"/>
          </a:xfrm>
          <a:prstGeom prst="roundRect">
            <a:avLst/>
          </a:prstGeom>
          <a:solidFill>
            <a:srgbClr val="EDD7B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b="1" kern="100" dirty="0">
                <a:solidFill>
                  <a:schemeClr val="tx1"/>
                </a:solidFill>
                <a:effectLst/>
                <a:latin typeface="+mn-ea"/>
                <a:cs typeface="Times New Roman" panose="02020603050405020304" pitchFamily="18" charset="0"/>
              </a:rPr>
              <a:t>MFP System Deployment</a:t>
            </a:r>
            <a:endParaRPr lang="zh-CN" altLang="en-US" sz="1600" b="1" dirty="0">
              <a:solidFill>
                <a:schemeClr val="tx1"/>
              </a:solidFill>
              <a:latin typeface="+mn-ea"/>
            </a:endParaRPr>
          </a:p>
        </p:txBody>
      </p:sp>
      <p:sp>
        <p:nvSpPr>
          <p:cNvPr id="6" name="箭头: 下 5">
            <a:extLst>
              <a:ext uri="{FF2B5EF4-FFF2-40B4-BE49-F238E27FC236}">
                <a16:creationId xmlns:a16="http://schemas.microsoft.com/office/drawing/2014/main" id="{14B85705-A80E-800C-D4AE-3EC9FC0B7C48}"/>
              </a:ext>
            </a:extLst>
          </p:cNvPr>
          <p:cNvSpPr/>
          <p:nvPr/>
        </p:nvSpPr>
        <p:spPr>
          <a:xfrm rot="10800000" flipV="1">
            <a:off x="3867609" y="2836840"/>
            <a:ext cx="218723" cy="349802"/>
          </a:xfrm>
          <a:prstGeom prst="downArrow">
            <a:avLst/>
          </a:prstGeom>
          <a:solidFill>
            <a:srgbClr val="FFFFFF"/>
          </a:solidFill>
          <a:ln w="12700" cap="flat" cmpd="sng" algn="ctr">
            <a:solidFill>
              <a:srgbClr val="4874CB">
                <a:shade val="15000"/>
              </a:srgbClr>
            </a:solidFill>
            <a:prstDash val="solid"/>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7" name="箭头: 下 6">
            <a:extLst>
              <a:ext uri="{FF2B5EF4-FFF2-40B4-BE49-F238E27FC236}">
                <a16:creationId xmlns:a16="http://schemas.microsoft.com/office/drawing/2014/main" id="{D8ED1CE4-A473-7F30-77E2-BC7826B5CED9}"/>
              </a:ext>
            </a:extLst>
          </p:cNvPr>
          <p:cNvSpPr/>
          <p:nvPr/>
        </p:nvSpPr>
        <p:spPr>
          <a:xfrm rot="10800000" flipV="1">
            <a:off x="3867609" y="3843070"/>
            <a:ext cx="218723" cy="349802"/>
          </a:xfrm>
          <a:prstGeom prst="downArrow">
            <a:avLst/>
          </a:prstGeom>
          <a:solidFill>
            <a:srgbClr val="FFFFFF"/>
          </a:solidFill>
          <a:ln w="12700" cap="flat" cmpd="sng" algn="ctr">
            <a:solidFill>
              <a:srgbClr val="4874CB">
                <a:shade val="15000"/>
              </a:srgbClr>
            </a:solidFill>
            <a:prstDash val="solid"/>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8" name="矩形: 圆角 7">
            <a:extLst>
              <a:ext uri="{FF2B5EF4-FFF2-40B4-BE49-F238E27FC236}">
                <a16:creationId xmlns:a16="http://schemas.microsoft.com/office/drawing/2014/main" id="{B95E357E-040D-CC8B-86AF-D985B9E2169A}"/>
              </a:ext>
            </a:extLst>
          </p:cNvPr>
          <p:cNvSpPr/>
          <p:nvPr/>
        </p:nvSpPr>
        <p:spPr>
          <a:xfrm>
            <a:off x="650886" y="2232477"/>
            <a:ext cx="1420009" cy="552298"/>
          </a:xfrm>
          <a:prstGeom prst="roundRect">
            <a:avLst/>
          </a:prstGeom>
          <a:solidFill>
            <a:srgbClr val="EBEBEB"/>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b="1" kern="100" dirty="0">
                <a:solidFill>
                  <a:schemeClr val="tx1"/>
                </a:solidFill>
                <a:latin typeface="+mn-ea"/>
                <a:cs typeface="Times New Roman" panose="02020603050405020304" pitchFamily="18" charset="0"/>
              </a:rPr>
              <a:t>Data</a:t>
            </a:r>
            <a:endParaRPr lang="zh-CN" altLang="en-US" sz="1600" b="1" dirty="0">
              <a:solidFill>
                <a:schemeClr val="tx1"/>
              </a:solidFill>
              <a:latin typeface="+mn-ea"/>
            </a:endParaRPr>
          </a:p>
        </p:txBody>
      </p:sp>
      <p:sp>
        <p:nvSpPr>
          <p:cNvPr id="10" name="文本框 9">
            <a:extLst>
              <a:ext uri="{FF2B5EF4-FFF2-40B4-BE49-F238E27FC236}">
                <a16:creationId xmlns:a16="http://schemas.microsoft.com/office/drawing/2014/main" id="{52A57631-B86F-6760-F03E-F9A8D7FC34D8}"/>
              </a:ext>
            </a:extLst>
          </p:cNvPr>
          <p:cNvSpPr txBox="1"/>
          <p:nvPr/>
        </p:nvSpPr>
        <p:spPr>
          <a:xfrm>
            <a:off x="4021831" y="2861331"/>
            <a:ext cx="1239026" cy="276999"/>
          </a:xfrm>
          <a:prstGeom prst="rect">
            <a:avLst/>
          </a:prstGeom>
          <a:noFill/>
        </p:spPr>
        <p:txBody>
          <a:bodyPr wrap="square" rtlCol="0">
            <a:spAutoFit/>
          </a:bodyPr>
          <a:lstStyle/>
          <a:p>
            <a:pPr algn="ctr" defTabSz="914400"/>
            <a:r>
              <a:rPr lang="en-US" altLang="zh-CN" sz="1200" b="1" dirty="0">
                <a:solidFill>
                  <a:prstClr val="black"/>
                </a:solidFill>
                <a:latin typeface="等线" panose="02010600030101010101" pitchFamily="2" charset="-122"/>
                <a:cs typeface="Times New Roman" panose="02020603050405020304" pitchFamily="18" charset="0"/>
              </a:rPr>
              <a:t>Data support</a:t>
            </a:r>
            <a:endParaRPr lang="zh-CN" altLang="en-US" sz="1200" b="1" dirty="0">
              <a:solidFill>
                <a:prstClr val="black"/>
              </a:solidFill>
              <a:latin typeface="等线" panose="02010600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2FA8935F-2A63-B1D8-4757-0F7FAD13543F}"/>
              </a:ext>
            </a:extLst>
          </p:cNvPr>
          <p:cNvSpPr txBox="1"/>
          <p:nvPr/>
        </p:nvSpPr>
        <p:spPr>
          <a:xfrm>
            <a:off x="4034794" y="3866195"/>
            <a:ext cx="1239026" cy="276999"/>
          </a:xfrm>
          <a:prstGeom prst="rect">
            <a:avLst/>
          </a:prstGeom>
          <a:noFill/>
        </p:spPr>
        <p:txBody>
          <a:bodyPr wrap="square" rtlCol="0">
            <a:spAutoFit/>
          </a:bodyPr>
          <a:lstStyle/>
          <a:p>
            <a:pPr algn="ctr" defTabSz="914400"/>
            <a:r>
              <a:rPr lang="en-US" altLang="zh-CN" sz="1200" b="1" dirty="0">
                <a:solidFill>
                  <a:prstClr val="black"/>
                </a:solidFill>
                <a:latin typeface="等线" panose="02010600030101010101" pitchFamily="2" charset="-122"/>
                <a:cs typeface="Times New Roman" panose="02020603050405020304" pitchFamily="18" charset="0"/>
              </a:rPr>
              <a:t>Model support</a:t>
            </a:r>
            <a:endParaRPr lang="zh-CN" altLang="en-US" sz="1200" b="1" dirty="0">
              <a:solidFill>
                <a:prstClr val="black"/>
              </a:solidFill>
              <a:latin typeface="等线" panose="02010600030101010101" pitchFamily="2" charset="-122"/>
              <a:cs typeface="Times New Roman" panose="02020603050405020304" pitchFamily="18" charset="0"/>
            </a:endParaRPr>
          </a:p>
        </p:txBody>
      </p:sp>
      <p:sp>
        <p:nvSpPr>
          <p:cNvPr id="12" name="矩形: 圆角 11">
            <a:extLst>
              <a:ext uri="{FF2B5EF4-FFF2-40B4-BE49-F238E27FC236}">
                <a16:creationId xmlns:a16="http://schemas.microsoft.com/office/drawing/2014/main" id="{16EEB116-7F7E-90EC-8DE1-97FE59D2C554}"/>
              </a:ext>
            </a:extLst>
          </p:cNvPr>
          <p:cNvSpPr/>
          <p:nvPr/>
        </p:nvSpPr>
        <p:spPr>
          <a:xfrm>
            <a:off x="650886" y="3238707"/>
            <a:ext cx="1420009" cy="552298"/>
          </a:xfrm>
          <a:prstGeom prst="roundRect">
            <a:avLst/>
          </a:prstGeom>
          <a:solidFill>
            <a:srgbClr val="EBEBEB"/>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b="1" kern="100" dirty="0">
                <a:solidFill>
                  <a:schemeClr val="tx1"/>
                </a:solidFill>
                <a:latin typeface="+mn-ea"/>
                <a:cs typeface="Times New Roman" panose="02020603050405020304" pitchFamily="18" charset="0"/>
              </a:rPr>
              <a:t>Model</a:t>
            </a:r>
            <a:endParaRPr lang="zh-CN" altLang="en-US" sz="1600" b="1" dirty="0">
              <a:solidFill>
                <a:schemeClr val="tx1"/>
              </a:solidFill>
              <a:latin typeface="+mn-ea"/>
            </a:endParaRPr>
          </a:p>
        </p:txBody>
      </p:sp>
      <p:sp>
        <p:nvSpPr>
          <p:cNvPr id="13" name="矩形: 圆角 12">
            <a:extLst>
              <a:ext uri="{FF2B5EF4-FFF2-40B4-BE49-F238E27FC236}">
                <a16:creationId xmlns:a16="http://schemas.microsoft.com/office/drawing/2014/main" id="{539C7B0C-E083-E84C-31AB-A9273D17319B}"/>
              </a:ext>
            </a:extLst>
          </p:cNvPr>
          <p:cNvSpPr/>
          <p:nvPr/>
        </p:nvSpPr>
        <p:spPr>
          <a:xfrm>
            <a:off x="650886" y="4244936"/>
            <a:ext cx="1420009" cy="552298"/>
          </a:xfrm>
          <a:prstGeom prst="roundRect">
            <a:avLst/>
          </a:prstGeom>
          <a:solidFill>
            <a:srgbClr val="EBEBEB"/>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b="1" kern="100" dirty="0">
                <a:solidFill>
                  <a:schemeClr val="tx1"/>
                </a:solidFill>
                <a:latin typeface="+mn-ea"/>
                <a:cs typeface="Times New Roman" panose="02020603050405020304" pitchFamily="18" charset="0"/>
              </a:rPr>
              <a:t>Application</a:t>
            </a:r>
            <a:endParaRPr lang="zh-CN" altLang="en-US" sz="1600" b="1" dirty="0">
              <a:solidFill>
                <a:schemeClr val="tx1"/>
              </a:solidFill>
              <a:latin typeface="+mn-ea"/>
            </a:endParaRPr>
          </a:p>
        </p:txBody>
      </p:sp>
      <p:sp>
        <p:nvSpPr>
          <p:cNvPr id="14" name="箭头: 下 13">
            <a:extLst>
              <a:ext uri="{FF2B5EF4-FFF2-40B4-BE49-F238E27FC236}">
                <a16:creationId xmlns:a16="http://schemas.microsoft.com/office/drawing/2014/main" id="{DFB69BAF-FDC9-4738-23BA-FF102929441A}"/>
              </a:ext>
            </a:extLst>
          </p:cNvPr>
          <p:cNvSpPr/>
          <p:nvPr/>
        </p:nvSpPr>
        <p:spPr>
          <a:xfrm rot="16200000">
            <a:off x="2287913" y="2273515"/>
            <a:ext cx="218723" cy="461955"/>
          </a:xfrm>
          <a:prstGeom prst="downArrow">
            <a:avLst/>
          </a:prstGeom>
          <a:solidFill>
            <a:srgbClr val="FFFFFF"/>
          </a:solidFill>
          <a:ln w="12700" cap="flat" cmpd="sng" algn="ctr">
            <a:solidFill>
              <a:srgbClr val="4874CB">
                <a:shade val="15000"/>
              </a:srgbClr>
            </a:solidFill>
            <a:prstDash val="solid"/>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5" name="箭头: 下 14">
            <a:extLst>
              <a:ext uri="{FF2B5EF4-FFF2-40B4-BE49-F238E27FC236}">
                <a16:creationId xmlns:a16="http://schemas.microsoft.com/office/drawing/2014/main" id="{392528EE-E863-9E65-2F07-0C994E42A24A}"/>
              </a:ext>
            </a:extLst>
          </p:cNvPr>
          <p:cNvSpPr/>
          <p:nvPr/>
        </p:nvSpPr>
        <p:spPr>
          <a:xfrm rot="16200000">
            <a:off x="2287913" y="3253624"/>
            <a:ext cx="218723" cy="461955"/>
          </a:xfrm>
          <a:prstGeom prst="downArrow">
            <a:avLst/>
          </a:prstGeom>
          <a:solidFill>
            <a:srgbClr val="FFFFFF"/>
          </a:solidFill>
          <a:ln w="12700" cap="flat" cmpd="sng" algn="ctr">
            <a:solidFill>
              <a:srgbClr val="4874CB">
                <a:shade val="15000"/>
              </a:srgbClr>
            </a:solidFill>
            <a:prstDash val="solid"/>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6" name="箭头: 下 15">
            <a:extLst>
              <a:ext uri="{FF2B5EF4-FFF2-40B4-BE49-F238E27FC236}">
                <a16:creationId xmlns:a16="http://schemas.microsoft.com/office/drawing/2014/main" id="{5F78084D-D1A5-F964-C16C-A1204BCE5ACE}"/>
              </a:ext>
            </a:extLst>
          </p:cNvPr>
          <p:cNvSpPr/>
          <p:nvPr/>
        </p:nvSpPr>
        <p:spPr>
          <a:xfrm rot="16200000">
            <a:off x="2287913" y="4300408"/>
            <a:ext cx="218723" cy="461955"/>
          </a:xfrm>
          <a:prstGeom prst="downArrow">
            <a:avLst/>
          </a:prstGeom>
          <a:solidFill>
            <a:srgbClr val="FFFFFF"/>
          </a:solidFill>
          <a:ln w="12700" cap="flat" cmpd="sng" algn="ctr">
            <a:solidFill>
              <a:srgbClr val="4874CB">
                <a:shade val="15000"/>
              </a:srgbClr>
            </a:solidFill>
            <a:prstDash val="solid"/>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cxnSp>
        <p:nvCxnSpPr>
          <p:cNvPr id="17" name="直接连接符 16">
            <a:extLst>
              <a:ext uri="{FF2B5EF4-FFF2-40B4-BE49-F238E27FC236}">
                <a16:creationId xmlns:a16="http://schemas.microsoft.com/office/drawing/2014/main" id="{C6E41F36-937A-E92A-CEFF-C445E6572B7B}"/>
              </a:ext>
            </a:extLst>
          </p:cNvPr>
          <p:cNvCxnSpPr/>
          <p:nvPr/>
        </p:nvCxnSpPr>
        <p:spPr>
          <a:xfrm>
            <a:off x="2375422" y="2122470"/>
            <a:ext cx="0" cy="277650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矩形: 圆角 17">
            <a:extLst>
              <a:ext uri="{FF2B5EF4-FFF2-40B4-BE49-F238E27FC236}">
                <a16:creationId xmlns:a16="http://schemas.microsoft.com/office/drawing/2014/main" id="{F4AE9C90-E86D-9A20-778F-0CD774D29E27}"/>
              </a:ext>
            </a:extLst>
          </p:cNvPr>
          <p:cNvSpPr/>
          <p:nvPr/>
        </p:nvSpPr>
        <p:spPr>
          <a:xfrm>
            <a:off x="6139248" y="1241974"/>
            <a:ext cx="5389452" cy="1808651"/>
          </a:xfrm>
          <a:prstGeom prst="roundRect">
            <a:avLst/>
          </a:prstGeom>
          <a:solidFill>
            <a:srgbClr val="DEECF8"/>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1" indent="-342900" algn="just">
              <a:lnSpc>
                <a:spcPct val="150000"/>
              </a:lnSpc>
              <a:buClr>
                <a:srgbClr val="C7000B"/>
              </a:buClr>
              <a:buFont typeface="Wingdings" panose="05000000000000000000" pitchFamily="2" charset="2"/>
              <a:buChar char="p"/>
            </a:pPr>
            <a:r>
              <a:rPr lang="en-US" altLang="zh-CN" sz="1600" b="1" dirty="0">
                <a:solidFill>
                  <a:schemeClr val="tx1"/>
                </a:solidFill>
                <a:latin typeface="+mn-ea"/>
              </a:rPr>
              <a:t>Event Sequence Analysis</a:t>
            </a:r>
          </a:p>
          <a:p>
            <a:pPr marL="285750" lvl="1" indent="-285750">
              <a:lnSpc>
                <a:spcPct val="150000"/>
              </a:lnSpc>
              <a:buClr>
                <a:srgbClr val="C7000B"/>
              </a:buClr>
              <a:buFont typeface="Wingdings" panose="05000000000000000000" pitchFamily="2" charset="2"/>
              <a:buChar char="Ø"/>
            </a:pPr>
            <a:r>
              <a:rPr lang="en-US" altLang="zh-CN" sz="1600" dirty="0">
                <a:solidFill>
                  <a:schemeClr val="tx1"/>
                </a:solidFill>
                <a:latin typeface="等线" panose="02010600030101010101" pitchFamily="2" charset="-122"/>
                <a:ea typeface="等线" panose="02010600030101010101" pitchFamily="2" charset="-122"/>
              </a:rPr>
              <a:t>Timestamp Modeling</a:t>
            </a:r>
          </a:p>
          <a:p>
            <a:pPr marL="285750" lvl="1" indent="-285750">
              <a:lnSpc>
                <a:spcPct val="150000"/>
              </a:lnSpc>
              <a:buClr>
                <a:srgbClr val="C7000B"/>
              </a:buClr>
              <a:buFont typeface="Wingdings" panose="05000000000000000000" pitchFamily="2" charset="2"/>
              <a:buChar char="Ø"/>
            </a:pPr>
            <a:r>
              <a:rPr lang="en-US" altLang="zh-CN" sz="1600" dirty="0">
                <a:solidFill>
                  <a:schemeClr val="tx1"/>
                </a:solidFill>
                <a:latin typeface="等线" panose="02010600030101010101" pitchFamily="2" charset="-122"/>
                <a:ea typeface="等线" panose="02010600030101010101" pitchFamily="2" charset="-122"/>
              </a:rPr>
              <a:t>Event Content Analysis</a:t>
            </a:r>
            <a:endParaRPr lang="zh-CN" altLang="en-US" sz="1600" dirty="0">
              <a:solidFill>
                <a:schemeClr val="tx1"/>
              </a:solidFill>
              <a:latin typeface="等线" panose="02010600030101010101" pitchFamily="2" charset="-122"/>
              <a:ea typeface="等线" panose="02010600030101010101" pitchFamily="2" charset="-122"/>
            </a:endParaRPr>
          </a:p>
        </p:txBody>
      </p:sp>
      <p:sp>
        <p:nvSpPr>
          <p:cNvPr id="19" name="矩形: 圆角 18">
            <a:extLst>
              <a:ext uri="{FF2B5EF4-FFF2-40B4-BE49-F238E27FC236}">
                <a16:creationId xmlns:a16="http://schemas.microsoft.com/office/drawing/2014/main" id="{1902762A-4D2F-DCF5-D3B5-4501466EDA4D}"/>
              </a:ext>
            </a:extLst>
          </p:cNvPr>
          <p:cNvSpPr/>
          <p:nvPr/>
        </p:nvSpPr>
        <p:spPr>
          <a:xfrm>
            <a:off x="6139248" y="3306540"/>
            <a:ext cx="5389452" cy="1808651"/>
          </a:xfrm>
          <a:prstGeom prst="roundRect">
            <a:avLst/>
          </a:prstGeom>
          <a:solidFill>
            <a:srgbClr val="E3F0D9"/>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1" indent="-342900" algn="just">
              <a:lnSpc>
                <a:spcPct val="150000"/>
              </a:lnSpc>
              <a:buClr>
                <a:srgbClr val="C7000B"/>
              </a:buClr>
              <a:buFont typeface="Wingdings" panose="05000000000000000000" pitchFamily="2" charset="2"/>
              <a:buChar char="p"/>
            </a:pPr>
            <a:r>
              <a:rPr lang="en-US" altLang="zh-CN" sz="1600" b="1" dirty="0">
                <a:solidFill>
                  <a:schemeClr val="tx1"/>
                </a:solidFill>
                <a:latin typeface="+mn-ea"/>
              </a:rPr>
              <a:t>Memory Failure Prediction</a:t>
            </a:r>
          </a:p>
          <a:p>
            <a:pPr marL="285750" lvl="1" indent="-285750">
              <a:lnSpc>
                <a:spcPct val="150000"/>
              </a:lnSpc>
              <a:buClr>
                <a:srgbClr val="C7000B"/>
              </a:buClr>
              <a:buFont typeface="Wingdings" panose="05000000000000000000" pitchFamily="2" charset="2"/>
              <a:buChar char="Ø"/>
            </a:pPr>
            <a:r>
              <a:rPr lang="en-US" altLang="zh-CN" sz="1600" dirty="0">
                <a:solidFill>
                  <a:schemeClr val="tx1"/>
                </a:solidFill>
                <a:latin typeface="等线" panose="02010600030101010101" pitchFamily="2" charset="-122"/>
                <a:ea typeface="等线" panose="02010600030101010101" pitchFamily="2" charset="-122"/>
              </a:rPr>
              <a:t>3 models for MFP</a:t>
            </a:r>
            <a:endParaRPr lang="zh-CN" altLang="en-US" sz="1600" dirty="0">
              <a:solidFill>
                <a:schemeClr val="tx1"/>
              </a:solidFill>
              <a:latin typeface="等线" panose="02010600030101010101" pitchFamily="2" charset="-122"/>
              <a:ea typeface="等线" panose="02010600030101010101" pitchFamily="2" charset="-122"/>
            </a:endParaRPr>
          </a:p>
        </p:txBody>
      </p:sp>
      <p:sp>
        <p:nvSpPr>
          <p:cNvPr id="20" name="矩形: 圆角 19">
            <a:extLst>
              <a:ext uri="{FF2B5EF4-FFF2-40B4-BE49-F238E27FC236}">
                <a16:creationId xmlns:a16="http://schemas.microsoft.com/office/drawing/2014/main" id="{0BAF5A9E-AAB0-BB45-2099-99F4AA68ED0D}"/>
              </a:ext>
            </a:extLst>
          </p:cNvPr>
          <p:cNvSpPr/>
          <p:nvPr/>
        </p:nvSpPr>
        <p:spPr>
          <a:xfrm>
            <a:off x="9119617" y="1510493"/>
            <a:ext cx="2142499" cy="317865"/>
          </a:xfrm>
          <a:prstGeom prst="round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defTabSz="914400">
              <a:defRPr/>
            </a:pPr>
            <a:r>
              <a:rPr lang="en-US" altLang="zh-CN" sz="1400" dirty="0">
                <a:solidFill>
                  <a:srgbClr val="000000"/>
                </a:solidFill>
                <a:latin typeface="微软雅黑" panose="020B0503020204020204" pitchFamily="34" charset="-122"/>
                <a:ea typeface="微软雅黑" panose="020B0503020204020204" pitchFamily="34" charset="-122"/>
                <a:cs typeface="微软雅黑"/>
              </a:rPr>
              <a:t>Temporal Dimension</a:t>
            </a:r>
            <a:endParaRPr lang="zh-CN" altLang="en-US" sz="1400" dirty="0">
              <a:solidFill>
                <a:srgbClr val="000000"/>
              </a:solidFill>
              <a:latin typeface="微软雅黑" panose="020B0503020204020204" pitchFamily="34" charset="-122"/>
              <a:ea typeface="微软雅黑" panose="020B0503020204020204" pitchFamily="34" charset="-122"/>
              <a:cs typeface="微软雅黑"/>
            </a:endParaRPr>
          </a:p>
        </p:txBody>
      </p:sp>
      <p:sp>
        <p:nvSpPr>
          <p:cNvPr id="21" name="矩形: 圆角 20">
            <a:extLst>
              <a:ext uri="{FF2B5EF4-FFF2-40B4-BE49-F238E27FC236}">
                <a16:creationId xmlns:a16="http://schemas.microsoft.com/office/drawing/2014/main" id="{0B166EF4-93A2-451E-A81E-45BAAE8D1D16}"/>
              </a:ext>
            </a:extLst>
          </p:cNvPr>
          <p:cNvSpPr/>
          <p:nvPr/>
        </p:nvSpPr>
        <p:spPr>
          <a:xfrm>
            <a:off x="9119616" y="1973202"/>
            <a:ext cx="2142499" cy="317865"/>
          </a:xfrm>
          <a:prstGeom prst="round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defTabSz="914400">
              <a:defRPr/>
            </a:pPr>
            <a:r>
              <a:rPr lang="en-US" altLang="zh-CN" sz="1400" dirty="0">
                <a:solidFill>
                  <a:srgbClr val="000000"/>
                </a:solidFill>
                <a:latin typeface="微软雅黑" panose="020B0503020204020204" pitchFamily="34" charset="-122"/>
                <a:ea typeface="微软雅黑" panose="020B0503020204020204" pitchFamily="34" charset="-122"/>
                <a:cs typeface="微软雅黑"/>
              </a:rPr>
              <a:t>Spatial Dimension</a:t>
            </a:r>
            <a:endParaRPr lang="zh-CN" altLang="en-US" sz="1400" dirty="0">
              <a:solidFill>
                <a:srgbClr val="000000"/>
              </a:solidFill>
              <a:latin typeface="微软雅黑" panose="020B0503020204020204" pitchFamily="34" charset="-122"/>
              <a:ea typeface="微软雅黑" panose="020B0503020204020204" pitchFamily="34" charset="-122"/>
              <a:cs typeface="微软雅黑"/>
            </a:endParaRPr>
          </a:p>
        </p:txBody>
      </p:sp>
      <p:sp>
        <p:nvSpPr>
          <p:cNvPr id="22" name="矩形: 圆角 21">
            <a:extLst>
              <a:ext uri="{FF2B5EF4-FFF2-40B4-BE49-F238E27FC236}">
                <a16:creationId xmlns:a16="http://schemas.microsoft.com/office/drawing/2014/main" id="{A1F0A479-36C4-C5D5-7BC9-769EC96926C0}"/>
              </a:ext>
            </a:extLst>
          </p:cNvPr>
          <p:cNvSpPr/>
          <p:nvPr/>
        </p:nvSpPr>
        <p:spPr>
          <a:xfrm>
            <a:off x="9119617" y="2441913"/>
            <a:ext cx="2142499" cy="317865"/>
          </a:xfrm>
          <a:prstGeom prst="round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defTabSz="914400">
              <a:defRPr/>
            </a:pPr>
            <a:r>
              <a:rPr lang="en-US" altLang="zh-CN" sz="1400" dirty="0">
                <a:solidFill>
                  <a:srgbClr val="000000"/>
                </a:solidFill>
                <a:latin typeface="微软雅黑" panose="020B0503020204020204" pitchFamily="34" charset="-122"/>
                <a:ea typeface="微软雅黑" panose="020B0503020204020204" pitchFamily="34" charset="-122"/>
                <a:cs typeface="微软雅黑"/>
              </a:rPr>
              <a:t>Temporal &amp; Spatial</a:t>
            </a:r>
            <a:endParaRPr lang="zh-CN" altLang="en-US" sz="1400" dirty="0">
              <a:solidFill>
                <a:srgbClr val="000000"/>
              </a:solidFill>
              <a:latin typeface="微软雅黑" panose="020B0503020204020204" pitchFamily="34" charset="-122"/>
              <a:ea typeface="微软雅黑" panose="020B0503020204020204" pitchFamily="34" charset="-122"/>
              <a:cs typeface="微软雅黑"/>
            </a:endParaRPr>
          </a:p>
        </p:txBody>
      </p:sp>
      <p:sp>
        <p:nvSpPr>
          <p:cNvPr id="23" name="矩形: 圆角 22">
            <a:extLst>
              <a:ext uri="{FF2B5EF4-FFF2-40B4-BE49-F238E27FC236}">
                <a16:creationId xmlns:a16="http://schemas.microsoft.com/office/drawing/2014/main" id="{1A719B71-5C5D-0874-0DB4-607C34AF8858}"/>
              </a:ext>
            </a:extLst>
          </p:cNvPr>
          <p:cNvSpPr/>
          <p:nvPr/>
        </p:nvSpPr>
        <p:spPr>
          <a:xfrm>
            <a:off x="6139248" y="5371106"/>
            <a:ext cx="5389452" cy="932369"/>
          </a:xfrm>
          <a:prstGeom prst="roundRect">
            <a:avLst/>
          </a:prstGeom>
          <a:solidFill>
            <a:srgbClr val="EDD7B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1" indent="-342900" algn="just">
              <a:lnSpc>
                <a:spcPct val="150000"/>
              </a:lnSpc>
              <a:buClr>
                <a:srgbClr val="C7000B"/>
              </a:buClr>
              <a:buFont typeface="Wingdings" panose="05000000000000000000" pitchFamily="2" charset="2"/>
              <a:buChar char="p"/>
            </a:pPr>
            <a:r>
              <a:rPr lang="en-US" altLang="zh-CN" sz="1600" b="1" dirty="0">
                <a:solidFill>
                  <a:schemeClr val="tx1"/>
                </a:solidFill>
                <a:latin typeface="+mn-ea"/>
              </a:rPr>
              <a:t>MFP System Deployment</a:t>
            </a:r>
          </a:p>
          <a:p>
            <a:pPr marL="285750" lvl="1" indent="-285750">
              <a:lnSpc>
                <a:spcPct val="150000"/>
              </a:lnSpc>
              <a:buClr>
                <a:srgbClr val="C7000B"/>
              </a:buClr>
              <a:buFont typeface="Wingdings" panose="05000000000000000000" pitchFamily="2" charset="2"/>
              <a:buChar char="Ø"/>
            </a:pPr>
            <a:r>
              <a:rPr lang="en-US" altLang="zh-CN" sz="1600" dirty="0">
                <a:solidFill>
                  <a:schemeClr val="tx1"/>
                </a:solidFill>
                <a:latin typeface="等线" panose="02010600030101010101" pitchFamily="2" charset="-122"/>
                <a:ea typeface="等线" panose="02010600030101010101" pitchFamily="2" charset="-122"/>
              </a:rPr>
              <a:t>Offline Training &amp; Online Validation</a:t>
            </a:r>
            <a:endParaRPr lang="zh-CN" altLang="en-US" sz="1600" dirty="0">
              <a:solidFill>
                <a:schemeClr val="tx1"/>
              </a:solidFill>
              <a:latin typeface="等线" panose="02010600030101010101" pitchFamily="2" charset="-122"/>
              <a:ea typeface="等线" panose="02010600030101010101" pitchFamily="2" charset="-122"/>
            </a:endParaRPr>
          </a:p>
        </p:txBody>
      </p:sp>
      <p:sp>
        <p:nvSpPr>
          <p:cNvPr id="24" name="矩形: 圆角 23">
            <a:extLst>
              <a:ext uri="{FF2B5EF4-FFF2-40B4-BE49-F238E27FC236}">
                <a16:creationId xmlns:a16="http://schemas.microsoft.com/office/drawing/2014/main" id="{78D5E37E-EA7F-C7F4-9A68-E30E31B6BD5D}"/>
              </a:ext>
            </a:extLst>
          </p:cNvPr>
          <p:cNvSpPr/>
          <p:nvPr/>
        </p:nvSpPr>
        <p:spPr>
          <a:xfrm>
            <a:off x="9337638" y="3562453"/>
            <a:ext cx="2097741" cy="280617"/>
          </a:xfrm>
          <a:prstGeom prst="round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defTabSz="914400">
              <a:defRPr/>
            </a:pPr>
            <a:r>
              <a:rPr lang="en-US" altLang="zh-CN" sz="1400" dirty="0">
                <a:solidFill>
                  <a:srgbClr val="000000"/>
                </a:solidFill>
                <a:latin typeface="微软雅黑" panose="020B0503020204020204" pitchFamily="34" charset="-122"/>
                <a:ea typeface="微软雅黑" panose="020B0503020204020204" pitchFamily="34" charset="-122"/>
                <a:cs typeface="微软雅黑"/>
              </a:rPr>
              <a:t>Time-aware Model</a:t>
            </a:r>
            <a:endParaRPr lang="zh-CN" altLang="en-US" sz="1400" dirty="0">
              <a:solidFill>
                <a:srgbClr val="000000"/>
              </a:solidFill>
              <a:latin typeface="微软雅黑" panose="020B0503020204020204" pitchFamily="34" charset="-122"/>
              <a:ea typeface="微软雅黑" panose="020B0503020204020204" pitchFamily="34" charset="-122"/>
              <a:cs typeface="微软雅黑"/>
            </a:endParaRPr>
          </a:p>
        </p:txBody>
      </p:sp>
      <p:sp>
        <p:nvSpPr>
          <p:cNvPr id="25" name="矩形: 圆角 24">
            <a:extLst>
              <a:ext uri="{FF2B5EF4-FFF2-40B4-BE49-F238E27FC236}">
                <a16:creationId xmlns:a16="http://schemas.microsoft.com/office/drawing/2014/main" id="{0D8A39A2-93B7-7E8D-7FAB-B86EB87AB5A6}"/>
              </a:ext>
            </a:extLst>
          </p:cNvPr>
          <p:cNvSpPr/>
          <p:nvPr/>
        </p:nvSpPr>
        <p:spPr>
          <a:xfrm>
            <a:off x="9119617" y="4025162"/>
            <a:ext cx="2315761" cy="280617"/>
          </a:xfrm>
          <a:prstGeom prst="round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defTabSz="914400">
              <a:defRPr/>
            </a:pPr>
            <a:r>
              <a:rPr lang="en-US" altLang="zh-CN" sz="1400" dirty="0">
                <a:solidFill>
                  <a:srgbClr val="000000"/>
                </a:solidFill>
                <a:latin typeface="微软雅黑" panose="020B0503020204020204" pitchFamily="34" charset="-122"/>
                <a:ea typeface="微软雅黑" panose="020B0503020204020204" pitchFamily="34" charset="-122"/>
                <a:cs typeface="微软雅黑"/>
              </a:rPr>
              <a:t>Time-patch scale Model</a:t>
            </a:r>
            <a:endParaRPr lang="zh-CN" altLang="en-US" sz="1400" dirty="0">
              <a:solidFill>
                <a:srgbClr val="000000"/>
              </a:solidFill>
              <a:latin typeface="微软雅黑" panose="020B0503020204020204" pitchFamily="34" charset="-122"/>
              <a:ea typeface="微软雅黑" panose="020B0503020204020204" pitchFamily="34" charset="-122"/>
              <a:cs typeface="微软雅黑"/>
            </a:endParaRPr>
          </a:p>
        </p:txBody>
      </p:sp>
      <p:sp>
        <p:nvSpPr>
          <p:cNvPr id="26" name="矩形: 圆角 25">
            <a:extLst>
              <a:ext uri="{FF2B5EF4-FFF2-40B4-BE49-F238E27FC236}">
                <a16:creationId xmlns:a16="http://schemas.microsoft.com/office/drawing/2014/main" id="{4F533168-FDC6-32C4-C4C1-606FEC1B4C38}"/>
              </a:ext>
            </a:extLst>
          </p:cNvPr>
          <p:cNvSpPr/>
          <p:nvPr/>
        </p:nvSpPr>
        <p:spPr>
          <a:xfrm>
            <a:off x="9119618" y="4493873"/>
            <a:ext cx="2315761" cy="280617"/>
          </a:xfrm>
          <a:prstGeom prst="round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defTabSz="914400">
              <a:defRPr/>
            </a:pPr>
            <a:r>
              <a:rPr lang="en-US" altLang="zh-CN" sz="1400" dirty="0">
                <a:solidFill>
                  <a:srgbClr val="000000"/>
                </a:solidFill>
                <a:latin typeface="微软雅黑" panose="020B0503020204020204" pitchFamily="34" charset="-122"/>
                <a:ea typeface="微软雅黑" panose="020B0503020204020204" pitchFamily="34" charset="-122"/>
                <a:cs typeface="微软雅黑"/>
              </a:rPr>
              <a:t>Time-point scale Model</a:t>
            </a:r>
            <a:endParaRPr lang="zh-CN" altLang="en-US" sz="1400" dirty="0">
              <a:solidFill>
                <a:srgbClr val="000000"/>
              </a:solidFill>
              <a:latin typeface="微软雅黑" panose="020B0503020204020204" pitchFamily="34" charset="-122"/>
              <a:ea typeface="微软雅黑" panose="020B0503020204020204" pitchFamily="34" charset="-122"/>
              <a:cs typeface="微软雅黑"/>
            </a:endParaRPr>
          </a:p>
        </p:txBody>
      </p:sp>
      <p:cxnSp>
        <p:nvCxnSpPr>
          <p:cNvPr id="30" name="连接符: 肘形 29">
            <a:extLst>
              <a:ext uri="{FF2B5EF4-FFF2-40B4-BE49-F238E27FC236}">
                <a16:creationId xmlns:a16="http://schemas.microsoft.com/office/drawing/2014/main" id="{A8E1F5BE-7166-4991-3810-DC28772A0702}"/>
              </a:ext>
            </a:extLst>
          </p:cNvPr>
          <p:cNvCxnSpPr>
            <a:stCxn id="3" idx="3"/>
            <a:endCxn id="18" idx="1"/>
          </p:cNvCxnSpPr>
          <p:nvPr/>
        </p:nvCxnSpPr>
        <p:spPr>
          <a:xfrm flipV="1">
            <a:off x="5250824" y="2146300"/>
            <a:ext cx="888424" cy="362326"/>
          </a:xfrm>
          <a:prstGeom prst="bentConnector3">
            <a:avLst/>
          </a:prstGeom>
          <a:ln w="19050">
            <a:solidFill>
              <a:srgbClr val="1C1127"/>
            </a:solidFill>
            <a:tailEnd type="triangle"/>
          </a:ln>
        </p:spPr>
        <p:style>
          <a:lnRef idx="1">
            <a:schemeClr val="accent1"/>
          </a:lnRef>
          <a:fillRef idx="0">
            <a:schemeClr val="accent1"/>
          </a:fillRef>
          <a:effectRef idx="0">
            <a:schemeClr val="accent1"/>
          </a:effectRef>
          <a:fontRef idx="minor">
            <a:schemeClr val="tx1"/>
          </a:fontRef>
        </p:style>
      </p:cxnSp>
      <p:cxnSp>
        <p:nvCxnSpPr>
          <p:cNvPr id="31" name="连接符: 肘形 30">
            <a:extLst>
              <a:ext uri="{FF2B5EF4-FFF2-40B4-BE49-F238E27FC236}">
                <a16:creationId xmlns:a16="http://schemas.microsoft.com/office/drawing/2014/main" id="{FCEDBDC5-8511-A73C-80AF-D3708E9A6DE5}"/>
              </a:ext>
            </a:extLst>
          </p:cNvPr>
          <p:cNvCxnSpPr>
            <a:cxnSpLocks/>
            <a:stCxn id="4" idx="3"/>
            <a:endCxn id="19" idx="1"/>
          </p:cNvCxnSpPr>
          <p:nvPr/>
        </p:nvCxnSpPr>
        <p:spPr>
          <a:xfrm>
            <a:off x="5250824" y="3514856"/>
            <a:ext cx="888424" cy="696010"/>
          </a:xfrm>
          <a:prstGeom prst="bentConnector3">
            <a:avLst>
              <a:gd name="adj1" fmla="val 50000"/>
            </a:avLst>
          </a:prstGeom>
          <a:ln w="19050">
            <a:solidFill>
              <a:srgbClr val="1C1127"/>
            </a:solidFill>
            <a:tailEnd type="triangle"/>
          </a:ln>
        </p:spPr>
        <p:style>
          <a:lnRef idx="1">
            <a:schemeClr val="accent1"/>
          </a:lnRef>
          <a:fillRef idx="0">
            <a:schemeClr val="accent1"/>
          </a:fillRef>
          <a:effectRef idx="0">
            <a:schemeClr val="accent1"/>
          </a:effectRef>
          <a:fontRef idx="minor">
            <a:schemeClr val="tx1"/>
          </a:fontRef>
        </p:style>
      </p:cxnSp>
      <p:cxnSp>
        <p:nvCxnSpPr>
          <p:cNvPr id="34" name="连接符: 肘形 33">
            <a:extLst>
              <a:ext uri="{FF2B5EF4-FFF2-40B4-BE49-F238E27FC236}">
                <a16:creationId xmlns:a16="http://schemas.microsoft.com/office/drawing/2014/main" id="{9F5F24DC-9821-8833-3196-B2C6802FA2EB}"/>
              </a:ext>
            </a:extLst>
          </p:cNvPr>
          <p:cNvCxnSpPr>
            <a:cxnSpLocks/>
            <a:stCxn id="5" idx="3"/>
            <a:endCxn id="23" idx="1"/>
          </p:cNvCxnSpPr>
          <p:nvPr/>
        </p:nvCxnSpPr>
        <p:spPr>
          <a:xfrm>
            <a:off x="5250824" y="4521085"/>
            <a:ext cx="888424" cy="1316206"/>
          </a:xfrm>
          <a:prstGeom prst="bentConnector3">
            <a:avLst>
              <a:gd name="adj1" fmla="val 50000"/>
            </a:avLst>
          </a:prstGeom>
          <a:ln w="19050">
            <a:solidFill>
              <a:srgbClr val="1C1127"/>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7851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CC65E090-5354-42DF-BA76-C6AFCE3421C9}"/>
              </a:ext>
            </a:extLst>
          </p:cNvPr>
          <p:cNvSpPr txBox="1"/>
          <p:nvPr/>
        </p:nvSpPr>
        <p:spPr>
          <a:xfrm>
            <a:off x="790215" y="365302"/>
            <a:ext cx="7836200" cy="461665"/>
          </a:xfrm>
          <a:prstGeom prst="rect">
            <a:avLst/>
          </a:prstGeom>
          <a:noFill/>
        </p:spPr>
        <p:txBody>
          <a:bodyPr wrap="square" rtlCol="0">
            <a:spAutoFit/>
          </a:bodyPr>
          <a:lstStyle/>
          <a:p>
            <a:r>
              <a:rPr lang="en-US" altLang="zh-CN" sz="2400" b="1" dirty="0">
                <a:solidFill>
                  <a:srgbClr val="0070C0"/>
                </a:solidFill>
                <a:latin typeface="-apple-system"/>
              </a:rPr>
              <a:t>Research Topic 1: Event Sequence Analysis</a:t>
            </a:r>
          </a:p>
        </p:txBody>
      </p:sp>
      <p:sp>
        <p:nvSpPr>
          <p:cNvPr id="2" name="矩形: 圆角 1">
            <a:extLst>
              <a:ext uri="{FF2B5EF4-FFF2-40B4-BE49-F238E27FC236}">
                <a16:creationId xmlns:a16="http://schemas.microsoft.com/office/drawing/2014/main" id="{58EDF708-D467-B299-9EBC-498A0BDAF959}"/>
              </a:ext>
            </a:extLst>
          </p:cNvPr>
          <p:cNvSpPr/>
          <p:nvPr/>
        </p:nvSpPr>
        <p:spPr>
          <a:xfrm>
            <a:off x="1414925" y="1110936"/>
            <a:ext cx="9623876" cy="2899787"/>
          </a:xfrm>
          <a:prstGeom prst="roundRect">
            <a:avLst>
              <a:gd name="adj" fmla="val 11086"/>
            </a:avLst>
          </a:prstGeom>
          <a:solidFill>
            <a:srgbClr val="D4F1F5">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fontAlgn="b">
              <a:lnSpc>
                <a:spcPct val="50000"/>
              </a:lnSpc>
            </a:pPr>
            <a:endParaRPr lang="zh-CN" altLang="en-US" sz="1600" b="1" dirty="0">
              <a:solidFill>
                <a:schemeClr val="bg2">
                  <a:lumMod val="10000"/>
                </a:schemeClr>
              </a:solidFill>
            </a:endParaRPr>
          </a:p>
        </p:txBody>
      </p:sp>
      <p:sp>
        <p:nvSpPr>
          <p:cNvPr id="3" name="矩形: 圆角 2">
            <a:extLst>
              <a:ext uri="{FF2B5EF4-FFF2-40B4-BE49-F238E27FC236}">
                <a16:creationId xmlns:a16="http://schemas.microsoft.com/office/drawing/2014/main" id="{57A11397-2642-E644-1D5B-0162D6F5AB2B}"/>
              </a:ext>
            </a:extLst>
          </p:cNvPr>
          <p:cNvSpPr/>
          <p:nvPr/>
        </p:nvSpPr>
        <p:spPr>
          <a:xfrm>
            <a:off x="4287051" y="1276711"/>
            <a:ext cx="3144312" cy="2367486"/>
          </a:xfrm>
          <a:prstGeom prst="roundRect">
            <a:avLst/>
          </a:prstGeom>
          <a:solidFill>
            <a:srgbClr val="A4E2E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cxnSp>
        <p:nvCxnSpPr>
          <p:cNvPr id="4" name="直接箭头连接符 3">
            <a:extLst>
              <a:ext uri="{FF2B5EF4-FFF2-40B4-BE49-F238E27FC236}">
                <a16:creationId xmlns:a16="http://schemas.microsoft.com/office/drawing/2014/main" id="{E8E4852D-8FF0-EAAC-4C73-D1194B23A54D}"/>
              </a:ext>
            </a:extLst>
          </p:cNvPr>
          <p:cNvCxnSpPr>
            <a:cxnSpLocks/>
          </p:cNvCxnSpPr>
          <p:nvPr/>
        </p:nvCxnSpPr>
        <p:spPr>
          <a:xfrm>
            <a:off x="3517211" y="2098773"/>
            <a:ext cx="633313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50997BDF-BCD0-8BEB-DC16-F22BFAFF9A90}"/>
              </a:ext>
            </a:extLst>
          </p:cNvPr>
          <p:cNvCxnSpPr>
            <a:cxnSpLocks/>
          </p:cNvCxnSpPr>
          <p:nvPr/>
        </p:nvCxnSpPr>
        <p:spPr>
          <a:xfrm>
            <a:off x="8230258" y="1793561"/>
            <a:ext cx="0" cy="3077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A9A15789-552A-EE63-51AB-A176B2572A88}"/>
              </a:ext>
            </a:extLst>
          </p:cNvPr>
          <p:cNvCxnSpPr>
            <a:cxnSpLocks/>
          </p:cNvCxnSpPr>
          <p:nvPr/>
        </p:nvCxnSpPr>
        <p:spPr>
          <a:xfrm>
            <a:off x="6719180" y="1793561"/>
            <a:ext cx="0" cy="3077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19C3A2BB-7AE3-D8AA-C32A-B9897B70F401}"/>
              </a:ext>
            </a:extLst>
          </p:cNvPr>
          <p:cNvCxnSpPr>
            <a:cxnSpLocks/>
          </p:cNvCxnSpPr>
          <p:nvPr/>
        </p:nvCxnSpPr>
        <p:spPr>
          <a:xfrm>
            <a:off x="7474719" y="1793561"/>
            <a:ext cx="0" cy="3077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EF2C3713-4150-9481-2EE6-68F1FEAD8A37}"/>
              </a:ext>
            </a:extLst>
          </p:cNvPr>
          <p:cNvCxnSpPr>
            <a:cxnSpLocks/>
          </p:cNvCxnSpPr>
          <p:nvPr/>
        </p:nvCxnSpPr>
        <p:spPr>
          <a:xfrm>
            <a:off x="5963641" y="1793561"/>
            <a:ext cx="0" cy="3077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E4F19C95-BFFA-EA06-AFCB-7447AE3E202A}"/>
              </a:ext>
            </a:extLst>
          </p:cNvPr>
          <p:cNvCxnSpPr>
            <a:cxnSpLocks/>
          </p:cNvCxnSpPr>
          <p:nvPr/>
        </p:nvCxnSpPr>
        <p:spPr>
          <a:xfrm>
            <a:off x="5208102" y="1793561"/>
            <a:ext cx="0" cy="3077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E0AB1A86-37DD-2D1F-1A3D-5C151A63E00B}"/>
              </a:ext>
            </a:extLst>
          </p:cNvPr>
          <p:cNvCxnSpPr>
            <a:cxnSpLocks/>
          </p:cNvCxnSpPr>
          <p:nvPr/>
        </p:nvCxnSpPr>
        <p:spPr>
          <a:xfrm>
            <a:off x="4452563" y="1793561"/>
            <a:ext cx="0" cy="3077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8444784E-F474-7FD8-6B9C-5C006D16A2D7}"/>
              </a:ext>
            </a:extLst>
          </p:cNvPr>
          <p:cNvCxnSpPr>
            <a:cxnSpLocks/>
          </p:cNvCxnSpPr>
          <p:nvPr/>
        </p:nvCxnSpPr>
        <p:spPr>
          <a:xfrm>
            <a:off x="7469546" y="1730407"/>
            <a:ext cx="903939"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14A9329-99F0-23C4-6A11-175F2B42BC01}"/>
                  </a:ext>
                </a:extLst>
              </p:cNvPr>
              <p:cNvSpPr txBox="1"/>
              <p:nvPr/>
            </p:nvSpPr>
            <p:spPr>
              <a:xfrm>
                <a:off x="6803747" y="1433128"/>
                <a:ext cx="2615806" cy="300210"/>
              </a:xfrm>
              <a:prstGeom prst="rect">
                <a:avLst/>
              </a:prstGeom>
              <a:noFill/>
            </p:spPr>
            <p:txBody>
              <a:bodyPr wrap="square">
                <a:spAutoFit/>
              </a:bodyPr>
              <a:lstStyle/>
              <a:p>
                <a:pPr algn="ctr"/>
                <a:r>
                  <a:rPr lang="en-US" altLang="zh-CN" sz="1200" dirty="0">
                    <a:latin typeface="Cambria Math" panose="02040503050406030204" pitchFamily="18" charset="0"/>
                  </a:rPr>
                  <a:t>Sample interval </a:t>
                </a:r>
                <a14:m>
                  <m:oMath xmlns:m="http://schemas.openxmlformats.org/officeDocument/2006/math">
                    <m:r>
                      <m:rPr>
                        <m:sty m:val="p"/>
                      </m:rPr>
                      <a:rPr lang="en-US" altLang="zh-CN" sz="1200" i="0" dirty="0" smtClean="0">
                        <a:latin typeface="Cambria Math" panose="02040503050406030204" pitchFamily="18" charset="0"/>
                      </a:rPr>
                      <m:t>Δ</m:t>
                    </m:r>
                    <m:sSub>
                      <m:sSubPr>
                        <m:ctrlPr>
                          <a:rPr lang="en-US" altLang="zh-CN" sz="1200" b="0" i="1" dirty="0">
                            <a:latin typeface="Cambria Math" panose="02040503050406030204" pitchFamily="18" charset="0"/>
                          </a:rPr>
                        </m:ctrlPr>
                      </m:sSubPr>
                      <m:e>
                        <m:r>
                          <a:rPr lang="en-US" altLang="zh-CN" sz="1200" b="0" i="1" dirty="0" err="1" smtClean="0">
                            <a:latin typeface="Cambria Math" panose="02040503050406030204" pitchFamily="18" charset="0"/>
                          </a:rPr>
                          <m:t>𝑡</m:t>
                        </m:r>
                      </m:e>
                      <m:sub>
                        <m:r>
                          <a:rPr lang="en-US" altLang="zh-CN" sz="1200" b="0" i="1" dirty="0">
                            <a:latin typeface="Cambria Math" panose="02040503050406030204" pitchFamily="18" charset="0"/>
                          </a:rPr>
                          <m:t>𝑝𝑟𝑒</m:t>
                        </m:r>
                        <m:r>
                          <a:rPr lang="en-US" altLang="zh-CN" sz="1200" b="0" i="1" dirty="0" smtClean="0">
                            <a:latin typeface="Cambria Math" panose="02040503050406030204" pitchFamily="18" charset="0"/>
                          </a:rPr>
                          <m:t>𝑑</m:t>
                        </m:r>
                      </m:sub>
                    </m:sSub>
                  </m:oMath>
                </a14:m>
                <a:endParaRPr lang="zh-CN" altLang="en-US" sz="1200" dirty="0"/>
              </a:p>
            </p:txBody>
          </p:sp>
        </mc:Choice>
        <mc:Fallback xmlns="">
          <p:sp>
            <p:nvSpPr>
              <p:cNvPr id="13" name="文本框 12">
                <a:extLst>
                  <a:ext uri="{FF2B5EF4-FFF2-40B4-BE49-F238E27FC236}">
                    <a16:creationId xmlns:a16="http://schemas.microsoft.com/office/drawing/2014/main" id="{C14A9329-99F0-23C4-6A11-175F2B42BC01}"/>
                  </a:ext>
                </a:extLst>
              </p:cNvPr>
              <p:cNvSpPr txBox="1">
                <a:spLocks noRot="1" noChangeAspect="1" noMove="1" noResize="1" noEditPoints="1" noAdjustHandles="1" noChangeArrowheads="1" noChangeShapeType="1" noTextEdit="1"/>
              </p:cNvSpPr>
              <p:nvPr/>
            </p:nvSpPr>
            <p:spPr>
              <a:xfrm>
                <a:off x="6803747" y="1433128"/>
                <a:ext cx="2615806" cy="300210"/>
              </a:xfrm>
              <a:prstGeom prst="rect">
                <a:avLst/>
              </a:prstGeom>
              <a:blipFill>
                <a:blip r:embed="rId3"/>
                <a:stretch>
                  <a:fillRect b="-8163"/>
                </a:stretch>
              </a:blipFill>
            </p:spPr>
            <p:txBody>
              <a:bodyPr/>
              <a:lstStyle/>
              <a:p>
                <a:r>
                  <a:rPr lang="zh-CN" altLang="en-US">
                    <a:noFill/>
                  </a:rPr>
                  <a:t> </a:t>
                </a:r>
              </a:p>
            </p:txBody>
          </p:sp>
        </mc:Fallback>
      </mc:AlternateContent>
      <p:sp>
        <p:nvSpPr>
          <p:cNvPr id="14" name="等腰三角形 13">
            <a:extLst>
              <a:ext uri="{FF2B5EF4-FFF2-40B4-BE49-F238E27FC236}">
                <a16:creationId xmlns:a16="http://schemas.microsoft.com/office/drawing/2014/main" id="{299AC4C8-736F-118E-74D6-04034C46909A}"/>
              </a:ext>
            </a:extLst>
          </p:cNvPr>
          <p:cNvSpPr/>
          <p:nvPr/>
        </p:nvSpPr>
        <p:spPr>
          <a:xfrm>
            <a:off x="3913038" y="190293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 name="等腰三角形 14">
            <a:extLst>
              <a:ext uri="{FF2B5EF4-FFF2-40B4-BE49-F238E27FC236}">
                <a16:creationId xmlns:a16="http://schemas.microsoft.com/office/drawing/2014/main" id="{383A3570-81FE-77CE-46C1-1800A4D060DA}"/>
              </a:ext>
            </a:extLst>
          </p:cNvPr>
          <p:cNvSpPr/>
          <p:nvPr/>
        </p:nvSpPr>
        <p:spPr>
          <a:xfrm>
            <a:off x="4223814" y="190293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 name="等腰三角形 15">
            <a:extLst>
              <a:ext uri="{FF2B5EF4-FFF2-40B4-BE49-F238E27FC236}">
                <a16:creationId xmlns:a16="http://schemas.microsoft.com/office/drawing/2014/main" id="{CE846A17-3381-72AB-045F-F7384BDB9C5D}"/>
              </a:ext>
            </a:extLst>
          </p:cNvPr>
          <p:cNvSpPr/>
          <p:nvPr/>
        </p:nvSpPr>
        <p:spPr>
          <a:xfrm>
            <a:off x="4701499" y="190293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7" name="等腰三角形 16">
            <a:extLst>
              <a:ext uri="{FF2B5EF4-FFF2-40B4-BE49-F238E27FC236}">
                <a16:creationId xmlns:a16="http://schemas.microsoft.com/office/drawing/2014/main" id="{78278347-CA74-4EF6-E3FD-7A43841B4B3D}"/>
              </a:ext>
            </a:extLst>
          </p:cNvPr>
          <p:cNvSpPr/>
          <p:nvPr/>
        </p:nvSpPr>
        <p:spPr>
          <a:xfrm>
            <a:off x="5667967" y="190293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8" name="等腰三角形 17">
            <a:extLst>
              <a:ext uri="{FF2B5EF4-FFF2-40B4-BE49-F238E27FC236}">
                <a16:creationId xmlns:a16="http://schemas.microsoft.com/office/drawing/2014/main" id="{9271EFAB-8F56-A8E5-DE0A-D9628C4CABA0}"/>
              </a:ext>
            </a:extLst>
          </p:cNvPr>
          <p:cNvSpPr/>
          <p:nvPr/>
        </p:nvSpPr>
        <p:spPr>
          <a:xfrm>
            <a:off x="6261035" y="190293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19" name="等腰三角形 18">
            <a:extLst>
              <a:ext uri="{FF2B5EF4-FFF2-40B4-BE49-F238E27FC236}">
                <a16:creationId xmlns:a16="http://schemas.microsoft.com/office/drawing/2014/main" id="{CE6AD116-7053-F432-6EBA-D093A5E50504}"/>
              </a:ext>
            </a:extLst>
          </p:cNvPr>
          <p:cNvSpPr/>
          <p:nvPr/>
        </p:nvSpPr>
        <p:spPr>
          <a:xfrm>
            <a:off x="7004153" y="190293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0" name="等腰三角形 19">
            <a:extLst>
              <a:ext uri="{FF2B5EF4-FFF2-40B4-BE49-F238E27FC236}">
                <a16:creationId xmlns:a16="http://schemas.microsoft.com/office/drawing/2014/main" id="{49F38131-B5B5-D78F-AE5D-5702EE0B42F9}"/>
              </a:ext>
            </a:extLst>
          </p:cNvPr>
          <p:cNvSpPr/>
          <p:nvPr/>
        </p:nvSpPr>
        <p:spPr>
          <a:xfrm>
            <a:off x="7958905" y="190293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1" name="等腰三角形 20">
            <a:extLst>
              <a:ext uri="{FF2B5EF4-FFF2-40B4-BE49-F238E27FC236}">
                <a16:creationId xmlns:a16="http://schemas.microsoft.com/office/drawing/2014/main" id="{1EED228A-0951-340E-9E7D-147B4C24814B}"/>
              </a:ext>
            </a:extLst>
          </p:cNvPr>
          <p:cNvSpPr/>
          <p:nvPr/>
        </p:nvSpPr>
        <p:spPr>
          <a:xfrm>
            <a:off x="5552887" y="190293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2" name="等腰三角形 21">
            <a:extLst>
              <a:ext uri="{FF2B5EF4-FFF2-40B4-BE49-F238E27FC236}">
                <a16:creationId xmlns:a16="http://schemas.microsoft.com/office/drawing/2014/main" id="{760ACCEB-88D9-FFD9-851A-79E581E35AA0}"/>
              </a:ext>
            </a:extLst>
          </p:cNvPr>
          <p:cNvSpPr/>
          <p:nvPr/>
        </p:nvSpPr>
        <p:spPr>
          <a:xfrm>
            <a:off x="7584892" y="190293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3" name="等腰三角形 22">
            <a:extLst>
              <a:ext uri="{FF2B5EF4-FFF2-40B4-BE49-F238E27FC236}">
                <a16:creationId xmlns:a16="http://schemas.microsoft.com/office/drawing/2014/main" id="{B37045B7-359B-D841-ABA5-94B1841899CB}"/>
              </a:ext>
            </a:extLst>
          </p:cNvPr>
          <p:cNvSpPr/>
          <p:nvPr/>
        </p:nvSpPr>
        <p:spPr>
          <a:xfrm>
            <a:off x="6034245" y="190293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4" name="等腰三角形 23">
            <a:extLst>
              <a:ext uri="{FF2B5EF4-FFF2-40B4-BE49-F238E27FC236}">
                <a16:creationId xmlns:a16="http://schemas.microsoft.com/office/drawing/2014/main" id="{165D5481-3440-B72E-49C2-74B7C3B9AAD0}"/>
              </a:ext>
            </a:extLst>
          </p:cNvPr>
          <p:cNvSpPr/>
          <p:nvPr/>
        </p:nvSpPr>
        <p:spPr>
          <a:xfrm>
            <a:off x="5075871" y="190293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5" name="左大括号 24">
            <a:extLst>
              <a:ext uri="{FF2B5EF4-FFF2-40B4-BE49-F238E27FC236}">
                <a16:creationId xmlns:a16="http://schemas.microsoft.com/office/drawing/2014/main" id="{02379874-6367-9AA3-D509-51EC3CCBFD82}"/>
              </a:ext>
            </a:extLst>
          </p:cNvPr>
          <p:cNvSpPr/>
          <p:nvPr/>
        </p:nvSpPr>
        <p:spPr>
          <a:xfrm rot="16200000" flipH="1">
            <a:off x="5743046" y="336333"/>
            <a:ext cx="120097" cy="2709943"/>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52A532C5-1C12-FF7C-1CA4-303197E165E3}"/>
                  </a:ext>
                </a:extLst>
              </p:cNvPr>
              <p:cNvSpPr txBox="1"/>
              <p:nvPr/>
            </p:nvSpPr>
            <p:spPr>
              <a:xfrm>
                <a:off x="2041480" y="1907970"/>
                <a:ext cx="1787198"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zh-CN" altLang="en-US" sz="1600" dirty="0">
                          <a:latin typeface="Cambria Math" panose="02040503050406030204" pitchFamily="18" charset="0"/>
                        </a:rPr>
                        <m:t>事件序列</m:t>
                      </m:r>
                      <m:r>
                        <a:rPr lang="en-US" altLang="zh-CN" sz="1600" dirty="0">
                          <a:latin typeface="Cambria Math" panose="02040503050406030204" pitchFamily="18" charset="0"/>
                        </a:rPr>
                        <m:t> </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ℰ</m:t>
                          </m:r>
                        </m:e>
                        <m:sub>
                          <m:r>
                            <a:rPr lang="en-US" altLang="zh-CN" sz="1600">
                              <a:latin typeface="Cambria Math" panose="02040503050406030204" pitchFamily="18" charset="0"/>
                            </a:rPr>
                            <m:t>𝑑</m:t>
                          </m:r>
                        </m:sub>
                      </m:sSub>
                    </m:oMath>
                  </m:oMathPara>
                </a14:m>
                <a:endParaRPr lang="zh-CN" altLang="en-US" sz="1600" dirty="0">
                  <a:latin typeface="+mn-ea"/>
                </a:endParaRPr>
              </a:p>
            </p:txBody>
          </p:sp>
        </mc:Choice>
        <mc:Fallback xmlns="">
          <p:sp>
            <p:nvSpPr>
              <p:cNvPr id="26" name="文本框 25">
                <a:extLst>
                  <a:ext uri="{FF2B5EF4-FFF2-40B4-BE49-F238E27FC236}">
                    <a16:creationId xmlns:a16="http://schemas.microsoft.com/office/drawing/2014/main" id="{52A532C5-1C12-FF7C-1CA4-303197E165E3}"/>
                  </a:ext>
                </a:extLst>
              </p:cNvPr>
              <p:cNvSpPr txBox="1">
                <a:spLocks noRot="1" noChangeAspect="1" noMove="1" noResize="1" noEditPoints="1" noAdjustHandles="1" noChangeArrowheads="1" noChangeShapeType="1" noTextEdit="1"/>
              </p:cNvSpPr>
              <p:nvPr/>
            </p:nvSpPr>
            <p:spPr>
              <a:xfrm>
                <a:off x="2041480" y="1907970"/>
                <a:ext cx="1787198" cy="338554"/>
              </a:xfrm>
              <a:prstGeom prst="rect">
                <a:avLst/>
              </a:prstGeom>
              <a:blipFill>
                <a:blip r:embed="rId4"/>
                <a:stretch>
                  <a:fillRect b="-5357"/>
                </a:stretch>
              </a:blipFill>
            </p:spPr>
            <p:txBody>
              <a:bodyPr/>
              <a:lstStyle/>
              <a:p>
                <a:r>
                  <a:rPr lang="zh-CN" altLang="en-US">
                    <a:noFill/>
                  </a:rPr>
                  <a:t> </a:t>
                </a:r>
              </a:p>
            </p:txBody>
          </p:sp>
        </mc:Fallback>
      </mc:AlternateContent>
      <p:sp>
        <p:nvSpPr>
          <p:cNvPr id="27" name="文本框 26">
            <a:extLst>
              <a:ext uri="{FF2B5EF4-FFF2-40B4-BE49-F238E27FC236}">
                <a16:creationId xmlns:a16="http://schemas.microsoft.com/office/drawing/2014/main" id="{75ED7327-CF4E-3A15-E2E5-3EA438173BCC}"/>
              </a:ext>
            </a:extLst>
          </p:cNvPr>
          <p:cNvSpPr txBox="1"/>
          <p:nvPr/>
        </p:nvSpPr>
        <p:spPr>
          <a:xfrm>
            <a:off x="1292677" y="2330401"/>
            <a:ext cx="6333130" cy="306467"/>
          </a:xfrm>
          <a:prstGeom prst="roundRect">
            <a:avLst/>
          </a:prstGeom>
          <a:noFill/>
          <a:ln>
            <a:solidFill>
              <a:schemeClr val="tx1"/>
            </a:solidFill>
            <a:prstDash val="dash"/>
          </a:ln>
        </p:spPr>
        <p:txBody>
          <a:bodyPr wrap="square">
            <a:spAutoFit/>
          </a:bodyPr>
          <a:lstStyle/>
          <a:p>
            <a:r>
              <a:rPr lang="zh-CN" altLang="en-US" sz="1200" b="1" dirty="0"/>
              <a:t>（</a:t>
            </a:r>
            <a:r>
              <a:rPr lang="en-US" altLang="zh-CN" sz="1200" b="1" dirty="0"/>
              <a:t>1</a:t>
            </a:r>
            <a:r>
              <a:rPr lang="zh-CN" altLang="en-US" sz="1200" b="1" dirty="0"/>
              <a:t>）</a:t>
            </a:r>
            <a:r>
              <a:rPr lang="en-US" altLang="zh-CN" sz="1200" b="1" dirty="0"/>
              <a:t>Temporal</a:t>
            </a:r>
            <a:r>
              <a:rPr lang="zh-CN" altLang="en-US" sz="1200" b="1" dirty="0"/>
              <a:t>：</a:t>
            </a:r>
            <a:r>
              <a:rPr lang="en-US" altLang="zh-CN" sz="1200" dirty="0"/>
              <a:t>Timestamp Analysis</a:t>
            </a:r>
            <a:endParaRPr lang="zh-CN" altLang="en-US" sz="1200" dirty="0"/>
          </a:p>
        </p:txBody>
      </p:sp>
      <p:sp>
        <p:nvSpPr>
          <p:cNvPr id="28" name="文本框 27">
            <a:extLst>
              <a:ext uri="{FF2B5EF4-FFF2-40B4-BE49-F238E27FC236}">
                <a16:creationId xmlns:a16="http://schemas.microsoft.com/office/drawing/2014/main" id="{86B008F3-95AC-36FA-A0A7-C923B22ED767}"/>
              </a:ext>
            </a:extLst>
          </p:cNvPr>
          <p:cNvSpPr txBox="1"/>
          <p:nvPr/>
        </p:nvSpPr>
        <p:spPr>
          <a:xfrm>
            <a:off x="1292677" y="2776646"/>
            <a:ext cx="6333130" cy="306467"/>
          </a:xfrm>
          <a:prstGeom prst="roundRect">
            <a:avLst/>
          </a:prstGeom>
          <a:noFill/>
          <a:ln>
            <a:solidFill>
              <a:schemeClr val="tx1"/>
            </a:solidFill>
            <a:prstDash val="dash"/>
          </a:ln>
        </p:spPr>
        <p:txBody>
          <a:bodyPr wrap="square">
            <a:spAutoFit/>
          </a:bodyPr>
          <a:lstStyle/>
          <a:p>
            <a:r>
              <a:rPr lang="zh-CN" altLang="en-US" sz="1200" b="1" dirty="0"/>
              <a:t>（</a:t>
            </a:r>
            <a:r>
              <a:rPr lang="en-US" altLang="zh-CN" sz="1200" b="1" dirty="0"/>
              <a:t>2</a:t>
            </a:r>
            <a:r>
              <a:rPr lang="zh-CN" altLang="en-US" sz="1200" b="1" dirty="0"/>
              <a:t>）</a:t>
            </a:r>
            <a:r>
              <a:rPr lang="en-US" altLang="zh-CN" sz="1200" b="1" dirty="0"/>
              <a:t>Spatial</a:t>
            </a:r>
            <a:r>
              <a:rPr lang="zh-CN" altLang="en-US" sz="1200" b="1" dirty="0"/>
              <a:t>：</a:t>
            </a:r>
            <a:r>
              <a:rPr lang="en-US" altLang="zh-CN" sz="1200" dirty="0"/>
              <a:t>Event Content Analysis</a:t>
            </a:r>
            <a:endParaRPr lang="zh-CN" altLang="en-US" sz="1200" dirty="0"/>
          </a:p>
        </p:txBody>
      </p:sp>
      <p:sp>
        <p:nvSpPr>
          <p:cNvPr id="29" name="文本框 28">
            <a:extLst>
              <a:ext uri="{FF2B5EF4-FFF2-40B4-BE49-F238E27FC236}">
                <a16:creationId xmlns:a16="http://schemas.microsoft.com/office/drawing/2014/main" id="{9AC715E9-312F-3A12-0D14-A5F8717CB0F1}"/>
              </a:ext>
            </a:extLst>
          </p:cNvPr>
          <p:cNvSpPr txBox="1"/>
          <p:nvPr/>
        </p:nvSpPr>
        <p:spPr>
          <a:xfrm>
            <a:off x="1292677" y="3228084"/>
            <a:ext cx="6333130" cy="306467"/>
          </a:xfrm>
          <a:prstGeom prst="roundRect">
            <a:avLst/>
          </a:prstGeom>
          <a:noFill/>
          <a:ln>
            <a:solidFill>
              <a:schemeClr val="tx1"/>
            </a:solidFill>
            <a:prstDash val="dash"/>
          </a:ln>
        </p:spPr>
        <p:txBody>
          <a:bodyPr wrap="square">
            <a:spAutoFit/>
          </a:bodyPr>
          <a:lstStyle/>
          <a:p>
            <a:r>
              <a:rPr lang="zh-CN" altLang="en-US" sz="1200" b="1" dirty="0">
                <a:latin typeface="+mn-ea"/>
              </a:rPr>
              <a:t>（</a:t>
            </a:r>
            <a:r>
              <a:rPr lang="en-US" altLang="zh-CN" sz="1200" b="1" dirty="0">
                <a:latin typeface="+mn-ea"/>
              </a:rPr>
              <a:t>3</a:t>
            </a:r>
            <a:r>
              <a:rPr lang="zh-CN" altLang="en-US" sz="1200" b="1" dirty="0">
                <a:latin typeface="+mn-ea"/>
              </a:rPr>
              <a:t>）</a:t>
            </a:r>
            <a:r>
              <a:rPr lang="en-US" altLang="zh-CN" sz="1200" b="1" dirty="0">
                <a:latin typeface="+mn-ea"/>
              </a:rPr>
              <a:t>Spatiotemporal</a:t>
            </a:r>
            <a:r>
              <a:rPr lang="zh-CN" altLang="en-US" sz="1200" b="1" dirty="0">
                <a:latin typeface="+mn-ea"/>
              </a:rPr>
              <a:t>：</a:t>
            </a:r>
            <a:r>
              <a:rPr lang="en-US" altLang="zh-CN" sz="1200" dirty="0"/>
              <a:t>Multilevel Analysis</a:t>
            </a:r>
            <a:endParaRPr lang="zh-CN" altLang="en-US" sz="1200" dirty="0">
              <a:latin typeface="+mn-ea"/>
            </a:endParaRPr>
          </a:p>
        </p:txBody>
      </p:sp>
      <p:grpSp>
        <p:nvGrpSpPr>
          <p:cNvPr id="30" name="组合 29">
            <a:extLst>
              <a:ext uri="{FF2B5EF4-FFF2-40B4-BE49-F238E27FC236}">
                <a16:creationId xmlns:a16="http://schemas.microsoft.com/office/drawing/2014/main" id="{86025C0E-2B61-5E39-1A4F-BC7821052411}"/>
              </a:ext>
            </a:extLst>
          </p:cNvPr>
          <p:cNvGrpSpPr/>
          <p:nvPr/>
        </p:nvGrpSpPr>
        <p:grpSpPr>
          <a:xfrm>
            <a:off x="1724542" y="1195218"/>
            <a:ext cx="3096029" cy="307777"/>
            <a:chOff x="974224" y="1056964"/>
            <a:chExt cx="2587746" cy="307777"/>
          </a:xfrm>
        </p:grpSpPr>
        <p:sp>
          <p:nvSpPr>
            <p:cNvPr id="31" name="文本框 30">
              <a:extLst>
                <a:ext uri="{FF2B5EF4-FFF2-40B4-BE49-F238E27FC236}">
                  <a16:creationId xmlns:a16="http://schemas.microsoft.com/office/drawing/2014/main" id="{3BC2E28F-E1B4-E3C1-9674-BAF480A03CEA}"/>
                </a:ext>
              </a:extLst>
            </p:cNvPr>
            <p:cNvSpPr txBox="1"/>
            <p:nvPr/>
          </p:nvSpPr>
          <p:spPr>
            <a:xfrm>
              <a:off x="1060487" y="1056964"/>
              <a:ext cx="2501483" cy="307777"/>
            </a:xfrm>
            <a:prstGeom prst="rect">
              <a:avLst/>
            </a:prstGeom>
            <a:noFill/>
          </p:spPr>
          <p:txBody>
            <a:bodyPr wrap="square">
              <a:spAutoFit/>
            </a:bodyPr>
            <a:lstStyle/>
            <a:p>
              <a:r>
                <a:rPr lang="zh-CN" altLang="en-US" sz="1400" dirty="0">
                  <a:solidFill>
                    <a:srgbClr val="F2BE00"/>
                  </a:solidFill>
                  <a:latin typeface="Cambria Math" panose="02040503050406030204" pitchFamily="18" charset="0"/>
                </a:rPr>
                <a:t>：</a:t>
              </a:r>
              <a:r>
                <a:rPr lang="en-US" altLang="zh-CN" sz="1400" dirty="0">
                  <a:solidFill>
                    <a:srgbClr val="F2BE00"/>
                  </a:solidFill>
                  <a:latin typeface="Cambria Math" panose="02040503050406030204" pitchFamily="18" charset="0"/>
                </a:rPr>
                <a:t>Not considering CE content</a:t>
              </a:r>
            </a:p>
          </p:txBody>
        </p:sp>
        <p:sp>
          <p:nvSpPr>
            <p:cNvPr id="32" name="等腰三角形 31">
              <a:extLst>
                <a:ext uri="{FF2B5EF4-FFF2-40B4-BE49-F238E27FC236}">
                  <a16:creationId xmlns:a16="http://schemas.microsoft.com/office/drawing/2014/main" id="{EFF74983-C4A6-C824-28F9-B4112F7BF189}"/>
                </a:ext>
              </a:extLst>
            </p:cNvPr>
            <p:cNvSpPr/>
            <p:nvPr/>
          </p:nvSpPr>
          <p:spPr>
            <a:xfrm>
              <a:off x="974224" y="1111651"/>
              <a:ext cx="86263" cy="198403"/>
            </a:xfrm>
            <a:prstGeom prst="triangle">
              <a:avLst/>
            </a:prstGeom>
            <a:solidFill>
              <a:srgbClr val="F2BE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a:solidFill>
                  <a:schemeClr val="accent1"/>
                </a:solidFill>
              </a:endParaRPr>
            </a:p>
          </p:txBody>
        </p:sp>
      </p:grpSp>
      <p:grpSp>
        <p:nvGrpSpPr>
          <p:cNvPr id="33" name="组合 32">
            <a:extLst>
              <a:ext uri="{FF2B5EF4-FFF2-40B4-BE49-F238E27FC236}">
                <a16:creationId xmlns:a16="http://schemas.microsoft.com/office/drawing/2014/main" id="{A4851B28-DC80-A98C-3EA2-BF530605DC32}"/>
              </a:ext>
            </a:extLst>
          </p:cNvPr>
          <p:cNvGrpSpPr/>
          <p:nvPr/>
        </p:nvGrpSpPr>
        <p:grpSpPr>
          <a:xfrm>
            <a:off x="1724543" y="1466897"/>
            <a:ext cx="3430637" cy="307777"/>
            <a:chOff x="974224" y="1320916"/>
            <a:chExt cx="2867421" cy="307777"/>
          </a:xfrm>
        </p:grpSpPr>
        <p:sp>
          <p:nvSpPr>
            <p:cNvPr id="34" name="文本框 33">
              <a:extLst>
                <a:ext uri="{FF2B5EF4-FFF2-40B4-BE49-F238E27FC236}">
                  <a16:creationId xmlns:a16="http://schemas.microsoft.com/office/drawing/2014/main" id="{912B79B4-1816-C7E1-199E-0D29AA1156A8}"/>
                </a:ext>
              </a:extLst>
            </p:cNvPr>
            <p:cNvSpPr txBox="1"/>
            <p:nvPr/>
          </p:nvSpPr>
          <p:spPr>
            <a:xfrm>
              <a:off x="1060487" y="1320916"/>
              <a:ext cx="2781158" cy="307777"/>
            </a:xfrm>
            <a:prstGeom prst="rect">
              <a:avLst/>
            </a:prstGeom>
            <a:noFill/>
          </p:spPr>
          <p:txBody>
            <a:bodyPr wrap="square">
              <a:spAutoFit/>
            </a:bodyPr>
            <a:lstStyle/>
            <a:p>
              <a:r>
                <a:rPr lang="zh-CN" altLang="en-US" sz="1400" dirty="0">
                  <a:solidFill>
                    <a:schemeClr val="accent3"/>
                  </a:solidFill>
                  <a:latin typeface="Cambria Math" panose="02040503050406030204" pitchFamily="18" charset="0"/>
                </a:rPr>
                <a:t>：</a:t>
              </a:r>
              <a:r>
                <a:rPr lang="en-US" altLang="zh-CN" sz="1400" dirty="0">
                  <a:solidFill>
                    <a:schemeClr val="accent3"/>
                  </a:solidFill>
                  <a:latin typeface="Cambria Math" panose="02040503050406030204" pitchFamily="18" charset="0"/>
                </a:rPr>
                <a:t>Considering CE content</a:t>
              </a:r>
            </a:p>
          </p:txBody>
        </p:sp>
        <p:sp>
          <p:nvSpPr>
            <p:cNvPr id="35" name="等腰三角形 34">
              <a:extLst>
                <a:ext uri="{FF2B5EF4-FFF2-40B4-BE49-F238E27FC236}">
                  <a16:creationId xmlns:a16="http://schemas.microsoft.com/office/drawing/2014/main" id="{92CFEE08-DA88-012F-96B5-A50107FBAD98}"/>
                </a:ext>
              </a:extLst>
            </p:cNvPr>
            <p:cNvSpPr/>
            <p:nvPr/>
          </p:nvSpPr>
          <p:spPr>
            <a:xfrm>
              <a:off x="974224" y="1375603"/>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a:solidFill>
                  <a:schemeClr val="accent1"/>
                </a:solidFill>
              </a:endParaRPr>
            </a:p>
          </p:txBody>
        </p:sp>
      </p:grpSp>
      <p:sp>
        <p:nvSpPr>
          <p:cNvPr id="36" name="文本框 35">
            <a:extLst>
              <a:ext uri="{FF2B5EF4-FFF2-40B4-BE49-F238E27FC236}">
                <a16:creationId xmlns:a16="http://schemas.microsoft.com/office/drawing/2014/main" id="{BAFC65EB-DBEA-E389-FE7A-11A1734ADF01}"/>
              </a:ext>
            </a:extLst>
          </p:cNvPr>
          <p:cNvSpPr txBox="1"/>
          <p:nvPr/>
        </p:nvSpPr>
        <p:spPr>
          <a:xfrm>
            <a:off x="4487463" y="1349806"/>
            <a:ext cx="2615806" cy="276999"/>
          </a:xfrm>
          <a:prstGeom prst="rect">
            <a:avLst/>
          </a:prstGeom>
          <a:noFill/>
        </p:spPr>
        <p:txBody>
          <a:bodyPr wrap="square">
            <a:spAutoFit/>
          </a:bodyPr>
          <a:lstStyle/>
          <a:p>
            <a:pPr algn="ctr"/>
            <a:r>
              <a:rPr lang="en-US" altLang="zh-CN" sz="1200" dirty="0">
                <a:latin typeface="Cambria Math" panose="02040503050406030204" pitchFamily="18" charset="0"/>
              </a:rPr>
              <a:t>CE Sequence of a Specific Analysis</a:t>
            </a:r>
            <a:endParaRPr lang="zh-CN" altLang="en-US" sz="1200" dirty="0"/>
          </a:p>
        </p:txBody>
      </p:sp>
      <p:cxnSp>
        <p:nvCxnSpPr>
          <p:cNvPr id="37" name="直接箭头连接符 36">
            <a:extLst>
              <a:ext uri="{FF2B5EF4-FFF2-40B4-BE49-F238E27FC236}">
                <a16:creationId xmlns:a16="http://schemas.microsoft.com/office/drawing/2014/main" id="{06F9E6C3-750D-A145-0D44-564ADD7C4F9A}"/>
              </a:ext>
            </a:extLst>
          </p:cNvPr>
          <p:cNvCxnSpPr>
            <a:cxnSpLocks/>
          </p:cNvCxnSpPr>
          <p:nvPr/>
        </p:nvCxnSpPr>
        <p:spPr>
          <a:xfrm>
            <a:off x="4279670" y="2529861"/>
            <a:ext cx="309436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等腰三角形 37">
            <a:extLst>
              <a:ext uri="{FF2B5EF4-FFF2-40B4-BE49-F238E27FC236}">
                <a16:creationId xmlns:a16="http://schemas.microsoft.com/office/drawing/2014/main" id="{C0BD81F8-F605-38DF-9E09-5A0363F3DE5D}"/>
              </a:ext>
            </a:extLst>
          </p:cNvPr>
          <p:cNvSpPr/>
          <p:nvPr/>
        </p:nvSpPr>
        <p:spPr>
          <a:xfrm>
            <a:off x="4701499" y="2387552"/>
            <a:ext cx="103207" cy="198403"/>
          </a:xfrm>
          <a:prstGeom prst="triangle">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9" name="等腰三角形 38">
            <a:extLst>
              <a:ext uri="{FF2B5EF4-FFF2-40B4-BE49-F238E27FC236}">
                <a16:creationId xmlns:a16="http://schemas.microsoft.com/office/drawing/2014/main" id="{45ADBD12-7A93-16E6-026E-8A87A1B6743F}"/>
              </a:ext>
            </a:extLst>
          </p:cNvPr>
          <p:cNvSpPr/>
          <p:nvPr/>
        </p:nvSpPr>
        <p:spPr>
          <a:xfrm>
            <a:off x="5667967" y="2387552"/>
            <a:ext cx="103207" cy="198403"/>
          </a:xfrm>
          <a:prstGeom prst="triangle">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0" name="等腰三角形 39">
            <a:extLst>
              <a:ext uri="{FF2B5EF4-FFF2-40B4-BE49-F238E27FC236}">
                <a16:creationId xmlns:a16="http://schemas.microsoft.com/office/drawing/2014/main" id="{0BDB5DD5-11D3-0CE4-73C6-31F3F9EE9A7E}"/>
              </a:ext>
            </a:extLst>
          </p:cNvPr>
          <p:cNvSpPr/>
          <p:nvPr/>
        </p:nvSpPr>
        <p:spPr>
          <a:xfrm>
            <a:off x="6261035" y="2387552"/>
            <a:ext cx="103207" cy="198403"/>
          </a:xfrm>
          <a:prstGeom prst="triangle">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41" name="等腰三角形 40">
            <a:extLst>
              <a:ext uri="{FF2B5EF4-FFF2-40B4-BE49-F238E27FC236}">
                <a16:creationId xmlns:a16="http://schemas.microsoft.com/office/drawing/2014/main" id="{1A2CB414-574D-895C-6480-C897ED617B4E}"/>
              </a:ext>
            </a:extLst>
          </p:cNvPr>
          <p:cNvSpPr/>
          <p:nvPr/>
        </p:nvSpPr>
        <p:spPr>
          <a:xfrm>
            <a:off x="5552887" y="2387552"/>
            <a:ext cx="103207" cy="198403"/>
          </a:xfrm>
          <a:prstGeom prst="triangle">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2" name="等腰三角形 41">
            <a:extLst>
              <a:ext uri="{FF2B5EF4-FFF2-40B4-BE49-F238E27FC236}">
                <a16:creationId xmlns:a16="http://schemas.microsoft.com/office/drawing/2014/main" id="{6913EB10-D31C-4854-DA69-89438EFC44B9}"/>
              </a:ext>
            </a:extLst>
          </p:cNvPr>
          <p:cNvSpPr/>
          <p:nvPr/>
        </p:nvSpPr>
        <p:spPr>
          <a:xfrm>
            <a:off x="6034245" y="2387552"/>
            <a:ext cx="103207" cy="198403"/>
          </a:xfrm>
          <a:prstGeom prst="triangle">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3" name="等腰三角形 42">
            <a:extLst>
              <a:ext uri="{FF2B5EF4-FFF2-40B4-BE49-F238E27FC236}">
                <a16:creationId xmlns:a16="http://schemas.microsoft.com/office/drawing/2014/main" id="{205507DF-FA56-2DB5-5EDE-CDB12EB74A2E}"/>
              </a:ext>
            </a:extLst>
          </p:cNvPr>
          <p:cNvSpPr/>
          <p:nvPr/>
        </p:nvSpPr>
        <p:spPr>
          <a:xfrm>
            <a:off x="5075871" y="2387552"/>
            <a:ext cx="103207" cy="198403"/>
          </a:xfrm>
          <a:prstGeom prst="triangle">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4" name="等腰三角形 43">
            <a:extLst>
              <a:ext uri="{FF2B5EF4-FFF2-40B4-BE49-F238E27FC236}">
                <a16:creationId xmlns:a16="http://schemas.microsoft.com/office/drawing/2014/main" id="{63D470E7-E21F-A901-FD03-FFF56A60142C}"/>
              </a:ext>
            </a:extLst>
          </p:cNvPr>
          <p:cNvSpPr/>
          <p:nvPr/>
        </p:nvSpPr>
        <p:spPr>
          <a:xfrm>
            <a:off x="4705244" y="2825719"/>
            <a:ext cx="103207"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45" name="等腰三角形 44">
            <a:extLst>
              <a:ext uri="{FF2B5EF4-FFF2-40B4-BE49-F238E27FC236}">
                <a16:creationId xmlns:a16="http://schemas.microsoft.com/office/drawing/2014/main" id="{C4F4DD7B-F188-5148-88E0-08773114F7AA}"/>
              </a:ext>
            </a:extLst>
          </p:cNvPr>
          <p:cNvSpPr/>
          <p:nvPr/>
        </p:nvSpPr>
        <p:spPr>
          <a:xfrm>
            <a:off x="6261035" y="2828653"/>
            <a:ext cx="103207"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7E020DA3-EE68-197B-476B-5F0CC5EA4044}"/>
                  </a:ext>
                </a:extLst>
              </p:cNvPr>
              <p:cNvSpPr txBox="1"/>
              <p:nvPr/>
            </p:nvSpPr>
            <p:spPr>
              <a:xfrm>
                <a:off x="5219223" y="2785686"/>
                <a:ext cx="1280184"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1200" b="0" i="1" dirty="0" smtClean="0">
                          <a:latin typeface="Cambria Math" panose="02040503050406030204" pitchFamily="18" charset="0"/>
                        </a:rPr>
                        <m:t>⋯</m:t>
                      </m:r>
                    </m:oMath>
                  </m:oMathPara>
                </a14:m>
                <a:endParaRPr lang="en-US" altLang="zh-CN" sz="1200" b="0" dirty="0"/>
              </a:p>
            </p:txBody>
          </p:sp>
        </mc:Choice>
        <mc:Fallback xmlns="">
          <p:sp>
            <p:nvSpPr>
              <p:cNvPr id="46" name="文本框 45">
                <a:extLst>
                  <a:ext uri="{FF2B5EF4-FFF2-40B4-BE49-F238E27FC236}">
                    <a16:creationId xmlns:a16="http://schemas.microsoft.com/office/drawing/2014/main" id="{7E020DA3-EE68-197B-476B-5F0CC5EA4044}"/>
                  </a:ext>
                </a:extLst>
              </p:cNvPr>
              <p:cNvSpPr txBox="1">
                <a:spLocks noRot="1" noChangeAspect="1" noMove="1" noResize="1" noEditPoints="1" noAdjustHandles="1" noChangeArrowheads="1" noChangeShapeType="1" noTextEdit="1"/>
              </p:cNvSpPr>
              <p:nvPr/>
            </p:nvSpPr>
            <p:spPr>
              <a:xfrm>
                <a:off x="5219223" y="2785686"/>
                <a:ext cx="1280184" cy="276999"/>
              </a:xfrm>
              <a:prstGeom prst="rect">
                <a:avLst/>
              </a:prstGeom>
              <a:blipFill>
                <a:blip r:embed="rId5"/>
                <a:stretch>
                  <a:fillRect/>
                </a:stretch>
              </a:blipFill>
            </p:spPr>
            <p:txBody>
              <a:bodyPr/>
              <a:lstStyle/>
              <a:p>
                <a:r>
                  <a:rPr lang="zh-CN" altLang="en-US">
                    <a:noFill/>
                  </a:rPr>
                  <a:t> </a:t>
                </a:r>
              </a:p>
            </p:txBody>
          </p:sp>
        </mc:Fallback>
      </mc:AlternateContent>
      <p:sp>
        <p:nvSpPr>
          <p:cNvPr id="47" name="等腰三角形 46">
            <a:extLst>
              <a:ext uri="{FF2B5EF4-FFF2-40B4-BE49-F238E27FC236}">
                <a16:creationId xmlns:a16="http://schemas.microsoft.com/office/drawing/2014/main" id="{4B474A81-33AF-9DFF-442D-80B9FAA50E79}"/>
              </a:ext>
            </a:extLst>
          </p:cNvPr>
          <p:cNvSpPr/>
          <p:nvPr/>
        </p:nvSpPr>
        <p:spPr>
          <a:xfrm>
            <a:off x="5075870" y="2825718"/>
            <a:ext cx="103207"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cxnSp>
        <p:nvCxnSpPr>
          <p:cNvPr id="48" name="直接箭头连接符 47">
            <a:extLst>
              <a:ext uri="{FF2B5EF4-FFF2-40B4-BE49-F238E27FC236}">
                <a16:creationId xmlns:a16="http://schemas.microsoft.com/office/drawing/2014/main" id="{22740179-AA15-7FF6-B30B-D76E3C59478E}"/>
              </a:ext>
            </a:extLst>
          </p:cNvPr>
          <p:cNvCxnSpPr>
            <a:cxnSpLocks/>
          </p:cNvCxnSpPr>
          <p:nvPr/>
        </p:nvCxnSpPr>
        <p:spPr>
          <a:xfrm>
            <a:off x="4279670" y="3407284"/>
            <a:ext cx="309436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等腰三角形 48">
            <a:extLst>
              <a:ext uri="{FF2B5EF4-FFF2-40B4-BE49-F238E27FC236}">
                <a16:creationId xmlns:a16="http://schemas.microsoft.com/office/drawing/2014/main" id="{7A7460EF-C73C-579B-117C-1E91F9281752}"/>
              </a:ext>
            </a:extLst>
          </p:cNvPr>
          <p:cNvSpPr/>
          <p:nvPr/>
        </p:nvSpPr>
        <p:spPr>
          <a:xfrm>
            <a:off x="4701499" y="326497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0" name="等腰三角形 49">
            <a:extLst>
              <a:ext uri="{FF2B5EF4-FFF2-40B4-BE49-F238E27FC236}">
                <a16:creationId xmlns:a16="http://schemas.microsoft.com/office/drawing/2014/main" id="{DDD0E83E-C512-094A-7775-3280A43532F3}"/>
              </a:ext>
            </a:extLst>
          </p:cNvPr>
          <p:cNvSpPr/>
          <p:nvPr/>
        </p:nvSpPr>
        <p:spPr>
          <a:xfrm>
            <a:off x="5667967" y="326497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1" name="等腰三角形 50">
            <a:extLst>
              <a:ext uri="{FF2B5EF4-FFF2-40B4-BE49-F238E27FC236}">
                <a16:creationId xmlns:a16="http://schemas.microsoft.com/office/drawing/2014/main" id="{9723AD37-DF1C-D68B-375F-65AE12BF5BB3}"/>
              </a:ext>
            </a:extLst>
          </p:cNvPr>
          <p:cNvSpPr/>
          <p:nvPr/>
        </p:nvSpPr>
        <p:spPr>
          <a:xfrm>
            <a:off x="6261035" y="326497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52" name="等腰三角形 51">
            <a:extLst>
              <a:ext uri="{FF2B5EF4-FFF2-40B4-BE49-F238E27FC236}">
                <a16:creationId xmlns:a16="http://schemas.microsoft.com/office/drawing/2014/main" id="{DC5244EB-BDB7-BB25-1317-FF476B71D80C}"/>
              </a:ext>
            </a:extLst>
          </p:cNvPr>
          <p:cNvSpPr/>
          <p:nvPr/>
        </p:nvSpPr>
        <p:spPr>
          <a:xfrm>
            <a:off x="5552887" y="326497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3" name="等腰三角形 52">
            <a:extLst>
              <a:ext uri="{FF2B5EF4-FFF2-40B4-BE49-F238E27FC236}">
                <a16:creationId xmlns:a16="http://schemas.microsoft.com/office/drawing/2014/main" id="{7CEAD2ED-93D0-56CB-7659-0CE3BF655D1D}"/>
              </a:ext>
            </a:extLst>
          </p:cNvPr>
          <p:cNvSpPr/>
          <p:nvPr/>
        </p:nvSpPr>
        <p:spPr>
          <a:xfrm>
            <a:off x="6034245" y="326497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4" name="等腰三角形 53">
            <a:extLst>
              <a:ext uri="{FF2B5EF4-FFF2-40B4-BE49-F238E27FC236}">
                <a16:creationId xmlns:a16="http://schemas.microsoft.com/office/drawing/2014/main" id="{0FE674A2-6E27-E739-D3DE-43294CDA91AF}"/>
              </a:ext>
            </a:extLst>
          </p:cNvPr>
          <p:cNvSpPr/>
          <p:nvPr/>
        </p:nvSpPr>
        <p:spPr>
          <a:xfrm>
            <a:off x="5075871" y="3264975"/>
            <a:ext cx="103207" cy="198403"/>
          </a:xfrm>
          <a:prstGeom prst="triangl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45F4FE8E-8D73-8E04-A4CE-9D0C777D98BC}"/>
                  </a:ext>
                </a:extLst>
              </p:cNvPr>
              <p:cNvSpPr txBox="1"/>
              <p:nvPr/>
            </p:nvSpPr>
            <p:spPr>
              <a:xfrm>
                <a:off x="8319666" y="2230660"/>
                <a:ext cx="2466328" cy="324000"/>
              </a:xfrm>
              <a:prstGeom prst="roundRect">
                <a:avLst/>
              </a:prstGeom>
              <a:noFill/>
              <a:ln>
                <a:solidFill>
                  <a:schemeClr val="tx1"/>
                </a:solidFill>
                <a:prstDash val="dash"/>
              </a:ln>
            </p:spPr>
            <p:txBody>
              <a:bodyPr wrap="square">
                <a:spAutoFit/>
              </a:bodyPr>
              <a:lstStyle/>
              <a:p>
                <a:r>
                  <a:rPr lang="zh-CN" altLang="en-US" sz="1200" dirty="0">
                    <a:solidFill>
                      <a:srgbClr val="0070C0"/>
                    </a:solidFill>
                    <a:latin typeface="+mn-ea"/>
                  </a:rPr>
                  <a:t>时间戳表征 </a:t>
                </a:r>
                <a14:m>
                  <m:oMath xmlns:m="http://schemas.openxmlformats.org/officeDocument/2006/math">
                    <m:sSubSup>
                      <m:sSubSupPr>
                        <m:ctrlPr>
                          <a:rPr lang="en-US" altLang="zh-CN" sz="1200" b="0" i="1" smtClean="0">
                            <a:solidFill>
                              <a:srgbClr val="0070C0"/>
                            </a:solidFill>
                            <a:latin typeface="Cambria Math" panose="02040503050406030204" pitchFamily="18" charset="0"/>
                          </a:rPr>
                        </m:ctrlPr>
                      </m:sSubSupPr>
                      <m:e>
                        <m:r>
                          <a:rPr lang="en-US" altLang="zh-CN" sz="1200" b="0" i="1" smtClean="0">
                            <a:solidFill>
                              <a:srgbClr val="0070C0"/>
                            </a:solidFill>
                            <a:latin typeface="Cambria Math" panose="02040503050406030204" pitchFamily="18" charset="0"/>
                          </a:rPr>
                          <m:t>𝑍𝑎</m:t>
                        </m:r>
                      </m:e>
                      <m:sub>
                        <m:r>
                          <a:rPr lang="en-US" altLang="zh-CN" sz="1200" b="0" i="1" smtClean="0">
                            <a:solidFill>
                              <a:srgbClr val="0070C0"/>
                            </a:solidFill>
                            <a:latin typeface="Cambria Math" panose="02040503050406030204" pitchFamily="18" charset="0"/>
                          </a:rPr>
                          <m:t>𝑑</m:t>
                        </m:r>
                      </m:sub>
                      <m:sup>
                        <m:r>
                          <a:rPr lang="en-US" altLang="zh-CN" sz="1200" b="0" i="1" smtClean="0">
                            <a:solidFill>
                              <a:srgbClr val="0070C0"/>
                            </a:solidFill>
                            <a:latin typeface="Cambria Math" panose="02040503050406030204" pitchFamily="18" charset="0"/>
                          </a:rPr>
                          <m:t>𝑇</m:t>
                        </m:r>
                      </m:sup>
                    </m:sSubSup>
                    <m:r>
                      <a:rPr lang="en-US" altLang="zh-CN" sz="1200" b="0" i="1" smtClean="0">
                        <a:solidFill>
                          <a:srgbClr val="0070C0"/>
                        </a:solidFill>
                        <a:latin typeface="Cambria Math" panose="02040503050406030204" pitchFamily="18" charset="0"/>
                      </a:rPr>
                      <m:t>∈</m:t>
                    </m:r>
                    <m:sSup>
                      <m:sSupPr>
                        <m:ctrlPr>
                          <a:rPr lang="en-US" altLang="zh-CN" sz="1200" b="0" i="1" smtClean="0">
                            <a:solidFill>
                              <a:srgbClr val="0070C0"/>
                            </a:solidFill>
                            <a:latin typeface="Cambria Math" panose="02040503050406030204" pitchFamily="18" charset="0"/>
                          </a:rPr>
                        </m:ctrlPr>
                      </m:sSupPr>
                      <m:e>
                        <m:r>
                          <a:rPr lang="en-US" altLang="zh-CN" sz="1200" b="0" i="1" smtClean="0">
                            <a:solidFill>
                              <a:srgbClr val="0070C0"/>
                            </a:solidFill>
                            <a:latin typeface="Cambria Math" panose="02040503050406030204" pitchFamily="18" charset="0"/>
                          </a:rPr>
                          <m:t>ℝ</m:t>
                        </m:r>
                      </m:e>
                      <m:sup>
                        <m:r>
                          <a:rPr lang="en-US" altLang="zh-CN" sz="1200" b="0" i="1" smtClean="0">
                            <a:solidFill>
                              <a:srgbClr val="0070C0"/>
                            </a:solidFill>
                            <a:latin typeface="Cambria Math" panose="02040503050406030204" pitchFamily="18" charset="0"/>
                          </a:rPr>
                          <m:t>𝐿</m:t>
                        </m:r>
                        <m:r>
                          <a:rPr lang="en-US" altLang="zh-CN" sz="1200" b="0" i="1" smtClean="0">
                            <a:solidFill>
                              <a:srgbClr val="0070C0"/>
                            </a:solidFill>
                            <a:latin typeface="Cambria Math" panose="02040503050406030204" pitchFamily="18" charset="0"/>
                          </a:rPr>
                          <m:t>×</m:t>
                        </m:r>
                        <m:sSub>
                          <m:sSubPr>
                            <m:ctrlPr>
                              <a:rPr lang="en-US" altLang="zh-CN" sz="1200" b="0" i="1" smtClean="0">
                                <a:solidFill>
                                  <a:srgbClr val="0070C0"/>
                                </a:solidFill>
                                <a:latin typeface="Cambria Math" panose="02040503050406030204" pitchFamily="18" charset="0"/>
                              </a:rPr>
                            </m:ctrlPr>
                          </m:sSubPr>
                          <m:e>
                            <m:r>
                              <a:rPr lang="en-US" altLang="zh-CN" sz="1200" b="0" i="1" smtClean="0">
                                <a:solidFill>
                                  <a:srgbClr val="0070C0"/>
                                </a:solidFill>
                                <a:latin typeface="Cambria Math" panose="02040503050406030204" pitchFamily="18" charset="0"/>
                              </a:rPr>
                              <m:t>𝑑</m:t>
                            </m:r>
                          </m:e>
                          <m:sub>
                            <m:r>
                              <a:rPr lang="en-US" altLang="zh-CN" sz="1200" b="0" i="1" smtClean="0">
                                <a:solidFill>
                                  <a:srgbClr val="0070C0"/>
                                </a:solidFill>
                                <a:latin typeface="Cambria Math" panose="02040503050406030204" pitchFamily="18" charset="0"/>
                              </a:rPr>
                              <m:t>𝑧</m:t>
                            </m:r>
                          </m:sub>
                        </m:sSub>
                      </m:sup>
                    </m:sSup>
                  </m:oMath>
                </a14:m>
                <a:endParaRPr lang="zh-CN" altLang="en-US" sz="1200" dirty="0">
                  <a:latin typeface="+mn-ea"/>
                </a:endParaRPr>
              </a:p>
            </p:txBody>
          </p:sp>
        </mc:Choice>
        <mc:Fallback xmlns="">
          <p:sp>
            <p:nvSpPr>
              <p:cNvPr id="55" name="文本框 54">
                <a:extLst>
                  <a:ext uri="{FF2B5EF4-FFF2-40B4-BE49-F238E27FC236}">
                    <a16:creationId xmlns:a16="http://schemas.microsoft.com/office/drawing/2014/main" id="{45F4FE8E-8D73-8E04-A4CE-9D0C777D98BC}"/>
                  </a:ext>
                </a:extLst>
              </p:cNvPr>
              <p:cNvSpPr txBox="1">
                <a:spLocks noRot="1" noChangeAspect="1" noMove="1" noResize="1" noEditPoints="1" noAdjustHandles="1" noChangeArrowheads="1" noChangeShapeType="1" noTextEdit="1"/>
              </p:cNvSpPr>
              <p:nvPr/>
            </p:nvSpPr>
            <p:spPr>
              <a:xfrm>
                <a:off x="8319666" y="2230660"/>
                <a:ext cx="2466328" cy="324000"/>
              </a:xfrm>
              <a:prstGeom prst="roundRect">
                <a:avLst/>
              </a:prstGeom>
              <a:blipFill>
                <a:blip r:embed="rId6"/>
                <a:stretch>
                  <a:fillRect b="-7273"/>
                </a:stretch>
              </a:blipFill>
              <a:ln>
                <a:solidFill>
                  <a:schemeClr val="tx1"/>
                </a:solidFill>
                <a:prstDash val="dash"/>
              </a:ln>
            </p:spPr>
            <p:txBody>
              <a:bodyPr/>
              <a:lstStyle/>
              <a:p>
                <a:r>
                  <a:rPr lang="zh-CN" altLang="en-US">
                    <a:noFill/>
                  </a:rPr>
                  <a:t> </a:t>
                </a:r>
              </a:p>
            </p:txBody>
          </p:sp>
        </mc:Fallback>
      </mc:AlternateContent>
      <p:cxnSp>
        <p:nvCxnSpPr>
          <p:cNvPr id="56" name="直接连接符 55">
            <a:extLst>
              <a:ext uri="{FF2B5EF4-FFF2-40B4-BE49-F238E27FC236}">
                <a16:creationId xmlns:a16="http://schemas.microsoft.com/office/drawing/2014/main" id="{069271D6-474F-2E0B-807B-CBD1002B9F15}"/>
              </a:ext>
            </a:extLst>
          </p:cNvPr>
          <p:cNvCxnSpPr>
            <a:cxnSpLocks/>
          </p:cNvCxnSpPr>
          <p:nvPr/>
        </p:nvCxnSpPr>
        <p:spPr>
          <a:xfrm flipH="1">
            <a:off x="6723508" y="1543054"/>
            <a:ext cx="1"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50D85770-3EB9-7B18-495C-F879DF48AF1A}"/>
                  </a:ext>
                </a:extLst>
              </p:cNvPr>
              <p:cNvSpPr txBox="1"/>
              <p:nvPr/>
            </p:nvSpPr>
            <p:spPr>
              <a:xfrm>
                <a:off x="5997234" y="1131896"/>
                <a:ext cx="2615806" cy="276999"/>
              </a:xfrm>
              <a:prstGeom prst="rect">
                <a:avLst/>
              </a:prstGeom>
              <a:noFill/>
            </p:spPr>
            <p:txBody>
              <a:bodyPr wrap="square">
                <a:spAutoFit/>
              </a:bodyPr>
              <a:lstStyle/>
              <a:p>
                <a:pPr algn="ctr"/>
                <a:r>
                  <a:rPr lang="en-US" altLang="zh-CN" sz="1200" dirty="0">
                    <a:latin typeface="Cambria Math" panose="02040503050406030204" pitchFamily="18" charset="0"/>
                  </a:rPr>
                  <a:t>Generation Time of a Sample: </a:t>
                </a:r>
                <a14:m>
                  <m:oMath xmlns:m="http://schemas.openxmlformats.org/officeDocument/2006/math">
                    <m:r>
                      <a:rPr lang="en-US" altLang="zh-CN" sz="1200" i="1" dirty="0" smtClean="0">
                        <a:latin typeface="Cambria Math" panose="02040503050406030204" pitchFamily="18" charset="0"/>
                      </a:rPr>
                      <m:t>𝑇</m:t>
                    </m:r>
                  </m:oMath>
                </a14:m>
                <a:endParaRPr lang="zh-CN" altLang="en-US" sz="1200" dirty="0"/>
              </a:p>
            </p:txBody>
          </p:sp>
        </mc:Choice>
        <mc:Fallback xmlns="">
          <p:sp>
            <p:nvSpPr>
              <p:cNvPr id="57" name="文本框 56">
                <a:extLst>
                  <a:ext uri="{FF2B5EF4-FFF2-40B4-BE49-F238E27FC236}">
                    <a16:creationId xmlns:a16="http://schemas.microsoft.com/office/drawing/2014/main" id="{50D85770-3EB9-7B18-495C-F879DF48AF1A}"/>
                  </a:ext>
                </a:extLst>
              </p:cNvPr>
              <p:cNvSpPr txBox="1">
                <a:spLocks noRot="1" noChangeAspect="1" noMove="1" noResize="1" noEditPoints="1" noAdjustHandles="1" noChangeArrowheads="1" noChangeShapeType="1" noTextEdit="1"/>
              </p:cNvSpPr>
              <p:nvPr/>
            </p:nvSpPr>
            <p:spPr>
              <a:xfrm>
                <a:off x="5997234" y="1131896"/>
                <a:ext cx="2615806" cy="276999"/>
              </a:xfrm>
              <a:prstGeom prst="rect">
                <a:avLst/>
              </a:prstGeom>
              <a:blipFill>
                <a:blip r:embed="rId7"/>
                <a:stretch>
                  <a:fillRect t="-2222" b="-17778"/>
                </a:stretch>
              </a:blipFill>
            </p:spPr>
            <p:txBody>
              <a:bodyPr/>
              <a:lstStyle/>
              <a:p>
                <a:r>
                  <a:rPr lang="zh-CN" altLang="en-US">
                    <a:noFill/>
                  </a:rPr>
                  <a:t> </a:t>
                </a:r>
              </a:p>
            </p:txBody>
          </p:sp>
        </mc:Fallback>
      </mc:AlternateContent>
      <p:cxnSp>
        <p:nvCxnSpPr>
          <p:cNvPr id="58" name="直接连接符 57">
            <a:extLst>
              <a:ext uri="{FF2B5EF4-FFF2-40B4-BE49-F238E27FC236}">
                <a16:creationId xmlns:a16="http://schemas.microsoft.com/office/drawing/2014/main" id="{D87D3EB2-463B-A7F3-F224-F5E9EACF2193}"/>
              </a:ext>
            </a:extLst>
          </p:cNvPr>
          <p:cNvCxnSpPr>
            <a:cxnSpLocks/>
            <a:stCxn id="57" idx="2"/>
          </p:cNvCxnSpPr>
          <p:nvPr/>
        </p:nvCxnSpPr>
        <p:spPr>
          <a:xfrm flipH="1">
            <a:off x="6723509" y="1408895"/>
            <a:ext cx="581628" cy="3289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DE5ECB6A-5A8E-28C3-CE8E-ABD64129E278}"/>
                  </a:ext>
                </a:extLst>
              </p:cNvPr>
              <p:cNvSpPr txBox="1"/>
              <p:nvPr/>
            </p:nvSpPr>
            <p:spPr>
              <a:xfrm>
                <a:off x="8317710" y="2982470"/>
                <a:ext cx="2466329" cy="324000"/>
              </a:xfrm>
              <a:prstGeom prst="roundRect">
                <a:avLst/>
              </a:prstGeom>
              <a:noFill/>
              <a:ln>
                <a:solidFill>
                  <a:schemeClr val="tx1"/>
                </a:solidFill>
                <a:prstDash val="dash"/>
              </a:ln>
            </p:spPr>
            <p:txBody>
              <a:bodyPr wrap="square">
                <a:spAutoFit/>
              </a:bodyPr>
              <a:lstStyle/>
              <a:p>
                <a:r>
                  <a:rPr lang="zh-CN" altLang="en-US" sz="1200" dirty="0">
                    <a:solidFill>
                      <a:srgbClr val="ED6D00"/>
                    </a:solidFill>
                    <a:latin typeface="+mn-ea"/>
                  </a:rPr>
                  <a:t>事件空间特征 </a:t>
                </a:r>
                <a14:m>
                  <m:oMath xmlns:m="http://schemas.openxmlformats.org/officeDocument/2006/math">
                    <m:sSubSup>
                      <m:sSubSupPr>
                        <m:ctrlPr>
                          <a:rPr lang="en-US" altLang="zh-CN" sz="1200" b="0" i="1" dirty="0" smtClean="0">
                            <a:solidFill>
                              <a:srgbClr val="ED6D00"/>
                            </a:solidFill>
                            <a:latin typeface="Cambria Math" panose="02040503050406030204" pitchFamily="18" charset="0"/>
                          </a:rPr>
                        </m:ctrlPr>
                      </m:sSubSupPr>
                      <m:e>
                        <m:r>
                          <a:rPr lang="en-US" altLang="zh-CN" sz="1200" b="0" i="1" dirty="0" smtClean="0">
                            <a:solidFill>
                              <a:srgbClr val="ED6D00"/>
                            </a:solidFill>
                            <a:latin typeface="Cambria Math" panose="02040503050406030204" pitchFamily="18" charset="0"/>
                          </a:rPr>
                          <m:t>𝐹𝑏</m:t>
                        </m:r>
                      </m:e>
                      <m:sub>
                        <m:r>
                          <a:rPr lang="en-US" altLang="zh-CN" sz="1200" b="0" i="1" dirty="0" smtClean="0">
                            <a:solidFill>
                              <a:srgbClr val="ED6D00"/>
                            </a:solidFill>
                            <a:latin typeface="Cambria Math" panose="02040503050406030204" pitchFamily="18" charset="0"/>
                          </a:rPr>
                          <m:t>𝑑</m:t>
                        </m:r>
                      </m:sub>
                      <m:sup>
                        <m:r>
                          <a:rPr lang="en-US" altLang="zh-CN" sz="1200" b="0" i="1" dirty="0" smtClean="0">
                            <a:solidFill>
                              <a:srgbClr val="ED6D00"/>
                            </a:solidFill>
                            <a:latin typeface="Cambria Math" panose="02040503050406030204" pitchFamily="18" charset="0"/>
                          </a:rPr>
                          <m:t>𝑇</m:t>
                        </m:r>
                      </m:sup>
                    </m:sSubSup>
                    <m:r>
                      <a:rPr lang="en-US" altLang="zh-CN" sz="1200" b="0" i="1" dirty="0" smtClean="0">
                        <a:solidFill>
                          <a:srgbClr val="ED6D00"/>
                        </a:solidFill>
                        <a:latin typeface="Cambria Math" panose="02040503050406030204" pitchFamily="18" charset="0"/>
                      </a:rPr>
                      <m:t>∈</m:t>
                    </m:r>
                    <m:sSup>
                      <m:sSupPr>
                        <m:ctrlPr>
                          <a:rPr lang="en-US" altLang="zh-CN" sz="1200" b="0" i="1" dirty="0" smtClean="0">
                            <a:solidFill>
                              <a:srgbClr val="ED6D00"/>
                            </a:solidFill>
                            <a:latin typeface="Cambria Math" panose="02040503050406030204" pitchFamily="18" charset="0"/>
                          </a:rPr>
                        </m:ctrlPr>
                      </m:sSupPr>
                      <m:e>
                        <m:r>
                          <a:rPr lang="en-US" altLang="zh-CN" sz="1200" b="0" i="1" dirty="0" smtClean="0">
                            <a:solidFill>
                              <a:srgbClr val="ED6D00"/>
                            </a:solidFill>
                            <a:latin typeface="Cambria Math" panose="02040503050406030204" pitchFamily="18" charset="0"/>
                          </a:rPr>
                          <m:t>ℝ</m:t>
                        </m:r>
                      </m:e>
                      <m:sup>
                        <m:r>
                          <a:rPr lang="en-US" altLang="zh-CN" sz="1200" b="0" i="1" dirty="0" smtClean="0">
                            <a:solidFill>
                              <a:srgbClr val="ED6D00"/>
                            </a:solidFill>
                            <a:latin typeface="Cambria Math" panose="02040503050406030204" pitchFamily="18" charset="0"/>
                          </a:rPr>
                          <m:t>𝐿</m:t>
                        </m:r>
                        <m:r>
                          <a:rPr lang="en-US" altLang="zh-CN" sz="1200" b="0" i="1" dirty="0" smtClean="0">
                            <a:solidFill>
                              <a:srgbClr val="ED6D00"/>
                            </a:solidFill>
                            <a:latin typeface="Cambria Math" panose="02040503050406030204" pitchFamily="18" charset="0"/>
                          </a:rPr>
                          <m:t>×</m:t>
                        </m:r>
                        <m:sSub>
                          <m:sSubPr>
                            <m:ctrlPr>
                              <a:rPr lang="en-US" altLang="zh-CN" sz="1200" b="0" i="1" dirty="0" smtClean="0">
                                <a:solidFill>
                                  <a:srgbClr val="ED6D00"/>
                                </a:solidFill>
                                <a:latin typeface="Cambria Math" panose="02040503050406030204" pitchFamily="18" charset="0"/>
                              </a:rPr>
                            </m:ctrlPr>
                          </m:sSubPr>
                          <m:e>
                            <m:r>
                              <a:rPr lang="en-US" altLang="zh-CN" sz="1200" b="0" i="1" dirty="0" smtClean="0">
                                <a:solidFill>
                                  <a:srgbClr val="ED6D00"/>
                                </a:solidFill>
                                <a:latin typeface="Cambria Math" panose="02040503050406030204" pitchFamily="18" charset="0"/>
                              </a:rPr>
                              <m:t>𝑑</m:t>
                            </m:r>
                          </m:e>
                          <m:sub>
                            <m:r>
                              <a:rPr lang="en-US" altLang="zh-CN" sz="1200" b="0" i="1" dirty="0" smtClean="0">
                                <a:solidFill>
                                  <a:srgbClr val="ED6D00"/>
                                </a:solidFill>
                                <a:latin typeface="Cambria Math" panose="02040503050406030204" pitchFamily="18" charset="0"/>
                              </a:rPr>
                              <m:t>𝑏</m:t>
                            </m:r>
                          </m:sub>
                        </m:sSub>
                      </m:sup>
                    </m:sSup>
                  </m:oMath>
                </a14:m>
                <a:endParaRPr lang="zh-CN" altLang="en-US" sz="1200" dirty="0">
                  <a:solidFill>
                    <a:srgbClr val="ED6D00"/>
                  </a:solidFill>
                  <a:latin typeface="+mn-ea"/>
                </a:endParaRPr>
              </a:p>
            </p:txBody>
          </p:sp>
        </mc:Choice>
        <mc:Fallback xmlns="">
          <p:sp>
            <p:nvSpPr>
              <p:cNvPr id="59" name="文本框 58">
                <a:extLst>
                  <a:ext uri="{FF2B5EF4-FFF2-40B4-BE49-F238E27FC236}">
                    <a16:creationId xmlns:a16="http://schemas.microsoft.com/office/drawing/2014/main" id="{DE5ECB6A-5A8E-28C3-CE8E-ABD64129E278}"/>
                  </a:ext>
                </a:extLst>
              </p:cNvPr>
              <p:cNvSpPr txBox="1">
                <a:spLocks noRot="1" noChangeAspect="1" noMove="1" noResize="1" noEditPoints="1" noAdjustHandles="1" noChangeArrowheads="1" noChangeShapeType="1" noTextEdit="1"/>
              </p:cNvSpPr>
              <p:nvPr/>
            </p:nvSpPr>
            <p:spPr>
              <a:xfrm>
                <a:off x="8317710" y="2982470"/>
                <a:ext cx="2466329" cy="324000"/>
              </a:xfrm>
              <a:prstGeom prst="roundRect">
                <a:avLst/>
              </a:prstGeom>
              <a:blipFill>
                <a:blip r:embed="rId8"/>
                <a:stretch>
                  <a:fillRect b="-7273"/>
                </a:stretch>
              </a:blipFill>
              <a:ln>
                <a:solidFill>
                  <a:schemeClr val="tx1"/>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AF08C6DD-D6C9-28FB-EB8A-4AD91166A243}"/>
                  </a:ext>
                </a:extLst>
              </p:cNvPr>
              <p:cNvSpPr txBox="1"/>
              <p:nvPr/>
            </p:nvSpPr>
            <p:spPr>
              <a:xfrm>
                <a:off x="8317128" y="3358375"/>
                <a:ext cx="2469363" cy="324000"/>
              </a:xfrm>
              <a:prstGeom prst="roundRect">
                <a:avLst/>
              </a:prstGeom>
              <a:noFill/>
              <a:ln>
                <a:solidFill>
                  <a:schemeClr val="tx1"/>
                </a:solidFill>
                <a:prstDash val="dash"/>
              </a:ln>
            </p:spPr>
            <p:txBody>
              <a:bodyPr wrap="square">
                <a:spAutoFit/>
              </a:bodyPr>
              <a:lstStyle/>
              <a:p>
                <a:r>
                  <a:rPr lang="zh-CN" altLang="en-US" sz="1200" dirty="0">
                    <a:solidFill>
                      <a:schemeClr val="accent1"/>
                    </a:solidFill>
                    <a:latin typeface="+mn-ea"/>
                  </a:rPr>
                  <a:t>多层级时空特征 </a:t>
                </a:r>
                <a14:m>
                  <m:oMath xmlns:m="http://schemas.openxmlformats.org/officeDocument/2006/math">
                    <m:sSubSup>
                      <m:sSubSupPr>
                        <m:ctrlPr>
                          <a:rPr lang="en-US" altLang="zh-CN" sz="1200" b="0" i="1" dirty="0" smtClean="0">
                            <a:solidFill>
                              <a:schemeClr val="accent1"/>
                            </a:solidFill>
                            <a:latin typeface="Cambria Math" panose="02040503050406030204" pitchFamily="18" charset="0"/>
                          </a:rPr>
                        </m:ctrlPr>
                      </m:sSubSupPr>
                      <m:e>
                        <m:r>
                          <a:rPr lang="en-US" altLang="zh-CN" sz="1200" b="0" i="1" dirty="0" smtClean="0">
                            <a:solidFill>
                              <a:schemeClr val="accent1"/>
                            </a:solidFill>
                            <a:latin typeface="Cambria Math" panose="02040503050406030204" pitchFamily="18" charset="0"/>
                          </a:rPr>
                          <m:t>𝐹𝑐</m:t>
                        </m:r>
                      </m:e>
                      <m:sub>
                        <m:r>
                          <a:rPr lang="en-US" altLang="zh-CN" sz="1200" b="0" i="1" dirty="0" smtClean="0">
                            <a:solidFill>
                              <a:schemeClr val="accent1"/>
                            </a:solidFill>
                            <a:latin typeface="Cambria Math" panose="02040503050406030204" pitchFamily="18" charset="0"/>
                          </a:rPr>
                          <m:t>𝑑</m:t>
                        </m:r>
                      </m:sub>
                      <m:sup>
                        <m:r>
                          <a:rPr lang="en-US" altLang="zh-CN" sz="1200" b="0" i="1" dirty="0" smtClean="0">
                            <a:solidFill>
                              <a:schemeClr val="accent1"/>
                            </a:solidFill>
                            <a:latin typeface="Cambria Math" panose="02040503050406030204" pitchFamily="18" charset="0"/>
                          </a:rPr>
                          <m:t>𝑇</m:t>
                        </m:r>
                      </m:sup>
                    </m:sSubSup>
                    <m:r>
                      <a:rPr lang="en-US" altLang="zh-CN" sz="1200" b="0" i="1" dirty="0" smtClean="0">
                        <a:solidFill>
                          <a:schemeClr val="accent1"/>
                        </a:solidFill>
                        <a:latin typeface="Cambria Math" panose="02040503050406030204" pitchFamily="18" charset="0"/>
                      </a:rPr>
                      <m:t>∈</m:t>
                    </m:r>
                    <m:sSup>
                      <m:sSupPr>
                        <m:ctrlPr>
                          <a:rPr lang="en-US" altLang="zh-CN" sz="1200" b="0" i="1" dirty="0" smtClean="0">
                            <a:solidFill>
                              <a:schemeClr val="accent1"/>
                            </a:solidFill>
                            <a:latin typeface="Cambria Math" panose="02040503050406030204" pitchFamily="18" charset="0"/>
                          </a:rPr>
                        </m:ctrlPr>
                      </m:sSupPr>
                      <m:e>
                        <m:r>
                          <a:rPr lang="en-US" altLang="zh-CN" sz="1200" b="0" i="1" dirty="0" smtClean="0">
                            <a:solidFill>
                              <a:schemeClr val="accent1"/>
                            </a:solidFill>
                            <a:latin typeface="Cambria Math" panose="02040503050406030204" pitchFamily="18" charset="0"/>
                          </a:rPr>
                          <m:t>ℝ</m:t>
                        </m:r>
                      </m:e>
                      <m:sup>
                        <m:sSub>
                          <m:sSubPr>
                            <m:ctrlPr>
                              <a:rPr lang="en-US" altLang="zh-CN" sz="1200" b="0" i="1" dirty="0" smtClean="0">
                                <a:solidFill>
                                  <a:schemeClr val="accent1"/>
                                </a:solidFill>
                                <a:latin typeface="Cambria Math" panose="02040503050406030204" pitchFamily="18" charset="0"/>
                              </a:rPr>
                            </m:ctrlPr>
                          </m:sSubPr>
                          <m:e>
                            <m:r>
                              <a:rPr lang="en-US" altLang="zh-CN" sz="1200" b="0" i="1" dirty="0" smtClean="0">
                                <a:solidFill>
                                  <a:schemeClr val="accent1"/>
                                </a:solidFill>
                                <a:latin typeface="Cambria Math" panose="02040503050406030204" pitchFamily="18" charset="0"/>
                              </a:rPr>
                              <m:t>𝑑</m:t>
                            </m:r>
                          </m:e>
                          <m:sub>
                            <m:r>
                              <a:rPr lang="en-US" altLang="zh-CN" sz="1200" b="0" i="1" dirty="0" smtClean="0">
                                <a:solidFill>
                                  <a:schemeClr val="accent1"/>
                                </a:solidFill>
                                <a:latin typeface="Cambria Math" panose="02040503050406030204" pitchFamily="18" charset="0"/>
                              </a:rPr>
                              <m:t>𝑐</m:t>
                            </m:r>
                          </m:sub>
                        </m:sSub>
                      </m:sup>
                    </m:sSup>
                  </m:oMath>
                </a14:m>
                <a:endParaRPr lang="zh-CN" altLang="en-US" sz="1200" dirty="0">
                  <a:solidFill>
                    <a:schemeClr val="accent1"/>
                  </a:solidFill>
                  <a:latin typeface="+mn-ea"/>
                </a:endParaRPr>
              </a:p>
            </p:txBody>
          </p:sp>
        </mc:Choice>
        <mc:Fallback xmlns="">
          <p:sp>
            <p:nvSpPr>
              <p:cNvPr id="60" name="文本框 59">
                <a:extLst>
                  <a:ext uri="{FF2B5EF4-FFF2-40B4-BE49-F238E27FC236}">
                    <a16:creationId xmlns:a16="http://schemas.microsoft.com/office/drawing/2014/main" id="{AF08C6DD-D6C9-28FB-EB8A-4AD91166A243}"/>
                  </a:ext>
                </a:extLst>
              </p:cNvPr>
              <p:cNvSpPr txBox="1">
                <a:spLocks noRot="1" noChangeAspect="1" noMove="1" noResize="1" noEditPoints="1" noAdjustHandles="1" noChangeArrowheads="1" noChangeShapeType="1" noTextEdit="1"/>
              </p:cNvSpPr>
              <p:nvPr/>
            </p:nvSpPr>
            <p:spPr>
              <a:xfrm>
                <a:off x="8317128" y="3358375"/>
                <a:ext cx="2469363" cy="324000"/>
              </a:xfrm>
              <a:prstGeom prst="roundRect">
                <a:avLst/>
              </a:prstGeom>
              <a:blipFill>
                <a:blip r:embed="rId9"/>
                <a:stretch>
                  <a:fillRect b="-7273"/>
                </a:stretch>
              </a:blipFill>
              <a:ln>
                <a:solidFill>
                  <a:schemeClr val="tx1"/>
                </a:solidFill>
                <a:prstDash val="dash"/>
              </a:ln>
            </p:spPr>
            <p:txBody>
              <a:bodyPr/>
              <a:lstStyle/>
              <a:p>
                <a:r>
                  <a:rPr lang="zh-CN" altLang="en-US">
                    <a:noFill/>
                  </a:rPr>
                  <a:t> </a:t>
                </a:r>
              </a:p>
            </p:txBody>
          </p:sp>
        </mc:Fallback>
      </mc:AlternateContent>
      <p:cxnSp>
        <p:nvCxnSpPr>
          <p:cNvPr id="61" name="直接箭头连接符 60">
            <a:extLst>
              <a:ext uri="{FF2B5EF4-FFF2-40B4-BE49-F238E27FC236}">
                <a16:creationId xmlns:a16="http://schemas.microsoft.com/office/drawing/2014/main" id="{5E6B6785-9579-44F4-A395-BE9D67121DF1}"/>
              </a:ext>
            </a:extLst>
          </p:cNvPr>
          <p:cNvCxnSpPr>
            <a:cxnSpLocks/>
            <a:stCxn id="27" idx="3"/>
            <a:endCxn id="55" idx="1"/>
          </p:cNvCxnSpPr>
          <p:nvPr/>
        </p:nvCxnSpPr>
        <p:spPr>
          <a:xfrm flipV="1">
            <a:off x="7625807" y="2392660"/>
            <a:ext cx="693859" cy="909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68FB63EE-1691-CC13-4604-02770F6C28A9}"/>
              </a:ext>
            </a:extLst>
          </p:cNvPr>
          <p:cNvCxnSpPr>
            <a:cxnSpLocks/>
            <a:stCxn id="28" idx="3"/>
            <a:endCxn id="59" idx="1"/>
          </p:cNvCxnSpPr>
          <p:nvPr/>
        </p:nvCxnSpPr>
        <p:spPr>
          <a:xfrm>
            <a:off x="7625807" y="2929880"/>
            <a:ext cx="691903" cy="2145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37906459-BBD2-F8A1-C431-6974FA52BFC6}"/>
              </a:ext>
            </a:extLst>
          </p:cNvPr>
          <p:cNvCxnSpPr>
            <a:cxnSpLocks/>
            <a:stCxn id="29" idx="3"/>
            <a:endCxn id="60" idx="1"/>
          </p:cNvCxnSpPr>
          <p:nvPr/>
        </p:nvCxnSpPr>
        <p:spPr>
          <a:xfrm>
            <a:off x="7625807" y="3381318"/>
            <a:ext cx="691321" cy="1390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3B444435-1A21-5907-D1E3-BB75C3ED589B}"/>
                  </a:ext>
                </a:extLst>
              </p:cNvPr>
              <p:cNvSpPr txBox="1"/>
              <p:nvPr/>
            </p:nvSpPr>
            <p:spPr>
              <a:xfrm>
                <a:off x="8319666" y="2606565"/>
                <a:ext cx="2466328" cy="324000"/>
              </a:xfrm>
              <a:prstGeom prst="roundRect">
                <a:avLst/>
              </a:prstGeom>
              <a:noFill/>
              <a:ln>
                <a:solidFill>
                  <a:schemeClr val="tx1"/>
                </a:solidFill>
                <a:prstDash val="dash"/>
              </a:ln>
            </p:spPr>
            <p:txBody>
              <a:bodyPr wrap="square">
                <a:spAutoFit/>
              </a:bodyPr>
              <a:lstStyle/>
              <a:p>
                <a:r>
                  <a:rPr lang="zh-CN" altLang="en-US" sz="1200" dirty="0">
                    <a:solidFill>
                      <a:schemeClr val="accent5">
                        <a:lumMod val="75000"/>
                      </a:schemeClr>
                    </a:solidFill>
                    <a:latin typeface="+mn-ea"/>
                  </a:rPr>
                  <a:t>统计特征 </a:t>
                </a:r>
                <a14:m>
                  <m:oMath xmlns:m="http://schemas.openxmlformats.org/officeDocument/2006/math">
                    <m:sSubSup>
                      <m:sSubSupPr>
                        <m:ctrlPr>
                          <a:rPr lang="en-US" altLang="zh-CN" sz="1200" i="1" dirty="0">
                            <a:solidFill>
                              <a:schemeClr val="accent5">
                                <a:lumMod val="75000"/>
                              </a:schemeClr>
                            </a:solidFill>
                            <a:latin typeface="Cambria Math" panose="02040503050406030204" pitchFamily="18" charset="0"/>
                          </a:rPr>
                        </m:ctrlPr>
                      </m:sSubSupPr>
                      <m:e>
                        <m:r>
                          <a:rPr lang="en-US" altLang="zh-CN" sz="1200" i="1" dirty="0">
                            <a:solidFill>
                              <a:schemeClr val="accent5">
                                <a:lumMod val="75000"/>
                              </a:schemeClr>
                            </a:solidFill>
                            <a:latin typeface="Cambria Math" panose="02040503050406030204" pitchFamily="18" charset="0"/>
                          </a:rPr>
                          <m:t>𝐹𝑎</m:t>
                        </m:r>
                      </m:e>
                      <m:sub>
                        <m:r>
                          <a:rPr lang="en-US" altLang="zh-CN" sz="1200" i="1" dirty="0">
                            <a:solidFill>
                              <a:schemeClr val="accent5">
                                <a:lumMod val="75000"/>
                              </a:schemeClr>
                            </a:solidFill>
                            <a:latin typeface="Cambria Math" panose="02040503050406030204" pitchFamily="18" charset="0"/>
                          </a:rPr>
                          <m:t>𝑑</m:t>
                        </m:r>
                      </m:sub>
                      <m:sup>
                        <m:r>
                          <a:rPr lang="en-US" altLang="zh-CN" sz="1200" i="1" dirty="0">
                            <a:solidFill>
                              <a:schemeClr val="accent5">
                                <a:lumMod val="75000"/>
                              </a:schemeClr>
                            </a:solidFill>
                            <a:latin typeface="Cambria Math" panose="02040503050406030204" pitchFamily="18" charset="0"/>
                          </a:rPr>
                          <m:t>𝑇</m:t>
                        </m:r>
                      </m:sup>
                    </m:sSubSup>
                    <m:r>
                      <a:rPr lang="en-US" altLang="zh-CN" sz="1200" i="1" dirty="0">
                        <a:solidFill>
                          <a:schemeClr val="accent5">
                            <a:lumMod val="75000"/>
                          </a:schemeClr>
                        </a:solidFill>
                        <a:latin typeface="Cambria Math" panose="02040503050406030204" pitchFamily="18" charset="0"/>
                      </a:rPr>
                      <m:t>∈</m:t>
                    </m:r>
                    <m:sSup>
                      <m:sSupPr>
                        <m:ctrlPr>
                          <a:rPr lang="en-US" altLang="zh-CN" sz="1200" i="1" dirty="0">
                            <a:solidFill>
                              <a:schemeClr val="accent5">
                                <a:lumMod val="75000"/>
                              </a:schemeClr>
                            </a:solidFill>
                            <a:latin typeface="Cambria Math" panose="02040503050406030204" pitchFamily="18" charset="0"/>
                          </a:rPr>
                        </m:ctrlPr>
                      </m:sSupPr>
                      <m:e>
                        <m:r>
                          <a:rPr lang="en-US" altLang="zh-CN" sz="1200" i="1" dirty="0">
                            <a:solidFill>
                              <a:schemeClr val="accent5">
                                <a:lumMod val="75000"/>
                              </a:schemeClr>
                            </a:solidFill>
                            <a:latin typeface="Cambria Math" panose="02040503050406030204" pitchFamily="18" charset="0"/>
                          </a:rPr>
                          <m:t>ℝ</m:t>
                        </m:r>
                      </m:e>
                      <m:sup>
                        <m:sSub>
                          <m:sSubPr>
                            <m:ctrlPr>
                              <a:rPr lang="en-US" altLang="zh-CN" sz="1200" i="1" dirty="0">
                                <a:solidFill>
                                  <a:schemeClr val="accent5">
                                    <a:lumMod val="75000"/>
                                  </a:schemeClr>
                                </a:solidFill>
                                <a:latin typeface="Cambria Math" panose="02040503050406030204" pitchFamily="18" charset="0"/>
                              </a:rPr>
                            </m:ctrlPr>
                          </m:sSubPr>
                          <m:e>
                            <m:r>
                              <a:rPr lang="en-US" altLang="zh-CN" sz="1200" i="1" dirty="0">
                                <a:solidFill>
                                  <a:schemeClr val="accent5">
                                    <a:lumMod val="75000"/>
                                  </a:schemeClr>
                                </a:solidFill>
                                <a:latin typeface="Cambria Math" panose="02040503050406030204" pitchFamily="18" charset="0"/>
                              </a:rPr>
                              <m:t>𝑑</m:t>
                            </m:r>
                          </m:e>
                          <m:sub>
                            <m:r>
                              <a:rPr lang="en-US" altLang="zh-CN" sz="1200" i="1" dirty="0">
                                <a:solidFill>
                                  <a:schemeClr val="accent5">
                                    <a:lumMod val="75000"/>
                                  </a:schemeClr>
                                </a:solidFill>
                                <a:latin typeface="Cambria Math" panose="02040503050406030204" pitchFamily="18" charset="0"/>
                              </a:rPr>
                              <m:t>𝑎</m:t>
                            </m:r>
                          </m:sub>
                        </m:sSub>
                      </m:sup>
                    </m:sSup>
                  </m:oMath>
                </a14:m>
                <a:endParaRPr lang="zh-CN" altLang="en-US" sz="1200" dirty="0">
                  <a:solidFill>
                    <a:schemeClr val="accent1"/>
                  </a:solidFill>
                  <a:latin typeface="+mn-ea"/>
                </a:endParaRPr>
              </a:p>
            </p:txBody>
          </p:sp>
        </mc:Choice>
        <mc:Fallback xmlns="">
          <p:sp>
            <p:nvSpPr>
              <p:cNvPr id="64" name="文本框 63">
                <a:extLst>
                  <a:ext uri="{FF2B5EF4-FFF2-40B4-BE49-F238E27FC236}">
                    <a16:creationId xmlns:a16="http://schemas.microsoft.com/office/drawing/2014/main" id="{3B444435-1A21-5907-D1E3-BB75C3ED589B}"/>
                  </a:ext>
                </a:extLst>
              </p:cNvPr>
              <p:cNvSpPr txBox="1">
                <a:spLocks noRot="1" noChangeAspect="1" noMove="1" noResize="1" noEditPoints="1" noAdjustHandles="1" noChangeArrowheads="1" noChangeShapeType="1" noTextEdit="1"/>
              </p:cNvSpPr>
              <p:nvPr/>
            </p:nvSpPr>
            <p:spPr>
              <a:xfrm>
                <a:off x="8319666" y="2606565"/>
                <a:ext cx="2466328" cy="324000"/>
              </a:xfrm>
              <a:prstGeom prst="roundRect">
                <a:avLst/>
              </a:prstGeom>
              <a:blipFill>
                <a:blip r:embed="rId10"/>
                <a:stretch>
                  <a:fillRect b="-5455"/>
                </a:stretch>
              </a:blipFill>
              <a:ln>
                <a:solidFill>
                  <a:schemeClr val="tx1"/>
                </a:solidFill>
                <a:prstDash val="dash"/>
              </a:ln>
            </p:spPr>
            <p:txBody>
              <a:bodyPr/>
              <a:lstStyle/>
              <a:p>
                <a:r>
                  <a:rPr lang="zh-CN" altLang="en-US">
                    <a:noFill/>
                  </a:rPr>
                  <a:t> </a:t>
                </a:r>
              </a:p>
            </p:txBody>
          </p:sp>
        </mc:Fallback>
      </mc:AlternateContent>
      <p:cxnSp>
        <p:nvCxnSpPr>
          <p:cNvPr id="65" name="直接箭头连接符 64">
            <a:extLst>
              <a:ext uri="{FF2B5EF4-FFF2-40B4-BE49-F238E27FC236}">
                <a16:creationId xmlns:a16="http://schemas.microsoft.com/office/drawing/2014/main" id="{66907CE6-AE43-E73A-B51F-A42217227E41}"/>
              </a:ext>
            </a:extLst>
          </p:cNvPr>
          <p:cNvCxnSpPr>
            <a:cxnSpLocks/>
            <a:stCxn id="27" idx="3"/>
            <a:endCxn id="64" idx="1"/>
          </p:cNvCxnSpPr>
          <p:nvPr/>
        </p:nvCxnSpPr>
        <p:spPr>
          <a:xfrm>
            <a:off x="7625807" y="2483635"/>
            <a:ext cx="693859" cy="2849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6C70F9A2-3036-A5CA-56B3-22BAA84FD53F}"/>
              </a:ext>
            </a:extLst>
          </p:cNvPr>
          <p:cNvSpPr txBox="1"/>
          <p:nvPr/>
        </p:nvSpPr>
        <p:spPr>
          <a:xfrm>
            <a:off x="3927611" y="3697314"/>
            <a:ext cx="4007822" cy="307777"/>
          </a:xfrm>
          <a:prstGeom prst="rect">
            <a:avLst/>
          </a:prstGeom>
          <a:noFill/>
        </p:spPr>
        <p:txBody>
          <a:bodyPr wrap="square">
            <a:spAutoFit/>
          </a:bodyPr>
          <a:lstStyle/>
          <a:p>
            <a:pPr algn="ctr"/>
            <a:r>
              <a:rPr lang="en-US" altLang="zh-CN" sz="1400" b="1" dirty="0">
                <a:latin typeface="+mn-ea"/>
              </a:rPr>
              <a:t>Research Topic 1: Event Sequence Analysis</a:t>
            </a:r>
          </a:p>
        </p:txBody>
      </p:sp>
      <p:pic>
        <p:nvPicPr>
          <p:cNvPr id="83" name="图片 82">
            <a:extLst>
              <a:ext uri="{FF2B5EF4-FFF2-40B4-BE49-F238E27FC236}">
                <a16:creationId xmlns:a16="http://schemas.microsoft.com/office/drawing/2014/main" id="{6338AA87-EEC9-6CE1-6BE9-88D84AA7A1D3}"/>
              </a:ext>
            </a:extLst>
          </p:cNvPr>
          <p:cNvPicPr>
            <a:picLocks noChangeAspect="1"/>
          </p:cNvPicPr>
          <p:nvPr/>
        </p:nvPicPr>
        <p:blipFill>
          <a:blip r:embed="rId11"/>
          <a:stretch>
            <a:fillRect/>
          </a:stretch>
        </p:blipFill>
        <p:spPr>
          <a:xfrm>
            <a:off x="887174" y="4171451"/>
            <a:ext cx="10220120" cy="2214359"/>
          </a:xfrm>
          <a:prstGeom prst="rect">
            <a:avLst/>
          </a:prstGeom>
        </p:spPr>
      </p:pic>
    </p:spTree>
    <p:extLst>
      <p:ext uri="{BB962C8B-B14F-4D97-AF65-F5344CB8AC3E}">
        <p14:creationId xmlns:p14="http://schemas.microsoft.com/office/powerpoint/2010/main" val="3577893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CC65E090-5354-42DF-BA76-C6AFCE3421C9}"/>
              </a:ext>
            </a:extLst>
          </p:cNvPr>
          <p:cNvSpPr txBox="1"/>
          <p:nvPr/>
        </p:nvSpPr>
        <p:spPr>
          <a:xfrm>
            <a:off x="790215" y="365302"/>
            <a:ext cx="7836200" cy="461665"/>
          </a:xfrm>
          <a:prstGeom prst="rect">
            <a:avLst/>
          </a:prstGeom>
          <a:noFill/>
        </p:spPr>
        <p:txBody>
          <a:bodyPr wrap="square" rtlCol="0">
            <a:spAutoFit/>
          </a:bodyPr>
          <a:lstStyle/>
          <a:p>
            <a:r>
              <a:rPr lang="en-US" altLang="zh-CN" sz="2400" b="1" dirty="0">
                <a:solidFill>
                  <a:srgbClr val="0070C0"/>
                </a:solidFill>
                <a:latin typeface="-apple-system"/>
              </a:rPr>
              <a:t>1.1 Event</a:t>
            </a:r>
            <a:r>
              <a:rPr lang="zh-CN" altLang="en-US" sz="2400" b="1" dirty="0">
                <a:solidFill>
                  <a:srgbClr val="0070C0"/>
                </a:solidFill>
                <a:latin typeface="-apple-system"/>
              </a:rPr>
              <a:t> </a:t>
            </a:r>
            <a:r>
              <a:rPr lang="en-US" altLang="zh-CN" sz="2400" b="1" dirty="0">
                <a:solidFill>
                  <a:srgbClr val="0070C0"/>
                </a:solidFill>
                <a:latin typeface="-apple-system"/>
              </a:rPr>
              <a:t>Timestamp Analysis</a:t>
            </a:r>
          </a:p>
        </p:txBody>
      </p:sp>
      <p:pic>
        <p:nvPicPr>
          <p:cNvPr id="77" name="图片 76">
            <a:extLst>
              <a:ext uri="{FF2B5EF4-FFF2-40B4-BE49-F238E27FC236}">
                <a16:creationId xmlns:a16="http://schemas.microsoft.com/office/drawing/2014/main" id="{ADBD4234-3924-A947-7694-290A0433269D}"/>
              </a:ext>
            </a:extLst>
          </p:cNvPr>
          <p:cNvPicPr>
            <a:picLocks noChangeAspect="1"/>
          </p:cNvPicPr>
          <p:nvPr/>
        </p:nvPicPr>
        <p:blipFill>
          <a:blip r:embed="rId3"/>
          <a:stretch>
            <a:fillRect/>
          </a:stretch>
        </p:blipFill>
        <p:spPr>
          <a:xfrm>
            <a:off x="570083" y="1667853"/>
            <a:ext cx="4678611" cy="3768438"/>
          </a:xfrm>
          <a:prstGeom prst="rect">
            <a:avLst/>
          </a:prstGeom>
        </p:spPr>
      </p:pic>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D19D039C-1A6A-C815-2904-4F476C5E6A24}"/>
                  </a:ext>
                </a:extLst>
              </p:cNvPr>
              <p:cNvSpPr txBox="1"/>
              <p:nvPr/>
            </p:nvSpPr>
            <p:spPr>
              <a:xfrm>
                <a:off x="458000" y="1153290"/>
                <a:ext cx="5113241" cy="456367"/>
              </a:xfrm>
              <a:prstGeom prst="roundRect">
                <a:avLst/>
              </a:prstGeom>
              <a:noFill/>
              <a:ln>
                <a:solidFill>
                  <a:schemeClr val="tx1"/>
                </a:solidFill>
                <a:prstDash val="dash"/>
              </a:ln>
            </p:spPr>
            <p:txBody>
              <a:bodyPr wrap="square">
                <a:spAutoFit/>
              </a:bodyPr>
              <a:lstStyle/>
              <a:p>
                <a:r>
                  <a:rPr lang="en-US" altLang="zh-CN" sz="2000" dirty="0">
                    <a:solidFill>
                      <a:srgbClr val="0070C0"/>
                    </a:solidFill>
                    <a:latin typeface="+mn-ea"/>
                  </a:rPr>
                  <a:t>1.1 Timestamp Representation </a:t>
                </a:r>
                <a14:m>
                  <m:oMath xmlns:m="http://schemas.openxmlformats.org/officeDocument/2006/math">
                    <m:sSubSup>
                      <m:sSubSupPr>
                        <m:ctrlPr>
                          <a:rPr lang="en-US" altLang="zh-CN" sz="2000" b="0" i="1" smtClean="0">
                            <a:solidFill>
                              <a:srgbClr val="0070C0"/>
                            </a:solidFill>
                            <a:latin typeface="Cambria Math" panose="02040503050406030204" pitchFamily="18" charset="0"/>
                          </a:rPr>
                        </m:ctrlPr>
                      </m:sSubSupPr>
                      <m:e>
                        <m:r>
                          <a:rPr lang="en-US" altLang="zh-CN" sz="2000" b="0" i="1" smtClean="0">
                            <a:solidFill>
                              <a:srgbClr val="0070C0"/>
                            </a:solidFill>
                            <a:latin typeface="Cambria Math" panose="02040503050406030204" pitchFamily="18" charset="0"/>
                          </a:rPr>
                          <m:t>𝑍𝑎</m:t>
                        </m:r>
                      </m:e>
                      <m:sub>
                        <m:r>
                          <a:rPr lang="en-US" altLang="zh-CN" sz="2000" b="0" i="1" smtClean="0">
                            <a:solidFill>
                              <a:srgbClr val="0070C0"/>
                            </a:solidFill>
                            <a:latin typeface="Cambria Math" panose="02040503050406030204" pitchFamily="18" charset="0"/>
                          </a:rPr>
                          <m:t>𝑑</m:t>
                        </m:r>
                      </m:sub>
                      <m:sup>
                        <m:r>
                          <a:rPr lang="en-US" altLang="zh-CN" sz="2000" b="0" i="1" smtClean="0">
                            <a:solidFill>
                              <a:srgbClr val="0070C0"/>
                            </a:solidFill>
                            <a:latin typeface="Cambria Math" panose="02040503050406030204" pitchFamily="18" charset="0"/>
                          </a:rPr>
                          <m:t>𝑇</m:t>
                        </m:r>
                      </m:sup>
                    </m:sSubSup>
                    <m:r>
                      <a:rPr lang="en-US" altLang="zh-CN" sz="2000" b="0" i="1" smtClean="0">
                        <a:solidFill>
                          <a:srgbClr val="0070C0"/>
                        </a:solidFill>
                        <a:latin typeface="Cambria Math" panose="02040503050406030204" pitchFamily="18" charset="0"/>
                      </a:rPr>
                      <m:t>∈</m:t>
                    </m:r>
                    <m:sSup>
                      <m:sSupPr>
                        <m:ctrlPr>
                          <a:rPr lang="en-US" altLang="zh-CN" sz="2000" b="0" i="1" smtClean="0">
                            <a:solidFill>
                              <a:srgbClr val="0070C0"/>
                            </a:solidFill>
                            <a:latin typeface="Cambria Math" panose="02040503050406030204" pitchFamily="18" charset="0"/>
                          </a:rPr>
                        </m:ctrlPr>
                      </m:sSupPr>
                      <m:e>
                        <m:r>
                          <a:rPr lang="en-US" altLang="zh-CN" sz="2000" b="0" i="1" smtClean="0">
                            <a:solidFill>
                              <a:srgbClr val="0070C0"/>
                            </a:solidFill>
                            <a:latin typeface="Cambria Math" panose="02040503050406030204" pitchFamily="18" charset="0"/>
                          </a:rPr>
                          <m:t>ℝ</m:t>
                        </m:r>
                      </m:e>
                      <m:sup>
                        <m:r>
                          <a:rPr lang="en-US" altLang="zh-CN" sz="2000" b="0" i="1" smtClean="0">
                            <a:solidFill>
                              <a:srgbClr val="0070C0"/>
                            </a:solidFill>
                            <a:latin typeface="Cambria Math" panose="02040503050406030204" pitchFamily="18" charset="0"/>
                          </a:rPr>
                          <m:t>𝐿</m:t>
                        </m:r>
                        <m:r>
                          <a:rPr lang="en-US" altLang="zh-CN" sz="2000" b="0" i="1" smtClean="0">
                            <a:solidFill>
                              <a:srgbClr val="0070C0"/>
                            </a:solidFill>
                            <a:latin typeface="Cambria Math" panose="02040503050406030204" pitchFamily="18" charset="0"/>
                          </a:rPr>
                          <m:t>×</m:t>
                        </m:r>
                        <m:sSub>
                          <m:sSubPr>
                            <m:ctrlPr>
                              <a:rPr lang="en-US" altLang="zh-CN" sz="2000" b="0" i="1" smtClean="0">
                                <a:solidFill>
                                  <a:srgbClr val="0070C0"/>
                                </a:solidFill>
                                <a:latin typeface="Cambria Math" panose="02040503050406030204" pitchFamily="18" charset="0"/>
                              </a:rPr>
                            </m:ctrlPr>
                          </m:sSubPr>
                          <m:e>
                            <m:r>
                              <a:rPr lang="en-US" altLang="zh-CN" sz="2000" b="0" i="1" smtClean="0">
                                <a:solidFill>
                                  <a:srgbClr val="0070C0"/>
                                </a:solidFill>
                                <a:latin typeface="Cambria Math" panose="02040503050406030204" pitchFamily="18" charset="0"/>
                              </a:rPr>
                              <m:t>𝑑</m:t>
                            </m:r>
                          </m:e>
                          <m:sub>
                            <m:r>
                              <a:rPr lang="en-US" altLang="zh-CN" sz="2000" b="0" i="1" smtClean="0">
                                <a:solidFill>
                                  <a:srgbClr val="0070C0"/>
                                </a:solidFill>
                                <a:latin typeface="Cambria Math" panose="02040503050406030204" pitchFamily="18" charset="0"/>
                              </a:rPr>
                              <m:t>𝑧</m:t>
                            </m:r>
                          </m:sub>
                        </m:sSub>
                      </m:sup>
                    </m:sSup>
                  </m:oMath>
                </a14:m>
                <a:endParaRPr lang="zh-CN" altLang="en-US" sz="2000" dirty="0">
                  <a:latin typeface="+mn-ea"/>
                </a:endParaRPr>
              </a:p>
            </p:txBody>
          </p:sp>
        </mc:Choice>
        <mc:Fallback xmlns="">
          <p:sp>
            <p:nvSpPr>
              <p:cNvPr id="81" name="文本框 80">
                <a:extLst>
                  <a:ext uri="{FF2B5EF4-FFF2-40B4-BE49-F238E27FC236}">
                    <a16:creationId xmlns:a16="http://schemas.microsoft.com/office/drawing/2014/main" id="{D19D039C-1A6A-C815-2904-4F476C5E6A24}"/>
                  </a:ext>
                </a:extLst>
              </p:cNvPr>
              <p:cNvSpPr txBox="1">
                <a:spLocks noRot="1" noChangeAspect="1" noMove="1" noResize="1" noEditPoints="1" noAdjustHandles="1" noChangeArrowheads="1" noChangeShapeType="1" noTextEdit="1"/>
              </p:cNvSpPr>
              <p:nvPr/>
            </p:nvSpPr>
            <p:spPr>
              <a:xfrm>
                <a:off x="458000" y="1153290"/>
                <a:ext cx="5113241" cy="456367"/>
              </a:xfrm>
              <a:prstGeom prst="roundRect">
                <a:avLst/>
              </a:prstGeom>
              <a:blipFill>
                <a:blip r:embed="rId4"/>
                <a:stretch>
                  <a:fillRect l="-713" b="-16883"/>
                </a:stretch>
              </a:blipFill>
              <a:ln>
                <a:solidFill>
                  <a:schemeClr val="tx1"/>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B971233-2100-34B4-D25A-BE284646A9F0}"/>
                  </a:ext>
                </a:extLst>
              </p:cNvPr>
              <p:cNvSpPr txBox="1"/>
              <p:nvPr/>
            </p:nvSpPr>
            <p:spPr>
              <a:xfrm>
                <a:off x="71883" y="5436291"/>
                <a:ext cx="5885473" cy="1029000"/>
              </a:xfrm>
              <a:prstGeom prst="rect">
                <a:avLst/>
              </a:prstGeom>
              <a:noFill/>
            </p:spPr>
            <p:txBody>
              <a:bodyPr wrap="square">
                <a:spAutoFit/>
              </a:bodyPr>
              <a:lstStyle/>
              <a:p>
                <a:pPr marL="285750" indent="-285750">
                  <a:lnSpc>
                    <a:spcPct val="150000"/>
                  </a:lnSpc>
                  <a:buClr>
                    <a:srgbClr val="C7000B"/>
                  </a:buClr>
                  <a:buFont typeface="Wingdings" panose="05000000000000000000" pitchFamily="2" charset="2"/>
                  <a:buChar char="Ø"/>
                </a:pPr>
                <a:r>
                  <a:rPr lang="en-US" altLang="zh-CN" sz="1400" dirty="0">
                    <a:latin typeface="+mn-ea"/>
                  </a:rPr>
                  <a:t>Convert all time intervals</a:t>
                </a:r>
                <a:r>
                  <a:rPr lang="zh-CN" altLang="zh-CN" sz="1400" dirty="0">
                    <a:latin typeface="+mn-ea"/>
                  </a:rPr>
                  <a:t> </a:t>
                </a:r>
                <a14:m>
                  <m:oMath xmlns:m="http://schemas.openxmlformats.org/officeDocument/2006/math">
                    <m:r>
                      <m:rPr>
                        <m:sty m:val="p"/>
                      </m:rPr>
                      <a:rPr lang="en-US" altLang="zh-CN" sz="1400" b="0" i="1">
                        <a:latin typeface="Cambria Math" panose="02040503050406030204" pitchFamily="18" charset="0"/>
                      </a:rPr>
                      <m:t>Δ</m:t>
                    </m:r>
                    <m:r>
                      <a:rPr lang="en-US" altLang="zh-CN" sz="1400" b="0" i="1">
                        <a:latin typeface="Cambria Math" panose="02040503050406030204" pitchFamily="18" charset="0"/>
                      </a:rPr>
                      <m:t>𝑡</m:t>
                    </m:r>
                  </m:oMath>
                </a14:m>
                <a:r>
                  <a:rPr lang="en-US" altLang="zh-CN" sz="1400" dirty="0">
                    <a:latin typeface="+mn-ea"/>
                  </a:rPr>
                  <a:t> into a format that includes four components: days, hours, minutes, and seconds. Then, input the multi-granularity time interval information into the embedding model.</a:t>
                </a:r>
                <a:endParaRPr lang="zh-CN" altLang="zh-CN" sz="1400" dirty="0">
                  <a:latin typeface="+mn-ea"/>
                </a:endParaRPr>
              </a:p>
            </p:txBody>
          </p:sp>
        </mc:Choice>
        <mc:Fallback xmlns="">
          <p:sp>
            <p:nvSpPr>
              <p:cNvPr id="6" name="文本框 5">
                <a:extLst>
                  <a:ext uri="{FF2B5EF4-FFF2-40B4-BE49-F238E27FC236}">
                    <a16:creationId xmlns:a16="http://schemas.microsoft.com/office/drawing/2014/main" id="{4B971233-2100-34B4-D25A-BE284646A9F0}"/>
                  </a:ext>
                </a:extLst>
              </p:cNvPr>
              <p:cNvSpPr txBox="1">
                <a:spLocks noRot="1" noChangeAspect="1" noMove="1" noResize="1" noEditPoints="1" noAdjustHandles="1" noChangeArrowheads="1" noChangeShapeType="1" noTextEdit="1"/>
              </p:cNvSpPr>
              <p:nvPr/>
            </p:nvSpPr>
            <p:spPr>
              <a:xfrm>
                <a:off x="71883" y="5436291"/>
                <a:ext cx="5885473" cy="1029000"/>
              </a:xfrm>
              <a:prstGeom prst="rect">
                <a:avLst/>
              </a:prstGeom>
              <a:blipFill>
                <a:blip r:embed="rId5"/>
                <a:stretch>
                  <a:fillRect l="-207" b="-47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39CC955F-D554-B43B-5D7A-0B7804123416}"/>
                  </a:ext>
                </a:extLst>
              </p:cNvPr>
              <p:cNvGraphicFramePr>
                <a:graphicFrameLocks noGrp="1"/>
              </p:cNvGraphicFramePr>
              <p:nvPr>
                <p:extLst>
                  <p:ext uri="{D42A27DB-BD31-4B8C-83A1-F6EECF244321}">
                    <p14:modId xmlns:p14="http://schemas.microsoft.com/office/powerpoint/2010/main" val="21004509"/>
                  </p:ext>
                </p:extLst>
              </p:nvPr>
            </p:nvGraphicFramePr>
            <p:xfrm>
              <a:off x="5913451" y="2177413"/>
              <a:ext cx="6055439" cy="3279839"/>
            </p:xfrm>
            <a:graphic>
              <a:graphicData uri="http://schemas.openxmlformats.org/drawingml/2006/table">
                <a:tbl>
                  <a:tblPr firstRow="1" bandRow="1" bandCol="1"/>
                  <a:tblGrid>
                    <a:gridCol w="1189919">
                      <a:extLst>
                        <a:ext uri="{9D8B030D-6E8A-4147-A177-3AD203B41FA5}">
                          <a16:colId xmlns:a16="http://schemas.microsoft.com/office/drawing/2014/main" val="1326765219"/>
                        </a:ext>
                      </a:extLst>
                    </a:gridCol>
                    <a:gridCol w="2821647">
                      <a:extLst>
                        <a:ext uri="{9D8B030D-6E8A-4147-A177-3AD203B41FA5}">
                          <a16:colId xmlns:a16="http://schemas.microsoft.com/office/drawing/2014/main" val="3532805478"/>
                        </a:ext>
                      </a:extLst>
                    </a:gridCol>
                    <a:gridCol w="2043873">
                      <a:extLst>
                        <a:ext uri="{9D8B030D-6E8A-4147-A177-3AD203B41FA5}">
                          <a16:colId xmlns:a16="http://schemas.microsoft.com/office/drawing/2014/main" val="2288529620"/>
                        </a:ext>
                      </a:extLst>
                    </a:gridCol>
                  </a:tblGrid>
                  <a:tr h="137160">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mn-ea"/>
                              <a:cs typeface="Times New Roman" panose="02020603050405020304" pitchFamily="18" charset="0"/>
                            </a:rPr>
                            <a:t>Feature Type</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宋体" panose="02010600030101010101" pitchFamily="2" charset="-122"/>
                              <a:cs typeface="Times New Roman" panose="02020603050405020304" pitchFamily="18" charset="0"/>
                            </a:rPr>
                            <a:t>Formal Definition</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宋体" panose="02010600030101010101" pitchFamily="2" charset="-122"/>
                              <a:cs typeface="Times New Roman" panose="02020603050405020304" pitchFamily="18" charset="0"/>
                            </a:rPr>
                            <a:t>Description</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5097124"/>
                      </a:ext>
                    </a:extLst>
                  </a:tr>
                  <a:tr h="167704">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宋体" panose="02010600030101010101" pitchFamily="2" charset="-122"/>
                              <a:cs typeface="Times New Roman" panose="02020603050405020304" pitchFamily="18" charset="0"/>
                            </a:rPr>
                            <a:t>Count</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80"/>
                            </a:spcBef>
                            <a:spcAft>
                              <a:spcPts val="180"/>
                            </a:spcAft>
                          </a:pPr>
                          <a14:m>
                            <m:oMathPara xmlns:m="http://schemas.openxmlformats.org/officeDocument/2006/math">
                              <m:oMathParaPr>
                                <m:jc m:val="centerGroup"/>
                              </m:oMathParaPr>
                              <m:oMath xmlns:m="http://schemas.openxmlformats.org/officeDocument/2006/math">
                                <m:sSubSup>
                                  <m:sSubSup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1400" i="1">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sz="1400" i="1">
                                        <a:effectLst/>
                                        <a:latin typeface="Cambria Math" panose="02040503050406030204" pitchFamily="18" charset="0"/>
                                        <a:ea typeface="等线" panose="02010600030101010101" pitchFamily="2" charset="-122"/>
                                        <a:cs typeface="Times New Roman" panose="02020603050405020304" pitchFamily="18" charset="0"/>
                                      </a:rPr>
                                      <m:t>𝑑</m:t>
                                    </m:r>
                                  </m:sub>
                                  <m:sup>
                                    <m:r>
                                      <a:rPr lang="en-US" sz="1400" i="1">
                                        <a:effectLst/>
                                        <a:latin typeface="Cambria Math" panose="02040503050406030204" pitchFamily="18" charset="0"/>
                                        <a:ea typeface="等线" panose="02010600030101010101" pitchFamily="2" charset="-122"/>
                                        <a:cs typeface="Times New Roman" panose="02020603050405020304" pitchFamily="18" charset="0"/>
                                      </a:rPr>
                                      <m:t>1</m:t>
                                    </m:r>
                                  </m:sup>
                                </m:sSubSup>
                                <m:r>
                                  <a:rPr lang="en-US" sz="1400" i="1">
                                    <a:effectLst/>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sz="1400" i="1">
                                        <a:effectLst/>
                                        <a:latin typeface="Cambria Math" panose="02040503050406030204" pitchFamily="18" charset="0"/>
                                        <a:ea typeface="等线" panose="02010600030101010101" pitchFamily="2" charset="-122"/>
                                        <a:cs typeface="Times New Roman" panose="02020603050405020304" pitchFamily="18" charset="0"/>
                                      </a:rPr>
                                      <m:t>𝛥</m:t>
                                    </m:r>
                                    <m:sSub>
                                      <m:sSub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b="1" i="1">
                                            <a:effectLst/>
                                            <a:latin typeface="Cambria Math" panose="02040503050406030204" pitchFamily="18" charset="0"/>
                                            <a:ea typeface="等线" panose="02010600030101010101" pitchFamily="2" charset="-122"/>
                                            <a:cs typeface="Times New Roman" panose="02020603050405020304" pitchFamily="18" charset="0"/>
                                          </a:rPr>
                                          <m:t>𝒕</m:t>
                                        </m:r>
                                      </m:e>
                                      <m:sub>
                                        <m:r>
                                          <a:rPr lang="en-US" sz="1400" i="1">
                                            <a:effectLst/>
                                            <a:latin typeface="Cambria Math" panose="02040503050406030204" pitchFamily="18" charset="0"/>
                                            <a:ea typeface="等线" panose="02010600030101010101" pitchFamily="2" charset="-122"/>
                                            <a:cs typeface="Times New Roman" panose="02020603050405020304" pitchFamily="18" charset="0"/>
                                          </a:rPr>
                                          <m:t>𝑑</m:t>
                                        </m:r>
                                      </m:sub>
                                    </m:sSub>
                                  </m:e>
                                </m:d>
                                <m:r>
                                  <a:rPr lang="en-US" sz="1400" i="1">
                                    <a:effectLst/>
                                    <a:latin typeface="Cambria Math" panose="02040503050406030204" pitchFamily="18" charset="0"/>
                                    <a:ea typeface="等线" panose="02010600030101010101" pitchFamily="2" charset="-122"/>
                                    <a:cs typeface="Times New Roman" panose="02020603050405020304" pitchFamily="18" charset="0"/>
                                  </a:rPr>
                                  <m:t>=</m:t>
                                </m:r>
                                <m:r>
                                  <a:rPr lang="en-US" sz="1400" i="1">
                                    <a:effectLst/>
                                    <a:latin typeface="Cambria Math" panose="02040503050406030204" pitchFamily="18" charset="0"/>
                                    <a:ea typeface="等线" panose="02010600030101010101" pitchFamily="2" charset="-122"/>
                                    <a:cs typeface="Times New Roman" panose="02020603050405020304" pitchFamily="18" charset="0"/>
                                  </a:rPr>
                                  <m:t>𝐿</m:t>
                                </m:r>
                              </m:oMath>
                            </m:oMathPara>
                          </a14:m>
                          <a:endParaRPr lang="zh-CN" sz="14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80"/>
                            </a:spcBef>
                            <a:spcAft>
                              <a:spcPts val="180"/>
                            </a:spcAft>
                          </a:pPr>
                          <a:r>
                            <a:rPr lang="en-US" altLang="zh-CN" sz="1400" dirty="0">
                              <a:effectLst/>
                              <a:latin typeface="等线" panose="02010600030101010101" pitchFamily="2" charset="-122"/>
                              <a:ea typeface="宋体" panose="02010600030101010101" pitchFamily="2" charset="-122"/>
                              <a:cs typeface="Times New Roman" panose="02020603050405020304" pitchFamily="18" charset="0"/>
                            </a:rPr>
                            <a:t>Subsequence Log Count</a:t>
                          </a:r>
                          <a:endParaRPr lang="zh-CN" sz="14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1262697"/>
                      </a:ext>
                    </a:extLst>
                  </a:tr>
                  <a:tr h="327406">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宋体" panose="02010600030101010101" pitchFamily="2" charset="-122"/>
                              <a:cs typeface="Times New Roman" panose="02020603050405020304" pitchFamily="18" charset="0"/>
                            </a:rPr>
                            <a:t>Frequency</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80"/>
                            </a:spcBef>
                            <a:spcAft>
                              <a:spcPts val="180"/>
                            </a:spcAft>
                          </a:pPr>
                          <a14:m>
                            <m:oMathPara xmlns:m="http://schemas.openxmlformats.org/officeDocument/2006/math">
                              <m:oMathParaPr>
                                <m:jc m:val="centerGroup"/>
                              </m:oMathParaPr>
                              <m:oMath xmlns:m="http://schemas.openxmlformats.org/officeDocument/2006/math">
                                <m:sSubSup>
                                  <m:sSubSup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1400" i="1">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sz="1400" i="1">
                                        <a:effectLst/>
                                        <a:latin typeface="Cambria Math" panose="02040503050406030204" pitchFamily="18" charset="0"/>
                                        <a:ea typeface="等线" panose="02010600030101010101" pitchFamily="2" charset="-122"/>
                                        <a:cs typeface="Times New Roman" panose="02020603050405020304" pitchFamily="18" charset="0"/>
                                      </a:rPr>
                                      <m:t>𝑑</m:t>
                                    </m:r>
                                  </m:sub>
                                  <m:sup>
                                    <m:r>
                                      <a:rPr lang="en-US" sz="1400" i="1">
                                        <a:effectLst/>
                                        <a:latin typeface="Cambria Math" panose="02040503050406030204" pitchFamily="18" charset="0"/>
                                        <a:ea typeface="等线" panose="02010600030101010101" pitchFamily="2" charset="-122"/>
                                        <a:cs typeface="Times New Roman" panose="02020603050405020304" pitchFamily="18" charset="0"/>
                                      </a:rPr>
                                      <m:t>2</m:t>
                                    </m:r>
                                  </m:sup>
                                </m:sSubSup>
                                <m:r>
                                  <a:rPr lang="en-US" sz="1400" i="1">
                                    <a:effectLst/>
                                    <a:latin typeface="Cambria Math" panose="02040503050406030204" pitchFamily="18" charset="0"/>
                                    <a:ea typeface="等线" panose="02010600030101010101" pitchFamily="2" charset="-122"/>
                                    <a:cs typeface="Times New Roman" panose="02020603050405020304" pitchFamily="18" charset="0"/>
                                  </a:rPr>
                                  <m:t> = </m:t>
                                </m:r>
                                <m:f>
                                  <m:f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1400" i="1">
                                        <a:effectLst/>
                                        <a:latin typeface="Cambria Math" panose="02040503050406030204" pitchFamily="18" charset="0"/>
                                        <a:ea typeface="等线" panose="02010600030101010101" pitchFamily="2" charset="-122"/>
                                        <a:cs typeface="Times New Roman" panose="02020603050405020304" pitchFamily="18" charset="0"/>
                                      </a:rPr>
                                      <m:t>𝑇</m:t>
                                    </m:r>
                                  </m:num>
                                  <m:den>
                                    <m:d>
                                      <m:dPr>
                                        <m:begChr m:val="|"/>
                                        <m:endChr m:val="|"/>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sz="1400" i="1">
                                            <a:effectLst/>
                                            <a:latin typeface="Cambria Math" panose="02040503050406030204" pitchFamily="18" charset="0"/>
                                            <a:ea typeface="等线" panose="02010600030101010101" pitchFamily="2" charset="-122"/>
                                            <a:cs typeface="Times New Roman" panose="02020603050405020304" pitchFamily="18" charset="0"/>
                                          </a:rPr>
                                          <m:t>𝛥</m:t>
                                        </m:r>
                                        <m:sSub>
                                          <m:sSub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b="1" i="1">
                                                <a:effectLst/>
                                                <a:latin typeface="Cambria Math" panose="02040503050406030204" pitchFamily="18" charset="0"/>
                                                <a:ea typeface="等线" panose="02010600030101010101" pitchFamily="2" charset="-122"/>
                                                <a:cs typeface="Times New Roman" panose="02020603050405020304" pitchFamily="18" charset="0"/>
                                              </a:rPr>
                                              <m:t>𝒕</m:t>
                                            </m:r>
                                          </m:e>
                                          <m:sub>
                                            <m:r>
                                              <a:rPr lang="en-US" sz="1400" i="1">
                                                <a:effectLst/>
                                                <a:latin typeface="Cambria Math" panose="02040503050406030204" pitchFamily="18" charset="0"/>
                                                <a:ea typeface="等线" panose="02010600030101010101" pitchFamily="2" charset="-122"/>
                                                <a:cs typeface="Times New Roman" panose="02020603050405020304" pitchFamily="18" charset="0"/>
                                              </a:rPr>
                                              <m:t>𝑑</m:t>
                                            </m:r>
                                          </m:sub>
                                        </m:sSub>
                                      </m:e>
                                    </m:d>
                                  </m:den>
                                </m:f>
                                <m:r>
                                  <a:rPr lang="en-US" sz="1400" i="1">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1400" i="1">
                                            <a:effectLst/>
                                            <a:latin typeface="Cambria Math" panose="02040503050406030204" pitchFamily="18" charset="0"/>
                                            <a:ea typeface="等线" panose="02010600030101010101" pitchFamily="2" charset="-122"/>
                                            <a:cs typeface="Times New Roman" panose="02020603050405020304" pitchFamily="18" charset="0"/>
                                          </a:rPr>
                                          <m:t>𝑡</m:t>
                                        </m:r>
                                      </m:e>
                                      <m:sub>
                                        <m:r>
                                          <a:rPr lang="en-US" sz="1400" i="1">
                                            <a:effectLst/>
                                            <a:latin typeface="Cambria Math" panose="02040503050406030204" pitchFamily="18" charset="0"/>
                                            <a:ea typeface="等线" panose="02010600030101010101" pitchFamily="2" charset="-122"/>
                                            <a:cs typeface="Times New Roman" panose="02020603050405020304" pitchFamily="18" charset="0"/>
                                          </a:rPr>
                                          <m:t>𝑑</m:t>
                                        </m:r>
                                      </m:sub>
                                      <m:sup>
                                        <m:r>
                                          <a:rPr lang="en-US" sz="1400" i="1">
                                            <a:effectLst/>
                                            <a:latin typeface="Cambria Math" panose="02040503050406030204" pitchFamily="18" charset="0"/>
                                            <a:ea typeface="等线" panose="02010600030101010101" pitchFamily="2" charset="-122"/>
                                            <a:cs typeface="Times New Roman" panose="02020603050405020304" pitchFamily="18" charset="0"/>
                                          </a:rPr>
                                          <m:t>𝐿</m:t>
                                        </m:r>
                                      </m:sup>
                                    </m:sSubSup>
                                    <m:r>
                                      <a:rPr lang="en-US" sz="1400" i="1">
                                        <a:effectLst/>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1400" i="1">
                                            <a:effectLst/>
                                            <a:latin typeface="Cambria Math" panose="02040503050406030204" pitchFamily="18" charset="0"/>
                                            <a:ea typeface="等线" panose="02010600030101010101" pitchFamily="2" charset="-122"/>
                                            <a:cs typeface="Times New Roman" panose="02020603050405020304" pitchFamily="18" charset="0"/>
                                          </a:rPr>
                                          <m:t>𝑡</m:t>
                                        </m:r>
                                      </m:e>
                                      <m:sub>
                                        <m:r>
                                          <a:rPr lang="en-US" sz="1400" i="1">
                                            <a:effectLst/>
                                            <a:latin typeface="Cambria Math" panose="02040503050406030204" pitchFamily="18" charset="0"/>
                                            <a:ea typeface="等线" panose="02010600030101010101" pitchFamily="2" charset="-122"/>
                                            <a:cs typeface="Times New Roman" panose="02020603050405020304" pitchFamily="18" charset="0"/>
                                          </a:rPr>
                                          <m:t>𝑑</m:t>
                                        </m:r>
                                      </m:sub>
                                      <m:sup>
                                        <m:r>
                                          <a:rPr lang="en-US" sz="1400" i="1">
                                            <a:effectLst/>
                                            <a:latin typeface="Cambria Math" panose="02040503050406030204" pitchFamily="18" charset="0"/>
                                            <a:ea typeface="等线" panose="02010600030101010101" pitchFamily="2" charset="-122"/>
                                            <a:cs typeface="Times New Roman" panose="02020603050405020304" pitchFamily="18" charset="0"/>
                                          </a:rPr>
                                          <m:t>1</m:t>
                                        </m:r>
                                      </m:sup>
                                    </m:sSubSup>
                                  </m:num>
                                  <m:den>
                                    <m:d>
                                      <m:dPr>
                                        <m:begChr m:val="|"/>
                                        <m:endChr m:val="|"/>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sz="1400" i="1">
                                            <a:effectLst/>
                                            <a:latin typeface="Cambria Math" panose="02040503050406030204" pitchFamily="18" charset="0"/>
                                            <a:ea typeface="等线" panose="02010600030101010101" pitchFamily="2" charset="-122"/>
                                            <a:cs typeface="Times New Roman" panose="02020603050405020304" pitchFamily="18" charset="0"/>
                                          </a:rPr>
                                          <m:t>𝛥</m:t>
                                        </m:r>
                                        <m:sSub>
                                          <m:sSub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b="1" i="1">
                                                <a:effectLst/>
                                                <a:latin typeface="Cambria Math" panose="02040503050406030204" pitchFamily="18" charset="0"/>
                                                <a:ea typeface="等线" panose="02010600030101010101" pitchFamily="2" charset="-122"/>
                                                <a:cs typeface="Times New Roman" panose="02020603050405020304" pitchFamily="18" charset="0"/>
                                              </a:rPr>
                                              <m:t>𝒕</m:t>
                                            </m:r>
                                          </m:e>
                                          <m:sub>
                                            <m:r>
                                              <a:rPr lang="en-US" sz="1400" i="1">
                                                <a:effectLst/>
                                                <a:latin typeface="Cambria Math" panose="02040503050406030204" pitchFamily="18" charset="0"/>
                                                <a:ea typeface="等线" panose="02010600030101010101" pitchFamily="2" charset="-122"/>
                                                <a:cs typeface="Times New Roman" panose="02020603050405020304" pitchFamily="18" charset="0"/>
                                              </a:rPr>
                                              <m:t>𝑑</m:t>
                                            </m:r>
                                          </m:sub>
                                        </m:sSub>
                                      </m:e>
                                    </m:d>
                                  </m:den>
                                </m:f>
                              </m:oMath>
                            </m:oMathPara>
                          </a14:m>
                          <a:endParaRPr lang="zh-CN" sz="14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80"/>
                            </a:spcBef>
                            <a:spcAft>
                              <a:spcPts val="180"/>
                            </a:spcAft>
                          </a:pPr>
                          <a:r>
                            <a:rPr lang="en-US" altLang="zh-CN" sz="1400" dirty="0">
                              <a:effectLst/>
                              <a:latin typeface="等线" panose="02010600030101010101" pitchFamily="2" charset="-122"/>
                              <a:ea typeface="宋体" panose="02010600030101010101" pitchFamily="2" charset="-122"/>
                              <a:cs typeface="Times New Roman" panose="02020603050405020304" pitchFamily="18" charset="0"/>
                            </a:rPr>
                            <a:t>Subsequence Log Freq</a:t>
                          </a:r>
                          <a:endParaRPr lang="zh-CN" altLang="zh-CN" sz="1400" dirty="0">
                            <a:effectLst/>
                            <a:latin typeface="等线" panose="02010600030101010101" pitchFamily="2" charset="-122"/>
                            <a:ea typeface="+mn-ea"/>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7116389"/>
                      </a:ext>
                    </a:extLst>
                  </a:tr>
                  <a:tr h="433388">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宋体" panose="02010600030101010101" pitchFamily="2" charset="-122"/>
                              <a:cs typeface="Times New Roman" panose="02020603050405020304" pitchFamily="18" charset="0"/>
                            </a:rPr>
                            <a:t>Diff</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80"/>
                            </a:spcBef>
                            <a:spcAft>
                              <a:spcPts val="180"/>
                            </a:spcAft>
                          </a:pPr>
                          <a14:m>
                            <m:oMathPara xmlns:m="http://schemas.openxmlformats.org/officeDocument/2006/math">
                              <m:oMathParaPr>
                                <m:jc m:val="centerGroup"/>
                              </m:oMathParaPr>
                              <m:oMath xmlns:m="http://schemas.openxmlformats.org/officeDocument/2006/math">
                                <m:sSubSup>
                                  <m:sSubSup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1400" i="1">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sz="1400" i="1">
                                        <a:effectLst/>
                                        <a:latin typeface="Cambria Math" panose="02040503050406030204" pitchFamily="18" charset="0"/>
                                        <a:ea typeface="等线" panose="02010600030101010101" pitchFamily="2" charset="-122"/>
                                        <a:cs typeface="Times New Roman" panose="02020603050405020304" pitchFamily="18" charset="0"/>
                                      </a:rPr>
                                      <m:t>𝑑</m:t>
                                    </m:r>
                                  </m:sub>
                                  <m:sup>
                                    <m:r>
                                      <a:rPr lang="en-US" sz="1400" i="1">
                                        <a:effectLst/>
                                        <a:latin typeface="Cambria Math" panose="02040503050406030204" pitchFamily="18" charset="0"/>
                                        <a:ea typeface="等线" panose="02010600030101010101" pitchFamily="2" charset="-122"/>
                                        <a:cs typeface="Times New Roman" panose="02020603050405020304" pitchFamily="18" charset="0"/>
                                      </a:rPr>
                                      <m:t>3</m:t>
                                    </m:r>
                                  </m:sup>
                                </m:sSubSup>
                                <m:r>
                                  <a:rPr lang="en-US" sz="1400" i="1">
                                    <a:effectLst/>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grow m:val="on"/>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sz="1400" i="1">
                                        <a:effectLst/>
                                        <a:latin typeface="Cambria Math" panose="02040503050406030204" pitchFamily="18" charset="0"/>
                                        <a:ea typeface="等线" panose="02010600030101010101" pitchFamily="2" charset="-122"/>
                                        <a:cs typeface="Times New Roman" panose="02020603050405020304" pitchFamily="18" charset="0"/>
                                      </a:rPr>
                                      <m:t>𝑖</m:t>
                                    </m:r>
                                    <m:r>
                                      <a:rPr lang="en-US" sz="1400" i="1">
                                        <a:effectLst/>
                                        <a:latin typeface="Cambria Math" panose="02040503050406030204" pitchFamily="18" charset="0"/>
                                        <a:ea typeface="等线" panose="02010600030101010101" pitchFamily="2" charset="-122"/>
                                        <a:cs typeface="Times New Roman" panose="02020603050405020304" pitchFamily="18" charset="0"/>
                                      </a:rPr>
                                      <m:t>=⌈</m:t>
                                    </m:r>
                                    <m:r>
                                      <a:rPr lang="en-US" sz="1400" i="1">
                                        <a:effectLst/>
                                        <a:latin typeface="Cambria Math" panose="02040503050406030204" pitchFamily="18" charset="0"/>
                                        <a:ea typeface="等线" panose="02010600030101010101" pitchFamily="2" charset="-122"/>
                                        <a:cs typeface="Times New Roman" panose="02020603050405020304" pitchFamily="18" charset="0"/>
                                      </a:rPr>
                                      <m:t>𝐿</m:t>
                                    </m:r>
                                    <m:r>
                                      <a:rPr lang="en-US" sz="1400" i="1">
                                        <a:effectLst/>
                                        <a:latin typeface="Cambria Math" panose="02040503050406030204" pitchFamily="18" charset="0"/>
                                        <a:ea typeface="等线" panose="02010600030101010101" pitchFamily="2" charset="-122"/>
                                        <a:cs typeface="Times New Roman" panose="02020603050405020304" pitchFamily="18" charset="0"/>
                                      </a:rPr>
                                      <m:t>/2⌉</m:t>
                                    </m:r>
                                  </m:sub>
                                  <m:sup>
                                    <m:r>
                                      <a:rPr lang="en-US" sz="1400" i="1">
                                        <a:effectLst/>
                                        <a:latin typeface="Cambria Math" panose="02040503050406030204" pitchFamily="18" charset="0"/>
                                        <a:ea typeface="等线" panose="02010600030101010101" pitchFamily="2" charset="-122"/>
                                        <a:cs typeface="Times New Roman" panose="02020603050405020304" pitchFamily="18" charset="0"/>
                                      </a:rPr>
                                      <m:t>𝐿</m:t>
                                    </m:r>
                                  </m:sup>
                                  <m:e>
                                    <m:r>
                                      <a:rPr lang="en-US" sz="1400" i="1">
                                        <a:effectLst/>
                                        <a:latin typeface="Cambria Math" panose="02040503050406030204" pitchFamily="18" charset="0"/>
                                        <a:ea typeface="等线" panose="02010600030101010101" pitchFamily="2" charset="-122"/>
                                        <a:cs typeface="Times New Roman" panose="02020603050405020304" pitchFamily="18" charset="0"/>
                                      </a:rPr>
                                      <m:t> </m:t>
                                    </m:r>
                                  </m:e>
                                </m:nary>
                                <m:r>
                                  <a:rPr lang="en-US" sz="1400" i="1">
                                    <a:effectLst/>
                                    <a:latin typeface="Cambria Math" panose="02040503050406030204" pitchFamily="18" charset="0"/>
                                    <a:ea typeface="等线" panose="02010600030101010101" pitchFamily="2" charset="-122"/>
                                    <a:cs typeface="Times New Roman" panose="02020603050405020304" pitchFamily="18" charset="0"/>
                                  </a:rPr>
                                  <m:t>1−</m:t>
                                </m:r>
                                <m:nary>
                                  <m:naryPr>
                                    <m:chr m:val="∑"/>
                                    <m:limLoc m:val="undOvr"/>
                                    <m:grow m:val="on"/>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sz="1400" i="1">
                                        <a:effectLst/>
                                        <a:latin typeface="Cambria Math" panose="02040503050406030204" pitchFamily="18" charset="0"/>
                                        <a:ea typeface="等线" panose="02010600030101010101" pitchFamily="2" charset="-122"/>
                                        <a:cs typeface="Times New Roman" panose="02020603050405020304" pitchFamily="18" charset="0"/>
                                      </a:rPr>
                                      <m:t>𝑖</m:t>
                                    </m:r>
                                    <m:r>
                                      <a:rPr lang="en-US" sz="1400" i="1">
                                        <a:effectLst/>
                                        <a:latin typeface="Cambria Math" panose="02040503050406030204" pitchFamily="18" charset="0"/>
                                        <a:ea typeface="等线" panose="02010600030101010101" pitchFamily="2" charset="-122"/>
                                        <a:cs typeface="Times New Roman" panose="02020603050405020304" pitchFamily="18" charset="0"/>
                                      </a:rPr>
                                      <m:t>=1</m:t>
                                    </m:r>
                                  </m:sub>
                                  <m:sup>
                                    <m:r>
                                      <a:rPr lang="en-US" sz="1400" i="1">
                                        <a:effectLst/>
                                        <a:latin typeface="Cambria Math" panose="02040503050406030204" pitchFamily="18" charset="0"/>
                                        <a:ea typeface="等线" panose="02010600030101010101" pitchFamily="2" charset="-122"/>
                                        <a:cs typeface="Times New Roman" panose="02020603050405020304" pitchFamily="18" charset="0"/>
                                      </a:rPr>
                                      <m:t>⌊</m:t>
                                    </m:r>
                                    <m:r>
                                      <a:rPr lang="en-US" sz="1400" i="1">
                                        <a:effectLst/>
                                        <a:latin typeface="Cambria Math" panose="02040503050406030204" pitchFamily="18" charset="0"/>
                                        <a:ea typeface="等线" panose="02010600030101010101" pitchFamily="2" charset="-122"/>
                                        <a:cs typeface="Times New Roman" panose="02020603050405020304" pitchFamily="18" charset="0"/>
                                      </a:rPr>
                                      <m:t>𝐿</m:t>
                                    </m:r>
                                    <m:r>
                                      <a:rPr lang="en-US" sz="1400" i="1">
                                        <a:effectLst/>
                                        <a:latin typeface="Cambria Math" panose="02040503050406030204" pitchFamily="18" charset="0"/>
                                        <a:ea typeface="等线" panose="02010600030101010101" pitchFamily="2" charset="-122"/>
                                        <a:cs typeface="Times New Roman" panose="02020603050405020304" pitchFamily="18" charset="0"/>
                                      </a:rPr>
                                      <m:t>/2⌋</m:t>
                                    </m:r>
                                  </m:sup>
                                  <m:e>
                                    <m:r>
                                      <a:rPr lang="en-US" sz="1400" i="1">
                                        <a:effectLst/>
                                        <a:latin typeface="Cambria Math" panose="02040503050406030204" pitchFamily="18" charset="0"/>
                                        <a:ea typeface="等线" panose="02010600030101010101" pitchFamily="2" charset="-122"/>
                                        <a:cs typeface="Times New Roman" panose="02020603050405020304" pitchFamily="18" charset="0"/>
                                      </a:rPr>
                                      <m:t> </m:t>
                                    </m:r>
                                  </m:e>
                                </m:nary>
                              </m:oMath>
                            </m:oMathPara>
                          </a14:m>
                          <a:endParaRPr lang="zh-CN" sz="14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80"/>
                            </a:spcBef>
                            <a:spcAft>
                              <a:spcPts val="180"/>
                            </a:spcAft>
                          </a:pPr>
                          <a:r>
                            <a:rPr lang="en-US" altLang="zh-CN" sz="1400" dirty="0">
                              <a:effectLst/>
                              <a:latin typeface="等线" panose="02010600030101010101" pitchFamily="2" charset="-122"/>
                              <a:ea typeface="宋体" panose="02010600030101010101" pitchFamily="2" charset="-122"/>
                              <a:cs typeface="Times New Roman" panose="02020603050405020304" pitchFamily="18" charset="0"/>
                            </a:rPr>
                            <a:t>Subsequence Time Interval Difference in Log Count</a:t>
                          </a:r>
                          <a:endParaRPr lang="zh-CN" sz="14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4128625"/>
                      </a:ext>
                    </a:extLst>
                  </a:tr>
                  <a:tr h="411163">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宋体" panose="02010600030101010101" pitchFamily="2" charset="-122"/>
                              <a:cs typeface="Times New Roman" panose="02020603050405020304" pitchFamily="18" charset="0"/>
                            </a:rPr>
                            <a:t>Overflow</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80"/>
                            </a:spcBef>
                            <a:spcAft>
                              <a:spcPts val="180"/>
                            </a:spcAft>
                          </a:pPr>
                          <a14:m>
                            <m:oMathPara xmlns:m="http://schemas.openxmlformats.org/officeDocument/2006/math">
                              <m:oMathParaPr>
                                <m:jc m:val="centerGroup"/>
                              </m:oMathParaPr>
                              <m:oMath xmlns:m="http://schemas.openxmlformats.org/officeDocument/2006/math">
                                <m:sSubSup>
                                  <m:sSubSup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1400" i="1">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sz="1400" i="1">
                                        <a:effectLst/>
                                        <a:latin typeface="Cambria Math" panose="02040503050406030204" pitchFamily="18" charset="0"/>
                                        <a:ea typeface="等线" panose="02010600030101010101" pitchFamily="2" charset="-122"/>
                                        <a:cs typeface="Times New Roman" panose="02020603050405020304" pitchFamily="18" charset="0"/>
                                      </a:rPr>
                                      <m:t>𝑑</m:t>
                                    </m:r>
                                  </m:sub>
                                  <m:sup>
                                    <m:r>
                                      <a:rPr lang="en-US" sz="1400" i="1">
                                        <a:effectLst/>
                                        <a:latin typeface="Cambria Math" panose="02040503050406030204" pitchFamily="18" charset="0"/>
                                        <a:ea typeface="等线" panose="02010600030101010101" pitchFamily="2" charset="-122"/>
                                        <a:cs typeface="Times New Roman" panose="02020603050405020304" pitchFamily="18" charset="0"/>
                                      </a:rPr>
                                      <m:t>4</m:t>
                                    </m:r>
                                  </m:sup>
                                </m:sSubSup>
                                <m:r>
                                  <a:rPr lang="en-US" sz="1400" i="1">
                                    <a:effectLst/>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grow m:val="on"/>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sz="1400" i="1">
                                        <a:effectLst/>
                                        <a:latin typeface="Cambria Math" panose="02040503050406030204" pitchFamily="18" charset="0"/>
                                        <a:ea typeface="等线" panose="02010600030101010101" pitchFamily="2" charset="-122"/>
                                        <a:cs typeface="Times New Roman" panose="02020603050405020304" pitchFamily="18" charset="0"/>
                                      </a:rPr>
                                      <m:t>𝑖</m:t>
                                    </m:r>
                                    <m:r>
                                      <a:rPr lang="en-US" sz="1400" i="1">
                                        <a:effectLst/>
                                        <a:latin typeface="Cambria Math" panose="02040503050406030204" pitchFamily="18" charset="0"/>
                                        <a:ea typeface="等线" panose="02010600030101010101" pitchFamily="2" charset="-122"/>
                                        <a:cs typeface="Times New Roman" panose="02020603050405020304" pitchFamily="18" charset="0"/>
                                      </a:rPr>
                                      <m:t>=1</m:t>
                                    </m:r>
                                  </m:sub>
                                  <m:sup>
                                    <m:r>
                                      <a:rPr lang="en-US" sz="1400" i="1">
                                        <a:effectLst/>
                                        <a:latin typeface="Cambria Math" panose="02040503050406030204" pitchFamily="18" charset="0"/>
                                        <a:ea typeface="等线" panose="02010600030101010101" pitchFamily="2" charset="-122"/>
                                        <a:cs typeface="Times New Roman" panose="02020603050405020304" pitchFamily="18" charset="0"/>
                                      </a:rPr>
                                      <m:t>𝐿</m:t>
                                    </m:r>
                                  </m:sup>
                                  <m:e>
                                    <m:r>
                                      <a:rPr lang="en-US" sz="1400" i="1">
                                        <a:effectLst/>
                                        <a:latin typeface="Cambria Math" panose="02040503050406030204" pitchFamily="18" charset="0"/>
                                        <a:ea typeface="等线" panose="02010600030101010101" pitchFamily="2" charset="-122"/>
                                        <a:cs typeface="Times New Roman" panose="02020603050405020304" pitchFamily="18" charset="0"/>
                                      </a:rPr>
                                      <m:t> </m:t>
                                    </m:r>
                                  </m:e>
                                </m:nary>
                                <m:r>
                                  <a:rPr lang="en-US" sz="1400" i="1">
                                    <a:effectLst/>
                                    <a:latin typeface="Cambria Math" panose="02040503050406030204" pitchFamily="18" charset="0"/>
                                    <a:ea typeface="等线" panose="02010600030101010101" pitchFamily="2" charset="-122"/>
                                    <a:cs typeface="Times New Roman" panose="02020603050405020304" pitchFamily="18" charset="0"/>
                                  </a:rPr>
                                  <m:t>𝕀</m:t>
                                </m:r>
                                <m:d>
                                  <m:d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1400" i="1">
                                            <a:effectLst/>
                                            <a:latin typeface="Cambria Math" panose="02040503050406030204" pitchFamily="18" charset="0"/>
                                            <a:ea typeface="等线" panose="02010600030101010101" pitchFamily="2" charset="-122"/>
                                            <a:cs typeface="Times New Roman" panose="02020603050405020304" pitchFamily="18" charset="0"/>
                                          </a:rPr>
                                          <m:t>𝑡</m:t>
                                        </m:r>
                                      </m:e>
                                      <m:sub>
                                        <m:r>
                                          <a:rPr lang="en-US" sz="1400" i="1">
                                            <a:effectLst/>
                                            <a:latin typeface="Cambria Math" panose="02040503050406030204" pitchFamily="18" charset="0"/>
                                            <a:ea typeface="等线" panose="02010600030101010101" pitchFamily="2" charset="-122"/>
                                            <a:cs typeface="Times New Roman" panose="02020603050405020304" pitchFamily="18" charset="0"/>
                                          </a:rPr>
                                          <m:t>𝑑</m:t>
                                        </m:r>
                                      </m:sub>
                                      <m:sup>
                                        <m:r>
                                          <a:rPr lang="en-US" sz="1400" i="1">
                                            <a:effectLst/>
                                            <a:latin typeface="Cambria Math" panose="02040503050406030204" pitchFamily="18" charset="0"/>
                                            <a:ea typeface="等线" panose="02010600030101010101" pitchFamily="2" charset="-122"/>
                                            <a:cs typeface="Times New Roman" panose="02020603050405020304" pitchFamily="18" charset="0"/>
                                          </a:rPr>
                                          <m:t>𝑖</m:t>
                                        </m:r>
                                      </m:sup>
                                    </m:sSubSup>
                                    <m:r>
                                      <a:rPr lang="en-US" sz="1400" i="1">
                                        <a:effectLst/>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i="1">
                                                <a:effectLst/>
                                                <a:latin typeface="Cambria Math" panose="02040503050406030204" pitchFamily="18" charset="0"/>
                                                <a:ea typeface="等线" panose="02010600030101010101" pitchFamily="2" charset="-122"/>
                                                <a:cs typeface="Times New Roman" panose="02020603050405020304" pitchFamily="18" charset="0"/>
                                              </a:rPr>
                                              <m:t>𝑡</m:t>
                                            </m:r>
                                          </m:e>
                                          <m:sub>
                                            <m:r>
                                              <m:rPr>
                                                <m:nor/>
                                              </m:rPr>
                                              <a:rPr lang="en-US" sz="1400" i="1">
                                                <a:effectLst/>
                                                <a:latin typeface="Cambria Math" panose="02040503050406030204" pitchFamily="18" charset="0"/>
                                                <a:ea typeface="等线" panose="02010600030101010101" pitchFamily="2" charset="-122"/>
                                                <a:cs typeface="Times New Roman" panose="02020603050405020304" pitchFamily="18" charset="0"/>
                                              </a:rPr>
                                              <m:t>s</m:t>
                                            </m:r>
                                          </m:sub>
                                        </m:sSub>
                                        <m:r>
                                          <a:rPr lang="en-US" sz="1400" i="1">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sz="1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400" i="1">
                                                <a:effectLst/>
                                                <a:latin typeface="Cambria Math" panose="02040503050406030204" pitchFamily="18" charset="0"/>
                                                <a:ea typeface="等线" panose="02010600030101010101" pitchFamily="2" charset="-122"/>
                                                <a:cs typeface="Times New Roman" panose="02020603050405020304" pitchFamily="18" charset="0"/>
                                              </a:rPr>
                                              <m:t>𝑡</m:t>
                                            </m:r>
                                          </m:e>
                                          <m:sub>
                                            <m:r>
                                              <m:rPr>
                                                <m:nor/>
                                              </m:rPr>
                                              <a:rPr lang="en-US" sz="1400" i="1">
                                                <a:effectLst/>
                                                <a:latin typeface="Cambria Math" panose="02040503050406030204" pitchFamily="18" charset="0"/>
                                                <a:ea typeface="等线" panose="02010600030101010101" pitchFamily="2" charset="-122"/>
                                                <a:cs typeface="Times New Roman" panose="02020603050405020304" pitchFamily="18" charset="0"/>
                                              </a:rPr>
                                              <m:t>s</m:t>
                                            </m:r>
                                            <m:r>
                                              <m:rPr>
                                                <m:nor/>
                                              </m:rPr>
                                              <a:rPr lang="en-US" sz="1400" i="1">
                                                <a:effectLst/>
                                                <a:latin typeface="Cambria Math" panose="02040503050406030204" pitchFamily="18" charset="0"/>
                                                <a:ea typeface="等线" panose="02010600030101010101" pitchFamily="2" charset="-122"/>
                                                <a:cs typeface="Times New Roman" panose="02020603050405020304" pitchFamily="18" charset="0"/>
                                              </a:rPr>
                                              <m:t> </m:t>
                                            </m:r>
                                          </m:sub>
                                        </m:sSub>
                                        <m:r>
                                          <a:rPr lang="en-US" sz="1400" i="1">
                                            <a:effectLst/>
                                            <a:latin typeface="Cambria Math" panose="02040503050406030204" pitchFamily="18" charset="0"/>
                                            <a:ea typeface="等线" panose="02010600030101010101" pitchFamily="2" charset="-122"/>
                                            <a:cs typeface="Times New Roman" panose="02020603050405020304" pitchFamily="18" charset="0"/>
                                          </a:rPr>
                                          <m:t>+</m:t>
                                        </m:r>
                                        <m:r>
                                          <a:rPr lang="en-US" sz="1400" i="1">
                                            <a:effectLst/>
                                            <a:latin typeface="Cambria Math" panose="02040503050406030204" pitchFamily="18" charset="0"/>
                                            <a:ea typeface="等线" panose="02010600030101010101" pitchFamily="2" charset="-122"/>
                                            <a:cs typeface="Times New Roman" panose="02020603050405020304" pitchFamily="18" charset="0"/>
                                          </a:rPr>
                                          <m:t>𝑇</m:t>
                                        </m:r>
                                      </m:e>
                                    </m:d>
                                  </m:e>
                                </m:d>
                                <m:r>
                                  <a:rPr lang="en-US" sz="1400" i="1">
                                    <a:effectLst/>
                                    <a:latin typeface="Cambria Math" panose="02040503050406030204" pitchFamily="18" charset="0"/>
                                    <a:ea typeface="等线" panose="02010600030101010101" pitchFamily="2" charset="-122"/>
                                    <a:cs typeface="Times New Roman" panose="02020603050405020304" pitchFamily="18" charset="0"/>
                                  </a:rPr>
                                  <m:t>&gt;</m:t>
                                </m:r>
                                <m:r>
                                  <a:rPr lang="en-US" sz="1400" i="1">
                                    <a:effectLst/>
                                    <a:latin typeface="Cambria Math" panose="02040503050406030204" pitchFamily="18" charset="0"/>
                                    <a:ea typeface="等线" panose="02010600030101010101" pitchFamily="2" charset="-122"/>
                                    <a:cs typeface="Times New Roman" panose="02020603050405020304" pitchFamily="18" charset="0"/>
                                  </a:rPr>
                                  <m:t>𝜃</m:t>
                                </m:r>
                              </m:oMath>
                            </m:oMathPara>
                          </a14:m>
                          <a:endParaRPr lang="zh-CN" sz="14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80"/>
                            </a:spcBef>
                            <a:spcAft>
                              <a:spcPts val="180"/>
                            </a:spcAft>
                          </a:pPr>
                          <a:r>
                            <a:rPr lang="en-US" altLang="zh-CN" sz="1400" dirty="0">
                              <a:effectLst/>
                              <a:latin typeface="等线" panose="02010600030101010101" pitchFamily="2" charset="-122"/>
                              <a:ea typeface="宋体" panose="02010600030101010101" pitchFamily="2" charset="-122"/>
                              <a:cs typeface="Times New Roman" panose="02020603050405020304" pitchFamily="18" charset="0"/>
                            </a:rPr>
                            <a:t>Whether the log count within a subsequence exceeds a threshold</a:t>
                          </a:r>
                          <a:endParaRPr lang="zh-CN" sz="14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0640019"/>
                      </a:ext>
                    </a:extLst>
                  </a:tr>
                </a:tbl>
              </a:graphicData>
            </a:graphic>
          </p:graphicFrame>
        </mc:Choice>
        <mc:Fallback xmlns="">
          <p:graphicFrame>
            <p:nvGraphicFramePr>
              <p:cNvPr id="7" name="表格 6">
                <a:extLst>
                  <a:ext uri="{FF2B5EF4-FFF2-40B4-BE49-F238E27FC236}">
                    <a16:creationId xmlns:a16="http://schemas.microsoft.com/office/drawing/2014/main" id="{39CC955F-D554-B43B-5D7A-0B7804123416}"/>
                  </a:ext>
                </a:extLst>
              </p:cNvPr>
              <p:cNvGraphicFramePr>
                <a:graphicFrameLocks noGrp="1"/>
              </p:cNvGraphicFramePr>
              <p:nvPr>
                <p:extLst>
                  <p:ext uri="{D42A27DB-BD31-4B8C-83A1-F6EECF244321}">
                    <p14:modId xmlns:p14="http://schemas.microsoft.com/office/powerpoint/2010/main" val="21004509"/>
                  </p:ext>
                </p:extLst>
              </p:nvPr>
            </p:nvGraphicFramePr>
            <p:xfrm>
              <a:off x="5913451" y="2177413"/>
              <a:ext cx="6055439" cy="3279839"/>
            </p:xfrm>
            <a:graphic>
              <a:graphicData uri="http://schemas.openxmlformats.org/drawingml/2006/table">
                <a:tbl>
                  <a:tblPr firstRow="1" bandRow="1" bandCol="1"/>
                  <a:tblGrid>
                    <a:gridCol w="1189919">
                      <a:extLst>
                        <a:ext uri="{9D8B030D-6E8A-4147-A177-3AD203B41FA5}">
                          <a16:colId xmlns:a16="http://schemas.microsoft.com/office/drawing/2014/main" val="1326765219"/>
                        </a:ext>
                      </a:extLst>
                    </a:gridCol>
                    <a:gridCol w="2821647">
                      <a:extLst>
                        <a:ext uri="{9D8B030D-6E8A-4147-A177-3AD203B41FA5}">
                          <a16:colId xmlns:a16="http://schemas.microsoft.com/office/drawing/2014/main" val="3532805478"/>
                        </a:ext>
                      </a:extLst>
                    </a:gridCol>
                    <a:gridCol w="2043873">
                      <a:extLst>
                        <a:ext uri="{9D8B030D-6E8A-4147-A177-3AD203B41FA5}">
                          <a16:colId xmlns:a16="http://schemas.microsoft.com/office/drawing/2014/main" val="2288529620"/>
                        </a:ext>
                      </a:extLst>
                    </a:gridCol>
                  </a:tblGrid>
                  <a:tr h="287528">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mn-ea"/>
                              <a:cs typeface="Times New Roman" panose="02020603050405020304" pitchFamily="18" charset="0"/>
                            </a:rPr>
                            <a:t>Feature Type</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宋体" panose="02010600030101010101" pitchFamily="2" charset="-122"/>
                              <a:cs typeface="Times New Roman" panose="02020603050405020304" pitchFamily="18" charset="0"/>
                            </a:rPr>
                            <a:t>Formal Definition</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宋体" panose="02010600030101010101" pitchFamily="2" charset="-122"/>
                              <a:cs typeface="Times New Roman" panose="02020603050405020304" pitchFamily="18" charset="0"/>
                            </a:rPr>
                            <a:t>Description</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5097124"/>
                      </a:ext>
                    </a:extLst>
                  </a:tr>
                  <a:tr h="357378">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宋体" panose="02010600030101010101" pitchFamily="2" charset="-122"/>
                              <a:cs typeface="Times New Roman" panose="02020603050405020304" pitchFamily="18" charset="0"/>
                            </a:rPr>
                            <a:t>Count</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42117" t="-81356" r="-72786" b="-762712"/>
                          </a:stretch>
                        </a:blipFill>
                      </a:tcPr>
                    </a:tc>
                    <a:tc>
                      <a:txBody>
                        <a:bodyPr/>
                        <a:lstStyle/>
                        <a:p>
                          <a:pPr algn="ctr">
                            <a:lnSpc>
                              <a:spcPct val="150000"/>
                            </a:lnSpc>
                            <a:spcBef>
                              <a:spcPts val="180"/>
                            </a:spcBef>
                            <a:spcAft>
                              <a:spcPts val="180"/>
                            </a:spcAft>
                          </a:pPr>
                          <a:r>
                            <a:rPr lang="en-US" altLang="zh-CN" sz="1400" dirty="0">
                              <a:effectLst/>
                              <a:latin typeface="等线" panose="02010600030101010101" pitchFamily="2" charset="-122"/>
                              <a:ea typeface="宋体" panose="02010600030101010101" pitchFamily="2" charset="-122"/>
                              <a:cs typeface="Times New Roman" panose="02020603050405020304" pitchFamily="18" charset="0"/>
                            </a:rPr>
                            <a:t>Subsequence Log Count</a:t>
                          </a:r>
                          <a:endParaRPr lang="zh-CN" sz="14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1262697"/>
                      </a:ext>
                    </a:extLst>
                  </a:tr>
                  <a:tr h="730060">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宋体" panose="02010600030101010101" pitchFamily="2" charset="-122"/>
                              <a:cs typeface="Times New Roman" panose="02020603050405020304" pitchFamily="18" charset="0"/>
                            </a:rPr>
                            <a:t>Frequency</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42117" t="-89167" r="-72786" b="-275000"/>
                          </a:stretch>
                        </a:blipFill>
                      </a:tcPr>
                    </a:tc>
                    <a:tc>
                      <a:txBody>
                        <a:bodyPr/>
                        <a:lstStyle/>
                        <a:p>
                          <a:pPr algn="ctr">
                            <a:lnSpc>
                              <a:spcPct val="150000"/>
                            </a:lnSpc>
                            <a:spcBef>
                              <a:spcPts val="180"/>
                            </a:spcBef>
                            <a:spcAft>
                              <a:spcPts val="180"/>
                            </a:spcAft>
                          </a:pPr>
                          <a:r>
                            <a:rPr lang="en-US" altLang="zh-CN" sz="1400" dirty="0">
                              <a:effectLst/>
                              <a:latin typeface="等线" panose="02010600030101010101" pitchFamily="2" charset="-122"/>
                              <a:ea typeface="宋体" panose="02010600030101010101" pitchFamily="2" charset="-122"/>
                              <a:cs typeface="Times New Roman" panose="02020603050405020304" pitchFamily="18" charset="0"/>
                            </a:rPr>
                            <a:t>Subsequence Log Freq</a:t>
                          </a:r>
                          <a:endParaRPr lang="zh-CN" altLang="zh-CN" sz="1400" dirty="0">
                            <a:effectLst/>
                            <a:latin typeface="等线" panose="02010600030101010101" pitchFamily="2" charset="-122"/>
                            <a:ea typeface="+mn-ea"/>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7116389"/>
                      </a:ext>
                    </a:extLst>
                  </a:tr>
                  <a:tr h="977265">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宋体" panose="02010600030101010101" pitchFamily="2" charset="-122"/>
                              <a:cs typeface="Times New Roman" panose="02020603050405020304" pitchFamily="18" charset="0"/>
                            </a:rPr>
                            <a:t>Diff</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42117" t="-140994" r="-72786" b="-104969"/>
                          </a:stretch>
                        </a:blipFill>
                      </a:tcPr>
                    </a:tc>
                    <a:tc>
                      <a:txBody>
                        <a:bodyPr/>
                        <a:lstStyle/>
                        <a:p>
                          <a:pPr algn="ctr">
                            <a:lnSpc>
                              <a:spcPct val="150000"/>
                            </a:lnSpc>
                            <a:spcBef>
                              <a:spcPts val="180"/>
                            </a:spcBef>
                            <a:spcAft>
                              <a:spcPts val="180"/>
                            </a:spcAft>
                          </a:pPr>
                          <a:r>
                            <a:rPr lang="en-US" altLang="zh-CN" sz="1400" dirty="0">
                              <a:effectLst/>
                              <a:latin typeface="等线" panose="02010600030101010101" pitchFamily="2" charset="-122"/>
                              <a:ea typeface="宋体" panose="02010600030101010101" pitchFamily="2" charset="-122"/>
                              <a:cs typeface="Times New Roman" panose="02020603050405020304" pitchFamily="18" charset="0"/>
                            </a:rPr>
                            <a:t>Subsequence Time Interval Difference in Log Count</a:t>
                          </a:r>
                          <a:endParaRPr lang="zh-CN" sz="14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4128625"/>
                      </a:ext>
                    </a:extLst>
                  </a:tr>
                  <a:tr h="927608">
                    <a:tc>
                      <a:txBody>
                        <a:bodyPr/>
                        <a:lstStyle/>
                        <a:p>
                          <a:pPr algn="ctr">
                            <a:lnSpc>
                              <a:spcPct val="150000"/>
                            </a:lnSpc>
                            <a:spcBef>
                              <a:spcPts val="180"/>
                            </a:spcBef>
                            <a:spcAft>
                              <a:spcPts val="180"/>
                            </a:spcAft>
                          </a:pPr>
                          <a:r>
                            <a:rPr lang="en-US" altLang="zh-CN" sz="1400" b="1" dirty="0">
                              <a:effectLst/>
                              <a:latin typeface="等线" panose="02010600030101010101" pitchFamily="2" charset="-122"/>
                              <a:ea typeface="宋体" panose="02010600030101010101" pitchFamily="2" charset="-122"/>
                              <a:cs typeface="Times New Roman" panose="02020603050405020304" pitchFamily="18" charset="0"/>
                            </a:rPr>
                            <a:t>Overflow</a:t>
                          </a:r>
                          <a:endParaRPr lang="zh-CN" sz="1400" b="1"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42117" t="-255263" r="-72786" b="-11184"/>
                          </a:stretch>
                        </a:blipFill>
                      </a:tcPr>
                    </a:tc>
                    <a:tc>
                      <a:txBody>
                        <a:bodyPr/>
                        <a:lstStyle/>
                        <a:p>
                          <a:pPr algn="ctr">
                            <a:lnSpc>
                              <a:spcPct val="150000"/>
                            </a:lnSpc>
                            <a:spcBef>
                              <a:spcPts val="180"/>
                            </a:spcBef>
                            <a:spcAft>
                              <a:spcPts val="180"/>
                            </a:spcAft>
                          </a:pPr>
                          <a:r>
                            <a:rPr lang="en-US" altLang="zh-CN" sz="1400" dirty="0">
                              <a:effectLst/>
                              <a:latin typeface="等线" panose="02010600030101010101" pitchFamily="2" charset="-122"/>
                              <a:ea typeface="宋体" panose="02010600030101010101" pitchFamily="2" charset="-122"/>
                              <a:cs typeface="Times New Roman" panose="02020603050405020304" pitchFamily="18" charset="0"/>
                            </a:rPr>
                            <a:t>Whether the log count within a subsequence exceeds a threshold</a:t>
                          </a:r>
                          <a:endParaRPr lang="zh-CN" sz="14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0640019"/>
                      </a:ext>
                    </a:extLst>
                  </a:tr>
                </a:tbl>
              </a:graphicData>
            </a:graphic>
          </p:graphicFrame>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A25DB3A-C067-D7A9-9994-01801B8F7C65}"/>
                  </a:ext>
                </a:extLst>
              </p:cNvPr>
              <p:cNvSpPr txBox="1"/>
              <p:nvPr/>
            </p:nvSpPr>
            <p:spPr>
              <a:xfrm>
                <a:off x="6896313" y="1152645"/>
                <a:ext cx="4089716" cy="456367"/>
              </a:xfrm>
              <a:prstGeom prst="roundRect">
                <a:avLst/>
              </a:prstGeom>
              <a:noFill/>
              <a:ln>
                <a:solidFill>
                  <a:schemeClr val="tx1"/>
                </a:solidFill>
                <a:prstDash val="dash"/>
              </a:ln>
            </p:spPr>
            <p:txBody>
              <a:bodyPr wrap="square">
                <a:spAutoFit/>
              </a:bodyPr>
              <a:lstStyle/>
              <a:p>
                <a:r>
                  <a:rPr lang="en-US" altLang="zh-CN" sz="2000" dirty="0">
                    <a:solidFill>
                      <a:schemeClr val="accent5">
                        <a:lumMod val="75000"/>
                      </a:schemeClr>
                    </a:solidFill>
                    <a:latin typeface="+mn-ea"/>
                  </a:rPr>
                  <a:t>1.1 Statistical Features</a:t>
                </a:r>
                <a:r>
                  <a:rPr lang="zh-CN" altLang="en-US" sz="2000" dirty="0">
                    <a:solidFill>
                      <a:schemeClr val="accent5">
                        <a:lumMod val="75000"/>
                      </a:schemeClr>
                    </a:solidFill>
                    <a:latin typeface="+mn-ea"/>
                  </a:rPr>
                  <a:t> </a:t>
                </a:r>
                <a14:m>
                  <m:oMath xmlns:m="http://schemas.openxmlformats.org/officeDocument/2006/math">
                    <m:sSubSup>
                      <m:sSubSupPr>
                        <m:ctrlPr>
                          <a:rPr lang="en-US" altLang="zh-CN" sz="2000" i="1" dirty="0">
                            <a:solidFill>
                              <a:schemeClr val="accent5">
                                <a:lumMod val="75000"/>
                              </a:schemeClr>
                            </a:solidFill>
                            <a:latin typeface="Cambria Math" panose="02040503050406030204" pitchFamily="18" charset="0"/>
                          </a:rPr>
                        </m:ctrlPr>
                      </m:sSubSupPr>
                      <m:e>
                        <m:r>
                          <a:rPr lang="en-US" altLang="zh-CN" sz="2000" i="1" dirty="0">
                            <a:solidFill>
                              <a:schemeClr val="accent5">
                                <a:lumMod val="75000"/>
                              </a:schemeClr>
                            </a:solidFill>
                            <a:latin typeface="Cambria Math" panose="02040503050406030204" pitchFamily="18" charset="0"/>
                          </a:rPr>
                          <m:t>𝐹𝑎</m:t>
                        </m:r>
                      </m:e>
                      <m:sub>
                        <m:r>
                          <a:rPr lang="en-US" altLang="zh-CN" sz="2000" i="1" dirty="0">
                            <a:solidFill>
                              <a:schemeClr val="accent5">
                                <a:lumMod val="75000"/>
                              </a:schemeClr>
                            </a:solidFill>
                            <a:latin typeface="Cambria Math" panose="02040503050406030204" pitchFamily="18" charset="0"/>
                          </a:rPr>
                          <m:t>𝑑</m:t>
                        </m:r>
                      </m:sub>
                      <m:sup>
                        <m:r>
                          <a:rPr lang="en-US" altLang="zh-CN" sz="2000" i="1" dirty="0">
                            <a:solidFill>
                              <a:schemeClr val="accent5">
                                <a:lumMod val="75000"/>
                              </a:schemeClr>
                            </a:solidFill>
                            <a:latin typeface="Cambria Math" panose="02040503050406030204" pitchFamily="18" charset="0"/>
                          </a:rPr>
                          <m:t>𝑇</m:t>
                        </m:r>
                      </m:sup>
                    </m:sSubSup>
                    <m:r>
                      <a:rPr lang="en-US" altLang="zh-CN" sz="2000" i="1" dirty="0">
                        <a:solidFill>
                          <a:schemeClr val="accent5">
                            <a:lumMod val="75000"/>
                          </a:schemeClr>
                        </a:solidFill>
                        <a:latin typeface="Cambria Math" panose="02040503050406030204" pitchFamily="18" charset="0"/>
                      </a:rPr>
                      <m:t>∈</m:t>
                    </m:r>
                    <m:sSup>
                      <m:sSupPr>
                        <m:ctrlPr>
                          <a:rPr lang="en-US" altLang="zh-CN" sz="2000" i="1" dirty="0">
                            <a:solidFill>
                              <a:schemeClr val="accent5">
                                <a:lumMod val="75000"/>
                              </a:schemeClr>
                            </a:solidFill>
                            <a:latin typeface="Cambria Math" panose="02040503050406030204" pitchFamily="18" charset="0"/>
                          </a:rPr>
                        </m:ctrlPr>
                      </m:sSupPr>
                      <m:e>
                        <m:r>
                          <a:rPr lang="en-US" altLang="zh-CN" sz="2000" i="1" dirty="0">
                            <a:solidFill>
                              <a:schemeClr val="accent5">
                                <a:lumMod val="75000"/>
                              </a:schemeClr>
                            </a:solidFill>
                            <a:latin typeface="Cambria Math" panose="02040503050406030204" pitchFamily="18" charset="0"/>
                          </a:rPr>
                          <m:t>ℝ</m:t>
                        </m:r>
                      </m:e>
                      <m:sup>
                        <m:sSub>
                          <m:sSubPr>
                            <m:ctrlPr>
                              <a:rPr lang="en-US" altLang="zh-CN" sz="2000" i="1" dirty="0">
                                <a:solidFill>
                                  <a:schemeClr val="accent5">
                                    <a:lumMod val="75000"/>
                                  </a:schemeClr>
                                </a:solidFill>
                                <a:latin typeface="Cambria Math" panose="02040503050406030204" pitchFamily="18" charset="0"/>
                              </a:rPr>
                            </m:ctrlPr>
                          </m:sSubPr>
                          <m:e>
                            <m:r>
                              <a:rPr lang="en-US" altLang="zh-CN" sz="2000" i="1" dirty="0">
                                <a:solidFill>
                                  <a:schemeClr val="accent5">
                                    <a:lumMod val="75000"/>
                                  </a:schemeClr>
                                </a:solidFill>
                                <a:latin typeface="Cambria Math" panose="02040503050406030204" pitchFamily="18" charset="0"/>
                              </a:rPr>
                              <m:t>𝑑</m:t>
                            </m:r>
                          </m:e>
                          <m:sub>
                            <m:r>
                              <a:rPr lang="en-US" altLang="zh-CN" sz="2000" i="1" dirty="0">
                                <a:solidFill>
                                  <a:schemeClr val="accent5">
                                    <a:lumMod val="75000"/>
                                  </a:schemeClr>
                                </a:solidFill>
                                <a:latin typeface="Cambria Math" panose="02040503050406030204" pitchFamily="18" charset="0"/>
                              </a:rPr>
                              <m:t>𝑎</m:t>
                            </m:r>
                          </m:sub>
                        </m:sSub>
                      </m:sup>
                    </m:sSup>
                  </m:oMath>
                </a14:m>
                <a:endParaRPr lang="zh-CN" altLang="en-US" sz="2000" dirty="0">
                  <a:solidFill>
                    <a:schemeClr val="accent1"/>
                  </a:solidFill>
                  <a:latin typeface="+mn-ea"/>
                </a:endParaRPr>
              </a:p>
            </p:txBody>
          </p:sp>
        </mc:Choice>
        <mc:Fallback xmlns="">
          <p:sp>
            <p:nvSpPr>
              <p:cNvPr id="8" name="文本框 7">
                <a:extLst>
                  <a:ext uri="{FF2B5EF4-FFF2-40B4-BE49-F238E27FC236}">
                    <a16:creationId xmlns:a16="http://schemas.microsoft.com/office/drawing/2014/main" id="{AA25DB3A-C067-D7A9-9994-01801B8F7C65}"/>
                  </a:ext>
                </a:extLst>
              </p:cNvPr>
              <p:cNvSpPr txBox="1">
                <a:spLocks noRot="1" noChangeAspect="1" noMove="1" noResize="1" noEditPoints="1" noAdjustHandles="1" noChangeArrowheads="1" noChangeShapeType="1" noTextEdit="1"/>
              </p:cNvSpPr>
              <p:nvPr/>
            </p:nvSpPr>
            <p:spPr>
              <a:xfrm>
                <a:off x="6896313" y="1152645"/>
                <a:ext cx="4089716" cy="456367"/>
              </a:xfrm>
              <a:prstGeom prst="roundRect">
                <a:avLst/>
              </a:prstGeom>
              <a:blipFill>
                <a:blip r:embed="rId7"/>
                <a:stretch>
                  <a:fillRect l="-892" b="-16883"/>
                </a:stretch>
              </a:blipFill>
              <a:ln>
                <a:solidFill>
                  <a:schemeClr val="tx1"/>
                </a:solidFill>
                <a:prstDash val="dash"/>
              </a:ln>
            </p:spPr>
            <p:txBody>
              <a:bodyPr/>
              <a:lstStyle/>
              <a:p>
                <a:r>
                  <a:rPr lang="zh-CN" altLang="en-US">
                    <a:noFill/>
                  </a:rPr>
                  <a:t> </a:t>
                </a:r>
              </a:p>
            </p:txBody>
          </p:sp>
        </mc:Fallback>
      </mc:AlternateContent>
      <p:sp>
        <p:nvSpPr>
          <p:cNvPr id="10" name="箭头: 下 9">
            <a:extLst>
              <a:ext uri="{FF2B5EF4-FFF2-40B4-BE49-F238E27FC236}">
                <a16:creationId xmlns:a16="http://schemas.microsoft.com/office/drawing/2014/main" id="{92653FFA-38BF-4BDB-BFB2-01052680478F}"/>
              </a:ext>
            </a:extLst>
          </p:cNvPr>
          <p:cNvSpPr/>
          <p:nvPr/>
        </p:nvSpPr>
        <p:spPr>
          <a:xfrm rot="10800000">
            <a:off x="8827893" y="1709948"/>
            <a:ext cx="226556" cy="351472"/>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 name="文本框 10">
            <a:extLst>
              <a:ext uri="{FF2B5EF4-FFF2-40B4-BE49-F238E27FC236}">
                <a16:creationId xmlns:a16="http://schemas.microsoft.com/office/drawing/2014/main" id="{4E6E4654-BDBB-B6C9-377B-26DED2A6D3D3}"/>
              </a:ext>
            </a:extLst>
          </p:cNvPr>
          <p:cNvSpPr txBox="1"/>
          <p:nvPr/>
        </p:nvSpPr>
        <p:spPr>
          <a:xfrm>
            <a:off x="6332969" y="5436291"/>
            <a:ext cx="4884927" cy="1029000"/>
          </a:xfrm>
          <a:prstGeom prst="rect">
            <a:avLst/>
          </a:prstGeom>
          <a:noFill/>
        </p:spPr>
        <p:txBody>
          <a:bodyPr wrap="square">
            <a:spAutoFit/>
          </a:bodyPr>
          <a:lstStyle/>
          <a:p>
            <a:pPr marL="285750" indent="-285750">
              <a:lnSpc>
                <a:spcPct val="150000"/>
              </a:lnSpc>
              <a:buClr>
                <a:srgbClr val="C7000B"/>
              </a:buClr>
              <a:buFont typeface="Wingdings" panose="05000000000000000000" pitchFamily="2" charset="2"/>
              <a:buChar char="Ø"/>
            </a:pPr>
            <a:r>
              <a:rPr lang="en-US" altLang="zh-CN" sz="1400" dirty="0">
                <a:latin typeface="+mn-ea"/>
              </a:rPr>
              <a:t>In addition, we also consider statistical features such as counts, frequencies, and differences, which are determined by memory mechanisms or statistical analysis.</a:t>
            </a:r>
            <a:endParaRPr lang="zh-CN" altLang="zh-CN" sz="1400" dirty="0">
              <a:latin typeface="+mn-ea"/>
            </a:endParaRPr>
          </a:p>
        </p:txBody>
      </p:sp>
    </p:spTree>
    <p:extLst>
      <p:ext uri="{BB962C8B-B14F-4D97-AF65-F5344CB8AC3E}">
        <p14:creationId xmlns:p14="http://schemas.microsoft.com/office/powerpoint/2010/main" val="3398889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CC65E090-5354-42DF-BA76-C6AFCE3421C9}"/>
              </a:ext>
            </a:extLst>
          </p:cNvPr>
          <p:cNvSpPr txBox="1"/>
          <p:nvPr/>
        </p:nvSpPr>
        <p:spPr>
          <a:xfrm>
            <a:off x="790215" y="365302"/>
            <a:ext cx="7836200" cy="461665"/>
          </a:xfrm>
          <a:prstGeom prst="rect">
            <a:avLst/>
          </a:prstGeom>
          <a:noFill/>
        </p:spPr>
        <p:txBody>
          <a:bodyPr wrap="square" rtlCol="0">
            <a:spAutoFit/>
          </a:bodyPr>
          <a:lstStyle/>
          <a:p>
            <a:r>
              <a:rPr lang="en-US" altLang="zh-CN" sz="2400" b="1" dirty="0">
                <a:solidFill>
                  <a:srgbClr val="0070C0"/>
                </a:solidFill>
                <a:latin typeface="-apple-system"/>
              </a:rPr>
              <a:t>1.2 Event</a:t>
            </a:r>
            <a:r>
              <a:rPr lang="zh-CN" altLang="en-US" sz="2400" b="1" dirty="0">
                <a:solidFill>
                  <a:srgbClr val="0070C0"/>
                </a:solidFill>
                <a:latin typeface="-apple-system"/>
              </a:rPr>
              <a:t> </a:t>
            </a:r>
            <a:r>
              <a:rPr lang="en-US" altLang="zh-CN" sz="2400" b="1" dirty="0">
                <a:solidFill>
                  <a:srgbClr val="0070C0"/>
                </a:solidFill>
                <a:latin typeface="-apple-system"/>
              </a:rPr>
              <a:t>Content Analysis</a:t>
            </a:r>
          </a:p>
        </p:txBody>
      </p:sp>
      <p:sp>
        <p:nvSpPr>
          <p:cNvPr id="17" name="矩形: 圆角 16">
            <a:extLst>
              <a:ext uri="{FF2B5EF4-FFF2-40B4-BE49-F238E27FC236}">
                <a16:creationId xmlns:a16="http://schemas.microsoft.com/office/drawing/2014/main" id="{3C66BD88-D4DC-4B4A-A3C2-32D239D4C5C7}"/>
              </a:ext>
            </a:extLst>
          </p:cNvPr>
          <p:cNvSpPr/>
          <p:nvPr/>
        </p:nvSpPr>
        <p:spPr>
          <a:xfrm>
            <a:off x="7307711" y="1206094"/>
            <a:ext cx="1773721" cy="3288186"/>
          </a:xfrm>
          <a:prstGeom prst="roundRect">
            <a:avLst>
              <a:gd name="adj" fmla="val 7260"/>
            </a:avLst>
          </a:prstGeom>
          <a:solidFill>
            <a:srgbClr val="61B230">
              <a:lumMod val="20000"/>
              <a:lumOff val="80000"/>
            </a:srgb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kern="0"/>
            </a:def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pic>
        <p:nvPicPr>
          <p:cNvPr id="34" name="图片 33">
            <a:extLst>
              <a:ext uri="{FF2B5EF4-FFF2-40B4-BE49-F238E27FC236}">
                <a16:creationId xmlns:a16="http://schemas.microsoft.com/office/drawing/2014/main" id="{73C53C7B-4A1A-4036-BCB1-8E4FFFF50E79}"/>
              </a:ext>
            </a:extLst>
          </p:cNvPr>
          <p:cNvPicPr>
            <a:picLocks noChangeAspect="1"/>
          </p:cNvPicPr>
          <p:nvPr/>
        </p:nvPicPr>
        <p:blipFill>
          <a:blip r:embed="rId3"/>
          <a:stretch>
            <a:fillRect/>
          </a:stretch>
        </p:blipFill>
        <p:spPr>
          <a:xfrm>
            <a:off x="7479360" y="1296094"/>
            <a:ext cx="1449057" cy="2880000"/>
          </a:xfrm>
          <a:prstGeom prst="rect">
            <a:avLst/>
          </a:prstGeom>
        </p:spPr>
      </p:pic>
      <p:pic>
        <p:nvPicPr>
          <p:cNvPr id="35" name="图片 34">
            <a:extLst>
              <a:ext uri="{FF2B5EF4-FFF2-40B4-BE49-F238E27FC236}">
                <a16:creationId xmlns:a16="http://schemas.microsoft.com/office/drawing/2014/main" id="{9566667C-AC6C-4639-ADFD-09411E0490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2697" y="2228693"/>
            <a:ext cx="868500" cy="868500"/>
          </a:xfrm>
          <a:prstGeom prst="rect">
            <a:avLst/>
          </a:prstGeom>
        </p:spPr>
      </p:pic>
      <p:sp>
        <p:nvSpPr>
          <p:cNvPr id="36" name="矩形: 圆角 35">
            <a:extLst>
              <a:ext uri="{FF2B5EF4-FFF2-40B4-BE49-F238E27FC236}">
                <a16:creationId xmlns:a16="http://schemas.microsoft.com/office/drawing/2014/main" id="{924B75AF-AF56-46A7-93BB-ED68FA7560EC}"/>
              </a:ext>
            </a:extLst>
          </p:cNvPr>
          <p:cNvSpPr/>
          <p:nvPr/>
        </p:nvSpPr>
        <p:spPr>
          <a:xfrm>
            <a:off x="3829389" y="1206093"/>
            <a:ext cx="3240000" cy="3288187"/>
          </a:xfrm>
          <a:prstGeom prst="roundRect">
            <a:avLst>
              <a:gd name="adj" fmla="val 7260"/>
            </a:avLst>
          </a:prstGeom>
          <a:solidFill>
            <a:srgbClr val="30B5C5">
              <a:lumMod val="20000"/>
              <a:lumOff val="80000"/>
            </a:srgb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kern="0"/>
            </a:def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pic>
        <p:nvPicPr>
          <p:cNvPr id="37" name="图片 36">
            <a:extLst>
              <a:ext uri="{FF2B5EF4-FFF2-40B4-BE49-F238E27FC236}">
                <a16:creationId xmlns:a16="http://schemas.microsoft.com/office/drawing/2014/main" id="{ECA3B0C3-EA9C-4232-B8D6-4BA1F2336570}"/>
              </a:ext>
            </a:extLst>
          </p:cNvPr>
          <p:cNvPicPr>
            <a:picLocks noChangeAspect="1"/>
          </p:cNvPicPr>
          <p:nvPr/>
        </p:nvPicPr>
        <p:blipFill>
          <a:blip r:embed="rId5"/>
          <a:stretch>
            <a:fillRect/>
          </a:stretch>
        </p:blipFill>
        <p:spPr>
          <a:xfrm>
            <a:off x="4009389" y="1296094"/>
            <a:ext cx="2880000" cy="2880000"/>
          </a:xfrm>
          <a:prstGeom prst="rect">
            <a:avLst/>
          </a:prstGeom>
        </p:spPr>
      </p:pic>
      <p:sp>
        <p:nvSpPr>
          <p:cNvPr id="38" name="矩形: 圆角 37">
            <a:extLst>
              <a:ext uri="{FF2B5EF4-FFF2-40B4-BE49-F238E27FC236}">
                <a16:creationId xmlns:a16="http://schemas.microsoft.com/office/drawing/2014/main" id="{4A3E3376-A400-4DD9-9831-DB2163362BE1}"/>
              </a:ext>
            </a:extLst>
          </p:cNvPr>
          <p:cNvSpPr/>
          <p:nvPr/>
        </p:nvSpPr>
        <p:spPr>
          <a:xfrm>
            <a:off x="1498740" y="1206094"/>
            <a:ext cx="2111376" cy="3296000"/>
          </a:xfrm>
          <a:prstGeom prst="roundRect">
            <a:avLst>
              <a:gd name="adj" fmla="val 7260"/>
            </a:avLst>
          </a:prstGeom>
          <a:solidFill>
            <a:srgbClr val="FFFFFF">
              <a:lumMod val="95000"/>
            </a:srgb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kern="0"/>
            </a:def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666666"/>
              </a:solidFill>
              <a:effectLst/>
              <a:uLnTx/>
              <a:uFillTx/>
              <a:latin typeface="Calibri" panose="020F0502020204030204"/>
              <a:ea typeface="等线" panose="02010600030101010101" pitchFamily="2" charset="-122"/>
              <a:cs typeface="+mn-cs"/>
            </a:endParaRPr>
          </a:p>
        </p:txBody>
      </p:sp>
      <p:pic>
        <p:nvPicPr>
          <p:cNvPr id="39" name="图片 38">
            <a:extLst>
              <a:ext uri="{FF2B5EF4-FFF2-40B4-BE49-F238E27FC236}">
                <a16:creationId xmlns:a16="http://schemas.microsoft.com/office/drawing/2014/main" id="{33C1AC15-C5FA-4A74-8E55-48523A75475E}"/>
              </a:ext>
            </a:extLst>
          </p:cNvPr>
          <p:cNvPicPr>
            <a:picLocks noChangeAspect="1"/>
          </p:cNvPicPr>
          <p:nvPr/>
        </p:nvPicPr>
        <p:blipFill>
          <a:blip r:embed="rId6"/>
          <a:stretch>
            <a:fillRect/>
          </a:stretch>
        </p:blipFill>
        <p:spPr>
          <a:xfrm>
            <a:off x="2865800" y="2788100"/>
            <a:ext cx="648000" cy="648000"/>
          </a:xfrm>
          <a:prstGeom prst="rect">
            <a:avLst/>
          </a:prstGeom>
        </p:spPr>
      </p:pic>
      <p:pic>
        <p:nvPicPr>
          <p:cNvPr id="40" name="图片 39">
            <a:extLst>
              <a:ext uri="{FF2B5EF4-FFF2-40B4-BE49-F238E27FC236}">
                <a16:creationId xmlns:a16="http://schemas.microsoft.com/office/drawing/2014/main" id="{DEC97F38-26FC-4DCD-B7FC-A4A91D50D135}"/>
              </a:ext>
            </a:extLst>
          </p:cNvPr>
          <p:cNvPicPr>
            <a:picLocks noChangeAspect="1"/>
          </p:cNvPicPr>
          <p:nvPr/>
        </p:nvPicPr>
        <p:blipFill>
          <a:blip r:embed="rId7"/>
          <a:stretch>
            <a:fillRect/>
          </a:stretch>
        </p:blipFill>
        <p:spPr>
          <a:xfrm>
            <a:off x="1621659" y="1757837"/>
            <a:ext cx="932769" cy="1896020"/>
          </a:xfrm>
          <a:prstGeom prst="rect">
            <a:avLst/>
          </a:prstGeom>
        </p:spPr>
      </p:pic>
      <p:cxnSp>
        <p:nvCxnSpPr>
          <p:cNvPr id="41" name="直接连接符 40">
            <a:extLst>
              <a:ext uri="{FF2B5EF4-FFF2-40B4-BE49-F238E27FC236}">
                <a16:creationId xmlns:a16="http://schemas.microsoft.com/office/drawing/2014/main" id="{07DBFB02-FEF4-4ADF-A72D-8EB0C1001195}"/>
              </a:ext>
            </a:extLst>
          </p:cNvPr>
          <p:cNvCxnSpPr/>
          <p:nvPr/>
        </p:nvCxnSpPr>
        <p:spPr>
          <a:xfrm flipV="1">
            <a:off x="1843448" y="2151973"/>
            <a:ext cx="138112" cy="273844"/>
          </a:xfrm>
          <a:prstGeom prst="line">
            <a:avLst/>
          </a:prstGeom>
          <a:noFill/>
          <a:ln w="6350" cap="flat" cmpd="sng" algn="ctr">
            <a:solidFill>
              <a:srgbClr val="E9002F"/>
            </a:solidFill>
            <a:prstDash val="solid"/>
            <a:miter lim="800000"/>
          </a:ln>
          <a:effectLst/>
        </p:spPr>
      </p:cxnSp>
      <p:cxnSp>
        <p:nvCxnSpPr>
          <p:cNvPr id="42" name="直接连接符 41">
            <a:extLst>
              <a:ext uri="{FF2B5EF4-FFF2-40B4-BE49-F238E27FC236}">
                <a16:creationId xmlns:a16="http://schemas.microsoft.com/office/drawing/2014/main" id="{CC382E13-C1D7-4AB2-8C61-D11C015D86E1}"/>
              </a:ext>
            </a:extLst>
          </p:cNvPr>
          <p:cNvCxnSpPr>
            <a:cxnSpLocks/>
          </p:cNvCxnSpPr>
          <p:nvPr/>
        </p:nvCxnSpPr>
        <p:spPr>
          <a:xfrm>
            <a:off x="1843448" y="2705847"/>
            <a:ext cx="138112" cy="548645"/>
          </a:xfrm>
          <a:prstGeom prst="line">
            <a:avLst/>
          </a:prstGeom>
          <a:noFill/>
          <a:ln w="6350" cap="flat" cmpd="sng" algn="ctr">
            <a:solidFill>
              <a:srgbClr val="E9002F"/>
            </a:solidFill>
            <a:prstDash val="solid"/>
            <a:miter lim="800000"/>
          </a:ln>
          <a:effectLst/>
        </p:spPr>
      </p:cxnSp>
      <p:cxnSp>
        <p:nvCxnSpPr>
          <p:cNvPr id="43" name="直接连接符 42">
            <a:extLst>
              <a:ext uri="{FF2B5EF4-FFF2-40B4-BE49-F238E27FC236}">
                <a16:creationId xmlns:a16="http://schemas.microsoft.com/office/drawing/2014/main" id="{AC5577AB-06CB-4D6C-80A6-57979E622C04}"/>
              </a:ext>
            </a:extLst>
          </p:cNvPr>
          <p:cNvCxnSpPr>
            <a:cxnSpLocks/>
          </p:cNvCxnSpPr>
          <p:nvPr/>
        </p:nvCxnSpPr>
        <p:spPr>
          <a:xfrm flipV="1">
            <a:off x="2193269" y="1757837"/>
            <a:ext cx="138112" cy="394136"/>
          </a:xfrm>
          <a:prstGeom prst="line">
            <a:avLst/>
          </a:prstGeom>
          <a:noFill/>
          <a:ln w="6350" cap="flat" cmpd="sng" algn="ctr">
            <a:solidFill>
              <a:srgbClr val="E9002F"/>
            </a:solidFill>
            <a:prstDash val="solid"/>
            <a:miter lim="800000"/>
          </a:ln>
          <a:effectLst/>
        </p:spPr>
      </p:cxnSp>
      <p:cxnSp>
        <p:nvCxnSpPr>
          <p:cNvPr id="44" name="直接连接符 43">
            <a:extLst>
              <a:ext uri="{FF2B5EF4-FFF2-40B4-BE49-F238E27FC236}">
                <a16:creationId xmlns:a16="http://schemas.microsoft.com/office/drawing/2014/main" id="{E78F15AB-6EF6-4263-BBD6-7BE71F65A03A}"/>
              </a:ext>
            </a:extLst>
          </p:cNvPr>
          <p:cNvCxnSpPr>
            <a:cxnSpLocks/>
          </p:cNvCxnSpPr>
          <p:nvPr/>
        </p:nvCxnSpPr>
        <p:spPr>
          <a:xfrm>
            <a:off x="2193269" y="2432003"/>
            <a:ext cx="138112" cy="1203489"/>
          </a:xfrm>
          <a:prstGeom prst="line">
            <a:avLst/>
          </a:prstGeom>
          <a:noFill/>
          <a:ln w="6350" cap="flat" cmpd="sng" algn="ctr">
            <a:solidFill>
              <a:srgbClr val="E9002F"/>
            </a:solidFill>
            <a:prstDash val="solid"/>
            <a:miter lim="800000"/>
          </a:ln>
          <a:effectLst/>
        </p:spPr>
      </p:cxnSp>
      <p:cxnSp>
        <p:nvCxnSpPr>
          <p:cNvPr id="45" name="直接连接符 44">
            <a:extLst>
              <a:ext uri="{FF2B5EF4-FFF2-40B4-BE49-F238E27FC236}">
                <a16:creationId xmlns:a16="http://schemas.microsoft.com/office/drawing/2014/main" id="{F5672914-FA9A-47F0-A07E-2C75A73CCDC1}"/>
              </a:ext>
            </a:extLst>
          </p:cNvPr>
          <p:cNvCxnSpPr>
            <a:cxnSpLocks/>
          </p:cNvCxnSpPr>
          <p:nvPr/>
        </p:nvCxnSpPr>
        <p:spPr>
          <a:xfrm flipH="1">
            <a:off x="2543090" y="1327594"/>
            <a:ext cx="322711" cy="650280"/>
          </a:xfrm>
          <a:prstGeom prst="line">
            <a:avLst/>
          </a:prstGeom>
          <a:noFill/>
          <a:ln w="6350" cap="flat" cmpd="sng" algn="ctr">
            <a:solidFill>
              <a:srgbClr val="E9002F"/>
            </a:solidFill>
            <a:prstDash val="solid"/>
            <a:miter lim="800000"/>
          </a:ln>
          <a:effectLst/>
        </p:spPr>
      </p:cxnSp>
      <p:cxnSp>
        <p:nvCxnSpPr>
          <p:cNvPr id="46" name="直接连接符 45">
            <a:extLst>
              <a:ext uri="{FF2B5EF4-FFF2-40B4-BE49-F238E27FC236}">
                <a16:creationId xmlns:a16="http://schemas.microsoft.com/office/drawing/2014/main" id="{AB5CF2D3-09E1-4324-A5C5-DE53F8037540}"/>
              </a:ext>
            </a:extLst>
          </p:cNvPr>
          <p:cNvCxnSpPr>
            <a:cxnSpLocks/>
          </p:cNvCxnSpPr>
          <p:nvPr/>
        </p:nvCxnSpPr>
        <p:spPr>
          <a:xfrm>
            <a:off x="2535023" y="2101654"/>
            <a:ext cx="330777" cy="2064699"/>
          </a:xfrm>
          <a:prstGeom prst="line">
            <a:avLst/>
          </a:prstGeom>
          <a:noFill/>
          <a:ln w="6350" cap="flat" cmpd="sng" algn="ctr">
            <a:solidFill>
              <a:srgbClr val="E9002F"/>
            </a:solidFill>
            <a:prstDash val="solid"/>
            <a:miter lim="800000"/>
          </a:ln>
          <a:effectLst/>
        </p:spPr>
      </p:cxnSp>
      <p:cxnSp>
        <p:nvCxnSpPr>
          <p:cNvPr id="47" name="直接连接符 46">
            <a:extLst>
              <a:ext uri="{FF2B5EF4-FFF2-40B4-BE49-F238E27FC236}">
                <a16:creationId xmlns:a16="http://schemas.microsoft.com/office/drawing/2014/main" id="{2761C7E8-232C-4980-AB24-26800DCDED94}"/>
              </a:ext>
            </a:extLst>
          </p:cNvPr>
          <p:cNvCxnSpPr>
            <a:cxnSpLocks/>
          </p:cNvCxnSpPr>
          <p:nvPr/>
        </p:nvCxnSpPr>
        <p:spPr>
          <a:xfrm flipV="1">
            <a:off x="3506016" y="1295200"/>
            <a:ext cx="513897" cy="762647"/>
          </a:xfrm>
          <a:prstGeom prst="line">
            <a:avLst/>
          </a:prstGeom>
          <a:noFill/>
          <a:ln w="6350" cap="flat" cmpd="sng" algn="ctr">
            <a:solidFill>
              <a:srgbClr val="E9002F"/>
            </a:solidFill>
            <a:prstDash val="solid"/>
            <a:miter lim="800000"/>
          </a:ln>
          <a:effectLst/>
        </p:spPr>
      </p:cxnSp>
      <p:cxnSp>
        <p:nvCxnSpPr>
          <p:cNvPr id="48" name="直接连接符 47">
            <a:extLst>
              <a:ext uri="{FF2B5EF4-FFF2-40B4-BE49-F238E27FC236}">
                <a16:creationId xmlns:a16="http://schemas.microsoft.com/office/drawing/2014/main" id="{554B7026-5B1C-4FCE-8F93-0875AB16258C}"/>
              </a:ext>
            </a:extLst>
          </p:cNvPr>
          <p:cNvCxnSpPr>
            <a:cxnSpLocks/>
          </p:cNvCxnSpPr>
          <p:nvPr/>
        </p:nvCxnSpPr>
        <p:spPr>
          <a:xfrm>
            <a:off x="3506016" y="2697043"/>
            <a:ext cx="513897" cy="1476202"/>
          </a:xfrm>
          <a:prstGeom prst="line">
            <a:avLst/>
          </a:prstGeom>
          <a:noFill/>
          <a:ln w="6350" cap="flat" cmpd="sng" algn="ctr">
            <a:solidFill>
              <a:srgbClr val="E9002F"/>
            </a:solidFill>
            <a:prstDash val="solid"/>
            <a:miter lim="800000"/>
          </a:ln>
          <a:effectLst/>
        </p:spPr>
      </p:cxnSp>
      <p:pic>
        <p:nvPicPr>
          <p:cNvPr id="49" name="图片 48">
            <a:extLst>
              <a:ext uri="{FF2B5EF4-FFF2-40B4-BE49-F238E27FC236}">
                <a16:creationId xmlns:a16="http://schemas.microsoft.com/office/drawing/2014/main" id="{99BB78F2-0820-403F-B960-F6B8F05F66D4}"/>
              </a:ext>
            </a:extLst>
          </p:cNvPr>
          <p:cNvPicPr>
            <a:picLocks noChangeAspect="1"/>
          </p:cNvPicPr>
          <p:nvPr/>
        </p:nvPicPr>
        <p:blipFill>
          <a:blip r:embed="rId6"/>
          <a:stretch>
            <a:fillRect/>
          </a:stretch>
        </p:blipFill>
        <p:spPr>
          <a:xfrm>
            <a:off x="2866891" y="3517460"/>
            <a:ext cx="648000" cy="648000"/>
          </a:xfrm>
          <a:prstGeom prst="rect">
            <a:avLst/>
          </a:prstGeom>
        </p:spPr>
      </p:pic>
      <p:pic>
        <p:nvPicPr>
          <p:cNvPr id="50" name="图片 49">
            <a:extLst>
              <a:ext uri="{FF2B5EF4-FFF2-40B4-BE49-F238E27FC236}">
                <a16:creationId xmlns:a16="http://schemas.microsoft.com/office/drawing/2014/main" id="{B0C55BF8-7A99-49E7-AB71-163F92B4CF6C}"/>
              </a:ext>
            </a:extLst>
          </p:cNvPr>
          <p:cNvPicPr>
            <a:picLocks noChangeAspect="1"/>
          </p:cNvPicPr>
          <p:nvPr/>
        </p:nvPicPr>
        <p:blipFill>
          <a:blip r:embed="rId8"/>
          <a:stretch>
            <a:fillRect/>
          </a:stretch>
        </p:blipFill>
        <p:spPr>
          <a:xfrm>
            <a:off x="2863618" y="2057847"/>
            <a:ext cx="649091" cy="648000"/>
          </a:xfrm>
          <a:prstGeom prst="rect">
            <a:avLst/>
          </a:prstGeom>
        </p:spPr>
      </p:pic>
      <p:pic>
        <p:nvPicPr>
          <p:cNvPr id="51" name="图片 50">
            <a:extLst>
              <a:ext uri="{FF2B5EF4-FFF2-40B4-BE49-F238E27FC236}">
                <a16:creationId xmlns:a16="http://schemas.microsoft.com/office/drawing/2014/main" id="{0E2EC60D-A3A7-428F-A87C-C65D8A3CF4DD}"/>
              </a:ext>
            </a:extLst>
          </p:cNvPr>
          <p:cNvPicPr>
            <a:picLocks noChangeAspect="1"/>
          </p:cNvPicPr>
          <p:nvPr/>
        </p:nvPicPr>
        <p:blipFill>
          <a:blip r:embed="rId6"/>
          <a:stretch>
            <a:fillRect/>
          </a:stretch>
        </p:blipFill>
        <p:spPr>
          <a:xfrm>
            <a:off x="2864709" y="1329874"/>
            <a:ext cx="648000" cy="648000"/>
          </a:xfrm>
          <a:prstGeom prst="rect">
            <a:avLst/>
          </a:prstGeom>
        </p:spPr>
      </p:pic>
      <p:cxnSp>
        <p:nvCxnSpPr>
          <p:cNvPr id="52" name="直接连接符 51">
            <a:extLst>
              <a:ext uri="{FF2B5EF4-FFF2-40B4-BE49-F238E27FC236}">
                <a16:creationId xmlns:a16="http://schemas.microsoft.com/office/drawing/2014/main" id="{5420C72A-71E1-4BEA-A508-0ACE72E7B12E}"/>
              </a:ext>
            </a:extLst>
          </p:cNvPr>
          <p:cNvCxnSpPr>
            <a:cxnSpLocks/>
          </p:cNvCxnSpPr>
          <p:nvPr/>
        </p:nvCxnSpPr>
        <p:spPr>
          <a:xfrm flipV="1">
            <a:off x="6296385" y="1295200"/>
            <a:ext cx="1182975" cy="573406"/>
          </a:xfrm>
          <a:prstGeom prst="line">
            <a:avLst/>
          </a:prstGeom>
          <a:noFill/>
          <a:ln w="6350" cap="flat" cmpd="sng" algn="ctr">
            <a:solidFill>
              <a:srgbClr val="E9002F"/>
            </a:solidFill>
            <a:prstDash val="solid"/>
            <a:miter lim="800000"/>
          </a:ln>
          <a:effectLst/>
        </p:spPr>
      </p:cxnSp>
      <p:cxnSp>
        <p:nvCxnSpPr>
          <p:cNvPr id="53" name="直接连接符 52">
            <a:extLst>
              <a:ext uri="{FF2B5EF4-FFF2-40B4-BE49-F238E27FC236}">
                <a16:creationId xmlns:a16="http://schemas.microsoft.com/office/drawing/2014/main" id="{25847207-5ED3-42B9-BD82-C354BE4D9DCC}"/>
              </a:ext>
            </a:extLst>
          </p:cNvPr>
          <p:cNvCxnSpPr>
            <a:cxnSpLocks/>
          </p:cNvCxnSpPr>
          <p:nvPr/>
        </p:nvCxnSpPr>
        <p:spPr>
          <a:xfrm>
            <a:off x="6308383" y="2151973"/>
            <a:ext cx="1170977" cy="2014380"/>
          </a:xfrm>
          <a:prstGeom prst="line">
            <a:avLst/>
          </a:prstGeom>
          <a:noFill/>
          <a:ln w="6350" cap="flat" cmpd="sng" algn="ctr">
            <a:solidFill>
              <a:srgbClr val="E9002F"/>
            </a:solidFill>
            <a:prstDash val="solid"/>
            <a:miter lim="800000"/>
          </a:ln>
          <a:effectLst/>
        </p:spPr>
      </p:cxnSp>
      <p:cxnSp>
        <p:nvCxnSpPr>
          <p:cNvPr id="54" name="直接连接符 53">
            <a:extLst>
              <a:ext uri="{FF2B5EF4-FFF2-40B4-BE49-F238E27FC236}">
                <a16:creationId xmlns:a16="http://schemas.microsoft.com/office/drawing/2014/main" id="{3C599F6B-0B95-49ED-A3DC-06DBA50FFD5B}"/>
              </a:ext>
            </a:extLst>
          </p:cNvPr>
          <p:cNvCxnSpPr>
            <a:cxnSpLocks/>
          </p:cNvCxnSpPr>
          <p:nvPr/>
        </p:nvCxnSpPr>
        <p:spPr>
          <a:xfrm flipV="1">
            <a:off x="1292585" y="2432003"/>
            <a:ext cx="329074" cy="146214"/>
          </a:xfrm>
          <a:prstGeom prst="line">
            <a:avLst/>
          </a:prstGeom>
          <a:noFill/>
          <a:ln w="6350" cap="flat" cmpd="sng" algn="ctr">
            <a:solidFill>
              <a:srgbClr val="E9002F"/>
            </a:solidFill>
            <a:prstDash val="solid"/>
            <a:miter lim="800000"/>
          </a:ln>
          <a:effectLst/>
        </p:spPr>
      </p:cxnSp>
      <p:cxnSp>
        <p:nvCxnSpPr>
          <p:cNvPr id="55" name="直接连接符 54">
            <a:extLst>
              <a:ext uri="{FF2B5EF4-FFF2-40B4-BE49-F238E27FC236}">
                <a16:creationId xmlns:a16="http://schemas.microsoft.com/office/drawing/2014/main" id="{4D20B654-8EA4-450B-8BD1-186F54AF9F3E}"/>
              </a:ext>
            </a:extLst>
          </p:cNvPr>
          <p:cNvCxnSpPr>
            <a:cxnSpLocks/>
          </p:cNvCxnSpPr>
          <p:nvPr/>
        </p:nvCxnSpPr>
        <p:spPr>
          <a:xfrm>
            <a:off x="1292585" y="2788100"/>
            <a:ext cx="345567" cy="192069"/>
          </a:xfrm>
          <a:prstGeom prst="line">
            <a:avLst/>
          </a:prstGeom>
          <a:noFill/>
          <a:ln w="6350" cap="flat" cmpd="sng" algn="ctr">
            <a:solidFill>
              <a:srgbClr val="E9002F"/>
            </a:solidFill>
            <a:prstDash val="solid"/>
            <a:miter lim="800000"/>
          </a:ln>
          <a:effectLst/>
        </p:spPr>
      </p:cxnSp>
      <p:sp>
        <p:nvSpPr>
          <p:cNvPr id="56" name="文本框 60">
            <a:extLst>
              <a:ext uri="{FF2B5EF4-FFF2-40B4-BE49-F238E27FC236}">
                <a16:creationId xmlns:a16="http://schemas.microsoft.com/office/drawing/2014/main" id="{A2EAB22D-FACD-4849-A921-B00FA114057B}"/>
              </a:ext>
            </a:extLst>
          </p:cNvPr>
          <p:cNvSpPr txBox="1"/>
          <p:nvPr/>
        </p:nvSpPr>
        <p:spPr>
          <a:xfrm>
            <a:off x="1487402" y="4153226"/>
            <a:ext cx="2111376" cy="341055"/>
          </a:xfrm>
          <a:prstGeom prst="rect">
            <a:avLst/>
          </a:prstGeom>
          <a:noFill/>
        </p:spPr>
        <p:txBody>
          <a:bodyPr wrap="square">
            <a:spAutoFit/>
          </a:bodyPr>
          <a:lstStyle>
            <a:defPPr>
              <a:defRPr kern="0"/>
            </a:defPPr>
          </a:lstStyle>
          <a:p>
            <a:pPr algn="ctr" defTabSz="914478" rtl="0">
              <a:lnSpc>
                <a:spcPct val="150000"/>
              </a:lnSpc>
            </a:pPr>
            <a:r>
              <a:rPr lang="en-US" altLang="zh-CN" sz="1200" b="1" kern="1200" dirty="0">
                <a:solidFill>
                  <a:srgbClr val="000000"/>
                </a:solidFill>
                <a:latin typeface="等线" panose="02010600030101010101" pitchFamily="2" charset="-122"/>
                <a:ea typeface="等线" panose="02010600030101010101" pitchFamily="2" charset="-122"/>
                <a:cs typeface="+mn-cs"/>
              </a:rPr>
              <a:t>DIMM&gt;Rank&gt;Device&gt;Bank</a:t>
            </a:r>
            <a:endParaRPr lang="zh-CN" altLang="en-US" sz="1200" b="1" kern="1200" dirty="0">
              <a:solidFill>
                <a:srgbClr val="1D1D1A"/>
              </a:solidFill>
              <a:latin typeface="Calibri" panose="020F0502020204030204"/>
              <a:ea typeface="等线" panose="02010600030101010101" pitchFamily="2" charset="-122"/>
              <a:cs typeface="+mn-cs"/>
            </a:endParaRPr>
          </a:p>
        </p:txBody>
      </p:sp>
      <p:sp>
        <p:nvSpPr>
          <p:cNvPr id="57" name="文本框 61">
            <a:extLst>
              <a:ext uri="{FF2B5EF4-FFF2-40B4-BE49-F238E27FC236}">
                <a16:creationId xmlns:a16="http://schemas.microsoft.com/office/drawing/2014/main" id="{8C336E16-322F-4F71-9583-3EC98342835A}"/>
              </a:ext>
            </a:extLst>
          </p:cNvPr>
          <p:cNvSpPr txBox="1"/>
          <p:nvPr/>
        </p:nvSpPr>
        <p:spPr>
          <a:xfrm>
            <a:off x="3829389" y="4153226"/>
            <a:ext cx="3240000" cy="341055"/>
          </a:xfrm>
          <a:prstGeom prst="rect">
            <a:avLst/>
          </a:prstGeom>
          <a:noFill/>
        </p:spPr>
        <p:txBody>
          <a:bodyPr wrap="square">
            <a:spAutoFit/>
          </a:bodyPr>
          <a:lstStyle>
            <a:defPPr>
              <a:defRPr kern="0"/>
            </a:defPPr>
          </a:lstStyle>
          <a:p>
            <a:pPr algn="ctr" defTabSz="914478" rtl="0">
              <a:lnSpc>
                <a:spcPct val="150000"/>
              </a:lnSpc>
            </a:pPr>
            <a:r>
              <a:rPr lang="en-US" altLang="zh-CN" sz="1200" b="1" kern="1200" dirty="0">
                <a:solidFill>
                  <a:srgbClr val="000000"/>
                </a:solidFill>
                <a:latin typeface="等线" panose="02010600030101010101" pitchFamily="2" charset="-122"/>
                <a:ea typeface="等线" panose="02010600030101010101" pitchFamily="2" charset="-122"/>
                <a:cs typeface="+mn-cs"/>
              </a:rPr>
              <a:t>Bank</a:t>
            </a:r>
            <a:endParaRPr lang="zh-CN" altLang="en-US" sz="1200" b="1" kern="1200" dirty="0">
              <a:solidFill>
                <a:srgbClr val="1D1D1A"/>
              </a:solidFill>
              <a:latin typeface="Calibri" panose="020F0502020204030204"/>
              <a:ea typeface="等线" panose="02010600030101010101" pitchFamily="2" charset="-122"/>
              <a:cs typeface="+mn-cs"/>
            </a:endParaRPr>
          </a:p>
        </p:txBody>
      </p:sp>
      <p:sp>
        <p:nvSpPr>
          <p:cNvPr id="58" name="文本框 62">
            <a:extLst>
              <a:ext uri="{FF2B5EF4-FFF2-40B4-BE49-F238E27FC236}">
                <a16:creationId xmlns:a16="http://schemas.microsoft.com/office/drawing/2014/main" id="{92668F2B-F746-4E22-9004-BCAECD560443}"/>
              </a:ext>
            </a:extLst>
          </p:cNvPr>
          <p:cNvSpPr txBox="1"/>
          <p:nvPr/>
        </p:nvSpPr>
        <p:spPr>
          <a:xfrm>
            <a:off x="7148201" y="4145088"/>
            <a:ext cx="2111376" cy="341055"/>
          </a:xfrm>
          <a:prstGeom prst="rect">
            <a:avLst/>
          </a:prstGeom>
          <a:noFill/>
        </p:spPr>
        <p:txBody>
          <a:bodyPr wrap="square">
            <a:spAutoFit/>
          </a:bodyPr>
          <a:lstStyle>
            <a:defPPr>
              <a:defRPr kern="0"/>
            </a:defPPr>
          </a:lstStyle>
          <a:p>
            <a:pPr algn="ctr" defTabSz="914478" rtl="0">
              <a:lnSpc>
                <a:spcPct val="150000"/>
              </a:lnSpc>
            </a:pPr>
            <a:r>
              <a:rPr lang="en-US" altLang="zh-CN" sz="1200" b="1" kern="1200" dirty="0">
                <a:solidFill>
                  <a:srgbClr val="000000"/>
                </a:solidFill>
                <a:latin typeface="等线" panose="02010600030101010101" pitchFamily="2" charset="-122"/>
                <a:ea typeface="等线" panose="02010600030101010101" pitchFamily="2" charset="-122"/>
                <a:cs typeface="+mn-cs"/>
              </a:rPr>
              <a:t>DQ-Beat Matrix</a:t>
            </a:r>
            <a:endParaRPr lang="zh-CN" altLang="en-US" sz="1200" b="1" kern="1200" dirty="0">
              <a:solidFill>
                <a:srgbClr val="1D1D1A"/>
              </a:solidFill>
              <a:latin typeface="Calibri" panose="020F0502020204030204"/>
              <a:ea typeface="等线" panose="02010600030101010101" pitchFamily="2" charset="-122"/>
              <a:cs typeface="+mn-cs"/>
            </a:endParaRPr>
          </a:p>
        </p:txBody>
      </p:sp>
      <p:sp>
        <p:nvSpPr>
          <p:cNvPr id="59" name="文本框 63">
            <a:extLst>
              <a:ext uri="{FF2B5EF4-FFF2-40B4-BE49-F238E27FC236}">
                <a16:creationId xmlns:a16="http://schemas.microsoft.com/office/drawing/2014/main" id="{C6D848F2-D9F1-48F1-AD85-EA9899FEE4F6}"/>
              </a:ext>
            </a:extLst>
          </p:cNvPr>
          <p:cNvSpPr txBox="1"/>
          <p:nvPr/>
        </p:nvSpPr>
        <p:spPr>
          <a:xfrm>
            <a:off x="272697" y="4600768"/>
            <a:ext cx="11739776" cy="1874616"/>
          </a:xfrm>
          <a:prstGeom prst="rect">
            <a:avLst/>
          </a:prstGeom>
          <a:noFill/>
        </p:spPr>
        <p:txBody>
          <a:bodyPr wrap="square">
            <a:spAutoFit/>
          </a:bodyPr>
          <a:lstStyle>
            <a:defPPr>
              <a:defRPr kern="0"/>
            </a:defPPr>
          </a:lstStyle>
          <a:p>
            <a:pPr marL="285750" indent="-285750" algn="l" defTabSz="914478" rtl="0">
              <a:lnSpc>
                <a:spcPct val="140000"/>
              </a:lnSpc>
              <a:buClr>
                <a:srgbClr val="C7000B"/>
              </a:buClr>
              <a:buFont typeface="Wingdings" panose="05000000000000000000" pitchFamily="2" charset="2"/>
              <a:buChar char="Ø"/>
            </a:pPr>
            <a:r>
              <a:rPr lang="en-US" altLang="zh-CN" sz="1400" kern="1200" dirty="0">
                <a:solidFill>
                  <a:srgbClr val="1D1D1A"/>
                </a:solidFill>
                <a:latin typeface="+mn-ea"/>
                <a:cs typeface="+mn-cs"/>
              </a:rPr>
              <a:t>A DIMM generates </a:t>
            </a:r>
            <a:r>
              <a:rPr lang="en-US" altLang="zh-CN" sz="1400" b="1" kern="1200" dirty="0">
                <a:solidFill>
                  <a:srgbClr val="ED6D00"/>
                </a:solidFill>
                <a:latin typeface="+mn-ea"/>
                <a:cs typeface="+mn-cs"/>
              </a:rPr>
              <a:t>a large number of event records</a:t>
            </a:r>
            <a:r>
              <a:rPr lang="en-US" altLang="zh-CN" sz="1400" kern="1200" dirty="0">
                <a:solidFill>
                  <a:srgbClr val="1D1D1A"/>
                </a:solidFill>
                <a:latin typeface="+mn-ea"/>
                <a:cs typeface="+mn-cs"/>
              </a:rPr>
              <a:t>, with each event corresponding to one </a:t>
            </a:r>
            <a:r>
              <a:rPr lang="en-US" altLang="zh-CN" sz="1400" b="1" kern="1200" dirty="0">
                <a:solidFill>
                  <a:srgbClr val="30B5C5"/>
                </a:solidFill>
                <a:latin typeface="+mn-ea"/>
                <a:cs typeface="+mn-cs"/>
              </a:rPr>
              <a:t>blue cell</a:t>
            </a:r>
            <a:r>
              <a:rPr lang="en-US" altLang="zh-CN" sz="1400" kern="1200" dirty="0">
                <a:solidFill>
                  <a:srgbClr val="1D1D1A"/>
                </a:solidFill>
                <a:latin typeface="+mn-ea"/>
                <a:cs typeface="+mn-cs"/>
              </a:rPr>
              <a:t> and one </a:t>
            </a:r>
            <a:r>
              <a:rPr lang="en-US" altLang="zh-CN" sz="1400" b="1" kern="1200" dirty="0">
                <a:solidFill>
                  <a:srgbClr val="61B230"/>
                </a:solidFill>
                <a:latin typeface="+mn-ea"/>
                <a:cs typeface="+mn-cs"/>
              </a:rPr>
              <a:t>green matrix</a:t>
            </a:r>
            <a:r>
              <a:rPr lang="en-US" altLang="zh-CN" sz="1400" kern="1200" dirty="0">
                <a:solidFill>
                  <a:srgbClr val="1D1D1A"/>
                </a:solidFill>
                <a:latin typeface="+mn-ea"/>
                <a:cs typeface="+mn-cs"/>
              </a:rPr>
              <a:t>.</a:t>
            </a:r>
          </a:p>
          <a:p>
            <a:pPr marL="285750" indent="-285750" algn="l" defTabSz="914478" rtl="0">
              <a:lnSpc>
                <a:spcPct val="140000"/>
              </a:lnSpc>
              <a:buClr>
                <a:srgbClr val="C7000B"/>
              </a:buClr>
              <a:buFont typeface="Wingdings" panose="05000000000000000000" pitchFamily="2" charset="2"/>
              <a:buChar char="Ø"/>
            </a:pPr>
            <a:endParaRPr lang="en-US" altLang="zh-CN" sz="1400" kern="1200" dirty="0">
              <a:solidFill>
                <a:srgbClr val="1D1D1A"/>
              </a:solidFill>
              <a:latin typeface="+mn-ea"/>
              <a:cs typeface="+mn-cs"/>
            </a:endParaRPr>
          </a:p>
          <a:p>
            <a:pPr marL="285750" indent="-285750" algn="l" defTabSz="914478" rtl="0">
              <a:lnSpc>
                <a:spcPct val="140000"/>
              </a:lnSpc>
              <a:buClr>
                <a:srgbClr val="C7000B"/>
              </a:buClr>
              <a:buFont typeface="Wingdings" panose="05000000000000000000" pitchFamily="2" charset="2"/>
              <a:buChar char="Ø"/>
            </a:pPr>
            <a:endParaRPr lang="en-US" altLang="zh-CN" sz="1400" kern="1200" dirty="0">
              <a:solidFill>
                <a:srgbClr val="1D1D1A"/>
              </a:solidFill>
              <a:latin typeface="+mn-ea"/>
              <a:cs typeface="+mn-cs"/>
            </a:endParaRPr>
          </a:p>
          <a:p>
            <a:pPr algn="l" defTabSz="914478" rtl="0">
              <a:lnSpc>
                <a:spcPct val="140000"/>
              </a:lnSpc>
              <a:buClr>
                <a:srgbClr val="C7000B"/>
              </a:buClr>
            </a:pPr>
            <a:endParaRPr lang="en-US" altLang="zh-CN" sz="1400" kern="1200" dirty="0">
              <a:solidFill>
                <a:srgbClr val="1D1D1A"/>
              </a:solidFill>
              <a:latin typeface="+mn-ea"/>
              <a:cs typeface="+mn-cs"/>
            </a:endParaRPr>
          </a:p>
          <a:p>
            <a:pPr marL="285750" indent="-285750" algn="l" defTabSz="914478" rtl="0">
              <a:lnSpc>
                <a:spcPct val="140000"/>
              </a:lnSpc>
              <a:buClr>
                <a:srgbClr val="C7000B"/>
              </a:buClr>
              <a:buFont typeface="Wingdings" panose="05000000000000000000" pitchFamily="2" charset="2"/>
              <a:buChar char="Ø"/>
            </a:pPr>
            <a:r>
              <a:rPr lang="en-US" altLang="zh-CN" sz="1400" b="1" kern="1200" dirty="0">
                <a:solidFill>
                  <a:srgbClr val="1D1D1A"/>
                </a:solidFill>
                <a:latin typeface="+mn-ea"/>
                <a:cs typeface="+mn-cs"/>
              </a:rPr>
              <a:t>M</a:t>
            </a:r>
            <a:r>
              <a:rPr lang="en-US" altLang="zh-CN" sz="1400" b="1" kern="1200" baseline="30000" dirty="0">
                <a:solidFill>
                  <a:srgbClr val="1D1D1A"/>
                </a:solidFill>
                <a:latin typeface="+mn-ea"/>
                <a:cs typeface="+mn-cs"/>
              </a:rPr>
              <a:t>2</a:t>
            </a:r>
            <a:r>
              <a:rPr lang="en-US" altLang="zh-CN" sz="1400" b="1" kern="1200" dirty="0">
                <a:solidFill>
                  <a:srgbClr val="1D1D1A"/>
                </a:solidFill>
                <a:latin typeface="+mn-ea"/>
                <a:cs typeface="+mn-cs"/>
              </a:rPr>
              <a:t>-MFP: A Multi-Scale and Multi-Level MFP Framework.</a:t>
            </a:r>
            <a:r>
              <a:rPr lang="zh-CN" altLang="en-US" sz="1400" b="1" kern="1200" dirty="0">
                <a:solidFill>
                  <a:srgbClr val="1D1D1A"/>
                </a:solidFill>
                <a:latin typeface="+mn-ea"/>
                <a:cs typeface="+mn-cs"/>
              </a:rPr>
              <a:t> </a:t>
            </a:r>
            <a:r>
              <a:rPr lang="en-US" altLang="zh-CN" sz="1400" kern="1200" dirty="0">
                <a:solidFill>
                  <a:srgbClr val="1D1D1A"/>
                </a:solidFill>
                <a:latin typeface="+mn-ea"/>
                <a:cs typeface="+mn-cs"/>
              </a:rPr>
              <a:t>This framework automatically extracts and aggregates multi-level features to establish a MFP model across multiple scales, achieving high performance, high efficiency, and strong generalization ability.</a:t>
            </a:r>
          </a:p>
        </p:txBody>
      </p:sp>
      <p:sp>
        <p:nvSpPr>
          <p:cNvPr id="60" name="文本框 64">
            <a:extLst>
              <a:ext uri="{FF2B5EF4-FFF2-40B4-BE49-F238E27FC236}">
                <a16:creationId xmlns:a16="http://schemas.microsoft.com/office/drawing/2014/main" id="{88C6530B-919A-4D6A-A64B-2329A7DEE1CD}"/>
              </a:ext>
            </a:extLst>
          </p:cNvPr>
          <p:cNvSpPr txBox="1"/>
          <p:nvPr/>
        </p:nvSpPr>
        <p:spPr>
          <a:xfrm>
            <a:off x="3449443" y="5373199"/>
            <a:ext cx="5340423" cy="382541"/>
          </a:xfrm>
          <a:prstGeom prst="rect">
            <a:avLst/>
          </a:prstGeom>
          <a:noFill/>
        </p:spPr>
        <p:txBody>
          <a:bodyPr wrap="square">
            <a:spAutoFit/>
          </a:bodyPr>
          <a:lstStyle>
            <a:defPPr>
              <a:defRPr kern="0"/>
            </a:defPPr>
          </a:lstStyle>
          <a:p>
            <a:pPr algn="ctr" defTabSz="914478" rtl="0">
              <a:lnSpc>
                <a:spcPct val="150000"/>
              </a:lnSpc>
            </a:pPr>
            <a:r>
              <a:rPr lang="en-US" altLang="zh-CN" sz="1400" b="1" kern="1200" dirty="0">
                <a:solidFill>
                  <a:srgbClr val="000000"/>
                </a:solidFill>
                <a:latin typeface="微软雅黑" panose="020B0503020204020204" pitchFamily="34" charset="-122"/>
                <a:ea typeface="微软雅黑" panose="020B0503020204020204" pitchFamily="34" charset="-122"/>
                <a:cs typeface="+mn-cs"/>
              </a:rPr>
              <a:t>We need a </a:t>
            </a:r>
            <a:r>
              <a:rPr lang="en-US" altLang="zh-CN" sz="1400" b="1" kern="1200" dirty="0">
                <a:solidFill>
                  <a:srgbClr val="E9002F"/>
                </a:solidFill>
                <a:latin typeface="微软雅黑" panose="020B0503020204020204" pitchFamily="34" charset="-122"/>
                <a:ea typeface="微软雅黑" panose="020B0503020204020204" pitchFamily="34" charset="-122"/>
                <a:cs typeface="+mn-cs"/>
              </a:rPr>
              <a:t>Multi-scale</a:t>
            </a:r>
            <a:r>
              <a:rPr lang="en-US" altLang="zh-CN" sz="1400" b="1" kern="1200" dirty="0">
                <a:solidFill>
                  <a:srgbClr val="000000"/>
                </a:solidFill>
                <a:latin typeface="微软雅黑" panose="020B0503020204020204" pitchFamily="34" charset="-122"/>
                <a:ea typeface="微软雅黑" panose="020B0503020204020204" pitchFamily="34" charset="-122"/>
                <a:cs typeface="+mn-cs"/>
              </a:rPr>
              <a:t> &amp; </a:t>
            </a:r>
            <a:r>
              <a:rPr lang="en-US" altLang="zh-CN" sz="1400" b="1" kern="1200" dirty="0">
                <a:solidFill>
                  <a:srgbClr val="E9002F"/>
                </a:solidFill>
                <a:latin typeface="微软雅黑" panose="020B0503020204020204" pitchFamily="34" charset="-122"/>
                <a:ea typeface="微软雅黑" panose="020B0503020204020204" pitchFamily="34" charset="-122"/>
                <a:cs typeface="+mn-cs"/>
              </a:rPr>
              <a:t>Multi-Level</a:t>
            </a:r>
            <a:r>
              <a:rPr lang="en-US" altLang="zh-CN" sz="1400" b="1" kern="1200" dirty="0">
                <a:solidFill>
                  <a:srgbClr val="000000"/>
                </a:solidFill>
                <a:latin typeface="微软雅黑" panose="020B0503020204020204" pitchFamily="34" charset="-122"/>
                <a:ea typeface="微软雅黑" panose="020B0503020204020204" pitchFamily="34" charset="-122"/>
                <a:cs typeface="+mn-cs"/>
              </a:rPr>
              <a:t> MFP Framework!</a:t>
            </a:r>
            <a:endParaRPr lang="zh-CN" altLang="en-US" sz="1400" b="1" kern="1200" dirty="0">
              <a:solidFill>
                <a:srgbClr val="1D1D1A"/>
              </a:solidFill>
              <a:latin typeface="微软雅黑" panose="020B0503020204020204" pitchFamily="34" charset="-122"/>
              <a:ea typeface="微软雅黑" panose="020B0503020204020204" pitchFamily="34" charset="-122"/>
              <a:cs typeface="+mn-cs"/>
            </a:endParaRPr>
          </a:p>
        </p:txBody>
      </p:sp>
      <p:cxnSp>
        <p:nvCxnSpPr>
          <p:cNvPr id="61" name="直接箭头连接符 60">
            <a:extLst>
              <a:ext uri="{FF2B5EF4-FFF2-40B4-BE49-F238E27FC236}">
                <a16:creationId xmlns:a16="http://schemas.microsoft.com/office/drawing/2014/main" id="{95EE51E9-88A9-46B5-BABD-8514E1C3D82D}"/>
              </a:ext>
            </a:extLst>
          </p:cNvPr>
          <p:cNvCxnSpPr>
            <a:cxnSpLocks/>
          </p:cNvCxnSpPr>
          <p:nvPr/>
        </p:nvCxnSpPr>
        <p:spPr>
          <a:xfrm>
            <a:off x="3676876" y="5061267"/>
            <a:ext cx="1602377" cy="360000"/>
          </a:xfrm>
          <a:prstGeom prst="straightConnector1">
            <a:avLst/>
          </a:prstGeom>
          <a:noFill/>
          <a:ln w="19050" cap="flat" cmpd="sng" algn="ctr">
            <a:solidFill>
              <a:srgbClr val="E9002F"/>
            </a:solidFill>
            <a:prstDash val="solid"/>
            <a:miter lim="800000"/>
            <a:tailEnd type="triangle"/>
          </a:ln>
          <a:effectLst/>
        </p:spPr>
      </p:cxnSp>
      <p:cxnSp>
        <p:nvCxnSpPr>
          <p:cNvPr id="62" name="直接箭头连接符 61">
            <a:extLst>
              <a:ext uri="{FF2B5EF4-FFF2-40B4-BE49-F238E27FC236}">
                <a16:creationId xmlns:a16="http://schemas.microsoft.com/office/drawing/2014/main" id="{B9E362DF-A857-42FE-8FA1-25BAA1DDA711}"/>
              </a:ext>
            </a:extLst>
          </p:cNvPr>
          <p:cNvCxnSpPr>
            <a:cxnSpLocks/>
          </p:cNvCxnSpPr>
          <p:nvPr/>
        </p:nvCxnSpPr>
        <p:spPr>
          <a:xfrm flipH="1">
            <a:off x="6424615" y="5061267"/>
            <a:ext cx="2294524" cy="360000"/>
          </a:xfrm>
          <a:prstGeom prst="straightConnector1">
            <a:avLst/>
          </a:prstGeom>
          <a:noFill/>
          <a:ln w="19050" cap="flat" cmpd="sng" algn="ctr">
            <a:solidFill>
              <a:srgbClr val="E9002F"/>
            </a:solidFill>
            <a:prstDash val="solid"/>
            <a:miter lim="800000"/>
            <a:tailEnd type="triangle"/>
          </a:ln>
          <a:effectLst/>
        </p:spPr>
      </p:cxnSp>
      <p:pic>
        <p:nvPicPr>
          <p:cNvPr id="63" name="table">
            <a:extLst>
              <a:ext uri="{FF2B5EF4-FFF2-40B4-BE49-F238E27FC236}">
                <a16:creationId xmlns:a16="http://schemas.microsoft.com/office/drawing/2014/main" id="{66D323AE-9FDC-F56C-FD57-1017F9095011}"/>
              </a:ext>
            </a:extLst>
          </p:cNvPr>
          <p:cNvPicPr>
            <a:picLocks noChangeAspect="1"/>
          </p:cNvPicPr>
          <p:nvPr/>
        </p:nvPicPr>
        <p:blipFill>
          <a:blip r:embed="rId9"/>
          <a:stretch>
            <a:fillRect/>
          </a:stretch>
        </p:blipFill>
        <p:spPr>
          <a:xfrm>
            <a:off x="9497899" y="1518478"/>
            <a:ext cx="2337564" cy="2663415"/>
          </a:xfrm>
          <a:prstGeom prst="rect">
            <a:avLst/>
          </a:prstGeom>
        </p:spPr>
      </p:pic>
      <p:sp>
        <p:nvSpPr>
          <p:cNvPr id="64" name="文本框 68">
            <a:extLst>
              <a:ext uri="{FF2B5EF4-FFF2-40B4-BE49-F238E27FC236}">
                <a16:creationId xmlns:a16="http://schemas.microsoft.com/office/drawing/2014/main" id="{5B0243DB-3E07-4CFC-A803-E5A237FB792D}"/>
              </a:ext>
            </a:extLst>
          </p:cNvPr>
          <p:cNvSpPr txBox="1"/>
          <p:nvPr/>
        </p:nvSpPr>
        <p:spPr>
          <a:xfrm>
            <a:off x="8971634" y="4221349"/>
            <a:ext cx="1276748" cy="261610"/>
          </a:xfrm>
          <a:prstGeom prst="rect">
            <a:avLst/>
          </a:prstGeom>
          <a:noFill/>
        </p:spPr>
        <p:txBody>
          <a:bodyPr wrap="square">
            <a:spAutoFit/>
          </a:bodyPr>
          <a:lstStyle>
            <a:defPPr>
              <a:defRPr kern="0"/>
            </a:defPPr>
          </a:lstStyle>
          <a:p>
            <a:pPr algn="ctr" defTabSz="914478" rtl="0"/>
            <a:r>
              <a:rPr lang="en-US" altLang="zh-CN" sz="1100" b="1" kern="1200" dirty="0">
                <a:solidFill>
                  <a:srgbClr val="1D1D1A"/>
                </a:solidFill>
                <a:latin typeface="微软雅黑" panose="020B0503020204020204" pitchFamily="34" charset="-122"/>
                <a:ea typeface="微软雅黑" panose="020B0503020204020204" pitchFamily="34" charset="-122"/>
                <a:cs typeface="+mn-cs"/>
              </a:rPr>
              <a:t>Multi-scale</a:t>
            </a:r>
            <a:endParaRPr lang="zh-CN" altLang="en-US" sz="1100" kern="1200" dirty="0">
              <a:solidFill>
                <a:srgbClr val="1D1D1A"/>
              </a:solidFill>
              <a:latin typeface="Calibri" panose="020F0502020204030204"/>
              <a:ea typeface="等线" panose="02010600030101010101" pitchFamily="2" charset="-122"/>
              <a:cs typeface="+mn-cs"/>
            </a:endParaRPr>
          </a:p>
        </p:txBody>
      </p:sp>
      <p:cxnSp>
        <p:nvCxnSpPr>
          <p:cNvPr id="65" name="直接箭头连接符 64">
            <a:extLst>
              <a:ext uri="{FF2B5EF4-FFF2-40B4-BE49-F238E27FC236}">
                <a16:creationId xmlns:a16="http://schemas.microsoft.com/office/drawing/2014/main" id="{9CAC299E-6B08-44CB-9869-785DE9781A7D}"/>
              </a:ext>
            </a:extLst>
          </p:cNvPr>
          <p:cNvCxnSpPr/>
          <p:nvPr/>
        </p:nvCxnSpPr>
        <p:spPr>
          <a:xfrm>
            <a:off x="9411878" y="1533718"/>
            <a:ext cx="0" cy="2663415"/>
          </a:xfrm>
          <a:prstGeom prst="straightConnector1">
            <a:avLst/>
          </a:prstGeom>
          <a:noFill/>
          <a:ln w="6350" cap="flat" cmpd="sng" algn="ctr">
            <a:solidFill>
              <a:srgbClr val="1D1D1A"/>
            </a:solidFill>
            <a:prstDash val="solid"/>
            <a:miter lim="800000"/>
            <a:headEnd type="triangle"/>
            <a:tailEnd type="triangle"/>
          </a:ln>
          <a:effectLst/>
        </p:spPr>
      </p:cxnSp>
      <p:sp>
        <p:nvSpPr>
          <p:cNvPr id="66" name="文本框 70">
            <a:extLst>
              <a:ext uri="{FF2B5EF4-FFF2-40B4-BE49-F238E27FC236}">
                <a16:creationId xmlns:a16="http://schemas.microsoft.com/office/drawing/2014/main" id="{6057DB08-DE64-4902-A1E6-62C4A6F30520}"/>
              </a:ext>
            </a:extLst>
          </p:cNvPr>
          <p:cNvSpPr txBox="1"/>
          <p:nvPr/>
        </p:nvSpPr>
        <p:spPr>
          <a:xfrm>
            <a:off x="10432788" y="1172015"/>
            <a:ext cx="1276748" cy="261610"/>
          </a:xfrm>
          <a:prstGeom prst="rect">
            <a:avLst/>
          </a:prstGeom>
          <a:noFill/>
        </p:spPr>
        <p:txBody>
          <a:bodyPr wrap="square">
            <a:spAutoFit/>
          </a:bodyPr>
          <a:lstStyle>
            <a:defPPr>
              <a:defRPr kern="0"/>
            </a:defPPr>
          </a:lstStyle>
          <a:p>
            <a:pPr algn="ctr" defTabSz="914478" rtl="0"/>
            <a:r>
              <a:rPr lang="en-US" altLang="zh-CN" sz="1100" b="1" kern="1200" dirty="0">
                <a:solidFill>
                  <a:srgbClr val="1D1D1A"/>
                </a:solidFill>
                <a:latin typeface="微软雅黑" panose="020B0503020204020204" pitchFamily="34" charset="-122"/>
                <a:ea typeface="微软雅黑" panose="020B0503020204020204" pitchFamily="34" charset="-122"/>
                <a:cs typeface="+mn-cs"/>
              </a:rPr>
              <a:t>Multi-level</a:t>
            </a:r>
            <a:endParaRPr lang="zh-CN" altLang="en-US" sz="1100" kern="1200" dirty="0">
              <a:solidFill>
                <a:srgbClr val="1D1D1A"/>
              </a:solidFill>
              <a:latin typeface="Calibri" panose="020F0502020204030204"/>
              <a:ea typeface="等线" panose="02010600030101010101" pitchFamily="2" charset="-122"/>
              <a:cs typeface="+mn-cs"/>
            </a:endParaRPr>
          </a:p>
        </p:txBody>
      </p:sp>
      <p:cxnSp>
        <p:nvCxnSpPr>
          <p:cNvPr id="67" name="直接箭头连接符 66">
            <a:extLst>
              <a:ext uri="{FF2B5EF4-FFF2-40B4-BE49-F238E27FC236}">
                <a16:creationId xmlns:a16="http://schemas.microsoft.com/office/drawing/2014/main" id="{4EBB74CD-FA64-4EB5-A1B7-07530B78F67A}"/>
              </a:ext>
            </a:extLst>
          </p:cNvPr>
          <p:cNvCxnSpPr>
            <a:cxnSpLocks/>
          </p:cNvCxnSpPr>
          <p:nvPr/>
        </p:nvCxnSpPr>
        <p:spPr>
          <a:xfrm flipH="1" flipV="1">
            <a:off x="10351162" y="1432480"/>
            <a:ext cx="1440000" cy="0"/>
          </a:xfrm>
          <a:prstGeom prst="straightConnector1">
            <a:avLst/>
          </a:prstGeom>
          <a:noFill/>
          <a:ln w="6350" cap="flat" cmpd="sng" algn="ctr">
            <a:solidFill>
              <a:srgbClr val="1D1D1A"/>
            </a:solidFill>
            <a:prstDash val="solid"/>
            <a:miter lim="800000"/>
            <a:headEnd type="triangle"/>
            <a:tailEnd type="triangle"/>
          </a:ln>
          <a:effectLst/>
        </p:spPr>
      </p:cxnSp>
    </p:spTree>
    <p:extLst>
      <p:ext uri="{BB962C8B-B14F-4D97-AF65-F5344CB8AC3E}">
        <p14:creationId xmlns:p14="http://schemas.microsoft.com/office/powerpoint/2010/main" val="4237440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A620A8C-8690-0EEA-C7CE-66F729B0CAD2}"/>
              </a:ext>
            </a:extLst>
          </p:cNvPr>
          <p:cNvSpPr txBox="1"/>
          <p:nvPr/>
        </p:nvSpPr>
        <p:spPr>
          <a:xfrm>
            <a:off x="790215" y="365302"/>
            <a:ext cx="7836200" cy="461665"/>
          </a:xfrm>
          <a:prstGeom prst="rect">
            <a:avLst/>
          </a:prstGeom>
          <a:noFill/>
        </p:spPr>
        <p:txBody>
          <a:bodyPr wrap="square" rtlCol="0">
            <a:spAutoFit/>
          </a:bodyPr>
          <a:lstStyle/>
          <a:p>
            <a:r>
              <a:rPr lang="en-US" altLang="zh-CN" sz="2400" b="1" dirty="0">
                <a:solidFill>
                  <a:srgbClr val="0070C0"/>
                </a:solidFill>
                <a:latin typeface="-apple-system"/>
              </a:rPr>
              <a:t>1.2 Event</a:t>
            </a:r>
            <a:r>
              <a:rPr lang="zh-CN" altLang="en-US" sz="2400" b="1" dirty="0">
                <a:solidFill>
                  <a:srgbClr val="0070C0"/>
                </a:solidFill>
                <a:latin typeface="-apple-system"/>
              </a:rPr>
              <a:t> </a:t>
            </a:r>
            <a:r>
              <a:rPr lang="en-US" altLang="zh-CN" sz="2400" b="1" dirty="0">
                <a:solidFill>
                  <a:srgbClr val="0070C0"/>
                </a:solidFill>
                <a:latin typeface="-apple-system"/>
              </a:rPr>
              <a:t>Content Analysis</a:t>
            </a:r>
          </a:p>
        </p:txBody>
      </p:sp>
      <p:sp>
        <p:nvSpPr>
          <p:cNvPr id="5" name="矩形 4">
            <a:extLst>
              <a:ext uri="{FF2B5EF4-FFF2-40B4-BE49-F238E27FC236}">
                <a16:creationId xmlns:a16="http://schemas.microsoft.com/office/drawing/2014/main" id="{2DD8D8F2-0D1F-1EB3-B4CE-5910DD3AEDF0}"/>
              </a:ext>
            </a:extLst>
          </p:cNvPr>
          <p:cNvSpPr/>
          <p:nvPr/>
        </p:nvSpPr>
        <p:spPr>
          <a:xfrm>
            <a:off x="538668" y="4056533"/>
            <a:ext cx="5007897" cy="1603207"/>
          </a:xfrm>
          <a:prstGeom prst="rect">
            <a:avLst/>
          </a:prstGeom>
          <a:noFill/>
          <a:ln w="12700" cap="flat" cmpd="sng" algn="ctr">
            <a:solidFill>
              <a:srgbClr val="00B0F0"/>
            </a:solidFill>
            <a:prstDash val="solid"/>
            <a:miter lim="800000"/>
          </a:ln>
          <a:effectLst/>
        </p:spPr>
        <p:txBody>
          <a:bodyPr wrap="square" rtlCol="0" anchor="b">
            <a:noAutofit/>
          </a:bodyPr>
          <a:lstStyle>
            <a:defPPr>
              <a:defRPr kern="0"/>
            </a:defPPr>
          </a:lstStyle>
          <a:p>
            <a:pPr algn="ctr" rtl="0">
              <a:lnSpc>
                <a:spcPct val="120000"/>
              </a:lnSpc>
              <a:defRPr/>
            </a:pPr>
            <a:endParaRPr lang="en-US" altLang="zh-CN" sz="1400" b="1" dirty="0">
              <a:solidFill>
                <a:prstClr val="black"/>
              </a:solidFill>
              <a:latin typeface="等线" panose="02010600030101010101" pitchFamily="2" charset="-122"/>
              <a:ea typeface="微软雅黑" panose="020B0503020204020204" pitchFamily="34" charset="-122"/>
              <a:cs typeface="Times New Roman" panose="02020603050405020304" pitchFamily="18" charset="0"/>
            </a:endParaRPr>
          </a:p>
        </p:txBody>
      </p:sp>
      <p:pic>
        <p:nvPicPr>
          <p:cNvPr id="8" name="table">
            <a:extLst>
              <a:ext uri="{FF2B5EF4-FFF2-40B4-BE49-F238E27FC236}">
                <a16:creationId xmlns:a16="http://schemas.microsoft.com/office/drawing/2014/main" id="{38439D4D-362E-809B-7ABE-CB6DAA37C9DC}"/>
              </a:ext>
            </a:extLst>
          </p:cNvPr>
          <p:cNvPicPr>
            <a:picLocks noChangeAspect="1"/>
          </p:cNvPicPr>
          <p:nvPr/>
        </p:nvPicPr>
        <p:blipFill>
          <a:blip r:embed="rId3"/>
          <a:stretch>
            <a:fillRect/>
          </a:stretch>
        </p:blipFill>
        <p:spPr>
          <a:xfrm>
            <a:off x="655763" y="4157886"/>
            <a:ext cx="3600000" cy="360000"/>
          </a:xfrm>
          <a:prstGeom prst="rect">
            <a:avLst/>
          </a:prstGeom>
        </p:spPr>
      </p:pic>
      <p:cxnSp>
        <p:nvCxnSpPr>
          <p:cNvPr id="51" name="直接箭头连接符 50">
            <a:extLst>
              <a:ext uri="{FF2B5EF4-FFF2-40B4-BE49-F238E27FC236}">
                <a16:creationId xmlns:a16="http://schemas.microsoft.com/office/drawing/2014/main" id="{A81A8A29-C1F1-A993-2565-BBEF02DAEFB3}"/>
              </a:ext>
            </a:extLst>
          </p:cNvPr>
          <p:cNvCxnSpPr/>
          <p:nvPr/>
        </p:nvCxnSpPr>
        <p:spPr>
          <a:xfrm>
            <a:off x="655765" y="4665601"/>
            <a:ext cx="2880001" cy="1"/>
          </a:xfrm>
          <a:prstGeom prst="straightConnector1">
            <a:avLst/>
          </a:prstGeom>
          <a:noFill/>
          <a:ln w="12700" cap="flat" cmpd="sng" algn="ctr">
            <a:solidFill>
              <a:sysClr val="windowText" lastClr="000000"/>
            </a:solidFill>
            <a:prstDash val="solid"/>
            <a:miter lim="800000"/>
            <a:headEnd type="triangle"/>
            <a:tailEnd type="triangle"/>
          </a:ln>
          <a:effectLst/>
        </p:spPr>
      </p:cxnSp>
      <p:sp>
        <p:nvSpPr>
          <p:cNvPr id="52" name="文本框 111">
            <a:extLst>
              <a:ext uri="{FF2B5EF4-FFF2-40B4-BE49-F238E27FC236}">
                <a16:creationId xmlns:a16="http://schemas.microsoft.com/office/drawing/2014/main" id="{4075F8BC-0925-96A9-33DC-3A2706BBDB42}"/>
              </a:ext>
            </a:extLst>
          </p:cNvPr>
          <p:cNvSpPr txBox="1"/>
          <p:nvPr/>
        </p:nvSpPr>
        <p:spPr>
          <a:xfrm>
            <a:off x="3651700" y="4596351"/>
            <a:ext cx="1640681" cy="138499"/>
          </a:xfrm>
          <a:prstGeom prst="rect">
            <a:avLst/>
          </a:prstGeom>
          <a:noFill/>
        </p:spPr>
        <p:txBody>
          <a:bodyPr wrap="square" lIns="0" tIns="0" rIns="0" bIns="0" rtlCol="0">
            <a:spAutoFit/>
          </a:bodyPr>
          <a:lstStyle>
            <a:defPPr>
              <a:defRPr kern="0"/>
            </a:defPPr>
          </a:lstStyle>
          <a:p>
            <a:pPr algn="l" rtl="0"/>
            <a:r>
              <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kumimoji="1" lang="en-US" altLang="zh-CN"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1</a:t>
            </a:r>
            <a:r>
              <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kumimoji="1" lang="en-US" altLang="zh-CN"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max distance = 7</a:t>
            </a:r>
            <a:endPar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cxnSp>
        <p:nvCxnSpPr>
          <p:cNvPr id="53" name="直接箭头连接符 52">
            <a:extLst>
              <a:ext uri="{FF2B5EF4-FFF2-40B4-BE49-F238E27FC236}">
                <a16:creationId xmlns:a16="http://schemas.microsoft.com/office/drawing/2014/main" id="{BA3F4B32-EB84-9A8D-75DC-E77D0CA2E364}"/>
              </a:ext>
            </a:extLst>
          </p:cNvPr>
          <p:cNvCxnSpPr/>
          <p:nvPr/>
        </p:nvCxnSpPr>
        <p:spPr>
          <a:xfrm>
            <a:off x="1731422" y="4792297"/>
            <a:ext cx="720000" cy="0"/>
          </a:xfrm>
          <a:prstGeom prst="straightConnector1">
            <a:avLst/>
          </a:prstGeom>
          <a:noFill/>
          <a:ln w="12700" cap="flat" cmpd="sng" algn="ctr">
            <a:solidFill>
              <a:sysClr val="windowText" lastClr="000000"/>
            </a:solidFill>
            <a:prstDash val="solid"/>
            <a:miter lim="800000"/>
            <a:headEnd type="triangle"/>
            <a:tailEnd type="triangle"/>
          </a:ln>
          <a:effectLst/>
        </p:spPr>
      </p:cxnSp>
      <p:sp>
        <p:nvSpPr>
          <p:cNvPr id="54" name="文本框 113">
            <a:extLst>
              <a:ext uri="{FF2B5EF4-FFF2-40B4-BE49-F238E27FC236}">
                <a16:creationId xmlns:a16="http://schemas.microsoft.com/office/drawing/2014/main" id="{F3060608-EC92-CC00-F345-1870C997C5AF}"/>
              </a:ext>
            </a:extLst>
          </p:cNvPr>
          <p:cNvSpPr txBox="1"/>
          <p:nvPr/>
        </p:nvSpPr>
        <p:spPr>
          <a:xfrm>
            <a:off x="3651700" y="4734476"/>
            <a:ext cx="1640681" cy="138499"/>
          </a:xfrm>
          <a:prstGeom prst="rect">
            <a:avLst/>
          </a:prstGeom>
          <a:noFill/>
        </p:spPr>
        <p:txBody>
          <a:bodyPr wrap="square" lIns="0" tIns="0" rIns="0" bIns="0" rtlCol="0">
            <a:spAutoFit/>
          </a:bodyPr>
          <a:lstStyle>
            <a:defPPr>
              <a:defRPr kern="0"/>
            </a:defPPr>
          </a:lstStyle>
          <a:p>
            <a:pPr algn="l" rtl="0"/>
            <a:r>
              <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kumimoji="1" lang="en-US" altLang="zh-CN"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2</a:t>
            </a:r>
            <a:r>
              <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kumimoji="1" lang="en-US" altLang="zh-CN"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min distance = 1</a:t>
            </a:r>
            <a:endPar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cxnSp>
        <p:nvCxnSpPr>
          <p:cNvPr id="55" name="直接箭头连接符 54">
            <a:extLst>
              <a:ext uri="{FF2B5EF4-FFF2-40B4-BE49-F238E27FC236}">
                <a16:creationId xmlns:a16="http://schemas.microsoft.com/office/drawing/2014/main" id="{BE69837D-53FB-F479-F02A-39BA8E94CFC9}"/>
              </a:ext>
            </a:extLst>
          </p:cNvPr>
          <p:cNvCxnSpPr/>
          <p:nvPr/>
        </p:nvCxnSpPr>
        <p:spPr>
          <a:xfrm>
            <a:off x="1731422" y="4918992"/>
            <a:ext cx="1080000" cy="0"/>
          </a:xfrm>
          <a:prstGeom prst="straightConnector1">
            <a:avLst/>
          </a:prstGeom>
          <a:noFill/>
          <a:ln w="12700" cap="flat" cmpd="sng" algn="ctr">
            <a:solidFill>
              <a:sysClr val="windowText" lastClr="000000"/>
            </a:solidFill>
            <a:prstDash val="solid"/>
            <a:miter lim="800000"/>
            <a:headEnd type="triangle"/>
            <a:tailEnd type="triangle"/>
          </a:ln>
          <a:effectLst/>
        </p:spPr>
      </p:cxnSp>
      <p:sp>
        <p:nvSpPr>
          <p:cNvPr id="56" name="文本框 115">
            <a:extLst>
              <a:ext uri="{FF2B5EF4-FFF2-40B4-BE49-F238E27FC236}">
                <a16:creationId xmlns:a16="http://schemas.microsoft.com/office/drawing/2014/main" id="{7163427D-2C43-AAF7-C5C6-087ACBD3760E}"/>
              </a:ext>
            </a:extLst>
          </p:cNvPr>
          <p:cNvSpPr txBox="1"/>
          <p:nvPr/>
        </p:nvSpPr>
        <p:spPr>
          <a:xfrm>
            <a:off x="3651700" y="4872602"/>
            <a:ext cx="1761732" cy="138499"/>
          </a:xfrm>
          <a:prstGeom prst="rect">
            <a:avLst/>
          </a:prstGeom>
          <a:noFill/>
        </p:spPr>
        <p:txBody>
          <a:bodyPr wrap="square" lIns="0" tIns="0" rIns="0" bIns="0" rtlCol="0">
            <a:spAutoFit/>
          </a:bodyPr>
          <a:lstStyle>
            <a:defPPr>
              <a:defRPr kern="0"/>
            </a:defPPr>
          </a:lstStyle>
          <a:p>
            <a:pPr algn="l" rtl="0"/>
            <a:r>
              <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kumimoji="1" lang="en-US" altLang="zh-CN"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3</a:t>
            </a:r>
            <a:r>
              <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kumimoji="1" lang="en-US" altLang="zh-CN"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max consecutive length = 3</a:t>
            </a:r>
            <a:endPar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grpSp>
        <p:nvGrpSpPr>
          <p:cNvPr id="57" name="组合 56">
            <a:extLst>
              <a:ext uri="{FF2B5EF4-FFF2-40B4-BE49-F238E27FC236}">
                <a16:creationId xmlns:a16="http://schemas.microsoft.com/office/drawing/2014/main" id="{437C5FF7-89D4-7295-7193-3F6D2CF32028}"/>
              </a:ext>
            </a:extLst>
          </p:cNvPr>
          <p:cNvGrpSpPr/>
          <p:nvPr/>
        </p:nvGrpSpPr>
        <p:grpSpPr>
          <a:xfrm>
            <a:off x="655765" y="5045687"/>
            <a:ext cx="2880003" cy="45719"/>
            <a:chOff x="1414134" y="2267393"/>
            <a:chExt cx="2880003" cy="45719"/>
          </a:xfrm>
        </p:grpSpPr>
        <p:sp>
          <p:nvSpPr>
            <p:cNvPr id="58" name="右大括号 57">
              <a:extLst>
                <a:ext uri="{FF2B5EF4-FFF2-40B4-BE49-F238E27FC236}">
                  <a16:creationId xmlns:a16="http://schemas.microsoft.com/office/drawing/2014/main" id="{D788085D-38B4-1566-3FD9-C35331493FE9}"/>
                </a:ext>
              </a:extLst>
            </p:cNvPr>
            <p:cNvSpPr/>
            <p:nvPr/>
          </p:nvSpPr>
          <p:spPr>
            <a:xfrm rot="5400000">
              <a:off x="1571274" y="2110253"/>
              <a:ext cx="45719" cy="360000"/>
            </a:xfrm>
            <a:prstGeom prst="rightBrace">
              <a:avLst/>
            </a:prstGeom>
            <a:noFill/>
            <a:ln w="12700" cap="flat" cmpd="sng" algn="ctr">
              <a:solidFill>
                <a:srgbClr val="221815"/>
              </a:solidFill>
              <a:prstDash val="solid"/>
              <a:miter lim="800000"/>
            </a:ln>
            <a:effectLst/>
          </p:spPr>
          <p:txBody>
            <a:bodyPr rtlCol="0" anchor="ctr"/>
            <a:lstStyle>
              <a:defPPr>
                <a:defRPr kern="0"/>
              </a:defPPr>
            </a:lstStyle>
            <a:p>
              <a:pPr algn="ctr" rtl="0">
                <a:defRPr/>
              </a:pPr>
              <a:endParaRPr lang="zh-CN" altLang="en-US">
                <a:solidFill>
                  <a:prstClr val="black"/>
                </a:solidFill>
                <a:latin typeface="等线" panose="02010600030101010101" pitchFamily="2" charset="-122"/>
                <a:ea typeface="微软雅黑" panose="020B0503020204020204" pitchFamily="34" charset="-122"/>
                <a:cs typeface="+mn-cs"/>
              </a:endParaRPr>
            </a:p>
          </p:txBody>
        </p:sp>
        <p:sp>
          <p:nvSpPr>
            <p:cNvPr id="59" name="右大括号 58">
              <a:extLst>
                <a:ext uri="{FF2B5EF4-FFF2-40B4-BE49-F238E27FC236}">
                  <a16:creationId xmlns:a16="http://schemas.microsoft.com/office/drawing/2014/main" id="{9483D96F-0642-B5AE-1B25-800EB7882DCB}"/>
                </a:ext>
              </a:extLst>
            </p:cNvPr>
            <p:cNvSpPr/>
            <p:nvPr/>
          </p:nvSpPr>
          <p:spPr>
            <a:xfrm rot="5400000">
              <a:off x="3009103" y="1752425"/>
              <a:ext cx="45719" cy="1075656"/>
            </a:xfrm>
            <a:prstGeom prst="rightBrace">
              <a:avLst/>
            </a:prstGeom>
            <a:noFill/>
            <a:ln w="12700" cap="flat" cmpd="sng" algn="ctr">
              <a:solidFill>
                <a:srgbClr val="221815"/>
              </a:solidFill>
              <a:prstDash val="solid"/>
              <a:miter lim="800000"/>
            </a:ln>
            <a:effectLst/>
          </p:spPr>
          <p:txBody>
            <a:bodyPr rtlCol="0" anchor="ctr"/>
            <a:lstStyle>
              <a:defPPr>
                <a:defRPr kern="0"/>
              </a:defPPr>
            </a:lstStyle>
            <a:p>
              <a:pPr algn="ctr" rtl="0">
                <a:defRPr/>
              </a:pPr>
              <a:endParaRPr lang="zh-CN" altLang="en-US">
                <a:solidFill>
                  <a:prstClr val="black"/>
                </a:solidFill>
                <a:latin typeface="等线" panose="02010600030101010101" pitchFamily="2" charset="-122"/>
                <a:ea typeface="微软雅黑" panose="020B0503020204020204" pitchFamily="34" charset="-122"/>
                <a:cs typeface="+mn-cs"/>
              </a:endParaRPr>
            </a:p>
          </p:txBody>
        </p:sp>
        <p:sp>
          <p:nvSpPr>
            <p:cNvPr id="60" name="右大括号 59">
              <a:extLst>
                <a:ext uri="{FF2B5EF4-FFF2-40B4-BE49-F238E27FC236}">
                  <a16:creationId xmlns:a16="http://schemas.microsoft.com/office/drawing/2014/main" id="{0B861906-477A-2D25-AED3-007BAD4FC891}"/>
                </a:ext>
              </a:extLst>
            </p:cNvPr>
            <p:cNvSpPr/>
            <p:nvPr/>
          </p:nvSpPr>
          <p:spPr>
            <a:xfrm rot="5400000">
              <a:off x="4091277" y="2110253"/>
              <a:ext cx="45719" cy="360000"/>
            </a:xfrm>
            <a:prstGeom prst="rightBrace">
              <a:avLst/>
            </a:prstGeom>
            <a:noFill/>
            <a:ln w="12700" cap="flat" cmpd="sng" algn="ctr">
              <a:solidFill>
                <a:srgbClr val="221815"/>
              </a:solidFill>
              <a:prstDash val="solid"/>
              <a:miter lim="800000"/>
            </a:ln>
            <a:effectLst/>
          </p:spPr>
          <p:txBody>
            <a:bodyPr rtlCol="0" anchor="ctr"/>
            <a:lstStyle>
              <a:defPPr>
                <a:defRPr kern="0"/>
              </a:defPPr>
            </a:lstStyle>
            <a:p>
              <a:pPr algn="ctr" rtl="0">
                <a:defRPr/>
              </a:pPr>
              <a:endParaRPr lang="zh-CN" altLang="en-US">
                <a:solidFill>
                  <a:prstClr val="black"/>
                </a:solidFill>
                <a:latin typeface="等线" panose="02010600030101010101" pitchFamily="2" charset="-122"/>
                <a:ea typeface="微软雅黑" panose="020B0503020204020204" pitchFamily="34" charset="-122"/>
                <a:cs typeface="+mn-cs"/>
              </a:endParaRPr>
            </a:p>
          </p:txBody>
        </p:sp>
      </p:grpSp>
      <p:grpSp>
        <p:nvGrpSpPr>
          <p:cNvPr id="61" name="组合 60">
            <a:extLst>
              <a:ext uri="{FF2B5EF4-FFF2-40B4-BE49-F238E27FC236}">
                <a16:creationId xmlns:a16="http://schemas.microsoft.com/office/drawing/2014/main" id="{2C06E6D4-D24F-4E2A-D36F-8F09F104ADEC}"/>
              </a:ext>
            </a:extLst>
          </p:cNvPr>
          <p:cNvGrpSpPr/>
          <p:nvPr/>
        </p:nvGrpSpPr>
        <p:grpSpPr>
          <a:xfrm>
            <a:off x="655764" y="5218101"/>
            <a:ext cx="2880004" cy="45719"/>
            <a:chOff x="1414133" y="2412424"/>
            <a:chExt cx="2880004" cy="45719"/>
          </a:xfrm>
        </p:grpSpPr>
        <p:sp>
          <p:nvSpPr>
            <p:cNvPr id="62" name="右大括号 61">
              <a:extLst>
                <a:ext uri="{FF2B5EF4-FFF2-40B4-BE49-F238E27FC236}">
                  <a16:creationId xmlns:a16="http://schemas.microsoft.com/office/drawing/2014/main" id="{AE6CCEF8-A877-284B-F4B3-195C5B255366}"/>
                </a:ext>
              </a:extLst>
            </p:cNvPr>
            <p:cNvSpPr/>
            <p:nvPr/>
          </p:nvSpPr>
          <p:spPr>
            <a:xfrm rot="5400000">
              <a:off x="1571273" y="2255284"/>
              <a:ext cx="45719" cy="360000"/>
            </a:xfrm>
            <a:prstGeom prst="rightBrace">
              <a:avLst/>
            </a:prstGeom>
            <a:noFill/>
            <a:ln w="12700" cap="flat" cmpd="sng" algn="ctr">
              <a:solidFill>
                <a:srgbClr val="221815"/>
              </a:solidFill>
              <a:prstDash val="solid"/>
              <a:miter lim="800000"/>
            </a:ln>
            <a:effectLst/>
          </p:spPr>
          <p:txBody>
            <a:bodyPr rtlCol="0" anchor="ctr"/>
            <a:lstStyle>
              <a:defPPr>
                <a:defRPr kern="0"/>
              </a:defPPr>
            </a:lstStyle>
            <a:p>
              <a:pPr algn="ctr" rtl="0">
                <a:defRPr/>
              </a:pPr>
              <a:endParaRPr lang="zh-CN" altLang="en-US">
                <a:solidFill>
                  <a:prstClr val="black"/>
                </a:solidFill>
                <a:latin typeface="等线" panose="02010600030101010101" pitchFamily="2" charset="-122"/>
                <a:ea typeface="微软雅黑" panose="020B0503020204020204" pitchFamily="34" charset="-122"/>
                <a:cs typeface="+mn-cs"/>
              </a:endParaRPr>
            </a:p>
          </p:txBody>
        </p:sp>
        <p:sp>
          <p:nvSpPr>
            <p:cNvPr id="63" name="右大括号 62">
              <a:extLst>
                <a:ext uri="{FF2B5EF4-FFF2-40B4-BE49-F238E27FC236}">
                  <a16:creationId xmlns:a16="http://schemas.microsoft.com/office/drawing/2014/main" id="{BA8A017B-80D3-BA4C-5AF4-7CF108414957}"/>
                </a:ext>
              </a:extLst>
            </p:cNvPr>
            <p:cNvSpPr/>
            <p:nvPr/>
          </p:nvSpPr>
          <p:spPr>
            <a:xfrm rot="5400000">
              <a:off x="2646933" y="2255284"/>
              <a:ext cx="45719" cy="360000"/>
            </a:xfrm>
            <a:prstGeom prst="rightBrace">
              <a:avLst/>
            </a:prstGeom>
            <a:noFill/>
            <a:ln w="12700" cap="flat" cmpd="sng" algn="ctr">
              <a:solidFill>
                <a:srgbClr val="221815"/>
              </a:solidFill>
              <a:prstDash val="solid"/>
              <a:miter lim="800000"/>
            </a:ln>
            <a:effectLst/>
          </p:spPr>
          <p:txBody>
            <a:bodyPr rtlCol="0" anchor="ctr"/>
            <a:lstStyle>
              <a:defPPr>
                <a:defRPr kern="0"/>
              </a:defPPr>
            </a:lstStyle>
            <a:p>
              <a:pPr algn="ctr" rtl="0">
                <a:defRPr/>
              </a:pPr>
              <a:endParaRPr lang="zh-CN" altLang="en-US">
                <a:solidFill>
                  <a:prstClr val="black"/>
                </a:solidFill>
                <a:latin typeface="等线" panose="02010600030101010101" pitchFamily="2" charset="-122"/>
                <a:ea typeface="微软雅黑" panose="020B0503020204020204" pitchFamily="34" charset="-122"/>
                <a:cs typeface="+mn-cs"/>
              </a:endParaRPr>
            </a:p>
          </p:txBody>
        </p:sp>
        <p:sp>
          <p:nvSpPr>
            <p:cNvPr id="64" name="右大括号 63">
              <a:extLst>
                <a:ext uri="{FF2B5EF4-FFF2-40B4-BE49-F238E27FC236}">
                  <a16:creationId xmlns:a16="http://schemas.microsoft.com/office/drawing/2014/main" id="{9F9BDB7D-A9E0-901E-7591-13DA81D014CB}"/>
                </a:ext>
              </a:extLst>
            </p:cNvPr>
            <p:cNvSpPr/>
            <p:nvPr/>
          </p:nvSpPr>
          <p:spPr>
            <a:xfrm rot="5400000">
              <a:off x="3006933" y="2255284"/>
              <a:ext cx="45719" cy="360000"/>
            </a:xfrm>
            <a:prstGeom prst="rightBrace">
              <a:avLst/>
            </a:prstGeom>
            <a:noFill/>
            <a:ln w="12700" cap="flat" cmpd="sng" algn="ctr">
              <a:solidFill>
                <a:srgbClr val="221815"/>
              </a:solidFill>
              <a:prstDash val="solid"/>
              <a:miter lim="800000"/>
            </a:ln>
            <a:effectLst/>
          </p:spPr>
          <p:txBody>
            <a:bodyPr rtlCol="0" anchor="ctr"/>
            <a:lstStyle>
              <a:defPPr>
                <a:defRPr kern="0"/>
              </a:defPPr>
            </a:lstStyle>
            <a:p>
              <a:pPr algn="ctr" rtl="0">
                <a:defRPr/>
              </a:pPr>
              <a:endParaRPr lang="zh-CN" altLang="en-US">
                <a:solidFill>
                  <a:prstClr val="black"/>
                </a:solidFill>
                <a:latin typeface="等线" panose="02010600030101010101" pitchFamily="2" charset="-122"/>
                <a:ea typeface="微软雅黑" panose="020B0503020204020204" pitchFamily="34" charset="-122"/>
                <a:cs typeface="+mn-cs"/>
              </a:endParaRPr>
            </a:p>
          </p:txBody>
        </p:sp>
        <p:sp>
          <p:nvSpPr>
            <p:cNvPr id="65" name="右大括号 64">
              <a:extLst>
                <a:ext uri="{FF2B5EF4-FFF2-40B4-BE49-F238E27FC236}">
                  <a16:creationId xmlns:a16="http://schemas.microsoft.com/office/drawing/2014/main" id="{7D9582C3-B3E4-AAFE-9EEC-508AC29D1D5C}"/>
                </a:ext>
              </a:extLst>
            </p:cNvPr>
            <p:cNvSpPr/>
            <p:nvPr/>
          </p:nvSpPr>
          <p:spPr>
            <a:xfrm rot="5400000">
              <a:off x="3366933" y="2255284"/>
              <a:ext cx="45719" cy="360000"/>
            </a:xfrm>
            <a:prstGeom prst="rightBrace">
              <a:avLst/>
            </a:prstGeom>
            <a:noFill/>
            <a:ln w="12700" cap="flat" cmpd="sng" algn="ctr">
              <a:solidFill>
                <a:srgbClr val="221815"/>
              </a:solidFill>
              <a:prstDash val="solid"/>
              <a:miter lim="800000"/>
            </a:ln>
            <a:effectLst/>
          </p:spPr>
          <p:txBody>
            <a:bodyPr rtlCol="0" anchor="ctr"/>
            <a:lstStyle>
              <a:defPPr>
                <a:defRPr kern="0"/>
              </a:defPPr>
            </a:lstStyle>
            <a:p>
              <a:pPr algn="ctr" rtl="0">
                <a:defRPr/>
              </a:pPr>
              <a:endParaRPr lang="zh-CN" altLang="en-US">
                <a:solidFill>
                  <a:prstClr val="black"/>
                </a:solidFill>
                <a:latin typeface="等线" panose="02010600030101010101" pitchFamily="2" charset="-122"/>
                <a:ea typeface="微软雅黑" panose="020B0503020204020204" pitchFamily="34" charset="-122"/>
                <a:cs typeface="+mn-cs"/>
              </a:endParaRPr>
            </a:p>
          </p:txBody>
        </p:sp>
        <p:sp>
          <p:nvSpPr>
            <p:cNvPr id="66" name="右大括号 65">
              <a:extLst>
                <a:ext uri="{FF2B5EF4-FFF2-40B4-BE49-F238E27FC236}">
                  <a16:creationId xmlns:a16="http://schemas.microsoft.com/office/drawing/2014/main" id="{2CA28ED6-1236-765E-D80C-9F17F53E056E}"/>
                </a:ext>
              </a:extLst>
            </p:cNvPr>
            <p:cNvSpPr/>
            <p:nvPr/>
          </p:nvSpPr>
          <p:spPr>
            <a:xfrm rot="5400000">
              <a:off x="4091277" y="2255284"/>
              <a:ext cx="45719" cy="360000"/>
            </a:xfrm>
            <a:prstGeom prst="rightBrace">
              <a:avLst/>
            </a:prstGeom>
            <a:noFill/>
            <a:ln w="12700" cap="flat" cmpd="sng" algn="ctr">
              <a:solidFill>
                <a:srgbClr val="221815"/>
              </a:solidFill>
              <a:prstDash val="solid"/>
              <a:miter lim="800000"/>
            </a:ln>
            <a:effectLst/>
          </p:spPr>
          <p:txBody>
            <a:bodyPr rtlCol="0" anchor="ctr"/>
            <a:lstStyle>
              <a:defPPr>
                <a:defRPr kern="0"/>
              </a:defPPr>
            </a:lstStyle>
            <a:p>
              <a:pPr algn="ctr" rtl="0">
                <a:defRPr/>
              </a:pPr>
              <a:endParaRPr lang="zh-CN" altLang="en-US">
                <a:solidFill>
                  <a:prstClr val="black"/>
                </a:solidFill>
                <a:latin typeface="等线" panose="02010600030101010101" pitchFamily="2" charset="-122"/>
                <a:ea typeface="微软雅黑" panose="020B0503020204020204" pitchFamily="34" charset="-122"/>
                <a:cs typeface="+mn-cs"/>
              </a:endParaRPr>
            </a:p>
          </p:txBody>
        </p:sp>
      </p:grpSp>
      <p:sp>
        <p:nvSpPr>
          <p:cNvPr id="67" name="文本框 126">
            <a:extLst>
              <a:ext uri="{FF2B5EF4-FFF2-40B4-BE49-F238E27FC236}">
                <a16:creationId xmlns:a16="http://schemas.microsoft.com/office/drawing/2014/main" id="{13A07AED-4F0B-B2C0-ABA1-2CA8F26A3B5E}"/>
              </a:ext>
            </a:extLst>
          </p:cNvPr>
          <p:cNvSpPr txBox="1"/>
          <p:nvPr/>
        </p:nvSpPr>
        <p:spPr>
          <a:xfrm>
            <a:off x="3651700" y="5010726"/>
            <a:ext cx="1640681" cy="138499"/>
          </a:xfrm>
          <a:prstGeom prst="rect">
            <a:avLst/>
          </a:prstGeom>
          <a:noFill/>
        </p:spPr>
        <p:txBody>
          <a:bodyPr wrap="square" lIns="0" tIns="0" rIns="0" bIns="0" rtlCol="0">
            <a:spAutoFit/>
          </a:bodyPr>
          <a:lstStyle>
            <a:defPPr>
              <a:defRPr kern="0"/>
            </a:defPPr>
          </a:lstStyle>
          <a:p>
            <a:pPr algn="l" rtl="0"/>
            <a:r>
              <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kumimoji="1" lang="en-US" altLang="zh-CN"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4</a:t>
            </a:r>
            <a:r>
              <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kumimoji="1" lang="en-US" altLang="zh-CN"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group count = 3</a:t>
            </a:r>
            <a:endPar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68" name="文本框 127">
            <a:extLst>
              <a:ext uri="{FF2B5EF4-FFF2-40B4-BE49-F238E27FC236}">
                <a16:creationId xmlns:a16="http://schemas.microsoft.com/office/drawing/2014/main" id="{6E8A1F22-DCB1-190D-D1A1-F88B29EC4D75}"/>
              </a:ext>
            </a:extLst>
          </p:cNvPr>
          <p:cNvSpPr txBox="1"/>
          <p:nvPr/>
        </p:nvSpPr>
        <p:spPr>
          <a:xfrm>
            <a:off x="3651700" y="5148851"/>
            <a:ext cx="1640681" cy="138499"/>
          </a:xfrm>
          <a:prstGeom prst="rect">
            <a:avLst/>
          </a:prstGeom>
          <a:noFill/>
        </p:spPr>
        <p:txBody>
          <a:bodyPr wrap="square" lIns="0" tIns="0" rIns="0" bIns="0" rtlCol="0">
            <a:spAutoFit/>
          </a:bodyPr>
          <a:lstStyle>
            <a:defPPr>
              <a:defRPr kern="0"/>
            </a:defPPr>
          </a:lstStyle>
          <a:p>
            <a:pPr algn="l" rtl="0"/>
            <a:r>
              <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kumimoji="1" lang="en-US" altLang="zh-CN"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5</a:t>
            </a:r>
            <a:r>
              <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kumimoji="1" lang="en-US" altLang="zh-CN"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element count = 5</a:t>
            </a:r>
            <a:endParaRPr kumimoji="1" lang="zh-CN" altLang="en-US" sz="900" b="1"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9" name="文本框 128">
                <a:extLst>
                  <a:ext uri="{FF2B5EF4-FFF2-40B4-BE49-F238E27FC236}">
                    <a16:creationId xmlns:a16="http://schemas.microsoft.com/office/drawing/2014/main" id="{092DBFF6-0FC7-76BD-6FEA-9093B6F19AB1}"/>
                  </a:ext>
                </a:extLst>
              </p:cNvPr>
              <p:cNvSpPr txBox="1"/>
              <p:nvPr/>
            </p:nvSpPr>
            <p:spPr>
              <a:xfrm>
                <a:off x="4330571" y="4245289"/>
                <a:ext cx="1082861" cy="191527"/>
              </a:xfrm>
              <a:prstGeom prst="rect">
                <a:avLst/>
              </a:prstGeom>
              <a:noFill/>
            </p:spPr>
            <p:txBody>
              <a:bodyPr wrap="none" lIns="0" tIns="0" rIns="0" bIns="0" rtlCol="0">
                <a:spAutoFit/>
              </a:bodyPr>
              <a:lstStyle>
                <a:defPPr>
                  <a:defRPr kern="0"/>
                </a:defPPr>
              </a:lstStyle>
              <a:p>
                <a:pPr algn="l" rtl="0"/>
                <a14:m>
                  <m:oMathPara xmlns:m="http://schemas.openxmlformats.org/officeDocument/2006/math">
                    <m:oMathParaPr>
                      <m:jc m:val="centerGroup"/>
                    </m:oMathParaPr>
                    <m:oMath xmlns:m="http://schemas.openxmlformats.org/officeDocument/2006/math">
                      <m:sSup>
                        <m:sSupPr>
                          <m:ctrlPr>
                            <a:rPr lang="en-US" altLang="zh-CN" sz="1200" i="1" kern="1200">
                              <a:solidFill>
                                <a:prstClr val="black"/>
                              </a:solidFill>
                              <a:latin typeface="Cambria Math" panose="02040503050406030204" pitchFamily="18" charset="0"/>
                              <a:cs typeface="+mn-cs"/>
                            </a:rPr>
                          </m:ctrlPr>
                        </m:sSupPr>
                        <m:e>
                          <m:r>
                            <a:rPr lang="en-US" altLang="zh-CN" sz="1200" i="1" kern="1200">
                              <a:solidFill>
                                <a:prstClr val="black"/>
                              </a:solidFill>
                              <a:latin typeface="Cambria Math" panose="02040503050406030204" pitchFamily="18" charset="0"/>
                              <a:cs typeface="+mn-cs"/>
                            </a:rPr>
                            <m:t>𝑋</m:t>
                          </m:r>
                        </m:e>
                        <m:sup>
                          <m:r>
                            <a:rPr lang="en-US" altLang="zh-CN" sz="1200" i="1" kern="1200">
                              <a:solidFill>
                                <a:prstClr val="black"/>
                              </a:solidFill>
                              <a:latin typeface="Cambria Math" panose="02040503050406030204" pitchFamily="18" charset="0"/>
                              <a:cs typeface="+mn-cs"/>
                            </a:rPr>
                            <m:t>1</m:t>
                          </m:r>
                          <m:r>
                            <a:rPr lang="en-US" altLang="zh-CN" sz="1200" i="1" kern="1200">
                              <a:solidFill>
                                <a:prstClr val="black"/>
                              </a:solidFill>
                              <a:latin typeface="Cambria Math" panose="02040503050406030204" pitchFamily="18" charset="0"/>
                              <a:cs typeface="+mn-cs"/>
                            </a:rPr>
                            <m:t>𝑑</m:t>
                          </m:r>
                        </m:sup>
                      </m:sSup>
                      <m:r>
                        <a:rPr lang="en-US" altLang="zh-CN" sz="1200" i="1" kern="1200">
                          <a:solidFill>
                            <a:prstClr val="black"/>
                          </a:solidFill>
                          <a:latin typeface="Cambria Math" panose="02040503050406030204" pitchFamily="18" charset="0"/>
                          <a:cs typeface="+mn-cs"/>
                        </a:rPr>
                        <m:t>∈</m:t>
                      </m:r>
                      <m:sSup>
                        <m:sSupPr>
                          <m:ctrlPr>
                            <a:rPr lang="en-US" altLang="zh-CN" sz="1200" i="1" kern="1200">
                              <a:solidFill>
                                <a:prstClr val="black"/>
                              </a:solidFill>
                              <a:latin typeface="Cambria Math" panose="02040503050406030204" pitchFamily="18" charset="0"/>
                              <a:cs typeface="+mn-cs"/>
                            </a:rPr>
                          </m:ctrlPr>
                        </m:sSupPr>
                        <m:e>
                          <m:d>
                            <m:dPr>
                              <m:begChr m:val="{"/>
                              <m:endChr m:val="}"/>
                              <m:ctrlPr>
                                <a:rPr lang="en-US" altLang="zh-CN" sz="1200" i="1" kern="1200">
                                  <a:solidFill>
                                    <a:prstClr val="black"/>
                                  </a:solidFill>
                                  <a:latin typeface="Cambria Math" panose="02040503050406030204" pitchFamily="18" charset="0"/>
                                  <a:cs typeface="+mn-cs"/>
                                </a:rPr>
                              </m:ctrlPr>
                            </m:dPr>
                            <m:e>
                              <m:r>
                                <a:rPr lang="en-US" altLang="zh-CN" sz="1200" i="1" kern="1200">
                                  <a:solidFill>
                                    <a:prstClr val="black"/>
                                  </a:solidFill>
                                  <a:latin typeface="Cambria Math" panose="02040503050406030204" pitchFamily="18" charset="0"/>
                                  <a:cs typeface="+mn-cs"/>
                                </a:rPr>
                                <m:t>0, 1</m:t>
                              </m:r>
                            </m:e>
                          </m:d>
                        </m:e>
                        <m:sup>
                          <m:r>
                            <a:rPr lang="en-US" altLang="zh-CN" sz="1200" i="1" kern="1200">
                              <a:solidFill>
                                <a:prstClr val="black"/>
                              </a:solidFill>
                              <a:latin typeface="Cambria Math" panose="02040503050406030204" pitchFamily="18" charset="0"/>
                              <a:cs typeface="+mn-cs"/>
                            </a:rPr>
                            <m:t>1×10</m:t>
                          </m:r>
                        </m:sup>
                      </m:sSup>
                    </m:oMath>
                  </m:oMathPara>
                </a14:m>
                <a:endParaRPr lang="zh-CN" altLang="en-US" sz="1200" kern="1200" dirty="0">
                  <a:solidFill>
                    <a:prstClr val="black"/>
                  </a:solidFill>
                  <a:latin typeface="等线" panose="02010600030101010101" pitchFamily="2" charset="-122"/>
                  <a:ea typeface="等线" panose="02010600030101010101" pitchFamily="2" charset="-122"/>
                  <a:cs typeface="+mn-cs"/>
                </a:endParaRPr>
              </a:p>
            </p:txBody>
          </p:sp>
        </mc:Choice>
        <mc:Fallback xmlns="">
          <p:sp>
            <p:nvSpPr>
              <p:cNvPr id="69" name="文本框 128">
                <a:extLst>
                  <a:ext uri="{FF2B5EF4-FFF2-40B4-BE49-F238E27FC236}">
                    <a16:creationId xmlns:a16="http://schemas.microsoft.com/office/drawing/2014/main" id="{092DBFF6-0FC7-76BD-6FEA-9093B6F19AB1}"/>
                  </a:ext>
                </a:extLst>
              </p:cNvPr>
              <p:cNvSpPr txBox="1">
                <a:spLocks noRot="1" noChangeAspect="1" noMove="1" noResize="1" noEditPoints="1" noAdjustHandles="1" noChangeArrowheads="1" noChangeShapeType="1" noTextEdit="1"/>
              </p:cNvSpPr>
              <p:nvPr/>
            </p:nvSpPr>
            <p:spPr>
              <a:xfrm>
                <a:off x="4330571" y="4245289"/>
                <a:ext cx="1082861" cy="191527"/>
              </a:xfrm>
              <a:prstGeom prst="rect">
                <a:avLst/>
              </a:prstGeom>
              <a:blipFill>
                <a:blip r:embed="rId4"/>
                <a:stretch>
                  <a:fillRect l="-3371" r="-562" b="-3125"/>
                </a:stretch>
              </a:blipFill>
            </p:spPr>
            <p:txBody>
              <a:bodyPr/>
              <a:lstStyle/>
              <a:p>
                <a:r>
                  <a:rPr lang="zh-CN" altLang="en-US">
                    <a:noFill/>
                  </a:rPr>
                  <a:t> </a:t>
                </a:r>
              </a:p>
            </p:txBody>
          </p:sp>
        </mc:Fallback>
      </mc:AlternateContent>
      <p:pic>
        <p:nvPicPr>
          <p:cNvPr id="70" name="图片 69">
            <a:extLst>
              <a:ext uri="{FF2B5EF4-FFF2-40B4-BE49-F238E27FC236}">
                <a16:creationId xmlns:a16="http://schemas.microsoft.com/office/drawing/2014/main" id="{F2B33120-D92E-B779-B3CB-916597D9035D}"/>
              </a:ext>
            </a:extLst>
          </p:cNvPr>
          <p:cNvPicPr>
            <a:picLocks noChangeAspect="1"/>
          </p:cNvPicPr>
          <p:nvPr/>
        </p:nvPicPr>
        <p:blipFill>
          <a:blip r:embed="rId5"/>
          <a:stretch>
            <a:fillRect/>
          </a:stretch>
        </p:blipFill>
        <p:spPr>
          <a:xfrm>
            <a:off x="1061326" y="1254079"/>
            <a:ext cx="2017369" cy="2017369"/>
          </a:xfrm>
          <a:prstGeom prst="rect">
            <a:avLst/>
          </a:prstGeom>
        </p:spPr>
      </p:pic>
      <p:sp>
        <p:nvSpPr>
          <p:cNvPr id="71" name="矩形 70">
            <a:extLst>
              <a:ext uri="{FF2B5EF4-FFF2-40B4-BE49-F238E27FC236}">
                <a16:creationId xmlns:a16="http://schemas.microsoft.com/office/drawing/2014/main" id="{3C51C8A7-FC10-A3F3-E863-29588DB3AB7A}"/>
              </a:ext>
            </a:extLst>
          </p:cNvPr>
          <p:cNvSpPr/>
          <p:nvPr/>
        </p:nvSpPr>
        <p:spPr>
          <a:xfrm>
            <a:off x="2268547" y="1252438"/>
            <a:ext cx="201729" cy="2019010"/>
          </a:xfrm>
          <a:prstGeom prst="rect">
            <a:avLst/>
          </a:prstGeom>
          <a:solidFill>
            <a:srgbClr val="30B5C5">
              <a:lumMod val="50000"/>
              <a:alpha val="30000"/>
            </a:srgb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kern="0"/>
            </a:defPPr>
          </a:lstStyle>
          <a:p>
            <a:pPr algn="ctr" rtl="0">
              <a:defRPr/>
            </a:pPr>
            <a:endParaRPr lang="zh-CN" altLang="en-US" dirty="0">
              <a:solidFill>
                <a:srgbClr val="666666"/>
              </a:solidFill>
              <a:latin typeface="Calibri" panose="020F0502020204030204"/>
              <a:ea typeface="等线" panose="02010600030101010101" pitchFamily="2" charset="-122"/>
              <a:cs typeface="+mn-cs"/>
            </a:endParaRPr>
          </a:p>
        </p:txBody>
      </p:sp>
      <p:sp>
        <p:nvSpPr>
          <p:cNvPr id="72" name="文本框 131">
            <a:extLst>
              <a:ext uri="{FF2B5EF4-FFF2-40B4-BE49-F238E27FC236}">
                <a16:creationId xmlns:a16="http://schemas.microsoft.com/office/drawing/2014/main" id="{56B59B88-8C3C-C582-9A4B-3D524D827A21}"/>
              </a:ext>
            </a:extLst>
          </p:cNvPr>
          <p:cNvSpPr txBox="1"/>
          <p:nvPr/>
        </p:nvSpPr>
        <p:spPr>
          <a:xfrm>
            <a:off x="2047504" y="1025591"/>
            <a:ext cx="643814" cy="253916"/>
          </a:xfrm>
          <a:prstGeom prst="rect">
            <a:avLst/>
          </a:prstGeom>
          <a:noFill/>
        </p:spPr>
        <p:txBody>
          <a:bodyPr wrap="square">
            <a:spAutoFit/>
          </a:bodyPr>
          <a:lstStyle>
            <a:defPPr>
              <a:defRPr kern="0"/>
            </a:defPPr>
          </a:lstStyle>
          <a:p>
            <a:pPr algn="ctr" defTabSz="914478" rtl="0"/>
            <a:r>
              <a:rPr lang="en-US" altLang="zh-CN" sz="1050" b="1" kern="1200" dirty="0">
                <a:solidFill>
                  <a:srgbClr val="1D1D1A"/>
                </a:solidFill>
                <a:latin typeface="Times New Roman" panose="02020603050405020304" pitchFamily="18" charset="0"/>
                <a:ea typeface="等线" panose="02010600030101010101" pitchFamily="2" charset="-122"/>
                <a:cs typeface="Times New Roman" panose="02020603050405020304" pitchFamily="18" charset="0"/>
              </a:rPr>
              <a:t>Column</a:t>
            </a:r>
            <a:endParaRPr lang="zh-CN" altLang="en-US" sz="1050" kern="1200" dirty="0">
              <a:solidFill>
                <a:srgbClr val="1D1D1A"/>
              </a:solidFill>
              <a:latin typeface="Calibri" panose="020F0502020204030204"/>
              <a:ea typeface="等线" panose="02010600030101010101" pitchFamily="2" charset="-122"/>
              <a:cs typeface="+mn-cs"/>
            </a:endParaRPr>
          </a:p>
        </p:txBody>
      </p:sp>
      <p:sp>
        <p:nvSpPr>
          <p:cNvPr id="73" name="矩形 72">
            <a:extLst>
              <a:ext uri="{FF2B5EF4-FFF2-40B4-BE49-F238E27FC236}">
                <a16:creationId xmlns:a16="http://schemas.microsoft.com/office/drawing/2014/main" id="{E5D51622-A43D-4C44-988D-950DBC9EE761}"/>
              </a:ext>
            </a:extLst>
          </p:cNvPr>
          <p:cNvSpPr/>
          <p:nvPr/>
        </p:nvSpPr>
        <p:spPr>
          <a:xfrm>
            <a:off x="1061326" y="1653017"/>
            <a:ext cx="2017288" cy="213962"/>
          </a:xfrm>
          <a:prstGeom prst="rect">
            <a:avLst/>
          </a:prstGeom>
          <a:solidFill>
            <a:srgbClr val="30B5C5">
              <a:lumMod val="50000"/>
              <a:alpha val="30000"/>
            </a:srgb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kern="0"/>
            </a:defPPr>
          </a:lstStyle>
          <a:p>
            <a:pPr algn="ctr" rtl="0">
              <a:defRPr/>
            </a:pPr>
            <a:endParaRPr lang="zh-CN" altLang="en-US" dirty="0">
              <a:solidFill>
                <a:srgbClr val="666666"/>
              </a:solidFill>
              <a:latin typeface="Calibri" panose="020F0502020204030204"/>
              <a:ea typeface="等线" panose="02010600030101010101" pitchFamily="2" charset="-122"/>
              <a:cs typeface="+mn-cs"/>
            </a:endParaRPr>
          </a:p>
        </p:txBody>
      </p:sp>
      <p:sp>
        <p:nvSpPr>
          <p:cNvPr id="74" name="文本框 133">
            <a:extLst>
              <a:ext uri="{FF2B5EF4-FFF2-40B4-BE49-F238E27FC236}">
                <a16:creationId xmlns:a16="http://schemas.microsoft.com/office/drawing/2014/main" id="{CD448508-FE33-4F65-692D-5A1FAF378069}"/>
              </a:ext>
            </a:extLst>
          </p:cNvPr>
          <p:cNvSpPr txBox="1"/>
          <p:nvPr/>
        </p:nvSpPr>
        <p:spPr>
          <a:xfrm>
            <a:off x="557522" y="1633040"/>
            <a:ext cx="643814" cy="253916"/>
          </a:xfrm>
          <a:prstGeom prst="rect">
            <a:avLst/>
          </a:prstGeom>
          <a:noFill/>
        </p:spPr>
        <p:txBody>
          <a:bodyPr wrap="square">
            <a:spAutoFit/>
          </a:bodyPr>
          <a:lstStyle>
            <a:defPPr>
              <a:defRPr kern="0"/>
            </a:defPPr>
          </a:lstStyle>
          <a:p>
            <a:pPr algn="ctr" defTabSz="914478" rtl="0"/>
            <a:r>
              <a:rPr lang="en-US" altLang="zh-CN" sz="1050" b="1" kern="1200" dirty="0">
                <a:solidFill>
                  <a:srgbClr val="1D1D1A"/>
                </a:solidFill>
                <a:latin typeface="Times New Roman" panose="02020603050405020304" pitchFamily="18" charset="0"/>
                <a:ea typeface="等线" panose="02010600030101010101" pitchFamily="2" charset="-122"/>
                <a:cs typeface="Times New Roman" panose="02020603050405020304" pitchFamily="18" charset="0"/>
              </a:rPr>
              <a:t>Row</a:t>
            </a:r>
            <a:endParaRPr lang="zh-CN" altLang="en-US" sz="1050" kern="1200" dirty="0">
              <a:solidFill>
                <a:srgbClr val="1D1D1A"/>
              </a:solidFill>
              <a:latin typeface="Calibri" panose="020F0502020204030204"/>
              <a:ea typeface="等线" panose="02010600030101010101" pitchFamily="2" charset="-122"/>
              <a:cs typeface="+mn-cs"/>
            </a:endParaRPr>
          </a:p>
        </p:txBody>
      </p:sp>
      <mc:AlternateContent xmlns:mc="http://schemas.openxmlformats.org/markup-compatibility/2006" xmlns:a14="http://schemas.microsoft.com/office/drawing/2010/main">
        <mc:Choice Requires="a14">
          <p:sp>
            <p:nvSpPr>
              <p:cNvPr id="75" name="文本框 134">
                <a:extLst>
                  <a:ext uri="{FF2B5EF4-FFF2-40B4-BE49-F238E27FC236}">
                    <a16:creationId xmlns:a16="http://schemas.microsoft.com/office/drawing/2014/main" id="{BE2E5BAA-2944-3F32-DCE2-EC20D64EDE3A}"/>
                  </a:ext>
                </a:extLst>
              </p:cNvPr>
              <p:cNvSpPr txBox="1"/>
              <p:nvPr/>
            </p:nvSpPr>
            <p:spPr>
              <a:xfrm>
                <a:off x="954734" y="5354364"/>
                <a:ext cx="4007409" cy="304571"/>
              </a:xfrm>
              <a:prstGeom prst="rect">
                <a:avLst/>
              </a:prstGeom>
              <a:noFill/>
            </p:spPr>
            <p:txBody>
              <a:bodyPr wrap="square">
                <a:spAutoFit/>
              </a:bodyPr>
              <a:lstStyle>
                <a:defPPr>
                  <a:defRPr kern="0"/>
                </a:defPPr>
              </a:lstStyle>
              <a:p>
                <a:pPr algn="ctr" rtl="0">
                  <a:lnSpc>
                    <a:spcPct val="120000"/>
                  </a:lnSpc>
                  <a:defRPr/>
                </a:pPr>
                <a:r>
                  <a:rPr lang="en-US" altLang="zh-CN" sz="1200" b="1" kern="0" dirty="0">
                    <a:solidFill>
                      <a:schemeClr val="accent6"/>
                    </a:solidFill>
                    <a:latin typeface="等线" panose="02010600030101010101" pitchFamily="2" charset="-122"/>
                    <a:ea typeface="微软雅黑" panose="020B0503020204020204" pitchFamily="34" charset="-122"/>
                    <a:cs typeface="Times New Roman" panose="02020603050405020304" pitchFamily="18" charset="0"/>
                  </a:rPr>
                  <a:t>1d-Binary Spatial Feature Extractor (</a:t>
                </a:r>
                <a14:m>
                  <m:oMath xmlns:m="http://schemas.openxmlformats.org/officeDocument/2006/math">
                    <m:r>
                      <a:rPr lang="en-US" altLang="zh-CN" sz="1200" b="1" kern="0" dirty="0">
                        <a:solidFill>
                          <a:schemeClr val="accent6"/>
                        </a:solidFill>
                        <a:latin typeface="Cambria Math" panose="02040503050406030204" pitchFamily="18" charset="0"/>
                        <a:ea typeface="微软雅黑" panose="020B0503020204020204" pitchFamily="34" charset="-122"/>
                        <a:cs typeface="Times New Roman" panose="02020603050405020304" pitchFamily="18" charset="0"/>
                      </a:rPr>
                      <m:t>𝑩𝑺𝑭</m:t>
                    </m:r>
                    <m:sSup>
                      <m:sSupPr>
                        <m:ctrlPr>
                          <a:rPr lang="en-US" altLang="zh-CN" sz="1200" b="1" i="1" kern="0" dirty="0">
                            <a:solidFill>
                              <a:schemeClr val="accent6"/>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200" b="1" kern="0" dirty="0">
                            <a:solidFill>
                              <a:schemeClr val="accent6"/>
                            </a:solidFill>
                            <a:latin typeface="Cambria Math" panose="02040503050406030204" pitchFamily="18" charset="0"/>
                            <a:ea typeface="微软雅黑" panose="020B0503020204020204" pitchFamily="34" charset="-122"/>
                            <a:cs typeface="Times New Roman" panose="02020603050405020304" pitchFamily="18" charset="0"/>
                          </a:rPr>
                          <m:t>𝑬</m:t>
                        </m:r>
                      </m:e>
                      <m:sup>
                        <m:r>
                          <a:rPr lang="en-US" altLang="zh-CN" sz="1200" b="1" kern="0" dirty="0">
                            <a:solidFill>
                              <a:schemeClr val="accent6"/>
                            </a:solidFill>
                            <a:latin typeface="Cambria Math" panose="02040503050406030204" pitchFamily="18" charset="0"/>
                            <a:ea typeface="微软雅黑" panose="020B0503020204020204" pitchFamily="34" charset="-122"/>
                            <a:cs typeface="Times New Roman" panose="02020603050405020304" pitchFamily="18" charset="0"/>
                          </a:rPr>
                          <m:t>𝟏</m:t>
                        </m:r>
                        <m:r>
                          <a:rPr lang="en-US" altLang="zh-CN" sz="1200" b="1" kern="0" dirty="0">
                            <a:solidFill>
                              <a:schemeClr val="accent6"/>
                            </a:solidFill>
                            <a:latin typeface="Cambria Math" panose="02040503050406030204" pitchFamily="18" charset="0"/>
                            <a:ea typeface="微软雅黑" panose="020B0503020204020204" pitchFamily="34" charset="-122"/>
                            <a:cs typeface="Times New Roman" panose="02020603050405020304" pitchFamily="18" charset="0"/>
                          </a:rPr>
                          <m:t>𝒅</m:t>
                        </m:r>
                      </m:sup>
                    </m:sSup>
                  </m:oMath>
                </a14:m>
                <a:r>
                  <a:rPr lang="en-US" altLang="zh-CN" sz="1200" b="1" kern="0" dirty="0">
                    <a:solidFill>
                      <a:schemeClr val="accent6"/>
                    </a:solidFill>
                    <a:latin typeface="等线" panose="02010600030101010101" pitchFamily="2" charset="-122"/>
                    <a:ea typeface="微软雅黑" panose="020B0503020204020204" pitchFamily="34" charset="-122"/>
                    <a:cs typeface="Times New Roman" panose="02020603050405020304" pitchFamily="18" charset="0"/>
                  </a:rPr>
                  <a:t>)</a:t>
                </a:r>
              </a:p>
            </p:txBody>
          </p:sp>
        </mc:Choice>
        <mc:Fallback xmlns="">
          <p:sp>
            <p:nvSpPr>
              <p:cNvPr id="75" name="文本框 134">
                <a:extLst>
                  <a:ext uri="{FF2B5EF4-FFF2-40B4-BE49-F238E27FC236}">
                    <a16:creationId xmlns:a16="http://schemas.microsoft.com/office/drawing/2014/main" id="{BE2E5BAA-2944-3F32-DCE2-EC20D64EDE3A}"/>
                  </a:ext>
                </a:extLst>
              </p:cNvPr>
              <p:cNvSpPr txBox="1">
                <a:spLocks noRot="1" noChangeAspect="1" noMove="1" noResize="1" noEditPoints="1" noAdjustHandles="1" noChangeArrowheads="1" noChangeShapeType="1" noTextEdit="1"/>
              </p:cNvSpPr>
              <p:nvPr/>
            </p:nvSpPr>
            <p:spPr>
              <a:xfrm>
                <a:off x="954734" y="5354364"/>
                <a:ext cx="4007409" cy="304571"/>
              </a:xfrm>
              <a:prstGeom prst="rect">
                <a:avLst/>
              </a:prstGeom>
              <a:blipFill>
                <a:blip r:embed="rId6"/>
                <a:stretch>
                  <a:fillRect b="-16000"/>
                </a:stretch>
              </a:blipFill>
            </p:spPr>
            <p:txBody>
              <a:bodyPr/>
              <a:lstStyle/>
              <a:p>
                <a:r>
                  <a:rPr lang="zh-CN" altLang="en-US">
                    <a:noFill/>
                  </a:rPr>
                  <a:t> </a:t>
                </a:r>
              </a:p>
            </p:txBody>
          </p:sp>
        </mc:Fallback>
      </mc:AlternateContent>
      <p:sp>
        <p:nvSpPr>
          <p:cNvPr id="77" name="文本框 136">
            <a:extLst>
              <a:ext uri="{FF2B5EF4-FFF2-40B4-BE49-F238E27FC236}">
                <a16:creationId xmlns:a16="http://schemas.microsoft.com/office/drawing/2014/main" id="{71FB73A7-6083-1397-B4D2-24FEECE2D5C6}"/>
              </a:ext>
            </a:extLst>
          </p:cNvPr>
          <p:cNvSpPr txBox="1"/>
          <p:nvPr/>
        </p:nvSpPr>
        <p:spPr>
          <a:xfrm>
            <a:off x="3353029" y="1482394"/>
            <a:ext cx="3413429" cy="890693"/>
          </a:xfrm>
          <a:prstGeom prst="rect">
            <a:avLst/>
          </a:prstGeom>
          <a:noFill/>
        </p:spPr>
        <p:txBody>
          <a:bodyPr wrap="square">
            <a:spAutoFit/>
          </a:bodyPr>
          <a:lstStyle>
            <a:defPPr>
              <a:defRPr kern="0"/>
            </a:defPPr>
          </a:lstStyle>
          <a:p>
            <a:pPr algn="ctr" rtl="0">
              <a:lnSpc>
                <a:spcPct val="150000"/>
              </a:lnSpc>
              <a:defRPr/>
            </a:pPr>
            <a:r>
              <a:rPr lang="en-US" altLang="zh-CN" sz="1200" b="1" dirty="0">
                <a:solidFill>
                  <a:srgbClr val="ED6D00"/>
                </a:solidFill>
                <a:latin typeface="等线" panose="02010600030101010101" pitchFamily="2" charset="-122"/>
                <a:ea typeface="微软雅黑" panose="020B0503020204020204" pitchFamily="34" charset="-122"/>
                <a:cs typeface="Times New Roman" panose="02020603050405020304" pitchFamily="18" charset="0"/>
              </a:rPr>
              <a:t>Composed by 2 paths</a:t>
            </a:r>
          </a:p>
          <a:p>
            <a:pPr algn="ctr" rtl="0">
              <a:lnSpc>
                <a:spcPct val="150000"/>
              </a:lnSpc>
              <a:defRPr/>
            </a:pPr>
            <a:r>
              <a:rPr lang="en-US" altLang="zh-CN" sz="1200" b="1" kern="1200" dirty="0">
                <a:solidFill>
                  <a:srgbClr val="ED6D00"/>
                </a:solidFill>
                <a:latin typeface="微软雅黑" panose="020B0503020204020204" pitchFamily="34" charset="-122"/>
                <a:ea typeface="微软雅黑" panose="020B0503020204020204" pitchFamily="34" charset="-122"/>
                <a:cs typeface="+mn-cs"/>
              </a:rPr>
              <a:t>Reduction-then-Aggregation</a:t>
            </a:r>
          </a:p>
          <a:p>
            <a:pPr algn="ctr" rtl="0">
              <a:lnSpc>
                <a:spcPct val="150000"/>
              </a:lnSpc>
              <a:defRPr/>
            </a:pPr>
            <a:r>
              <a:rPr lang="en-US" altLang="zh-CN" sz="1200" b="1" kern="1200" dirty="0">
                <a:solidFill>
                  <a:srgbClr val="ED6D00"/>
                </a:solidFill>
                <a:latin typeface="微软雅黑" panose="020B0503020204020204" pitchFamily="34" charset="-122"/>
                <a:ea typeface="微软雅黑" panose="020B0503020204020204" pitchFamily="34" charset="-122"/>
                <a:cs typeface="+mn-cs"/>
              </a:rPr>
              <a:t>Aggregation-then-Reduction</a:t>
            </a:r>
          </a:p>
        </p:txBody>
      </p:sp>
      <p:sp>
        <p:nvSpPr>
          <p:cNvPr id="78" name="箭头: 右 77">
            <a:extLst>
              <a:ext uri="{FF2B5EF4-FFF2-40B4-BE49-F238E27FC236}">
                <a16:creationId xmlns:a16="http://schemas.microsoft.com/office/drawing/2014/main" id="{3535C1A1-B30B-5E52-5FAE-2E6291AC2605}"/>
              </a:ext>
            </a:extLst>
          </p:cNvPr>
          <p:cNvSpPr/>
          <p:nvPr/>
        </p:nvSpPr>
        <p:spPr>
          <a:xfrm rot="5400000">
            <a:off x="1687983" y="3540975"/>
            <a:ext cx="742838" cy="244567"/>
          </a:xfrm>
          <a:prstGeom prst="rightArrow">
            <a:avLst/>
          </a:prstGeom>
          <a:solidFill>
            <a:srgbClr val="00B0F0"/>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kern="0"/>
            </a:def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80" name="文本框 139">
            <a:extLst>
              <a:ext uri="{FF2B5EF4-FFF2-40B4-BE49-F238E27FC236}">
                <a16:creationId xmlns:a16="http://schemas.microsoft.com/office/drawing/2014/main" id="{5C4B4E9F-E40C-99F0-80AB-F1841AA6DE16}"/>
              </a:ext>
            </a:extLst>
          </p:cNvPr>
          <p:cNvSpPr txBox="1"/>
          <p:nvPr/>
        </p:nvSpPr>
        <p:spPr>
          <a:xfrm>
            <a:off x="1775035" y="3318198"/>
            <a:ext cx="3241619" cy="617220"/>
          </a:xfrm>
          <a:prstGeom prst="rect">
            <a:avLst/>
          </a:prstGeom>
          <a:noFill/>
        </p:spPr>
        <p:txBody>
          <a:bodyPr wrap="square">
            <a:spAutoFit/>
          </a:bodyPr>
          <a:lstStyle>
            <a:defPPr>
              <a:defRPr kern="0"/>
            </a:defPPr>
          </a:lstStyle>
          <a:p>
            <a:pPr algn="ctr" rtl="0">
              <a:lnSpc>
                <a:spcPct val="150000"/>
              </a:lnSpc>
              <a:defRPr/>
            </a:pPr>
            <a:r>
              <a:rPr lang="en-US" altLang="zh-CN" sz="1200" b="1" dirty="0">
                <a:solidFill>
                  <a:srgbClr val="00B0F0"/>
                </a:solidFill>
                <a:latin typeface="等线" panose="02010600030101010101" pitchFamily="2" charset="-122"/>
                <a:ea typeface="微软雅黑" panose="020B0503020204020204" pitchFamily="34" charset="-122"/>
                <a:cs typeface="Times New Roman" panose="02020603050405020304" pitchFamily="18" charset="0"/>
              </a:rPr>
              <a:t>Guided by 3 principles</a:t>
            </a:r>
          </a:p>
          <a:p>
            <a:pPr algn="ctr" rtl="0">
              <a:lnSpc>
                <a:spcPct val="150000"/>
              </a:lnSpc>
              <a:defRPr/>
            </a:pPr>
            <a:r>
              <a:rPr lang="en-US" altLang="zh-CN" sz="1200" b="1" kern="1200" dirty="0">
                <a:solidFill>
                  <a:srgbClr val="00B0F0"/>
                </a:solidFill>
                <a:latin typeface="微软雅黑" panose="020B0503020204020204" pitchFamily="34" charset="-122"/>
                <a:ea typeface="微软雅黑" panose="020B0503020204020204" pitchFamily="34" charset="-122"/>
                <a:cs typeface="+mn-cs"/>
              </a:rPr>
              <a:t>Symmetry Generality Sensitivity</a:t>
            </a:r>
            <a:endParaRPr lang="en-US" altLang="zh-CN" sz="1200" b="1" dirty="0">
              <a:solidFill>
                <a:srgbClr val="00B0F0"/>
              </a:solidFill>
              <a:latin typeface="等线" panose="02010600030101010101" pitchFamily="2" charset="-122"/>
              <a:ea typeface="微软雅黑" panose="020B0503020204020204" pitchFamily="34" charset="-122"/>
              <a:cs typeface="Times New Roman" panose="02020603050405020304" pitchFamily="18" charset="0"/>
            </a:endParaRPr>
          </a:p>
        </p:txBody>
      </p:sp>
      <p:grpSp>
        <p:nvGrpSpPr>
          <p:cNvPr id="4" name="组合 3">
            <a:extLst>
              <a:ext uri="{FF2B5EF4-FFF2-40B4-BE49-F238E27FC236}">
                <a16:creationId xmlns:a16="http://schemas.microsoft.com/office/drawing/2014/main" id="{483116DB-79EC-81B8-6C8F-C4F0DB6E2F48}"/>
              </a:ext>
            </a:extLst>
          </p:cNvPr>
          <p:cNvGrpSpPr/>
          <p:nvPr/>
        </p:nvGrpSpPr>
        <p:grpSpPr>
          <a:xfrm>
            <a:off x="6389471" y="1089799"/>
            <a:ext cx="3768574" cy="3377785"/>
            <a:chOff x="6500198" y="1231700"/>
            <a:chExt cx="5185003" cy="4636811"/>
          </a:xfrm>
        </p:grpSpPr>
        <p:pic>
          <p:nvPicPr>
            <p:cNvPr id="81" name="table">
              <a:extLst>
                <a:ext uri="{FF2B5EF4-FFF2-40B4-BE49-F238E27FC236}">
                  <a16:creationId xmlns:a16="http://schemas.microsoft.com/office/drawing/2014/main" id="{66C6A915-A85E-31D4-E563-4944EAD7500B}"/>
                </a:ext>
              </a:extLst>
            </p:cNvPr>
            <p:cNvPicPr>
              <a:picLocks noChangeAspect="1"/>
            </p:cNvPicPr>
            <p:nvPr/>
          </p:nvPicPr>
          <p:blipFill>
            <a:blip r:embed="rId7"/>
            <a:stretch>
              <a:fillRect/>
            </a:stretch>
          </p:blipFill>
          <p:spPr>
            <a:xfrm>
              <a:off x="6863992" y="1602693"/>
              <a:ext cx="1296000" cy="2590360"/>
            </a:xfrm>
            <a:prstGeom prst="rect">
              <a:avLst/>
            </a:prstGeom>
          </p:spPr>
        </p:pic>
        <mc:AlternateContent xmlns:mc="http://schemas.openxmlformats.org/markup-compatibility/2006" xmlns:a14="http://schemas.microsoft.com/office/drawing/2010/main">
          <mc:Choice Requires="a14">
            <p:sp>
              <p:nvSpPr>
                <p:cNvPr id="82" name="文本框 141">
                  <a:extLst>
                    <a:ext uri="{FF2B5EF4-FFF2-40B4-BE49-F238E27FC236}">
                      <a16:creationId xmlns:a16="http://schemas.microsoft.com/office/drawing/2014/main" id="{830B8E90-1E99-CB5E-4BAA-A7D94FBB7D9D}"/>
                    </a:ext>
                  </a:extLst>
                </p:cNvPr>
                <p:cNvSpPr txBox="1"/>
                <p:nvPr/>
              </p:nvSpPr>
              <p:spPr>
                <a:xfrm>
                  <a:off x="8363439" y="1916674"/>
                  <a:ext cx="1025568" cy="380247"/>
                </a:xfrm>
                <a:prstGeom prst="rect">
                  <a:avLst/>
                </a:prstGeom>
                <a:noFill/>
              </p:spPr>
              <p:txBody>
                <a:bodyPr wrap="square" lIns="0" tIns="0" rIns="0" bIns="0" rtlCol="0">
                  <a:spAutoFit/>
                </a:bodyPr>
                <a:lstStyle>
                  <a:defPPr>
                    <a:defRPr kern="0"/>
                  </a:defPPr>
                </a:lstStyle>
                <a:p>
                  <a:pPr algn="ctr" rtl="0"/>
                  <a14:m>
                    <m:oMathPara xmlns:m="http://schemas.openxmlformats.org/officeDocument/2006/math">
                      <m:oMathParaPr>
                        <m:jc m:val="centerGroup"/>
                      </m:oMathParaPr>
                      <m:oMath xmlns:m="http://schemas.openxmlformats.org/officeDocument/2006/math">
                        <m:r>
                          <a:rPr kumimoji="1" lang="en-US" altLang="zh-CN" sz="900" b="1" i="1" kern="1200" dirty="0">
                            <a:solidFill>
                              <a:prstClr val="black"/>
                            </a:solidFill>
                            <a:latin typeface="Cambria Math" panose="02040503050406030204" pitchFamily="18" charset="0"/>
                            <a:cs typeface="+mn-cs"/>
                          </a:rPr>
                          <m:t>𝑹𝒆𝒅𝒖𝒄𝒕𝒊𝒐𝒏</m:t>
                        </m:r>
                        <m:r>
                          <a:rPr kumimoji="1" lang="en-US" altLang="zh-CN" sz="900" b="1" i="1" kern="1200" dirty="0">
                            <a:solidFill>
                              <a:prstClr val="black"/>
                            </a:solidFill>
                            <a:latin typeface="Cambria Math" panose="02040503050406030204" pitchFamily="18" charset="0"/>
                            <a:cs typeface="+mn-cs"/>
                          </a:rPr>
                          <m:t> </m:t>
                        </m:r>
                      </m:oMath>
                    </m:oMathPara>
                  </a14:m>
                  <a:endParaRPr kumimoji="1" lang="en-US" altLang="zh-CN" sz="900" b="1" i="1" kern="1200" dirty="0">
                    <a:solidFill>
                      <a:prstClr val="black"/>
                    </a:solidFill>
                    <a:latin typeface="等线" panose="02010600030101010101" pitchFamily="2" charset="-122"/>
                    <a:ea typeface="等线" panose="02010600030101010101" pitchFamily="2" charset="-122"/>
                    <a:cs typeface="+mn-cs"/>
                  </a:endParaRPr>
                </a:p>
                <a:p>
                  <a:pPr algn="ctr" rtl="0"/>
                  <a14:m>
                    <m:oMathPara xmlns:m="http://schemas.openxmlformats.org/officeDocument/2006/math">
                      <m:oMathParaPr>
                        <m:jc m:val="centerGroup"/>
                      </m:oMathParaPr>
                      <m:oMath xmlns:m="http://schemas.openxmlformats.org/officeDocument/2006/math">
                        <m:sSub>
                          <m:sSubPr>
                            <m:ctrlPr>
                              <a:rPr kumimoji="1" lang="en-US" altLang="zh-CN" sz="900" b="1" i="1" kern="1200" dirty="0">
                                <a:solidFill>
                                  <a:srgbClr val="000000"/>
                                </a:solidFill>
                                <a:latin typeface="Cambria Math" panose="02040503050406030204" pitchFamily="18" charset="0"/>
                                <a:cs typeface="+mn-cs"/>
                              </a:rPr>
                            </m:ctrlPr>
                          </m:sSubPr>
                          <m:e>
                            <m:r>
                              <a:rPr kumimoji="1" lang="en-US" altLang="zh-CN" sz="900" b="1" i="1" kern="1200" dirty="0">
                                <a:solidFill>
                                  <a:srgbClr val="000000"/>
                                </a:solidFill>
                                <a:latin typeface="Cambria Math" panose="02040503050406030204" pitchFamily="18" charset="0"/>
                                <a:cs typeface="+mn-cs"/>
                              </a:rPr>
                              <m:t>𝑮</m:t>
                            </m:r>
                          </m:e>
                          <m:sub>
                            <m:r>
                              <a:rPr kumimoji="1" lang="en-US" altLang="zh-CN" sz="900" b="1" i="1" kern="1200" dirty="0">
                                <a:solidFill>
                                  <a:srgbClr val="000000"/>
                                </a:solidFill>
                                <a:latin typeface="Cambria Math" panose="02040503050406030204" pitchFamily="18" charset="0"/>
                                <a:cs typeface="+mn-cs"/>
                              </a:rPr>
                              <m:t>𝒓</m:t>
                            </m:r>
                          </m:sub>
                        </m:sSub>
                        <m:d>
                          <m:dPr>
                            <m:ctrlPr>
                              <a:rPr kumimoji="1" lang="en-US" altLang="zh-CN" sz="900" b="1" i="1" kern="1200" dirty="0">
                                <a:solidFill>
                                  <a:srgbClr val="000000"/>
                                </a:solidFill>
                                <a:latin typeface="Cambria Math" panose="02040503050406030204" pitchFamily="18" charset="0"/>
                                <a:cs typeface="+mn-cs"/>
                              </a:rPr>
                            </m:ctrlPr>
                          </m:dPr>
                          <m:e>
                            <m:r>
                              <a:rPr kumimoji="1" lang="en-US" altLang="zh-CN" sz="900" b="1" i="1" kern="1200" dirty="0">
                                <a:solidFill>
                                  <a:srgbClr val="000000"/>
                                </a:solidFill>
                                <a:latin typeface="Cambria Math" panose="02040503050406030204" pitchFamily="18" charset="0"/>
                                <a:cs typeface="+mn-cs"/>
                              </a:rPr>
                              <m:t>𝑿</m:t>
                            </m:r>
                          </m:e>
                        </m:d>
                      </m:oMath>
                    </m:oMathPara>
                  </a14:m>
                  <a:endParaRPr kumimoji="1" lang="zh-CN" altLang="en-US" sz="900" b="1" kern="1200" dirty="0">
                    <a:solidFill>
                      <a:srgbClr val="000000"/>
                    </a:solidFill>
                    <a:latin typeface="等线" panose="02010600030101010101" pitchFamily="2" charset="-122"/>
                    <a:ea typeface="等线" panose="02010600030101010101" pitchFamily="2" charset="-122"/>
                    <a:cs typeface="+mn-cs"/>
                  </a:endParaRPr>
                </a:p>
              </p:txBody>
            </p:sp>
          </mc:Choice>
          <mc:Fallback xmlns="">
            <p:sp>
              <p:nvSpPr>
                <p:cNvPr id="82" name="文本框 141">
                  <a:extLst>
                    <a:ext uri="{FF2B5EF4-FFF2-40B4-BE49-F238E27FC236}">
                      <a16:creationId xmlns:a16="http://schemas.microsoft.com/office/drawing/2014/main" id="{830B8E90-1E99-CB5E-4BAA-A7D94FBB7D9D}"/>
                    </a:ext>
                  </a:extLst>
                </p:cNvPr>
                <p:cNvSpPr txBox="1">
                  <a:spLocks noRot="1" noChangeAspect="1" noMove="1" noResize="1" noEditPoints="1" noAdjustHandles="1" noChangeArrowheads="1" noChangeShapeType="1" noTextEdit="1"/>
                </p:cNvSpPr>
                <p:nvPr/>
              </p:nvSpPr>
              <p:spPr>
                <a:xfrm>
                  <a:off x="8363439" y="1916674"/>
                  <a:ext cx="1025568" cy="380247"/>
                </a:xfrm>
                <a:prstGeom prst="rect">
                  <a:avLst/>
                </a:prstGeom>
                <a:blipFill>
                  <a:blip r:embed="rId8"/>
                  <a:stretch>
                    <a:fillRect b="-6667"/>
                  </a:stretch>
                </a:blipFill>
              </p:spPr>
              <p:txBody>
                <a:bodyPr/>
                <a:lstStyle/>
                <a:p>
                  <a:r>
                    <a:rPr lang="zh-CN" altLang="en-US">
                      <a:noFill/>
                    </a:rPr>
                    <a:t> </a:t>
                  </a:r>
                </a:p>
              </p:txBody>
            </p:sp>
          </mc:Fallback>
        </mc:AlternateContent>
        <p:pic>
          <p:nvPicPr>
            <p:cNvPr id="83" name="table">
              <a:extLst>
                <a:ext uri="{FF2B5EF4-FFF2-40B4-BE49-F238E27FC236}">
                  <a16:creationId xmlns:a16="http://schemas.microsoft.com/office/drawing/2014/main" id="{21708FB7-38C8-46E2-FBE1-A64489EBB820}"/>
                </a:ext>
              </a:extLst>
            </p:cNvPr>
            <p:cNvPicPr>
              <a:picLocks noChangeAspect="1"/>
            </p:cNvPicPr>
            <p:nvPr/>
          </p:nvPicPr>
          <p:blipFill>
            <a:blip r:embed="rId9"/>
            <a:stretch>
              <a:fillRect/>
            </a:stretch>
          </p:blipFill>
          <p:spPr>
            <a:xfrm>
              <a:off x="6863990" y="4903852"/>
              <a:ext cx="1296000" cy="324000"/>
            </a:xfrm>
            <a:prstGeom prst="rect">
              <a:avLst/>
            </a:prstGeom>
          </p:spPr>
        </p:pic>
        <mc:AlternateContent xmlns:mc="http://schemas.openxmlformats.org/markup-compatibility/2006" xmlns:a14="http://schemas.microsoft.com/office/drawing/2010/main">
          <mc:Choice Requires="a14">
            <p:sp>
              <p:nvSpPr>
                <p:cNvPr id="84" name="文本框 143">
                  <a:extLst>
                    <a:ext uri="{FF2B5EF4-FFF2-40B4-BE49-F238E27FC236}">
                      <a16:creationId xmlns:a16="http://schemas.microsoft.com/office/drawing/2014/main" id="{4820A3E9-9641-19EC-2AE3-9187C887F440}"/>
                    </a:ext>
                  </a:extLst>
                </p:cNvPr>
                <p:cNvSpPr txBox="1"/>
                <p:nvPr/>
              </p:nvSpPr>
              <p:spPr>
                <a:xfrm>
                  <a:off x="6565648" y="4403305"/>
                  <a:ext cx="1315652" cy="397236"/>
                </a:xfrm>
                <a:prstGeom prst="rect">
                  <a:avLst/>
                </a:prstGeom>
                <a:noFill/>
              </p:spPr>
              <p:txBody>
                <a:bodyPr wrap="square" lIns="0" tIns="0" rIns="0" bIns="0" rtlCol="0">
                  <a:spAutoFit/>
                </a:bodyPr>
                <a:lstStyle>
                  <a:defPPr>
                    <a:defRPr kern="0"/>
                  </a:defPPr>
                </a:lstStyle>
                <a:p>
                  <a:pPr algn="l" rtl="0"/>
                  <a14:m>
                    <m:oMathPara xmlns:m="http://schemas.openxmlformats.org/officeDocument/2006/math">
                      <m:oMathParaPr>
                        <m:jc m:val="centerGroup"/>
                      </m:oMathParaPr>
                      <m:oMath xmlns:m="http://schemas.openxmlformats.org/officeDocument/2006/math">
                        <m:r>
                          <a:rPr kumimoji="1" lang="en-US" altLang="zh-CN" sz="900" b="1" i="1" kern="1200">
                            <a:solidFill>
                              <a:prstClr val="black"/>
                            </a:solidFill>
                            <a:latin typeface="Cambria Math" panose="02040503050406030204" pitchFamily="18" charset="0"/>
                            <a:cs typeface="+mn-cs"/>
                          </a:rPr>
                          <m:t>𝑴𝒂𝒙</m:t>
                        </m:r>
                        <m:r>
                          <a:rPr kumimoji="1" lang="en-US" altLang="zh-CN" sz="900" b="1" i="1" kern="1200">
                            <a:solidFill>
                              <a:prstClr val="black"/>
                            </a:solidFill>
                            <a:latin typeface="Cambria Math" panose="02040503050406030204" pitchFamily="18" charset="0"/>
                            <a:cs typeface="+mn-cs"/>
                          </a:rPr>
                          <m:t> </m:t>
                        </m:r>
                        <m:r>
                          <a:rPr kumimoji="1" lang="en-US" altLang="zh-CN" sz="900" b="1" i="1" kern="1200">
                            <a:solidFill>
                              <a:prstClr val="black"/>
                            </a:solidFill>
                            <a:latin typeface="Cambria Math" panose="02040503050406030204" pitchFamily="18" charset="0"/>
                            <a:cs typeface="+mn-cs"/>
                          </a:rPr>
                          <m:t>𝑷𝒐𝒐𝒍𝒊𝒏𝒈</m:t>
                        </m:r>
                      </m:oMath>
                    </m:oMathPara>
                  </a14:m>
                  <a:endParaRPr kumimoji="1" lang="en-US" altLang="zh-CN" sz="900" b="1" kern="1200" dirty="0">
                    <a:solidFill>
                      <a:prstClr val="black"/>
                    </a:solidFill>
                    <a:latin typeface="等线" panose="02010600030101010101" pitchFamily="2" charset="-122"/>
                    <a:ea typeface="等线" panose="02010600030101010101" pitchFamily="2" charset="-122"/>
                    <a:cs typeface="+mn-cs"/>
                  </a:endParaRPr>
                </a:p>
                <a:p>
                  <a:pPr algn="l" rtl="0"/>
                  <a14:m>
                    <m:oMathPara xmlns:m="http://schemas.openxmlformats.org/officeDocument/2006/math">
                      <m:oMathParaPr>
                        <m:jc m:val="centerGroup"/>
                      </m:oMathParaPr>
                      <m:oMath xmlns:m="http://schemas.openxmlformats.org/officeDocument/2006/math">
                        <m:sSub>
                          <m:sSubPr>
                            <m:ctrlPr>
                              <a:rPr kumimoji="1" lang="en-US" altLang="zh-CN" sz="900" b="1" i="1" kern="1200">
                                <a:solidFill>
                                  <a:prstClr val="black"/>
                                </a:solidFill>
                                <a:latin typeface="Cambria Math" panose="02040503050406030204" pitchFamily="18" charset="0"/>
                                <a:cs typeface="+mn-cs"/>
                              </a:rPr>
                            </m:ctrlPr>
                          </m:sSubPr>
                          <m:e>
                            <m:r>
                              <a:rPr kumimoji="1" lang="en-US" altLang="zh-CN" sz="900" b="1" i="1" kern="1200">
                                <a:solidFill>
                                  <a:prstClr val="black"/>
                                </a:solidFill>
                                <a:latin typeface="Cambria Math" panose="02040503050406030204" pitchFamily="18" charset="0"/>
                                <a:cs typeface="+mn-cs"/>
                              </a:rPr>
                              <m:t>𝑮</m:t>
                            </m:r>
                          </m:e>
                          <m:sub>
                            <m:r>
                              <a:rPr kumimoji="1" lang="en-US" altLang="zh-CN" sz="900" b="1" i="1" kern="1200">
                                <a:solidFill>
                                  <a:prstClr val="black"/>
                                </a:solidFill>
                                <a:latin typeface="Cambria Math" panose="02040503050406030204" pitchFamily="18" charset="0"/>
                                <a:cs typeface="+mn-cs"/>
                              </a:rPr>
                              <m:t>𝒑</m:t>
                            </m:r>
                          </m:sub>
                        </m:sSub>
                        <m:d>
                          <m:dPr>
                            <m:ctrlPr>
                              <a:rPr kumimoji="1" lang="en-US" altLang="zh-CN" sz="900" b="1" i="1" kern="1200">
                                <a:solidFill>
                                  <a:prstClr val="black"/>
                                </a:solidFill>
                                <a:latin typeface="Cambria Math" panose="02040503050406030204" pitchFamily="18" charset="0"/>
                                <a:cs typeface="+mn-cs"/>
                              </a:rPr>
                            </m:ctrlPr>
                          </m:dPr>
                          <m:e>
                            <m:r>
                              <a:rPr kumimoji="1" lang="en-US" altLang="zh-CN" sz="900" b="1" i="1" kern="1200">
                                <a:solidFill>
                                  <a:prstClr val="black"/>
                                </a:solidFill>
                                <a:latin typeface="Cambria Math" panose="02040503050406030204" pitchFamily="18" charset="0"/>
                                <a:cs typeface="+mn-cs"/>
                              </a:rPr>
                              <m:t>𝑿</m:t>
                            </m:r>
                          </m:e>
                        </m:d>
                      </m:oMath>
                    </m:oMathPara>
                  </a14:m>
                  <a:endParaRPr kumimoji="1" lang="zh-CN" altLang="en-US" sz="900" b="1" kern="1200" dirty="0">
                    <a:solidFill>
                      <a:prstClr val="black"/>
                    </a:solidFill>
                    <a:latin typeface="等线" panose="02010600030101010101" pitchFamily="2" charset="-122"/>
                    <a:ea typeface="等线" panose="02010600030101010101" pitchFamily="2" charset="-122"/>
                    <a:cs typeface="+mn-cs"/>
                  </a:endParaRPr>
                </a:p>
              </p:txBody>
            </p:sp>
          </mc:Choice>
          <mc:Fallback xmlns="">
            <p:sp>
              <p:nvSpPr>
                <p:cNvPr id="84" name="文本框 143">
                  <a:extLst>
                    <a:ext uri="{FF2B5EF4-FFF2-40B4-BE49-F238E27FC236}">
                      <a16:creationId xmlns:a16="http://schemas.microsoft.com/office/drawing/2014/main" id="{4820A3E9-9641-19EC-2AE3-9187C887F440}"/>
                    </a:ext>
                  </a:extLst>
                </p:cNvPr>
                <p:cNvSpPr txBox="1">
                  <a:spLocks noRot="1" noChangeAspect="1" noMove="1" noResize="1" noEditPoints="1" noAdjustHandles="1" noChangeArrowheads="1" noChangeShapeType="1" noTextEdit="1"/>
                </p:cNvSpPr>
                <p:nvPr/>
              </p:nvSpPr>
              <p:spPr>
                <a:xfrm>
                  <a:off x="6565648" y="4403305"/>
                  <a:ext cx="1315652" cy="397236"/>
                </a:xfrm>
                <a:prstGeom prst="rect">
                  <a:avLst/>
                </a:prstGeom>
                <a:blipFill>
                  <a:blip r:embed="rId10"/>
                  <a:stretch>
                    <a:fillRect t="-2128"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144">
                  <a:extLst>
                    <a:ext uri="{FF2B5EF4-FFF2-40B4-BE49-F238E27FC236}">
                      <a16:creationId xmlns:a16="http://schemas.microsoft.com/office/drawing/2014/main" id="{4BC5B4E9-305F-6C53-683A-B088C4DB9421}"/>
                    </a:ext>
                  </a:extLst>
                </p:cNvPr>
                <p:cNvSpPr txBox="1"/>
                <p:nvPr/>
              </p:nvSpPr>
              <p:spPr>
                <a:xfrm>
                  <a:off x="8308667" y="4647371"/>
                  <a:ext cx="1015090" cy="397236"/>
                </a:xfrm>
                <a:prstGeom prst="rect">
                  <a:avLst/>
                </a:prstGeom>
                <a:noFill/>
              </p:spPr>
              <p:txBody>
                <a:bodyPr wrap="square" lIns="0" tIns="0" rIns="0" bIns="0" rtlCol="0">
                  <a:spAutoFit/>
                </a:bodyPr>
                <a:lstStyle>
                  <a:defPPr>
                    <a:defRPr kern="0"/>
                  </a:defPPr>
                </a:lstStyle>
                <a:p>
                  <a:pPr algn="ctr" rtl="0"/>
                  <a14:m>
                    <m:oMathPara xmlns:m="http://schemas.openxmlformats.org/officeDocument/2006/math">
                      <m:oMathParaPr>
                        <m:jc m:val="centerGroup"/>
                      </m:oMathParaPr>
                      <m:oMath xmlns:m="http://schemas.openxmlformats.org/officeDocument/2006/math">
                        <m:r>
                          <a:rPr kumimoji="1" lang="en-US" altLang="zh-CN" sz="900" b="1" i="1" kern="1200" dirty="0">
                            <a:solidFill>
                              <a:srgbClr val="000000"/>
                            </a:solidFill>
                            <a:latin typeface="Cambria Math" panose="02040503050406030204" pitchFamily="18" charset="0"/>
                            <a:cs typeface="Times New Roman" panose="02020603050405020304" pitchFamily="18" charset="0"/>
                          </a:rPr>
                          <m:t>𝑹𝒆𝒅𝒖𝒄𝒕𝒊𝒐𝒏</m:t>
                        </m:r>
                      </m:oMath>
                    </m:oMathPara>
                  </a14:m>
                  <a:endParaRPr kumimoji="1" lang="en-US" altLang="zh-CN" sz="900" b="1" i="1" kern="1200" dirty="0">
                    <a:solidFill>
                      <a:srgbClr val="000000"/>
                    </a:solidFill>
                    <a:latin typeface="等线" panose="02010600030101010101" pitchFamily="2" charset="-122"/>
                    <a:ea typeface="等线" panose="02010600030101010101" pitchFamily="2" charset="-122"/>
                  </a:endParaRPr>
                </a:p>
                <a:p>
                  <a:pPr algn="ctr" rtl="0"/>
                  <a14:m>
                    <m:oMathPara xmlns:m="http://schemas.openxmlformats.org/officeDocument/2006/math">
                      <m:oMathParaPr>
                        <m:jc m:val="center"/>
                      </m:oMathParaPr>
                      <m:oMath xmlns:m="http://schemas.openxmlformats.org/officeDocument/2006/math">
                        <m:sSub>
                          <m:sSubPr>
                            <m:ctrlPr>
                              <a:rPr kumimoji="1" lang="en-US" altLang="zh-CN" sz="900" b="1" i="1" kern="1200" dirty="0">
                                <a:solidFill>
                                  <a:srgbClr val="000000"/>
                                </a:solidFill>
                                <a:latin typeface="Cambria Math" panose="02040503050406030204" pitchFamily="18" charset="0"/>
                              </a:rPr>
                            </m:ctrlPr>
                          </m:sSubPr>
                          <m:e>
                            <m:r>
                              <a:rPr kumimoji="1" lang="en-US" altLang="zh-CN" sz="900" b="1" i="1" kern="1200" dirty="0">
                                <a:solidFill>
                                  <a:srgbClr val="000000"/>
                                </a:solidFill>
                                <a:latin typeface="Cambria Math" panose="02040503050406030204" pitchFamily="18" charset="0"/>
                              </a:rPr>
                              <m:t>𝑮</m:t>
                            </m:r>
                          </m:e>
                          <m:sub>
                            <m:r>
                              <a:rPr kumimoji="1" lang="en-US" altLang="zh-CN" sz="900" b="1" i="1" kern="1200" dirty="0">
                                <a:solidFill>
                                  <a:srgbClr val="000000"/>
                                </a:solidFill>
                                <a:latin typeface="Cambria Math" panose="02040503050406030204" pitchFamily="18" charset="0"/>
                              </a:rPr>
                              <m:t>𝒑𝒓</m:t>
                            </m:r>
                          </m:sub>
                        </m:sSub>
                        <m:d>
                          <m:dPr>
                            <m:ctrlPr>
                              <a:rPr kumimoji="1" lang="en-US" altLang="zh-CN" sz="900" b="1" i="1" kern="1200" dirty="0">
                                <a:solidFill>
                                  <a:srgbClr val="000000"/>
                                </a:solidFill>
                                <a:latin typeface="Cambria Math" panose="02040503050406030204" pitchFamily="18" charset="0"/>
                              </a:rPr>
                            </m:ctrlPr>
                          </m:dPr>
                          <m:e>
                            <m:r>
                              <a:rPr kumimoji="1" lang="en-US" altLang="zh-CN" sz="900" b="1" i="1" kern="1200" dirty="0">
                                <a:solidFill>
                                  <a:srgbClr val="000000"/>
                                </a:solidFill>
                                <a:latin typeface="Cambria Math" panose="02040503050406030204" pitchFamily="18" charset="0"/>
                              </a:rPr>
                              <m:t>𝑿</m:t>
                            </m:r>
                          </m:e>
                        </m:d>
                      </m:oMath>
                    </m:oMathPara>
                  </a14:m>
                  <a:endParaRPr kumimoji="1" lang="zh-CN" altLang="en-US" sz="900" b="1" kern="1200" dirty="0">
                    <a:solidFill>
                      <a:srgbClr val="000000"/>
                    </a:solidFill>
                    <a:latin typeface="等线" panose="02010600030101010101" pitchFamily="2" charset="-122"/>
                    <a:ea typeface="等线" panose="02010600030101010101" pitchFamily="2" charset="-122"/>
                  </a:endParaRPr>
                </a:p>
              </p:txBody>
            </p:sp>
          </mc:Choice>
          <mc:Fallback xmlns="">
            <p:sp>
              <p:nvSpPr>
                <p:cNvPr id="85" name="文本框 144">
                  <a:extLst>
                    <a:ext uri="{FF2B5EF4-FFF2-40B4-BE49-F238E27FC236}">
                      <a16:creationId xmlns:a16="http://schemas.microsoft.com/office/drawing/2014/main" id="{4BC5B4E9-305F-6C53-683A-B088C4DB9421}"/>
                    </a:ext>
                  </a:extLst>
                </p:cNvPr>
                <p:cNvSpPr txBox="1">
                  <a:spLocks noRot="1" noChangeAspect="1" noMove="1" noResize="1" noEditPoints="1" noAdjustHandles="1" noChangeArrowheads="1" noChangeShapeType="1" noTextEdit="1"/>
                </p:cNvSpPr>
                <p:nvPr/>
              </p:nvSpPr>
              <p:spPr>
                <a:xfrm>
                  <a:off x="8308667" y="4647371"/>
                  <a:ext cx="1015090" cy="397236"/>
                </a:xfrm>
                <a:prstGeom prst="rect">
                  <a:avLst/>
                </a:prstGeom>
                <a:blipFill>
                  <a:blip r:embed="rId11"/>
                  <a:stretch>
                    <a:fillRect b="-10638"/>
                  </a:stretch>
                </a:blipFill>
              </p:spPr>
              <p:txBody>
                <a:bodyPr/>
                <a:lstStyle/>
                <a:p>
                  <a:r>
                    <a:rPr lang="zh-CN" altLang="en-US">
                      <a:noFill/>
                    </a:rPr>
                    <a:t> </a:t>
                  </a:r>
                </a:p>
              </p:txBody>
            </p:sp>
          </mc:Fallback>
        </mc:AlternateContent>
        <p:pic>
          <p:nvPicPr>
            <p:cNvPr id="86" name="table">
              <a:extLst>
                <a:ext uri="{FF2B5EF4-FFF2-40B4-BE49-F238E27FC236}">
                  <a16:creationId xmlns:a16="http://schemas.microsoft.com/office/drawing/2014/main" id="{0606130B-3531-7673-D0A4-9BE33B82F553}"/>
                </a:ext>
              </a:extLst>
            </p:cNvPr>
            <p:cNvPicPr>
              <a:picLocks noChangeAspect="1"/>
            </p:cNvPicPr>
            <p:nvPr/>
          </p:nvPicPr>
          <p:blipFill>
            <a:blip r:embed="rId12"/>
            <a:stretch>
              <a:fillRect/>
            </a:stretch>
          </p:blipFill>
          <p:spPr>
            <a:xfrm>
              <a:off x="9546881" y="1396953"/>
              <a:ext cx="1620000" cy="2592000"/>
            </a:xfrm>
            <a:prstGeom prst="rect">
              <a:avLst/>
            </a:prstGeom>
          </p:spPr>
        </p:pic>
        <p:pic>
          <p:nvPicPr>
            <p:cNvPr id="87" name="table">
              <a:extLst>
                <a:ext uri="{FF2B5EF4-FFF2-40B4-BE49-F238E27FC236}">
                  <a16:creationId xmlns:a16="http://schemas.microsoft.com/office/drawing/2014/main" id="{8780270E-FD47-1B0D-7587-4958C2D32DD0}"/>
                </a:ext>
              </a:extLst>
            </p:cNvPr>
            <p:cNvPicPr>
              <a:picLocks noChangeAspect="1"/>
            </p:cNvPicPr>
            <p:nvPr/>
          </p:nvPicPr>
          <p:blipFill>
            <a:blip r:embed="rId13"/>
            <a:stretch>
              <a:fillRect/>
            </a:stretch>
          </p:blipFill>
          <p:spPr>
            <a:xfrm>
              <a:off x="9535573" y="4955458"/>
              <a:ext cx="1620000" cy="274320"/>
            </a:xfrm>
            <a:prstGeom prst="rect">
              <a:avLst/>
            </a:prstGeom>
          </p:spPr>
        </p:pic>
        <p:pic>
          <p:nvPicPr>
            <p:cNvPr id="88" name="table">
              <a:extLst>
                <a:ext uri="{FF2B5EF4-FFF2-40B4-BE49-F238E27FC236}">
                  <a16:creationId xmlns:a16="http://schemas.microsoft.com/office/drawing/2014/main" id="{9F8BF63F-DA70-CE8A-1327-B0FECEE7249D}"/>
                </a:ext>
              </a:extLst>
            </p:cNvPr>
            <p:cNvPicPr>
              <a:picLocks noChangeAspect="1"/>
            </p:cNvPicPr>
            <p:nvPr/>
          </p:nvPicPr>
          <p:blipFill>
            <a:blip r:embed="rId14"/>
            <a:stretch>
              <a:fillRect/>
            </a:stretch>
          </p:blipFill>
          <p:spPr>
            <a:xfrm>
              <a:off x="9535573" y="4366206"/>
              <a:ext cx="1620000" cy="526320"/>
            </a:xfrm>
            <a:prstGeom prst="rect">
              <a:avLst/>
            </a:prstGeom>
          </p:spPr>
        </p:pic>
        <mc:AlternateContent xmlns:mc="http://schemas.openxmlformats.org/markup-compatibility/2006" xmlns:a14="http://schemas.microsoft.com/office/drawing/2010/main">
          <mc:Choice Requires="a14">
            <p:sp>
              <p:nvSpPr>
                <p:cNvPr id="89" name="文本框 148">
                  <a:extLst>
                    <a:ext uri="{FF2B5EF4-FFF2-40B4-BE49-F238E27FC236}">
                      <a16:creationId xmlns:a16="http://schemas.microsoft.com/office/drawing/2014/main" id="{09193FF5-D760-8751-A6AF-497C941C59EE}"/>
                    </a:ext>
                  </a:extLst>
                </p:cNvPr>
                <p:cNvSpPr txBox="1"/>
                <p:nvPr/>
              </p:nvSpPr>
              <p:spPr>
                <a:xfrm>
                  <a:off x="8329360" y="3052875"/>
                  <a:ext cx="1015091" cy="587359"/>
                </a:xfrm>
                <a:prstGeom prst="rect">
                  <a:avLst/>
                </a:prstGeom>
                <a:noFill/>
              </p:spPr>
              <p:txBody>
                <a:bodyPr wrap="square" lIns="0" tIns="0" rIns="0" bIns="0" rtlCol="0">
                  <a:spAutoFit/>
                </a:bodyPr>
                <a:lstStyle>
                  <a:defPPr>
                    <a:defRPr kern="0"/>
                  </a:defPPr>
                </a:lstStyle>
                <a:p>
                  <a:pPr algn="ctr" rtl="0"/>
                  <a14:m>
                    <m:oMathPara xmlns:m="http://schemas.openxmlformats.org/officeDocument/2006/math">
                      <m:oMathParaPr>
                        <m:jc m:val="centerGroup"/>
                      </m:oMathParaPr>
                      <m:oMath xmlns:m="http://schemas.openxmlformats.org/officeDocument/2006/math">
                        <m:r>
                          <a:rPr kumimoji="1" lang="en-US" altLang="zh-CN" sz="900" b="1" i="1" kern="1200" dirty="0">
                            <a:solidFill>
                              <a:prstClr val="black"/>
                            </a:solidFill>
                            <a:latin typeface="Cambria Math" panose="02040503050406030204" pitchFamily="18" charset="0"/>
                            <a:cs typeface="+mn-cs"/>
                          </a:rPr>
                          <m:t>𝑴𝒂𝒙</m:t>
                        </m:r>
                        <m:r>
                          <a:rPr kumimoji="1" lang="en-US" altLang="zh-CN" sz="900" b="1" i="1" kern="1200" dirty="0">
                            <a:solidFill>
                              <a:prstClr val="black"/>
                            </a:solidFill>
                            <a:latin typeface="Cambria Math" panose="02040503050406030204" pitchFamily="18" charset="0"/>
                            <a:cs typeface="+mn-cs"/>
                          </a:rPr>
                          <m:t> </m:t>
                        </m:r>
                        <m:r>
                          <a:rPr kumimoji="1" lang="en-US" altLang="zh-CN" sz="900" b="1" i="1" kern="1200" dirty="0">
                            <a:solidFill>
                              <a:prstClr val="black"/>
                            </a:solidFill>
                            <a:latin typeface="Cambria Math" panose="02040503050406030204" pitchFamily="18" charset="0"/>
                            <a:cs typeface="+mn-cs"/>
                          </a:rPr>
                          <m:t>𝑷𝒐𝒐𝒍𝒊𝒏𝒈</m:t>
                        </m:r>
                      </m:oMath>
                    </m:oMathPara>
                  </a14:m>
                  <a:endParaRPr kumimoji="1" lang="en-US" altLang="zh-CN" sz="900" b="1" kern="1200" dirty="0">
                    <a:solidFill>
                      <a:prstClr val="black"/>
                    </a:solidFill>
                    <a:latin typeface="等线" panose="02010600030101010101" pitchFamily="2" charset="-122"/>
                    <a:ea typeface="微软雅黑" panose="020B0503020204020204" pitchFamily="34" charset="-122"/>
                    <a:cs typeface="+mn-cs"/>
                  </a:endParaRPr>
                </a:p>
                <a:p>
                  <a:pPr algn="ctr" rtl="0"/>
                  <a14:m>
                    <m:oMathPara xmlns:m="http://schemas.openxmlformats.org/officeDocument/2006/math">
                      <m:oMathParaPr>
                        <m:jc m:val="centerGroup"/>
                      </m:oMathParaPr>
                      <m:oMath xmlns:m="http://schemas.openxmlformats.org/officeDocument/2006/math">
                        <m:r>
                          <a:rPr kumimoji="1" lang="en-US" altLang="zh-CN" sz="900" b="1" i="1" kern="1200" dirty="0">
                            <a:solidFill>
                              <a:prstClr val="black"/>
                            </a:solidFill>
                            <a:latin typeface="Cambria Math" panose="02040503050406030204" pitchFamily="18" charset="0"/>
                            <a:cs typeface="+mn-cs"/>
                          </a:rPr>
                          <m:t>𝑨𝒗𝒈</m:t>
                        </m:r>
                        <m:r>
                          <a:rPr kumimoji="1" lang="en-US" altLang="zh-CN" sz="900" b="1" i="1" kern="1200" dirty="0">
                            <a:solidFill>
                              <a:prstClr val="black"/>
                            </a:solidFill>
                            <a:latin typeface="Cambria Math" panose="02040503050406030204" pitchFamily="18" charset="0"/>
                            <a:cs typeface="+mn-cs"/>
                          </a:rPr>
                          <m:t> </m:t>
                        </m:r>
                        <m:r>
                          <a:rPr kumimoji="1" lang="en-US" altLang="zh-CN" sz="900" b="1" i="1" kern="1200" dirty="0">
                            <a:solidFill>
                              <a:prstClr val="black"/>
                            </a:solidFill>
                            <a:latin typeface="Cambria Math" panose="02040503050406030204" pitchFamily="18" charset="0"/>
                            <a:cs typeface="+mn-cs"/>
                          </a:rPr>
                          <m:t>𝑷𝒐𝒐𝒍𝒊𝒏𝒈</m:t>
                        </m:r>
                      </m:oMath>
                    </m:oMathPara>
                  </a14:m>
                  <a:endParaRPr kumimoji="1" lang="en-US" altLang="zh-CN" sz="900" b="1" i="1" kern="1200" dirty="0">
                    <a:solidFill>
                      <a:prstClr val="black"/>
                    </a:solidFill>
                    <a:latin typeface="Cambria Math" panose="02040503050406030204" pitchFamily="18" charset="0"/>
                    <a:ea typeface="微软雅黑" panose="020B0503020204020204" pitchFamily="34" charset="-122"/>
                    <a:cs typeface="+mn-cs"/>
                  </a:endParaRPr>
                </a:p>
                <a:p>
                  <a:pPr algn="ctr" rtl="0"/>
                  <a14:m>
                    <m:oMathPara xmlns:m="http://schemas.openxmlformats.org/officeDocument/2006/math">
                      <m:oMathParaPr>
                        <m:jc m:val="centerGroup"/>
                      </m:oMathParaPr>
                      <m:oMath xmlns:m="http://schemas.openxmlformats.org/officeDocument/2006/math">
                        <m:sSub>
                          <m:sSubPr>
                            <m:ctrlPr>
                              <a:rPr kumimoji="1" lang="en-US" altLang="zh-CN" sz="900" b="1" i="1" kern="1200">
                                <a:solidFill>
                                  <a:prstClr val="black"/>
                                </a:solidFill>
                                <a:latin typeface="Cambria Math" panose="02040503050406030204" pitchFamily="18" charset="0"/>
                                <a:cs typeface="+mn-cs"/>
                              </a:rPr>
                            </m:ctrlPr>
                          </m:sSubPr>
                          <m:e>
                            <m:r>
                              <a:rPr kumimoji="1" lang="en-US" altLang="zh-CN" sz="900" b="1" i="1" kern="1200">
                                <a:solidFill>
                                  <a:prstClr val="black"/>
                                </a:solidFill>
                                <a:latin typeface="Cambria Math" panose="02040503050406030204" pitchFamily="18" charset="0"/>
                                <a:cs typeface="+mn-cs"/>
                              </a:rPr>
                              <m:t>𝑮</m:t>
                            </m:r>
                          </m:e>
                          <m:sub>
                            <m:r>
                              <a:rPr kumimoji="1" lang="en-US" altLang="zh-CN" sz="900" b="1" i="1" kern="1200">
                                <a:solidFill>
                                  <a:prstClr val="black"/>
                                </a:solidFill>
                                <a:latin typeface="Cambria Math" panose="02040503050406030204" pitchFamily="18" charset="0"/>
                                <a:cs typeface="+mn-cs"/>
                              </a:rPr>
                              <m:t>𝒓𝒑</m:t>
                            </m:r>
                          </m:sub>
                        </m:sSub>
                        <m:d>
                          <m:dPr>
                            <m:ctrlPr>
                              <a:rPr kumimoji="1" lang="en-US" altLang="zh-CN" sz="900" b="1" i="1" kern="1200">
                                <a:solidFill>
                                  <a:prstClr val="black"/>
                                </a:solidFill>
                                <a:latin typeface="Cambria Math" panose="02040503050406030204" pitchFamily="18" charset="0"/>
                                <a:cs typeface="+mn-cs"/>
                              </a:rPr>
                            </m:ctrlPr>
                          </m:dPr>
                          <m:e>
                            <m:r>
                              <a:rPr kumimoji="1" lang="en-US" altLang="zh-CN" sz="900" b="1" i="1" kern="1200">
                                <a:solidFill>
                                  <a:prstClr val="black"/>
                                </a:solidFill>
                                <a:latin typeface="Cambria Math" panose="02040503050406030204" pitchFamily="18" charset="0"/>
                                <a:cs typeface="+mn-cs"/>
                              </a:rPr>
                              <m:t>𝑿</m:t>
                            </m:r>
                          </m:e>
                        </m:d>
                      </m:oMath>
                    </m:oMathPara>
                  </a14:m>
                  <a:endParaRPr kumimoji="1" lang="zh-CN" altLang="en-US" sz="900" b="1" kern="1200" dirty="0">
                    <a:solidFill>
                      <a:prstClr val="black"/>
                    </a:solidFill>
                    <a:latin typeface="等线" panose="02010600030101010101" pitchFamily="2" charset="-122"/>
                    <a:ea typeface="等线" panose="02010600030101010101" pitchFamily="2" charset="-122"/>
                    <a:cs typeface="+mn-cs"/>
                  </a:endParaRPr>
                </a:p>
              </p:txBody>
            </p:sp>
          </mc:Choice>
          <mc:Fallback xmlns="">
            <p:sp>
              <p:nvSpPr>
                <p:cNvPr id="89" name="文本框 148">
                  <a:extLst>
                    <a:ext uri="{FF2B5EF4-FFF2-40B4-BE49-F238E27FC236}">
                      <a16:creationId xmlns:a16="http://schemas.microsoft.com/office/drawing/2014/main" id="{09193FF5-D760-8751-A6AF-497C941C59EE}"/>
                    </a:ext>
                  </a:extLst>
                </p:cNvPr>
                <p:cNvSpPr txBox="1">
                  <a:spLocks noRot="1" noChangeAspect="1" noMove="1" noResize="1" noEditPoints="1" noAdjustHandles="1" noChangeArrowheads="1" noChangeShapeType="1" noTextEdit="1"/>
                </p:cNvSpPr>
                <p:nvPr/>
              </p:nvSpPr>
              <p:spPr>
                <a:xfrm>
                  <a:off x="8329360" y="3052875"/>
                  <a:ext cx="1015091" cy="587359"/>
                </a:xfrm>
                <a:prstGeom prst="rect">
                  <a:avLst/>
                </a:prstGeom>
                <a:blipFill>
                  <a:blip r:embed="rId15"/>
                  <a:stretch>
                    <a:fillRect l="-6612" t="-1408" r="-4959" b="-7042"/>
                  </a:stretch>
                </a:blipFill>
              </p:spPr>
              <p:txBody>
                <a:bodyPr/>
                <a:lstStyle/>
                <a:p>
                  <a:r>
                    <a:rPr lang="zh-CN" altLang="en-US">
                      <a:noFill/>
                    </a:rPr>
                    <a:t> </a:t>
                  </a:r>
                </a:p>
              </p:txBody>
            </p:sp>
          </mc:Fallback>
        </mc:AlternateContent>
        <p:cxnSp>
          <p:nvCxnSpPr>
            <p:cNvPr id="90" name="直接箭头连接符 89">
              <a:extLst>
                <a:ext uri="{FF2B5EF4-FFF2-40B4-BE49-F238E27FC236}">
                  <a16:creationId xmlns:a16="http://schemas.microsoft.com/office/drawing/2014/main" id="{732559CE-F48A-88EF-72CC-C6468141BFFF}"/>
                </a:ext>
              </a:extLst>
            </p:cNvPr>
            <p:cNvCxnSpPr/>
            <p:nvPr/>
          </p:nvCxnSpPr>
          <p:spPr>
            <a:xfrm>
              <a:off x="8336416" y="2349300"/>
              <a:ext cx="1080000" cy="0"/>
            </a:xfrm>
            <a:prstGeom prst="straightConnector1">
              <a:avLst/>
            </a:prstGeom>
            <a:noFill/>
            <a:ln w="12700" cap="flat" cmpd="sng" algn="ctr">
              <a:solidFill>
                <a:srgbClr val="1D1D1A"/>
              </a:solidFill>
              <a:prstDash val="solid"/>
              <a:miter lim="800000"/>
              <a:tailEnd type="triangle"/>
            </a:ln>
            <a:effectLst/>
          </p:spPr>
        </p:cxnSp>
        <p:cxnSp>
          <p:nvCxnSpPr>
            <p:cNvPr id="91" name="直接箭头连接符 90">
              <a:extLst>
                <a:ext uri="{FF2B5EF4-FFF2-40B4-BE49-F238E27FC236}">
                  <a16:creationId xmlns:a16="http://schemas.microsoft.com/office/drawing/2014/main" id="{4B284F21-F892-3520-CDD8-00AFA7686F79}"/>
                </a:ext>
              </a:extLst>
            </p:cNvPr>
            <p:cNvCxnSpPr/>
            <p:nvPr/>
          </p:nvCxnSpPr>
          <p:spPr>
            <a:xfrm flipV="1">
              <a:off x="8315297" y="5059082"/>
              <a:ext cx="1080000" cy="0"/>
            </a:xfrm>
            <a:prstGeom prst="straightConnector1">
              <a:avLst/>
            </a:prstGeom>
            <a:noFill/>
            <a:ln w="12700" cap="flat" cmpd="sng" algn="ctr">
              <a:solidFill>
                <a:srgbClr val="1D1D1A"/>
              </a:solidFill>
              <a:prstDash val="solid"/>
              <a:miter lim="800000"/>
              <a:tailEnd type="triangle"/>
            </a:ln>
            <a:effectLst/>
          </p:spPr>
        </p:cxnSp>
        <p:cxnSp>
          <p:nvCxnSpPr>
            <p:cNvPr id="92" name="连接符: 曲线 91">
              <a:extLst>
                <a:ext uri="{FF2B5EF4-FFF2-40B4-BE49-F238E27FC236}">
                  <a16:creationId xmlns:a16="http://schemas.microsoft.com/office/drawing/2014/main" id="{8B37DEB1-9CF5-EFC5-8CCA-C657E12A3DDF}"/>
                </a:ext>
              </a:extLst>
            </p:cNvPr>
            <p:cNvCxnSpPr>
              <a:cxnSpLocks/>
            </p:cNvCxnSpPr>
            <p:nvPr/>
          </p:nvCxnSpPr>
          <p:spPr>
            <a:xfrm rot="10800000" flipV="1">
              <a:off x="6790024" y="2865255"/>
              <a:ext cx="18653" cy="2228165"/>
            </a:xfrm>
            <a:prstGeom prst="curvedConnector3">
              <a:avLst>
                <a:gd name="adj1" fmla="val 835324"/>
              </a:avLst>
            </a:prstGeom>
            <a:noFill/>
            <a:ln w="12700" cap="flat" cmpd="sng" algn="ctr">
              <a:solidFill>
                <a:sysClr val="windowText" lastClr="000000"/>
              </a:solidFill>
              <a:prstDash val="solid"/>
              <a:miter lim="800000"/>
              <a:tailEnd type="triangle"/>
            </a:ln>
            <a:effectLst/>
          </p:spPr>
        </p:cxnSp>
        <p:cxnSp>
          <p:nvCxnSpPr>
            <p:cNvPr id="93" name="连接符: 曲线 92">
              <a:extLst>
                <a:ext uri="{FF2B5EF4-FFF2-40B4-BE49-F238E27FC236}">
                  <a16:creationId xmlns:a16="http://schemas.microsoft.com/office/drawing/2014/main" id="{12CF65AC-A89F-BB58-1ECC-4189CCEA9B01}"/>
                </a:ext>
              </a:extLst>
            </p:cNvPr>
            <p:cNvCxnSpPr>
              <a:cxnSpLocks/>
            </p:cNvCxnSpPr>
            <p:nvPr/>
          </p:nvCxnSpPr>
          <p:spPr>
            <a:xfrm rot="10800000" flipV="1">
              <a:off x="9488811" y="2659515"/>
              <a:ext cx="3088" cy="1995985"/>
            </a:xfrm>
            <a:prstGeom prst="curvedConnector3">
              <a:avLst>
                <a:gd name="adj1" fmla="val 4325777"/>
              </a:avLst>
            </a:prstGeom>
            <a:noFill/>
            <a:ln w="12700"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94" name="矩形 93">
                  <a:extLst>
                    <a:ext uri="{FF2B5EF4-FFF2-40B4-BE49-F238E27FC236}">
                      <a16:creationId xmlns:a16="http://schemas.microsoft.com/office/drawing/2014/main" id="{FA85575B-6BFB-9687-4248-45785176AB60}"/>
                    </a:ext>
                  </a:extLst>
                </p:cNvPr>
                <p:cNvSpPr/>
                <p:nvPr/>
              </p:nvSpPr>
              <p:spPr>
                <a:xfrm>
                  <a:off x="6500198" y="1231700"/>
                  <a:ext cx="5185003" cy="4636811"/>
                </a:xfrm>
                <a:prstGeom prst="rect">
                  <a:avLst/>
                </a:prstGeom>
                <a:noFill/>
                <a:ln w="12700" cap="flat" cmpd="sng" algn="ctr">
                  <a:solidFill>
                    <a:srgbClr val="ED6D00"/>
                  </a:solidFill>
                  <a:prstDash val="solid"/>
                  <a:miter lim="800000"/>
                </a:ln>
                <a:effectLst/>
              </p:spPr>
              <p:txBody>
                <a:bodyPr wrap="square" rtlCol="0" anchor="b">
                  <a:noAutofit/>
                </a:bodyPr>
                <a:lstStyle>
                  <a:defPPr>
                    <a:defRPr kern="0"/>
                  </a:defP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en-US" altLang="zh-CN" sz="1200" b="1" kern="0" dirty="0">
                      <a:solidFill>
                        <a:schemeClr val="accent3"/>
                      </a:solidFill>
                      <a:latin typeface="等线" panose="02010600030101010101" pitchFamily="2" charset="-122"/>
                      <a:ea typeface="微软雅黑" panose="020B0503020204020204" pitchFamily="34" charset="-122"/>
                      <a:cs typeface="Times New Roman" panose="02020603050405020304" pitchFamily="18" charset="0"/>
                    </a:rPr>
                    <a:t>2d-Binary Spatial Feature Extractor (</a:t>
                  </a:r>
                  <a14:m>
                    <m:oMath xmlns:m="http://schemas.openxmlformats.org/officeDocument/2006/math">
                      <m:r>
                        <a:rPr lang="en-US" altLang="zh-CN" sz="1200" b="1" kern="0" dirty="0">
                          <a:solidFill>
                            <a:schemeClr val="accent3"/>
                          </a:solidFill>
                          <a:latin typeface="Cambria Math" panose="02040503050406030204" pitchFamily="18" charset="0"/>
                          <a:ea typeface="微软雅黑" panose="020B0503020204020204" pitchFamily="34" charset="-122"/>
                          <a:cs typeface="Times New Roman" panose="02020603050405020304" pitchFamily="18" charset="0"/>
                        </a:rPr>
                        <m:t>𝑩𝑺𝑭</m:t>
                      </m:r>
                      <m:sSup>
                        <m:sSupPr>
                          <m:ctrlPr>
                            <a:rPr lang="en-US" altLang="zh-CN" sz="1200" b="1" i="1" kern="0" dirty="0">
                              <a:solidFill>
                                <a:schemeClr val="accent3"/>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200" b="1" kern="0" dirty="0">
                              <a:solidFill>
                                <a:schemeClr val="accent3"/>
                              </a:solidFill>
                              <a:latin typeface="Cambria Math" panose="02040503050406030204" pitchFamily="18" charset="0"/>
                              <a:ea typeface="微软雅黑" panose="020B0503020204020204" pitchFamily="34" charset="-122"/>
                              <a:cs typeface="Times New Roman" panose="02020603050405020304" pitchFamily="18" charset="0"/>
                            </a:rPr>
                            <m:t>𝑬</m:t>
                          </m:r>
                        </m:e>
                        <m:sup>
                          <m:r>
                            <a:rPr lang="en-US" altLang="zh-CN" sz="1200" b="1" kern="0" dirty="0">
                              <a:solidFill>
                                <a:schemeClr val="accent3"/>
                              </a:solidFill>
                              <a:latin typeface="Cambria Math" panose="02040503050406030204" pitchFamily="18" charset="0"/>
                              <a:ea typeface="微软雅黑" panose="020B0503020204020204" pitchFamily="34" charset="-122"/>
                              <a:cs typeface="Times New Roman" panose="02020603050405020304" pitchFamily="18" charset="0"/>
                            </a:rPr>
                            <m:t>𝟐</m:t>
                          </m:r>
                          <m:r>
                            <a:rPr lang="en-US" altLang="zh-CN" sz="1200" b="1" kern="0" dirty="0">
                              <a:solidFill>
                                <a:schemeClr val="accent3"/>
                              </a:solidFill>
                              <a:latin typeface="Cambria Math" panose="02040503050406030204" pitchFamily="18" charset="0"/>
                              <a:ea typeface="微软雅黑" panose="020B0503020204020204" pitchFamily="34" charset="-122"/>
                              <a:cs typeface="Times New Roman" panose="02020603050405020304" pitchFamily="18" charset="0"/>
                            </a:rPr>
                            <m:t>𝒅</m:t>
                          </m:r>
                        </m:sup>
                      </m:sSup>
                    </m:oMath>
                  </a14:m>
                  <a:r>
                    <a:rPr lang="en-US" altLang="zh-CN" sz="1200" b="1" kern="0" dirty="0">
                      <a:solidFill>
                        <a:schemeClr val="accent3"/>
                      </a:solidFill>
                      <a:latin typeface="等线" panose="02010600030101010101" pitchFamily="2" charset="-122"/>
                      <a:ea typeface="微软雅黑" panose="020B0503020204020204" pitchFamily="34" charset="-122"/>
                      <a:cs typeface="Times New Roman" panose="02020603050405020304" pitchFamily="18" charset="0"/>
                    </a:rPr>
                    <a:t>)</a:t>
                  </a:r>
                </a:p>
              </p:txBody>
            </p:sp>
          </mc:Choice>
          <mc:Fallback xmlns="">
            <p:sp>
              <p:nvSpPr>
                <p:cNvPr id="94" name="矩形 93">
                  <a:extLst>
                    <a:ext uri="{FF2B5EF4-FFF2-40B4-BE49-F238E27FC236}">
                      <a16:creationId xmlns:a16="http://schemas.microsoft.com/office/drawing/2014/main" id="{FA85575B-6BFB-9687-4248-45785176AB60}"/>
                    </a:ext>
                  </a:extLst>
                </p:cNvPr>
                <p:cNvSpPr>
                  <a:spLocks noRot="1" noChangeAspect="1" noMove="1" noResize="1" noEditPoints="1" noAdjustHandles="1" noChangeArrowheads="1" noChangeShapeType="1" noTextEdit="1"/>
                </p:cNvSpPr>
                <p:nvPr/>
              </p:nvSpPr>
              <p:spPr>
                <a:xfrm>
                  <a:off x="6500198" y="1231700"/>
                  <a:ext cx="5185003" cy="4636811"/>
                </a:xfrm>
                <a:prstGeom prst="rect">
                  <a:avLst/>
                </a:prstGeom>
                <a:blipFill>
                  <a:blip r:embed="rId16"/>
                  <a:stretch>
                    <a:fillRect b="-1259"/>
                  </a:stretch>
                </a:blipFill>
                <a:ln w="12700" cap="flat" cmpd="sng" algn="ctr">
                  <a:solidFill>
                    <a:srgbClr val="ED6D00"/>
                  </a:solidFill>
                  <a:prstDash val="solid"/>
                  <a:miter lim="800000"/>
                </a:ln>
                <a:effectLst/>
              </p:spPr>
              <p:txBody>
                <a:bodyPr/>
                <a:lstStyle/>
                <a:p>
                  <a:r>
                    <a:rPr lang="zh-CN" altLang="en-US">
                      <a:noFill/>
                    </a:rPr>
                    <a:t> </a:t>
                  </a:r>
                </a:p>
              </p:txBody>
            </p:sp>
          </mc:Fallback>
        </mc:AlternateContent>
        <p:sp>
          <p:nvSpPr>
            <p:cNvPr id="95" name="矩形 94">
              <a:extLst>
                <a:ext uri="{FF2B5EF4-FFF2-40B4-BE49-F238E27FC236}">
                  <a16:creationId xmlns:a16="http://schemas.microsoft.com/office/drawing/2014/main" id="{8A9FEB58-6FE4-C1A1-5217-8A8AB86D2076}"/>
                </a:ext>
              </a:extLst>
            </p:cNvPr>
            <p:cNvSpPr/>
            <p:nvPr/>
          </p:nvSpPr>
          <p:spPr>
            <a:xfrm>
              <a:off x="6610068" y="4289940"/>
              <a:ext cx="2676166" cy="1201770"/>
            </a:xfrm>
            <a:prstGeom prst="rect">
              <a:avLst/>
            </a:prstGeom>
            <a:noFill/>
            <a:ln w="19050" cap="flat" cmpd="sng" algn="ctr">
              <a:solidFill>
                <a:srgbClr val="E54C5E">
                  <a:lumMod val="75000"/>
                </a:srgbClr>
              </a:solidFill>
              <a:prstDash val="dash"/>
              <a:miter lim="800000"/>
            </a:ln>
            <a:effectLst/>
          </p:spPr>
          <p:txBody>
            <a:bodyPr wrap="square" rtlCol="0" anchor="b">
              <a:noAutofit/>
            </a:bodyPr>
            <a:lstStyle>
              <a:defPPr>
                <a:defRPr kern="0"/>
              </a:defPPr>
            </a:lstStyle>
            <a:p>
              <a:pPr algn="ctr" rtl="0">
                <a:defRPr/>
              </a:pPr>
              <a:r>
                <a:rPr lang="en-US" altLang="zh-CN" sz="1000" b="1" dirty="0">
                  <a:solidFill>
                    <a:srgbClr val="E54C5E">
                      <a:lumMod val="75000"/>
                    </a:srgbClr>
                  </a:solidFill>
                  <a:latin typeface="等线" panose="02010600030101010101" pitchFamily="2" charset="-122"/>
                  <a:ea typeface="微软雅黑" panose="020B0503020204020204" pitchFamily="34" charset="-122"/>
                  <a:cs typeface="Times New Roman" panose="02020603050405020304" pitchFamily="18" charset="0"/>
                </a:rPr>
                <a:t>Aggregation-then-Reduction</a:t>
              </a:r>
              <a:endParaRPr lang="zh-CN" altLang="en-US" sz="1050" b="1" dirty="0">
                <a:solidFill>
                  <a:srgbClr val="E54C5E">
                    <a:lumMod val="75000"/>
                  </a:srgbClr>
                </a:solidFill>
                <a:latin typeface="等线" panose="02010600030101010101" pitchFamily="2" charset="-122"/>
                <a:ea typeface="微软雅黑" panose="020B0503020204020204" pitchFamily="34" charset="-122"/>
                <a:cs typeface="Times New Roman" panose="02020603050405020304" pitchFamily="18" charset="0"/>
              </a:endParaRPr>
            </a:p>
          </p:txBody>
        </p:sp>
        <p:sp>
          <p:nvSpPr>
            <p:cNvPr id="96" name="矩形 95">
              <a:extLst>
                <a:ext uri="{FF2B5EF4-FFF2-40B4-BE49-F238E27FC236}">
                  <a16:creationId xmlns:a16="http://schemas.microsoft.com/office/drawing/2014/main" id="{8FC0CD2C-C941-2B9A-231E-42576C660253}"/>
                </a:ext>
              </a:extLst>
            </p:cNvPr>
            <p:cNvSpPr/>
            <p:nvPr/>
          </p:nvSpPr>
          <p:spPr>
            <a:xfrm>
              <a:off x="8244572" y="1298483"/>
              <a:ext cx="3175892" cy="2962506"/>
            </a:xfrm>
            <a:prstGeom prst="rect">
              <a:avLst/>
            </a:prstGeom>
            <a:noFill/>
            <a:ln w="19050" cap="flat" cmpd="sng" algn="ctr">
              <a:solidFill>
                <a:srgbClr val="E54C5E">
                  <a:lumMod val="75000"/>
                </a:srgbClr>
              </a:solidFill>
              <a:prstDash val="dash"/>
              <a:miter lim="800000"/>
            </a:ln>
            <a:effectLst/>
          </p:spPr>
          <p:txBody>
            <a:bodyPr wrap="square" rtlCol="0" anchor="b">
              <a:noAutofit/>
            </a:bodyPr>
            <a:lstStyle>
              <a:defPPr>
                <a:defRPr kern="0"/>
              </a:defPPr>
            </a:lstStyle>
            <a:p>
              <a:pPr algn="ctr" rtl="0">
                <a:defRPr/>
              </a:pPr>
              <a:r>
                <a:rPr lang="en-US" altLang="zh-CN" sz="1000" b="1" dirty="0">
                  <a:solidFill>
                    <a:srgbClr val="E54C5E">
                      <a:lumMod val="75000"/>
                    </a:srgbClr>
                  </a:solidFill>
                  <a:highlight>
                    <a:srgbClr val="FBFDF9"/>
                  </a:highlight>
                  <a:latin typeface="等线" panose="02010600030101010101" pitchFamily="2" charset="-122"/>
                  <a:ea typeface="微软雅黑" panose="020B0503020204020204" pitchFamily="34" charset="-122"/>
                  <a:cs typeface="Times New Roman" panose="02020603050405020304" pitchFamily="18" charset="0"/>
                </a:rPr>
                <a:t>Reduction-then-Aggregation</a:t>
              </a:r>
              <a:endParaRPr lang="zh-CN" altLang="en-US" sz="1050" b="1" dirty="0">
                <a:solidFill>
                  <a:srgbClr val="E54C5E">
                    <a:lumMod val="75000"/>
                  </a:srgbClr>
                </a:solidFill>
                <a:highlight>
                  <a:srgbClr val="FBFDF9"/>
                </a:highlight>
                <a:latin typeface="等线" panose="02010600030101010101" pitchFamily="2" charset="-122"/>
                <a:ea typeface="微软雅黑" panose="020B0503020204020204" pitchFamily="34" charset="-122"/>
                <a:cs typeface="Times New Roman" panose="02020603050405020304" pitchFamily="18" charset="0"/>
              </a:endParaRPr>
            </a:p>
          </p:txBody>
        </p:sp>
      </p:grpSp>
      <p:sp>
        <p:nvSpPr>
          <p:cNvPr id="97" name="箭头: 圆角右 96">
            <a:extLst>
              <a:ext uri="{FF2B5EF4-FFF2-40B4-BE49-F238E27FC236}">
                <a16:creationId xmlns:a16="http://schemas.microsoft.com/office/drawing/2014/main" id="{49950701-E939-D1E6-3710-8181D5A55835}"/>
              </a:ext>
            </a:extLst>
          </p:cNvPr>
          <p:cNvSpPr/>
          <p:nvPr/>
        </p:nvSpPr>
        <p:spPr>
          <a:xfrm>
            <a:off x="4832091" y="2463630"/>
            <a:ext cx="1364963" cy="1498525"/>
          </a:xfrm>
          <a:prstGeom prst="bentArrow">
            <a:avLst>
              <a:gd name="adj1" fmla="val 8776"/>
              <a:gd name="adj2" fmla="val 11974"/>
              <a:gd name="adj3" fmla="val 25000"/>
              <a:gd name="adj4" fmla="val 18443"/>
            </a:avLst>
          </a:prstGeom>
          <a:solidFill>
            <a:srgbClr val="ED6D00"/>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kern="0"/>
            </a:def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Calibri" panose="020F0502020204030204"/>
              <a:ea typeface="等线" panose="02010600030101010101" pitchFamily="2" charset="-122"/>
              <a:cs typeface="+mn-cs"/>
            </a:endParaRPr>
          </a:p>
        </p:txBody>
      </p:sp>
      <p:sp>
        <p:nvSpPr>
          <p:cNvPr id="3" name="文本框 2">
            <a:extLst>
              <a:ext uri="{FF2B5EF4-FFF2-40B4-BE49-F238E27FC236}">
                <a16:creationId xmlns:a16="http://schemas.microsoft.com/office/drawing/2014/main" id="{249606A1-E62A-E987-D6E6-43AAC1753368}"/>
              </a:ext>
            </a:extLst>
          </p:cNvPr>
          <p:cNvSpPr txBox="1"/>
          <p:nvPr/>
        </p:nvSpPr>
        <p:spPr>
          <a:xfrm>
            <a:off x="736845" y="5671951"/>
            <a:ext cx="7422775" cy="895181"/>
          </a:xfrm>
          <a:prstGeom prst="rect">
            <a:avLst/>
          </a:prstGeom>
          <a:noFill/>
        </p:spPr>
        <p:txBody>
          <a:bodyPr wrap="square">
            <a:spAutoFit/>
          </a:bodyPr>
          <a:lstStyle/>
          <a:p>
            <a:pPr marL="285750" indent="-285750">
              <a:lnSpc>
                <a:spcPct val="150000"/>
              </a:lnSpc>
              <a:buClr>
                <a:srgbClr val="C7000B"/>
              </a:buClr>
              <a:buFont typeface="Wingdings" panose="05000000000000000000" pitchFamily="2" charset="2"/>
              <a:buChar char="Ø"/>
            </a:pPr>
            <a:r>
              <a:rPr lang="en-US" altLang="zh-CN" sz="1200" b="1" kern="1200" dirty="0">
                <a:solidFill>
                  <a:srgbClr val="00B0F0"/>
                </a:solidFill>
                <a:latin typeface="微软雅黑" panose="020B0503020204020204" pitchFamily="34" charset="-122"/>
                <a:ea typeface="微软雅黑" panose="020B0503020204020204" pitchFamily="34" charset="-122"/>
                <a:cs typeface="+mn-cs"/>
              </a:rPr>
              <a:t>1D-BSFE</a:t>
            </a:r>
            <a:r>
              <a:rPr lang="en-US" altLang="zh-CN" sz="1200" kern="1200" dirty="0">
                <a:solidFill>
                  <a:srgbClr val="1D1D1A"/>
                </a:solidFill>
                <a:latin typeface="微软雅黑" panose="020B0503020204020204" pitchFamily="34" charset="-122"/>
                <a:ea typeface="微软雅黑" panose="020B0503020204020204" pitchFamily="34" charset="-122"/>
                <a:cs typeface="+mn-cs"/>
              </a:rPr>
              <a:t> effectively extracts potential fault information from events.</a:t>
            </a:r>
          </a:p>
          <a:p>
            <a:pPr marL="285750" indent="-285750">
              <a:lnSpc>
                <a:spcPct val="150000"/>
              </a:lnSpc>
              <a:buClr>
                <a:srgbClr val="C7000B"/>
              </a:buClr>
              <a:buFont typeface="Wingdings" panose="05000000000000000000" pitchFamily="2" charset="2"/>
              <a:buChar char="Ø"/>
            </a:pPr>
            <a:r>
              <a:rPr lang="en-US" altLang="zh-CN" sz="1200" b="1" kern="1200" dirty="0">
                <a:solidFill>
                  <a:srgbClr val="ED6D00"/>
                </a:solidFill>
                <a:latin typeface="微软雅黑" panose="020B0503020204020204" pitchFamily="34" charset="-122"/>
                <a:ea typeface="微软雅黑" panose="020B0503020204020204" pitchFamily="34" charset="-122"/>
                <a:cs typeface="+mn-cs"/>
              </a:rPr>
              <a:t>2D-BSFE</a:t>
            </a:r>
            <a:r>
              <a:rPr lang="en-US" altLang="zh-CN" sz="1200" kern="1200" dirty="0">
                <a:solidFill>
                  <a:srgbClr val="1D1D1A"/>
                </a:solidFill>
                <a:latin typeface="微软雅黑" panose="020B0503020204020204" pitchFamily="34" charset="-122"/>
                <a:ea typeface="微软雅黑" panose="020B0503020204020204" pitchFamily="34" charset="-122"/>
                <a:cs typeface="+mn-cs"/>
              </a:rPr>
              <a:t> efficiently accomplishes feature aggregation. </a:t>
            </a:r>
            <a:endParaRPr lang="en-US" altLang="zh-CN" sz="1200" kern="1200" dirty="0">
              <a:solidFill>
                <a:srgbClr val="232D36"/>
              </a:solidFill>
              <a:latin typeface="微软雅黑" panose="020B0503020204020204" pitchFamily="34" charset="-122"/>
              <a:ea typeface="微软雅黑" panose="020B0503020204020204" pitchFamily="34" charset="-122"/>
              <a:cs typeface="+mn-cs"/>
            </a:endParaRPr>
          </a:p>
          <a:p>
            <a:pPr marL="285750" lvl="1" indent="-285750">
              <a:lnSpc>
                <a:spcPct val="150000"/>
              </a:lnSpc>
              <a:buClr>
                <a:srgbClr val="C7000B"/>
              </a:buClr>
              <a:buFont typeface="Wingdings" panose="05000000000000000000" pitchFamily="2" charset="2"/>
              <a:buChar char="Ø"/>
            </a:pPr>
            <a:r>
              <a:rPr lang="en-US" altLang="zh-CN" sz="1200" b="1" dirty="0">
                <a:solidFill>
                  <a:schemeClr val="accent1"/>
                </a:solidFill>
                <a:latin typeface="+mn-ea"/>
              </a:rPr>
              <a:t>Multi-BSFE</a:t>
            </a:r>
            <a:r>
              <a:rPr lang="en-US" altLang="zh-CN" sz="1200" b="1" dirty="0">
                <a:solidFill>
                  <a:srgbClr val="00B050"/>
                </a:solidFill>
                <a:latin typeface="+mn-ea"/>
              </a:rPr>
              <a:t> </a:t>
            </a:r>
            <a:r>
              <a:rPr lang="en-US" altLang="zh-CN" sz="1200" dirty="0">
                <a:solidFill>
                  <a:srgbClr val="1D1D1A"/>
                </a:solidFill>
                <a:latin typeface="微软雅黑" panose="020B0503020204020204" pitchFamily="34" charset="-122"/>
                <a:ea typeface="微软雅黑" panose="020B0503020204020204" pitchFamily="34" charset="-122"/>
              </a:rPr>
              <a:t>implements aggregation operations across hierarchies.</a:t>
            </a:r>
            <a:endParaRPr lang="zh-CN" altLang="en-US" sz="1200" dirty="0">
              <a:solidFill>
                <a:srgbClr val="1D1D1A"/>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BCAB8699-31E4-FFEC-0F80-8601A6C99D6F}"/>
                  </a:ext>
                </a:extLst>
              </p:cNvPr>
              <p:cNvSpPr txBox="1"/>
              <p:nvPr/>
            </p:nvSpPr>
            <p:spPr>
              <a:xfrm>
                <a:off x="6540934" y="4639164"/>
                <a:ext cx="248168" cy="2308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ED6D00"/>
                              </a:solidFill>
                              <a:effectLst/>
                              <a:uLnTx/>
                              <a:uFillTx/>
                              <a:latin typeface="Cambria Math" panose="02040503050406030204" pitchFamily="18" charset="0"/>
                            </a:rPr>
                          </m:ctrlPr>
                        </m:sSubPr>
                        <m:e>
                          <m:r>
                            <a:rPr kumimoji="0" lang="en-US" altLang="zh-CN" sz="900" b="1" i="1" u="none" strike="noStrike" kern="0" cap="none" spc="0" normalizeH="0" baseline="0" noProof="0" dirty="0" smtClean="0">
                              <a:ln>
                                <a:noFill/>
                              </a:ln>
                              <a:solidFill>
                                <a:srgbClr val="ED6D00"/>
                              </a:solidFill>
                              <a:effectLst/>
                              <a:uLnTx/>
                              <a:uFillTx/>
                              <a:latin typeface="Cambria Math" panose="02040503050406030204" pitchFamily="18" charset="0"/>
                            </a:rPr>
                            <m:t>𝒆</m:t>
                          </m:r>
                        </m:e>
                        <m:sub>
                          <m:r>
                            <a:rPr kumimoji="0" lang="en-US" altLang="zh-CN" sz="900" b="1" i="1" u="none" strike="noStrike" kern="0" cap="none" spc="0" normalizeH="0" baseline="0" noProof="0" dirty="0" smtClean="0">
                              <a:ln>
                                <a:noFill/>
                              </a:ln>
                              <a:solidFill>
                                <a:srgbClr val="ED6D00"/>
                              </a:solidFill>
                              <a:effectLst/>
                              <a:uLnTx/>
                              <a:uFillTx/>
                              <a:latin typeface="Cambria Math" panose="02040503050406030204" pitchFamily="18" charset="0"/>
                            </a:rPr>
                            <m:t>𝟏</m:t>
                          </m:r>
                        </m:sub>
                      </m:sSub>
                    </m:oMath>
                  </m:oMathPara>
                </a14:m>
                <a:endParaRPr kumimoji="0" lang="en-US" altLang="zh-CN" sz="900" b="1" i="0" u="none" strike="noStrike" kern="0" cap="none" spc="0" normalizeH="0" baseline="0" noProof="0" dirty="0">
                  <a:ln>
                    <a:noFill/>
                  </a:ln>
                  <a:solidFill>
                    <a:srgbClr val="ED6D00"/>
                  </a:solidFill>
                  <a:effectLst/>
                  <a:uLnTx/>
                  <a:uFillTx/>
                </a:endParaRPr>
              </a:p>
            </p:txBody>
          </p:sp>
        </mc:Choice>
        <mc:Fallback xmlns="">
          <p:sp>
            <p:nvSpPr>
              <p:cNvPr id="47" name="文本框 46">
                <a:extLst>
                  <a:ext uri="{FF2B5EF4-FFF2-40B4-BE49-F238E27FC236}">
                    <a16:creationId xmlns:a16="http://schemas.microsoft.com/office/drawing/2014/main" id="{BCAB8699-31E4-FFEC-0F80-8601A6C99D6F}"/>
                  </a:ext>
                </a:extLst>
              </p:cNvPr>
              <p:cNvSpPr txBox="1">
                <a:spLocks noRot="1" noChangeAspect="1" noMove="1" noResize="1" noEditPoints="1" noAdjustHandles="1" noChangeArrowheads="1" noChangeShapeType="1" noTextEdit="1"/>
              </p:cNvSpPr>
              <p:nvPr/>
            </p:nvSpPr>
            <p:spPr>
              <a:xfrm>
                <a:off x="6540934" y="4639164"/>
                <a:ext cx="248168" cy="230832"/>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D346C69F-3A4E-9C89-200E-56065BD92FEC}"/>
                  </a:ext>
                </a:extLst>
              </p:cNvPr>
              <p:cNvSpPr txBox="1"/>
              <p:nvPr/>
            </p:nvSpPr>
            <p:spPr>
              <a:xfrm>
                <a:off x="8006839" y="4653806"/>
                <a:ext cx="51646" cy="21544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𝑭</m:t>
                          </m:r>
                        </m:e>
                        <m:sub>
                          <m:r>
                            <a:rPr kumimoji="0" lang="en-US" altLang="zh-CN" sz="800" b="1" i="0" u="none" strike="noStrike" kern="0" cap="none" spc="0" normalizeH="0" baseline="0" noProof="0" smtClean="0">
                              <a:ln>
                                <a:noFill/>
                              </a:ln>
                              <a:solidFill>
                                <a:prstClr val="black"/>
                              </a:solidFill>
                              <a:effectLst/>
                              <a:uLnTx/>
                              <a:uFillTx/>
                              <a:latin typeface="Cambria Math" panose="02040503050406030204" pitchFamily="18" charset="0"/>
                            </a:rPr>
                            <m:t>𝐛𝐢𝐭</m:t>
                          </m:r>
                        </m:sub>
                      </m:sSub>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m:t>
                      </m:r>
                      <m:sSub>
                        <m:sSubPr>
                          <m:ctrlP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𝒆</m:t>
                          </m:r>
                        </m:e>
                        <m:sub>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𝟏</m:t>
                          </m:r>
                        </m:sub>
                      </m:sSub>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m:t>
                      </m:r>
                    </m:oMath>
                  </m:oMathPara>
                </a14:m>
                <a:endParaRPr kumimoji="0" lang="en-US" altLang="zh-CN" sz="800" b="1" i="0" u="none" strike="noStrike" kern="0" cap="none" spc="0" normalizeH="0" baseline="0" noProof="0" dirty="0">
                  <a:ln>
                    <a:noFill/>
                  </a:ln>
                  <a:solidFill>
                    <a:prstClr val="black"/>
                  </a:solidFill>
                  <a:effectLst/>
                  <a:uLnTx/>
                  <a:uFillTx/>
                </a:endParaRPr>
              </a:p>
            </p:txBody>
          </p:sp>
        </mc:Choice>
        <mc:Fallback xmlns="">
          <p:sp>
            <p:nvSpPr>
              <p:cNvPr id="48" name="文本框 47">
                <a:extLst>
                  <a:ext uri="{FF2B5EF4-FFF2-40B4-BE49-F238E27FC236}">
                    <a16:creationId xmlns:a16="http://schemas.microsoft.com/office/drawing/2014/main" id="{D346C69F-3A4E-9C89-200E-56065BD92FEC}"/>
                  </a:ext>
                </a:extLst>
              </p:cNvPr>
              <p:cNvSpPr txBox="1">
                <a:spLocks noRot="1" noChangeAspect="1" noMove="1" noResize="1" noEditPoints="1" noAdjustHandles="1" noChangeArrowheads="1" noChangeShapeType="1" noTextEdit="1"/>
              </p:cNvSpPr>
              <p:nvPr/>
            </p:nvSpPr>
            <p:spPr>
              <a:xfrm>
                <a:off x="8006839" y="4653806"/>
                <a:ext cx="51646" cy="215444"/>
              </a:xfrm>
              <a:prstGeom prst="rect">
                <a:avLst/>
              </a:prstGeom>
              <a:blipFill>
                <a:blip r:embed="rId18"/>
                <a:stretch>
                  <a:fillRect l="-11111" r="-700000"/>
                </a:stretch>
              </a:blipFill>
            </p:spPr>
            <p:txBody>
              <a:bodyPr/>
              <a:lstStyle/>
              <a:p>
                <a:r>
                  <a:rPr lang="zh-CN" altLang="en-US">
                    <a:noFill/>
                  </a:rPr>
                  <a:t> </a:t>
                </a:r>
              </a:p>
            </p:txBody>
          </p:sp>
        </mc:Fallback>
      </mc:AlternateContent>
      <p:cxnSp>
        <p:nvCxnSpPr>
          <p:cNvPr id="49" name="直接箭头连接符 48">
            <a:extLst>
              <a:ext uri="{FF2B5EF4-FFF2-40B4-BE49-F238E27FC236}">
                <a16:creationId xmlns:a16="http://schemas.microsoft.com/office/drawing/2014/main" id="{83EF7586-11A5-A28C-069B-B1C6DFCC9947}"/>
              </a:ext>
            </a:extLst>
          </p:cNvPr>
          <p:cNvCxnSpPr>
            <a:cxnSpLocks/>
          </p:cNvCxnSpPr>
          <p:nvPr/>
        </p:nvCxnSpPr>
        <p:spPr>
          <a:xfrm>
            <a:off x="6815390" y="4754580"/>
            <a:ext cx="403140" cy="2256"/>
          </a:xfrm>
          <a:prstGeom prst="straightConnector1">
            <a:avLst/>
          </a:prstGeom>
          <a:noFill/>
          <a:ln w="6350" cap="flat" cmpd="sng" algn="ctr">
            <a:solidFill>
              <a:sysClr val="windowText" lastClr="000000"/>
            </a:solidFill>
            <a:prstDash val="solid"/>
            <a:miter lim="800000"/>
            <a:headEnd w="med" len="sm"/>
            <a:tailEnd type="triangle" w="sm" len="med"/>
          </a:ln>
          <a:effectLst/>
        </p:spPr>
      </p:cxnSp>
      <p:sp>
        <p:nvSpPr>
          <p:cNvPr id="50" name="流程图: 过程 49">
            <a:extLst>
              <a:ext uri="{FF2B5EF4-FFF2-40B4-BE49-F238E27FC236}">
                <a16:creationId xmlns:a16="http://schemas.microsoft.com/office/drawing/2014/main" id="{86A0490F-60F2-3ED8-6F0D-5614C6F4D3F8}"/>
              </a:ext>
            </a:extLst>
          </p:cNvPr>
          <p:cNvSpPr/>
          <p:nvPr/>
        </p:nvSpPr>
        <p:spPr>
          <a:xfrm>
            <a:off x="7172262" y="4681259"/>
            <a:ext cx="729039" cy="146642"/>
          </a:xfrm>
          <a:prstGeom prst="flowChartProcess">
            <a:avLst/>
          </a:prstGeom>
          <a:solidFill>
            <a:srgbClr val="30B5C5">
              <a:lumMod val="20000"/>
              <a:lumOff val="80000"/>
            </a:srgbClr>
          </a:solidFill>
          <a:ln w="6350" cap="flat" cmpd="sng" algn="ctr">
            <a:solidFill>
              <a:srgbClr val="30B5C5">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r>
              <a:rPr lang="en-US" altLang="zh-CN" sz="900" b="1" kern="0" dirty="0">
                <a:solidFill>
                  <a:srgbClr val="1D1D1A"/>
                </a:solidFill>
                <a:latin typeface="等线" panose="02010600030101010101" pitchFamily="2" charset="-122"/>
              </a:rPr>
              <a:t>2d-BSFE</a:t>
            </a:r>
            <a:endParaRPr lang="zh-CN" altLang="en-US" sz="900" b="1" kern="0" dirty="0">
              <a:solidFill>
                <a:srgbClr val="1D1D1A"/>
              </a:solidFill>
              <a:latin typeface="等线" panose="02010600030101010101" pitchFamily="2" charset="-122"/>
            </a:endParaRPr>
          </a:p>
        </p:txBody>
      </p:sp>
      <mc:AlternateContent xmlns:mc="http://schemas.openxmlformats.org/markup-compatibility/2006" xmlns:a14="http://schemas.microsoft.com/office/drawing/2010/main">
        <mc:Choice Requires="a14">
          <p:sp>
            <p:nvSpPr>
              <p:cNvPr id="98" name="矩形 97">
                <a:extLst>
                  <a:ext uri="{FF2B5EF4-FFF2-40B4-BE49-F238E27FC236}">
                    <a16:creationId xmlns:a16="http://schemas.microsoft.com/office/drawing/2014/main" id="{8E8F9BE7-E163-399E-C67B-2719F4FD2942}"/>
                  </a:ext>
                </a:extLst>
              </p:cNvPr>
              <p:cNvSpPr/>
              <p:nvPr/>
            </p:nvSpPr>
            <p:spPr>
              <a:xfrm>
                <a:off x="6769525" y="4601457"/>
                <a:ext cx="506761" cy="185385"/>
              </a:xfrm>
              <a:prstGeom prst="rect">
                <a:avLst/>
              </a:prstGeom>
              <a:noFill/>
              <a:ln w="12700" cap="flat" cmpd="sng" algn="ctr">
                <a:no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𝑩</m:t>
                      </m:r>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m:t>
                      </m:r>
                      <m:sSub>
                        <m:sSubPr>
                          <m:ctrlP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𝒆</m:t>
                          </m:r>
                        </m:e>
                        <m:sub>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𝟏</m:t>
                          </m:r>
                        </m:sub>
                      </m:sSub>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m:t>
                      </m:r>
                    </m:oMath>
                  </m:oMathPara>
                </a14:m>
                <a:endParaRPr kumimoji="0" lang="en-US" altLang="zh-CN" sz="8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Choice>
        <mc:Fallback xmlns="">
          <p:sp>
            <p:nvSpPr>
              <p:cNvPr id="98" name="矩形 97">
                <a:extLst>
                  <a:ext uri="{FF2B5EF4-FFF2-40B4-BE49-F238E27FC236}">
                    <a16:creationId xmlns:a16="http://schemas.microsoft.com/office/drawing/2014/main" id="{8E8F9BE7-E163-399E-C67B-2719F4FD2942}"/>
                  </a:ext>
                </a:extLst>
              </p:cNvPr>
              <p:cNvSpPr>
                <a:spLocks noRot="1" noChangeAspect="1" noMove="1" noResize="1" noEditPoints="1" noAdjustHandles="1" noChangeArrowheads="1" noChangeShapeType="1" noTextEdit="1"/>
              </p:cNvSpPr>
              <p:nvPr/>
            </p:nvSpPr>
            <p:spPr>
              <a:xfrm>
                <a:off x="6769525" y="4601457"/>
                <a:ext cx="506761" cy="185385"/>
              </a:xfrm>
              <a:prstGeom prst="rect">
                <a:avLst/>
              </a:prstGeom>
              <a:blipFill>
                <a:blip r:embed="rId19"/>
                <a:stretch>
                  <a:fillRect/>
                </a:stretch>
              </a:blipFill>
              <a:ln w="12700" cap="flat" cmpd="sng" algn="ctr">
                <a:noFill/>
                <a:prstDash val="solid"/>
                <a:miter lim="800000"/>
              </a:ln>
              <a:effectLst/>
            </p:spPr>
            <p:txBody>
              <a:bodyPr/>
              <a:lstStyle/>
              <a:p>
                <a:r>
                  <a:rPr lang="zh-CN" altLang="en-US">
                    <a:noFill/>
                  </a:rPr>
                  <a:t> </a:t>
                </a:r>
              </a:p>
            </p:txBody>
          </p:sp>
        </mc:Fallback>
      </mc:AlternateContent>
      <p:cxnSp>
        <p:nvCxnSpPr>
          <p:cNvPr id="99" name="直接箭头连接符 98">
            <a:extLst>
              <a:ext uri="{FF2B5EF4-FFF2-40B4-BE49-F238E27FC236}">
                <a16:creationId xmlns:a16="http://schemas.microsoft.com/office/drawing/2014/main" id="{623152D3-840B-DD29-3F5E-B4219FF6F446}"/>
              </a:ext>
            </a:extLst>
          </p:cNvPr>
          <p:cNvCxnSpPr>
            <a:cxnSpLocks/>
          </p:cNvCxnSpPr>
          <p:nvPr/>
        </p:nvCxnSpPr>
        <p:spPr>
          <a:xfrm>
            <a:off x="7817629" y="4753834"/>
            <a:ext cx="213741" cy="2"/>
          </a:xfrm>
          <a:prstGeom prst="straightConnector1">
            <a:avLst/>
          </a:prstGeom>
          <a:noFill/>
          <a:ln w="6350" cap="flat" cmpd="sng" algn="ctr">
            <a:solidFill>
              <a:sysClr val="windowText" lastClr="000000"/>
            </a:solidFill>
            <a:prstDash val="solid"/>
            <a:miter lim="800000"/>
            <a:headEnd w="med" len="sm"/>
            <a:tailEnd type="triangle" w="sm" len="med"/>
          </a:ln>
          <a:effectLst/>
        </p:spPr>
      </p:cxnSp>
      <mc:AlternateContent xmlns:mc="http://schemas.openxmlformats.org/markup-compatibility/2006" xmlns:a14="http://schemas.microsoft.com/office/drawing/2010/main">
        <mc:Choice Requires="a14">
          <p:sp>
            <p:nvSpPr>
              <p:cNvPr id="100" name="文本框 99">
                <a:extLst>
                  <a:ext uri="{FF2B5EF4-FFF2-40B4-BE49-F238E27FC236}">
                    <a16:creationId xmlns:a16="http://schemas.microsoft.com/office/drawing/2014/main" id="{D49F5BA9-FAB5-04B0-7DD8-A2001FFE1386}"/>
                  </a:ext>
                </a:extLst>
              </p:cNvPr>
              <p:cNvSpPr txBox="1"/>
              <p:nvPr/>
            </p:nvSpPr>
            <p:spPr>
              <a:xfrm>
                <a:off x="6540934" y="4877650"/>
                <a:ext cx="248168" cy="2308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ED6D00"/>
                              </a:solidFill>
                              <a:effectLst/>
                              <a:uLnTx/>
                              <a:uFillTx/>
                              <a:latin typeface="Cambria Math" panose="02040503050406030204" pitchFamily="18" charset="0"/>
                            </a:rPr>
                          </m:ctrlPr>
                        </m:sSubPr>
                        <m:e>
                          <m:r>
                            <a:rPr kumimoji="0" lang="en-US" altLang="zh-CN" sz="900" b="1" i="1" u="none" strike="noStrike" kern="0" cap="none" spc="0" normalizeH="0" baseline="0" noProof="0" dirty="0" smtClean="0">
                              <a:ln>
                                <a:noFill/>
                              </a:ln>
                              <a:solidFill>
                                <a:srgbClr val="ED6D00"/>
                              </a:solidFill>
                              <a:effectLst/>
                              <a:uLnTx/>
                              <a:uFillTx/>
                              <a:latin typeface="Cambria Math" panose="02040503050406030204" pitchFamily="18" charset="0"/>
                            </a:rPr>
                            <m:t>𝒆</m:t>
                          </m:r>
                        </m:e>
                        <m:sub>
                          <m:r>
                            <a:rPr kumimoji="0" lang="en-US" altLang="zh-CN" sz="900" b="1" i="1" u="none" strike="noStrike" kern="0" cap="none" spc="0" normalizeH="0" baseline="0" noProof="0" dirty="0" smtClean="0">
                              <a:ln>
                                <a:noFill/>
                              </a:ln>
                              <a:solidFill>
                                <a:srgbClr val="ED6D00"/>
                              </a:solidFill>
                              <a:effectLst/>
                              <a:uLnTx/>
                              <a:uFillTx/>
                              <a:latin typeface="Cambria Math" panose="02040503050406030204" pitchFamily="18" charset="0"/>
                            </a:rPr>
                            <m:t>𝟐</m:t>
                          </m:r>
                        </m:sub>
                      </m:sSub>
                    </m:oMath>
                  </m:oMathPara>
                </a14:m>
                <a:endParaRPr kumimoji="0" lang="en-US" altLang="zh-CN" sz="900" b="1" i="0" u="none" strike="noStrike" kern="0" cap="none" spc="0" normalizeH="0" baseline="0" noProof="0" dirty="0">
                  <a:ln>
                    <a:noFill/>
                  </a:ln>
                  <a:solidFill>
                    <a:srgbClr val="ED6D00"/>
                  </a:solidFill>
                  <a:effectLst/>
                  <a:uLnTx/>
                  <a:uFillTx/>
                </a:endParaRPr>
              </a:p>
            </p:txBody>
          </p:sp>
        </mc:Choice>
        <mc:Fallback xmlns="">
          <p:sp>
            <p:nvSpPr>
              <p:cNvPr id="100" name="文本框 99">
                <a:extLst>
                  <a:ext uri="{FF2B5EF4-FFF2-40B4-BE49-F238E27FC236}">
                    <a16:creationId xmlns:a16="http://schemas.microsoft.com/office/drawing/2014/main" id="{D49F5BA9-FAB5-04B0-7DD8-A2001FFE1386}"/>
                  </a:ext>
                </a:extLst>
              </p:cNvPr>
              <p:cNvSpPr txBox="1">
                <a:spLocks noRot="1" noChangeAspect="1" noMove="1" noResize="1" noEditPoints="1" noAdjustHandles="1" noChangeArrowheads="1" noChangeShapeType="1" noTextEdit="1"/>
              </p:cNvSpPr>
              <p:nvPr/>
            </p:nvSpPr>
            <p:spPr>
              <a:xfrm>
                <a:off x="6540934" y="4877650"/>
                <a:ext cx="248168" cy="230832"/>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A69CF850-F124-3751-4024-E49C576AF4BE}"/>
                  </a:ext>
                </a:extLst>
              </p:cNvPr>
              <p:cNvSpPr txBox="1"/>
              <p:nvPr/>
            </p:nvSpPr>
            <p:spPr>
              <a:xfrm>
                <a:off x="8006839" y="4884598"/>
                <a:ext cx="51646" cy="21544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𝑭</m:t>
                          </m:r>
                        </m:e>
                        <m:sub>
                          <m:r>
                            <a:rPr kumimoji="0" lang="en-US" altLang="zh-CN" sz="800" b="1" i="0" u="none" strike="noStrike" kern="0" cap="none" spc="0" normalizeH="0" baseline="0" noProof="0" smtClean="0">
                              <a:ln>
                                <a:noFill/>
                              </a:ln>
                              <a:solidFill>
                                <a:prstClr val="black"/>
                              </a:solidFill>
                              <a:effectLst/>
                              <a:uLnTx/>
                              <a:uFillTx/>
                              <a:latin typeface="Cambria Math" panose="02040503050406030204" pitchFamily="18" charset="0"/>
                            </a:rPr>
                            <m:t>𝐛𝐢𝐭</m:t>
                          </m:r>
                        </m:sub>
                      </m:sSub>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m:t>
                      </m:r>
                      <m:sSub>
                        <m:sSubPr>
                          <m:ctrlP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𝒆</m:t>
                          </m:r>
                        </m:e>
                        <m:sub>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𝟐</m:t>
                          </m:r>
                        </m:sub>
                      </m:sSub>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m:t>
                      </m:r>
                    </m:oMath>
                  </m:oMathPara>
                </a14:m>
                <a:endParaRPr kumimoji="0" lang="en-US" altLang="zh-CN" sz="800" b="1" i="0" u="none" strike="noStrike" kern="0" cap="none" spc="0" normalizeH="0" baseline="0" noProof="0" dirty="0">
                  <a:ln>
                    <a:noFill/>
                  </a:ln>
                  <a:solidFill>
                    <a:prstClr val="black"/>
                  </a:solidFill>
                  <a:effectLst/>
                  <a:uLnTx/>
                  <a:uFillTx/>
                </a:endParaRPr>
              </a:p>
            </p:txBody>
          </p:sp>
        </mc:Choice>
        <mc:Fallback xmlns="">
          <p:sp>
            <p:nvSpPr>
              <p:cNvPr id="101" name="文本框 100">
                <a:extLst>
                  <a:ext uri="{FF2B5EF4-FFF2-40B4-BE49-F238E27FC236}">
                    <a16:creationId xmlns:a16="http://schemas.microsoft.com/office/drawing/2014/main" id="{A69CF850-F124-3751-4024-E49C576AF4BE}"/>
                  </a:ext>
                </a:extLst>
              </p:cNvPr>
              <p:cNvSpPr txBox="1">
                <a:spLocks noRot="1" noChangeAspect="1" noMove="1" noResize="1" noEditPoints="1" noAdjustHandles="1" noChangeArrowheads="1" noChangeShapeType="1" noTextEdit="1"/>
              </p:cNvSpPr>
              <p:nvPr/>
            </p:nvSpPr>
            <p:spPr>
              <a:xfrm>
                <a:off x="8006839" y="4884598"/>
                <a:ext cx="51646" cy="215444"/>
              </a:xfrm>
              <a:prstGeom prst="rect">
                <a:avLst/>
              </a:prstGeom>
              <a:blipFill>
                <a:blip r:embed="rId21"/>
                <a:stretch>
                  <a:fillRect l="-11111" r="-700000"/>
                </a:stretch>
              </a:blipFill>
            </p:spPr>
            <p:txBody>
              <a:bodyPr/>
              <a:lstStyle/>
              <a:p>
                <a:r>
                  <a:rPr lang="zh-CN" altLang="en-US">
                    <a:noFill/>
                  </a:rPr>
                  <a:t> </a:t>
                </a:r>
              </a:p>
            </p:txBody>
          </p:sp>
        </mc:Fallback>
      </mc:AlternateContent>
      <p:cxnSp>
        <p:nvCxnSpPr>
          <p:cNvPr id="102" name="直接箭头连接符 101">
            <a:extLst>
              <a:ext uri="{FF2B5EF4-FFF2-40B4-BE49-F238E27FC236}">
                <a16:creationId xmlns:a16="http://schemas.microsoft.com/office/drawing/2014/main" id="{9EC2AE90-036B-63D7-FB05-6FBD80298DC5}"/>
              </a:ext>
            </a:extLst>
          </p:cNvPr>
          <p:cNvCxnSpPr>
            <a:cxnSpLocks/>
          </p:cNvCxnSpPr>
          <p:nvPr/>
        </p:nvCxnSpPr>
        <p:spPr>
          <a:xfrm>
            <a:off x="6815390" y="4993066"/>
            <a:ext cx="403140" cy="2256"/>
          </a:xfrm>
          <a:prstGeom prst="straightConnector1">
            <a:avLst/>
          </a:prstGeom>
          <a:noFill/>
          <a:ln w="6350" cap="flat" cmpd="sng" algn="ctr">
            <a:solidFill>
              <a:sysClr val="windowText" lastClr="000000"/>
            </a:solidFill>
            <a:prstDash val="solid"/>
            <a:miter lim="800000"/>
            <a:headEnd w="med" len="sm"/>
            <a:tailEnd type="triangle" w="sm" len="med"/>
          </a:ln>
          <a:effectLst/>
        </p:spPr>
      </p:cxnSp>
      <p:sp>
        <p:nvSpPr>
          <p:cNvPr id="103" name="流程图: 过程 102">
            <a:extLst>
              <a:ext uri="{FF2B5EF4-FFF2-40B4-BE49-F238E27FC236}">
                <a16:creationId xmlns:a16="http://schemas.microsoft.com/office/drawing/2014/main" id="{C65E4E5E-A76B-E392-A12F-F906C59ABA54}"/>
              </a:ext>
            </a:extLst>
          </p:cNvPr>
          <p:cNvSpPr/>
          <p:nvPr/>
        </p:nvSpPr>
        <p:spPr>
          <a:xfrm>
            <a:off x="7172262" y="4919745"/>
            <a:ext cx="729039" cy="146642"/>
          </a:xfrm>
          <a:prstGeom prst="flowChartProcess">
            <a:avLst/>
          </a:prstGeom>
          <a:solidFill>
            <a:srgbClr val="30B5C5">
              <a:lumMod val="20000"/>
              <a:lumOff val="80000"/>
            </a:srgbClr>
          </a:solidFill>
          <a:ln w="6350" cap="flat" cmpd="sng" algn="ctr">
            <a:solidFill>
              <a:srgbClr val="30B5C5">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r>
              <a:rPr lang="en-US" altLang="zh-CN" sz="900" b="1" kern="0" dirty="0">
                <a:solidFill>
                  <a:srgbClr val="1D1D1A"/>
                </a:solidFill>
                <a:latin typeface="等线" panose="02010600030101010101" pitchFamily="2" charset="-122"/>
              </a:rPr>
              <a:t>2d-BSFE</a:t>
            </a:r>
            <a:endParaRPr lang="zh-CN" altLang="en-US" sz="900" b="1" kern="0" dirty="0">
              <a:solidFill>
                <a:srgbClr val="1D1D1A"/>
              </a:solidFill>
              <a:latin typeface="等线" panose="02010600030101010101" pitchFamily="2" charset="-122"/>
            </a:endParaRPr>
          </a:p>
        </p:txBody>
      </p:sp>
      <mc:AlternateContent xmlns:mc="http://schemas.openxmlformats.org/markup-compatibility/2006" xmlns:a14="http://schemas.microsoft.com/office/drawing/2010/main">
        <mc:Choice Requires="a14">
          <p:sp>
            <p:nvSpPr>
              <p:cNvPr id="104" name="矩形 103">
                <a:extLst>
                  <a:ext uri="{FF2B5EF4-FFF2-40B4-BE49-F238E27FC236}">
                    <a16:creationId xmlns:a16="http://schemas.microsoft.com/office/drawing/2014/main" id="{0A7A0938-8680-8459-9D5D-52CDE090ED6A}"/>
                  </a:ext>
                </a:extLst>
              </p:cNvPr>
              <p:cNvSpPr/>
              <p:nvPr/>
            </p:nvSpPr>
            <p:spPr>
              <a:xfrm>
                <a:off x="7172262" y="5119084"/>
                <a:ext cx="729039" cy="185385"/>
              </a:xfrm>
              <a:prstGeom prst="rect">
                <a:avLst/>
              </a:prstGeom>
              <a:noFill/>
              <a:ln w="12700" cap="flat" cmpd="sng" algn="ctr">
                <a:no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7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m:t>
                      </m:r>
                    </m:oMath>
                  </m:oMathPara>
                </a14:m>
                <a:endParaRPr kumimoji="0" lang="en-US" altLang="zh-CN" sz="7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Choice>
        <mc:Fallback xmlns="">
          <p:sp>
            <p:nvSpPr>
              <p:cNvPr id="104" name="矩形 103">
                <a:extLst>
                  <a:ext uri="{FF2B5EF4-FFF2-40B4-BE49-F238E27FC236}">
                    <a16:creationId xmlns:a16="http://schemas.microsoft.com/office/drawing/2014/main" id="{0A7A0938-8680-8459-9D5D-52CDE090ED6A}"/>
                  </a:ext>
                </a:extLst>
              </p:cNvPr>
              <p:cNvSpPr>
                <a:spLocks noRot="1" noChangeAspect="1" noMove="1" noResize="1" noEditPoints="1" noAdjustHandles="1" noChangeArrowheads="1" noChangeShapeType="1" noTextEdit="1"/>
              </p:cNvSpPr>
              <p:nvPr/>
            </p:nvSpPr>
            <p:spPr>
              <a:xfrm>
                <a:off x="7172262" y="5119084"/>
                <a:ext cx="729039" cy="185385"/>
              </a:xfrm>
              <a:prstGeom prst="rect">
                <a:avLst/>
              </a:prstGeom>
              <a:blipFill>
                <a:blip r:embed="rId22"/>
                <a:stretch>
                  <a:fillRect/>
                </a:stretch>
              </a:blipFill>
              <a:ln w="12700" cap="flat" cmpd="sng" algn="ctr">
                <a:noFill/>
                <a:prstDash val="solid"/>
                <a:miter lim="800000"/>
              </a:ln>
              <a:effectLst/>
            </p:spPr>
            <p:txBody>
              <a:bodyPr/>
              <a:lstStyle/>
              <a:p>
                <a:r>
                  <a:rPr lang="zh-CN" altLang="en-US">
                    <a:noFill/>
                  </a:rPr>
                  <a:t> </a:t>
                </a:r>
              </a:p>
            </p:txBody>
          </p:sp>
        </mc:Fallback>
      </mc:AlternateContent>
      <p:cxnSp>
        <p:nvCxnSpPr>
          <p:cNvPr id="105" name="直接箭头连接符 104">
            <a:extLst>
              <a:ext uri="{FF2B5EF4-FFF2-40B4-BE49-F238E27FC236}">
                <a16:creationId xmlns:a16="http://schemas.microsoft.com/office/drawing/2014/main" id="{2AA19DB0-AE5C-2E54-E6A8-145B0B0CC457}"/>
              </a:ext>
            </a:extLst>
          </p:cNvPr>
          <p:cNvCxnSpPr>
            <a:cxnSpLocks/>
          </p:cNvCxnSpPr>
          <p:nvPr/>
        </p:nvCxnSpPr>
        <p:spPr>
          <a:xfrm>
            <a:off x="7817629" y="4992320"/>
            <a:ext cx="213741" cy="2"/>
          </a:xfrm>
          <a:prstGeom prst="straightConnector1">
            <a:avLst/>
          </a:prstGeom>
          <a:noFill/>
          <a:ln w="6350" cap="flat" cmpd="sng" algn="ctr">
            <a:solidFill>
              <a:sysClr val="windowText" lastClr="000000"/>
            </a:solidFill>
            <a:prstDash val="solid"/>
            <a:miter lim="800000"/>
            <a:headEnd w="med" len="sm"/>
            <a:tailEnd type="triangle" w="sm" len="med"/>
          </a:ln>
          <a:effectLst/>
        </p:spPr>
      </p:cxnSp>
      <mc:AlternateContent xmlns:mc="http://schemas.openxmlformats.org/markup-compatibility/2006" xmlns:a14="http://schemas.microsoft.com/office/drawing/2010/main">
        <mc:Choice Requires="a14">
          <p:sp>
            <p:nvSpPr>
              <p:cNvPr id="106" name="文本框 105">
                <a:extLst>
                  <a:ext uri="{FF2B5EF4-FFF2-40B4-BE49-F238E27FC236}">
                    <a16:creationId xmlns:a16="http://schemas.microsoft.com/office/drawing/2014/main" id="{F500B474-88A9-7808-B0FF-53030DFAB8E2}"/>
                  </a:ext>
                </a:extLst>
              </p:cNvPr>
              <p:cNvSpPr txBox="1"/>
              <p:nvPr/>
            </p:nvSpPr>
            <p:spPr>
              <a:xfrm>
                <a:off x="6540934" y="5252382"/>
                <a:ext cx="248168" cy="2308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ED6D00"/>
                              </a:solidFill>
                              <a:effectLst/>
                              <a:uLnTx/>
                              <a:uFillTx/>
                              <a:latin typeface="Cambria Math" panose="02040503050406030204" pitchFamily="18" charset="0"/>
                            </a:rPr>
                          </m:ctrlPr>
                        </m:sSubPr>
                        <m:e>
                          <m:r>
                            <a:rPr kumimoji="0" lang="en-US" altLang="zh-CN" sz="900" b="1" i="1" u="none" strike="noStrike" kern="0" cap="none" spc="0" normalizeH="0" baseline="0" noProof="0" dirty="0" smtClean="0">
                              <a:ln>
                                <a:noFill/>
                              </a:ln>
                              <a:solidFill>
                                <a:srgbClr val="ED6D00"/>
                              </a:solidFill>
                              <a:effectLst/>
                              <a:uLnTx/>
                              <a:uFillTx/>
                              <a:latin typeface="Cambria Math" panose="02040503050406030204" pitchFamily="18" charset="0"/>
                            </a:rPr>
                            <m:t>𝒆</m:t>
                          </m:r>
                        </m:e>
                        <m:sub>
                          <m:r>
                            <a:rPr kumimoji="0" lang="en-US" altLang="zh-CN" sz="900" b="1" i="1" u="none" strike="noStrike" kern="0" cap="none" spc="0" normalizeH="0" baseline="0" noProof="0" dirty="0" smtClean="0">
                              <a:ln>
                                <a:noFill/>
                              </a:ln>
                              <a:solidFill>
                                <a:srgbClr val="ED6D00"/>
                              </a:solidFill>
                              <a:effectLst/>
                              <a:uLnTx/>
                              <a:uFillTx/>
                              <a:latin typeface="Cambria Math" panose="02040503050406030204" pitchFamily="18" charset="0"/>
                            </a:rPr>
                            <m:t>𝒍</m:t>
                          </m:r>
                        </m:sub>
                      </m:sSub>
                    </m:oMath>
                  </m:oMathPara>
                </a14:m>
                <a:endParaRPr kumimoji="0" lang="en-US" altLang="zh-CN" sz="900" b="1" i="0" u="none" strike="noStrike" kern="0" cap="none" spc="0" normalizeH="0" baseline="0" noProof="0" dirty="0">
                  <a:ln>
                    <a:noFill/>
                  </a:ln>
                  <a:solidFill>
                    <a:srgbClr val="ED6D00"/>
                  </a:solidFill>
                  <a:effectLst/>
                  <a:uLnTx/>
                  <a:uFillTx/>
                </a:endParaRPr>
              </a:p>
            </p:txBody>
          </p:sp>
        </mc:Choice>
        <mc:Fallback xmlns="">
          <p:sp>
            <p:nvSpPr>
              <p:cNvPr id="106" name="文本框 105">
                <a:extLst>
                  <a:ext uri="{FF2B5EF4-FFF2-40B4-BE49-F238E27FC236}">
                    <a16:creationId xmlns:a16="http://schemas.microsoft.com/office/drawing/2014/main" id="{F500B474-88A9-7808-B0FF-53030DFAB8E2}"/>
                  </a:ext>
                </a:extLst>
              </p:cNvPr>
              <p:cNvSpPr txBox="1">
                <a:spLocks noRot="1" noChangeAspect="1" noMove="1" noResize="1" noEditPoints="1" noAdjustHandles="1" noChangeArrowheads="1" noChangeShapeType="1" noTextEdit="1"/>
              </p:cNvSpPr>
              <p:nvPr/>
            </p:nvSpPr>
            <p:spPr>
              <a:xfrm>
                <a:off x="6540934" y="5252382"/>
                <a:ext cx="248168" cy="230832"/>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E9D96CAB-7A7F-1D60-2A63-F393A1900DA4}"/>
                  </a:ext>
                </a:extLst>
              </p:cNvPr>
              <p:cNvSpPr txBox="1"/>
              <p:nvPr/>
            </p:nvSpPr>
            <p:spPr>
              <a:xfrm>
                <a:off x="8006838" y="5259330"/>
                <a:ext cx="51646" cy="21544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𝑭</m:t>
                          </m:r>
                        </m:e>
                        <m:sub>
                          <m:r>
                            <a:rPr kumimoji="0" lang="en-US" altLang="zh-CN" sz="800" b="1" i="0" u="none" strike="noStrike" kern="0" cap="none" spc="0" normalizeH="0" baseline="0" noProof="0" smtClean="0">
                              <a:ln>
                                <a:noFill/>
                              </a:ln>
                              <a:solidFill>
                                <a:prstClr val="black"/>
                              </a:solidFill>
                              <a:effectLst/>
                              <a:uLnTx/>
                              <a:uFillTx/>
                              <a:latin typeface="Cambria Math" panose="02040503050406030204" pitchFamily="18" charset="0"/>
                            </a:rPr>
                            <m:t>𝐛𝐢𝐭</m:t>
                          </m:r>
                        </m:sub>
                      </m:sSub>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m:t>
                      </m:r>
                      <m:sSub>
                        <m:sSubPr>
                          <m:ctrlP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𝒆</m:t>
                          </m:r>
                        </m:e>
                        <m:sub>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𝒍</m:t>
                          </m:r>
                        </m:sub>
                      </m:sSub>
                      <m:r>
                        <a:rPr kumimoji="0" lang="en-US" altLang="zh-CN" sz="800" b="1" i="1" u="none" strike="noStrike" kern="0" cap="none" spc="0" normalizeH="0" baseline="0" noProof="0" smtClean="0">
                          <a:ln>
                            <a:noFill/>
                          </a:ln>
                          <a:solidFill>
                            <a:prstClr val="black"/>
                          </a:solidFill>
                          <a:effectLst/>
                          <a:uLnTx/>
                          <a:uFillTx/>
                          <a:latin typeface="Cambria Math" panose="02040503050406030204" pitchFamily="18" charset="0"/>
                        </a:rPr>
                        <m:t>)</m:t>
                      </m:r>
                    </m:oMath>
                  </m:oMathPara>
                </a14:m>
                <a:endParaRPr kumimoji="0" lang="en-US" altLang="zh-CN" sz="800" b="1" i="0" u="none" strike="noStrike" kern="0" cap="none" spc="0" normalizeH="0" baseline="0" noProof="0" dirty="0">
                  <a:ln>
                    <a:noFill/>
                  </a:ln>
                  <a:solidFill>
                    <a:prstClr val="black"/>
                  </a:solidFill>
                  <a:effectLst/>
                  <a:uLnTx/>
                  <a:uFillTx/>
                </a:endParaRPr>
              </a:p>
            </p:txBody>
          </p:sp>
        </mc:Choice>
        <mc:Fallback xmlns="">
          <p:sp>
            <p:nvSpPr>
              <p:cNvPr id="107" name="文本框 106">
                <a:extLst>
                  <a:ext uri="{FF2B5EF4-FFF2-40B4-BE49-F238E27FC236}">
                    <a16:creationId xmlns:a16="http://schemas.microsoft.com/office/drawing/2014/main" id="{E9D96CAB-7A7F-1D60-2A63-F393A1900DA4}"/>
                  </a:ext>
                </a:extLst>
              </p:cNvPr>
              <p:cNvSpPr txBox="1">
                <a:spLocks noRot="1" noChangeAspect="1" noMove="1" noResize="1" noEditPoints="1" noAdjustHandles="1" noChangeArrowheads="1" noChangeShapeType="1" noTextEdit="1"/>
              </p:cNvSpPr>
              <p:nvPr/>
            </p:nvSpPr>
            <p:spPr>
              <a:xfrm>
                <a:off x="8006838" y="5259330"/>
                <a:ext cx="51646" cy="215444"/>
              </a:xfrm>
              <a:prstGeom prst="rect">
                <a:avLst/>
              </a:prstGeom>
              <a:blipFill>
                <a:blip r:embed="rId24"/>
                <a:stretch>
                  <a:fillRect l="-11111" r="-666667" b="-2857"/>
                </a:stretch>
              </a:blipFill>
            </p:spPr>
            <p:txBody>
              <a:bodyPr/>
              <a:lstStyle/>
              <a:p>
                <a:r>
                  <a:rPr lang="zh-CN" altLang="en-US">
                    <a:noFill/>
                  </a:rPr>
                  <a:t> </a:t>
                </a:r>
              </a:p>
            </p:txBody>
          </p:sp>
        </mc:Fallback>
      </mc:AlternateContent>
      <p:cxnSp>
        <p:nvCxnSpPr>
          <p:cNvPr id="108" name="直接箭头连接符 107">
            <a:extLst>
              <a:ext uri="{FF2B5EF4-FFF2-40B4-BE49-F238E27FC236}">
                <a16:creationId xmlns:a16="http://schemas.microsoft.com/office/drawing/2014/main" id="{DC836E98-998D-09DD-CF47-D9E81DDD6882}"/>
              </a:ext>
            </a:extLst>
          </p:cNvPr>
          <p:cNvCxnSpPr>
            <a:cxnSpLocks/>
          </p:cNvCxnSpPr>
          <p:nvPr/>
        </p:nvCxnSpPr>
        <p:spPr>
          <a:xfrm>
            <a:off x="6815390" y="5367798"/>
            <a:ext cx="403140" cy="2256"/>
          </a:xfrm>
          <a:prstGeom prst="straightConnector1">
            <a:avLst/>
          </a:prstGeom>
          <a:noFill/>
          <a:ln w="6350" cap="flat" cmpd="sng" algn="ctr">
            <a:solidFill>
              <a:sysClr val="windowText" lastClr="000000"/>
            </a:solidFill>
            <a:prstDash val="solid"/>
            <a:miter lim="800000"/>
            <a:headEnd w="med" len="sm"/>
            <a:tailEnd type="triangle" w="sm" len="med"/>
          </a:ln>
          <a:effectLst/>
        </p:spPr>
      </p:cxnSp>
      <p:sp>
        <p:nvSpPr>
          <p:cNvPr id="109" name="流程图: 过程 108">
            <a:extLst>
              <a:ext uri="{FF2B5EF4-FFF2-40B4-BE49-F238E27FC236}">
                <a16:creationId xmlns:a16="http://schemas.microsoft.com/office/drawing/2014/main" id="{1F4D235D-1DC4-4314-FEFE-5D70810DF302}"/>
              </a:ext>
            </a:extLst>
          </p:cNvPr>
          <p:cNvSpPr/>
          <p:nvPr/>
        </p:nvSpPr>
        <p:spPr>
          <a:xfrm>
            <a:off x="7172262" y="5294477"/>
            <a:ext cx="729039" cy="146642"/>
          </a:xfrm>
          <a:prstGeom prst="flowChartProcess">
            <a:avLst/>
          </a:prstGeom>
          <a:solidFill>
            <a:srgbClr val="30B5C5">
              <a:lumMod val="20000"/>
              <a:lumOff val="80000"/>
            </a:srgbClr>
          </a:solidFill>
          <a:ln w="6350" cap="flat" cmpd="sng" algn="ctr">
            <a:solidFill>
              <a:srgbClr val="30B5C5">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r>
              <a:rPr lang="en-US" altLang="zh-CN" sz="900" b="1" kern="0" dirty="0">
                <a:solidFill>
                  <a:srgbClr val="1D1D1A"/>
                </a:solidFill>
                <a:latin typeface="等线" panose="02010600030101010101" pitchFamily="2" charset="-122"/>
              </a:rPr>
              <a:t>2d-BSFE</a:t>
            </a:r>
            <a:endParaRPr lang="zh-CN" altLang="en-US" sz="900" b="1" kern="0" dirty="0">
              <a:solidFill>
                <a:srgbClr val="1D1D1A"/>
              </a:solidFill>
              <a:latin typeface="等线" panose="02010600030101010101" pitchFamily="2" charset="-122"/>
            </a:endParaRPr>
          </a:p>
        </p:txBody>
      </p:sp>
      <p:cxnSp>
        <p:nvCxnSpPr>
          <p:cNvPr id="110" name="直接箭头连接符 109">
            <a:extLst>
              <a:ext uri="{FF2B5EF4-FFF2-40B4-BE49-F238E27FC236}">
                <a16:creationId xmlns:a16="http://schemas.microsoft.com/office/drawing/2014/main" id="{77D8E52E-A2A0-EBD5-8088-C1F220FD180A}"/>
              </a:ext>
            </a:extLst>
          </p:cNvPr>
          <p:cNvCxnSpPr>
            <a:cxnSpLocks/>
          </p:cNvCxnSpPr>
          <p:nvPr/>
        </p:nvCxnSpPr>
        <p:spPr>
          <a:xfrm>
            <a:off x="7817629" y="5367052"/>
            <a:ext cx="213741" cy="2"/>
          </a:xfrm>
          <a:prstGeom prst="straightConnector1">
            <a:avLst/>
          </a:prstGeom>
          <a:noFill/>
          <a:ln w="6350" cap="flat" cmpd="sng" algn="ctr">
            <a:solidFill>
              <a:sysClr val="windowText" lastClr="000000"/>
            </a:solidFill>
            <a:prstDash val="solid"/>
            <a:miter lim="800000"/>
            <a:headEnd w="med" len="sm"/>
            <a:tailEnd type="triangle" w="sm" len="med"/>
          </a:ln>
          <a:effectLst/>
        </p:spPr>
      </p:cxnSp>
      <mc:AlternateContent xmlns:mc="http://schemas.openxmlformats.org/markup-compatibility/2006" xmlns:a14="http://schemas.microsoft.com/office/drawing/2010/main">
        <mc:Choice Requires="a14">
          <p:sp>
            <p:nvSpPr>
              <p:cNvPr id="111" name="矩形 110">
                <a:extLst>
                  <a:ext uri="{FF2B5EF4-FFF2-40B4-BE49-F238E27FC236}">
                    <a16:creationId xmlns:a16="http://schemas.microsoft.com/office/drawing/2014/main" id="{D16F8B30-1622-B66A-B0BE-9DDEF8656FCE}"/>
                  </a:ext>
                </a:extLst>
              </p:cNvPr>
              <p:cNvSpPr/>
              <p:nvPr/>
            </p:nvSpPr>
            <p:spPr>
              <a:xfrm>
                <a:off x="6773304" y="4841816"/>
                <a:ext cx="506761" cy="185385"/>
              </a:xfrm>
              <a:prstGeom prst="rect">
                <a:avLst/>
              </a:prstGeom>
              <a:noFill/>
              <a:ln w="12700" cap="flat" cmpd="sng" algn="ctr">
                <a:no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𝑩</m:t>
                      </m:r>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m:t>
                      </m:r>
                      <m:sSub>
                        <m:sSubPr>
                          <m:ctrlP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𝒆</m:t>
                          </m:r>
                        </m:e>
                        <m:sub>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𝟐</m:t>
                          </m:r>
                        </m:sub>
                      </m:sSub>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m:t>
                      </m:r>
                    </m:oMath>
                  </m:oMathPara>
                </a14:m>
                <a:endParaRPr kumimoji="0" lang="en-US" altLang="zh-CN" sz="8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Choice>
        <mc:Fallback xmlns="">
          <p:sp>
            <p:nvSpPr>
              <p:cNvPr id="111" name="矩形 110">
                <a:extLst>
                  <a:ext uri="{FF2B5EF4-FFF2-40B4-BE49-F238E27FC236}">
                    <a16:creationId xmlns:a16="http://schemas.microsoft.com/office/drawing/2014/main" id="{D16F8B30-1622-B66A-B0BE-9DDEF8656FCE}"/>
                  </a:ext>
                </a:extLst>
              </p:cNvPr>
              <p:cNvSpPr>
                <a:spLocks noRot="1" noChangeAspect="1" noMove="1" noResize="1" noEditPoints="1" noAdjustHandles="1" noChangeArrowheads="1" noChangeShapeType="1" noTextEdit="1"/>
              </p:cNvSpPr>
              <p:nvPr/>
            </p:nvSpPr>
            <p:spPr>
              <a:xfrm>
                <a:off x="6773304" y="4841816"/>
                <a:ext cx="506761" cy="185385"/>
              </a:xfrm>
              <a:prstGeom prst="rect">
                <a:avLst/>
              </a:prstGeom>
              <a:blipFill>
                <a:blip r:embed="rId25"/>
                <a:stretch>
                  <a:fillRect/>
                </a:stretch>
              </a:blipFill>
              <a:ln w="12700" cap="flat" cmpd="sng" algn="ctr">
                <a:no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矩形 111">
                <a:extLst>
                  <a:ext uri="{FF2B5EF4-FFF2-40B4-BE49-F238E27FC236}">
                    <a16:creationId xmlns:a16="http://schemas.microsoft.com/office/drawing/2014/main" id="{5170A2A7-CAC3-E5FF-DA8A-005B2CB8EE1F}"/>
                  </a:ext>
                </a:extLst>
              </p:cNvPr>
              <p:cNvSpPr/>
              <p:nvPr/>
            </p:nvSpPr>
            <p:spPr>
              <a:xfrm>
                <a:off x="6764400" y="5212360"/>
                <a:ext cx="506761" cy="185385"/>
              </a:xfrm>
              <a:prstGeom prst="rect">
                <a:avLst/>
              </a:prstGeom>
              <a:noFill/>
              <a:ln w="12700" cap="flat" cmpd="sng" algn="ctr">
                <a:no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𝑩</m:t>
                      </m:r>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m:t>
                      </m:r>
                      <m:sSub>
                        <m:sSubPr>
                          <m:ctrlP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𝒆</m:t>
                          </m:r>
                        </m:e>
                        <m:sub>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𝒍</m:t>
                          </m:r>
                        </m:sub>
                      </m:sSub>
                      <m:r>
                        <a:rPr kumimoji="0" lang="en-US" altLang="zh-CN" sz="8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m:t>
                      </m:r>
                    </m:oMath>
                  </m:oMathPara>
                </a14:m>
                <a:endParaRPr kumimoji="0" lang="en-US" altLang="zh-CN" sz="8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Choice>
        <mc:Fallback xmlns="">
          <p:sp>
            <p:nvSpPr>
              <p:cNvPr id="112" name="矩形 111">
                <a:extLst>
                  <a:ext uri="{FF2B5EF4-FFF2-40B4-BE49-F238E27FC236}">
                    <a16:creationId xmlns:a16="http://schemas.microsoft.com/office/drawing/2014/main" id="{5170A2A7-CAC3-E5FF-DA8A-005B2CB8EE1F}"/>
                  </a:ext>
                </a:extLst>
              </p:cNvPr>
              <p:cNvSpPr>
                <a:spLocks noRot="1" noChangeAspect="1" noMove="1" noResize="1" noEditPoints="1" noAdjustHandles="1" noChangeArrowheads="1" noChangeShapeType="1" noTextEdit="1"/>
              </p:cNvSpPr>
              <p:nvPr/>
            </p:nvSpPr>
            <p:spPr>
              <a:xfrm>
                <a:off x="6764400" y="5212360"/>
                <a:ext cx="506761" cy="185385"/>
              </a:xfrm>
              <a:prstGeom prst="rect">
                <a:avLst/>
              </a:prstGeom>
              <a:blipFill>
                <a:blip r:embed="rId26"/>
                <a:stretch>
                  <a:fillRect/>
                </a:stretch>
              </a:blipFill>
              <a:ln w="12700" cap="flat" cmpd="sng" algn="ctr">
                <a:noFill/>
                <a:prstDash val="solid"/>
                <a:miter lim="800000"/>
              </a:ln>
              <a:effectLst/>
            </p:spPr>
            <p:txBody>
              <a:bodyPr/>
              <a:lstStyle/>
              <a:p>
                <a:r>
                  <a:rPr lang="zh-CN" altLang="en-US">
                    <a:noFill/>
                  </a:rPr>
                  <a:t> </a:t>
                </a:r>
              </a:p>
            </p:txBody>
          </p:sp>
        </mc:Fallback>
      </mc:AlternateContent>
      <p:sp>
        <p:nvSpPr>
          <p:cNvPr id="113" name="矩形 112">
            <a:extLst>
              <a:ext uri="{FF2B5EF4-FFF2-40B4-BE49-F238E27FC236}">
                <a16:creationId xmlns:a16="http://schemas.microsoft.com/office/drawing/2014/main" id="{43AFB22B-42AB-44A1-4330-EE5FD003B21C}"/>
              </a:ext>
            </a:extLst>
          </p:cNvPr>
          <p:cNvSpPr/>
          <p:nvPr/>
        </p:nvSpPr>
        <p:spPr>
          <a:xfrm>
            <a:off x="6572758" y="4632496"/>
            <a:ext cx="264028" cy="857387"/>
          </a:xfrm>
          <a:prstGeom prst="rect">
            <a:avLst/>
          </a:prstGeom>
          <a:noFill/>
          <a:ln w="12700" cap="flat" cmpd="sng" algn="ctr">
            <a:solidFill>
              <a:srgbClr val="75BD42">
                <a:lumMod val="75000"/>
              </a:srgbClr>
            </a:solidFill>
            <a:prstDash val="dash"/>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4" name="矩形 113">
                <a:extLst>
                  <a:ext uri="{FF2B5EF4-FFF2-40B4-BE49-F238E27FC236}">
                    <a16:creationId xmlns:a16="http://schemas.microsoft.com/office/drawing/2014/main" id="{C8A4B1EE-35B2-B6AC-8D4B-311534090ABE}"/>
                  </a:ext>
                </a:extLst>
              </p:cNvPr>
              <p:cNvSpPr/>
              <p:nvPr/>
            </p:nvSpPr>
            <p:spPr>
              <a:xfrm>
                <a:off x="6586119" y="5119084"/>
                <a:ext cx="260306" cy="185385"/>
              </a:xfrm>
              <a:prstGeom prst="rect">
                <a:avLst/>
              </a:prstGeom>
              <a:noFill/>
              <a:ln w="12700" cap="flat" cmpd="sng" algn="ctr">
                <a:no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lang="en-US" altLang="zh-CN" sz="7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m:t>
                      </m:r>
                    </m:oMath>
                  </m:oMathPara>
                </a14:m>
                <a:endParaRPr kumimoji="0" lang="en-US" altLang="zh-CN" sz="7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Choice>
        <mc:Fallback xmlns="">
          <p:sp>
            <p:nvSpPr>
              <p:cNvPr id="114" name="矩形 113">
                <a:extLst>
                  <a:ext uri="{FF2B5EF4-FFF2-40B4-BE49-F238E27FC236}">
                    <a16:creationId xmlns:a16="http://schemas.microsoft.com/office/drawing/2014/main" id="{C8A4B1EE-35B2-B6AC-8D4B-311534090ABE}"/>
                  </a:ext>
                </a:extLst>
              </p:cNvPr>
              <p:cNvSpPr>
                <a:spLocks noRot="1" noChangeAspect="1" noMove="1" noResize="1" noEditPoints="1" noAdjustHandles="1" noChangeArrowheads="1" noChangeShapeType="1" noTextEdit="1"/>
              </p:cNvSpPr>
              <p:nvPr/>
            </p:nvSpPr>
            <p:spPr>
              <a:xfrm>
                <a:off x="6586119" y="5119084"/>
                <a:ext cx="260306" cy="185385"/>
              </a:xfrm>
              <a:prstGeom prst="rect">
                <a:avLst/>
              </a:prstGeom>
              <a:blipFill>
                <a:blip r:embed="rId27"/>
                <a:stretch>
                  <a:fillRect/>
                </a:stretch>
              </a:blipFill>
              <a:ln w="12700" cap="flat" cmpd="sng" algn="ctr">
                <a:noFill/>
                <a:prstDash val="solid"/>
                <a:miter lim="800000"/>
              </a:ln>
              <a:effectLst/>
            </p:spPr>
            <p:txBody>
              <a:bodyPr/>
              <a:lstStyle/>
              <a:p>
                <a:r>
                  <a:rPr lang="zh-CN" altLang="en-US">
                    <a:noFill/>
                  </a:rPr>
                  <a:t> </a:t>
                </a:r>
              </a:p>
            </p:txBody>
          </p:sp>
        </mc:Fallback>
      </mc:AlternateContent>
      <p:sp>
        <p:nvSpPr>
          <p:cNvPr id="115" name="流程图: 过程 114">
            <a:extLst>
              <a:ext uri="{FF2B5EF4-FFF2-40B4-BE49-F238E27FC236}">
                <a16:creationId xmlns:a16="http://schemas.microsoft.com/office/drawing/2014/main" id="{5B313F89-C552-FB8A-17B5-DE905B6E86BA}"/>
              </a:ext>
            </a:extLst>
          </p:cNvPr>
          <p:cNvSpPr/>
          <p:nvPr/>
        </p:nvSpPr>
        <p:spPr>
          <a:xfrm>
            <a:off x="7314310" y="5713351"/>
            <a:ext cx="729039" cy="146642"/>
          </a:xfrm>
          <a:prstGeom prst="flowChartProcess">
            <a:avLst/>
          </a:prstGeom>
          <a:solidFill>
            <a:srgbClr val="75BD42">
              <a:lumMod val="20000"/>
              <a:lumOff val="80000"/>
            </a:srgbClr>
          </a:solidFill>
          <a:ln w="6350" cap="flat" cmpd="sng" algn="ctr">
            <a:solidFill>
              <a:srgbClr val="75BD42">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solidFill>
                  <a:srgbClr val="1D1D1A"/>
                </a:solidFill>
                <a:effectLst/>
                <a:uLnTx/>
                <a:uFillTx/>
                <a:latin typeface="等线" panose="02010600030101010101" pitchFamily="2" charset="-122"/>
              </a:rPr>
              <a:t>2d-BSFE</a:t>
            </a:r>
            <a:endParaRPr kumimoji="0" lang="zh-CN" altLang="en-US" sz="900" b="1" i="0" u="none" strike="noStrike" kern="0" cap="none" spc="0" normalizeH="0" baseline="0" noProof="0" dirty="0">
              <a:ln>
                <a:noFill/>
              </a:ln>
              <a:solidFill>
                <a:srgbClr val="1D1D1A"/>
              </a:solidFill>
              <a:effectLst/>
              <a:uLnTx/>
              <a:uFillTx/>
              <a:latin typeface="等线" panose="02010600030101010101" pitchFamily="2" charset="-122"/>
            </a:endParaRPr>
          </a:p>
        </p:txBody>
      </p:sp>
      <mc:AlternateContent xmlns:mc="http://schemas.openxmlformats.org/markup-compatibility/2006" xmlns:a14="http://schemas.microsoft.com/office/drawing/2010/main">
        <mc:Choice Requires="a14">
          <p:sp>
            <p:nvSpPr>
              <p:cNvPr id="116" name="矩形 115">
                <a:extLst>
                  <a:ext uri="{FF2B5EF4-FFF2-40B4-BE49-F238E27FC236}">
                    <a16:creationId xmlns:a16="http://schemas.microsoft.com/office/drawing/2014/main" id="{EC56C6F3-8D81-E56D-BBE4-A3C324784E40}"/>
                  </a:ext>
                </a:extLst>
              </p:cNvPr>
              <p:cNvSpPr/>
              <p:nvPr/>
            </p:nvSpPr>
            <p:spPr>
              <a:xfrm>
                <a:off x="6711915" y="5624148"/>
                <a:ext cx="506761" cy="185385"/>
              </a:xfrm>
              <a:prstGeom prst="rect">
                <a:avLst/>
              </a:prstGeom>
              <a:noFill/>
              <a:ln w="12700" cap="flat" cmpd="sng" algn="ctr">
                <a:no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endParaRPr kumimoji="0" lang="en-US" altLang="zh-CN" sz="900" b="1" i="1" u="none" strike="noStrike" kern="0" cap="none" spc="0" normalizeH="0" baseline="0" noProof="0" dirty="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20000"/>
                  </a:lnSpc>
                  <a:spcBef>
                    <a:spcPts val="0"/>
                  </a:spcBef>
                  <a:spcAft>
                    <a:spcPts val="0"/>
                  </a:spcAft>
                  <a:buClrTx/>
                  <a:buSzTx/>
                  <a:buFontTx/>
                  <a:buNone/>
                  <a:tabLst/>
                  <a:defRPr/>
                </a:pPr>
                <a:endParaRPr kumimoji="0" lang="en-US" altLang="zh-CN" sz="900" b="1" i="1" u="none" strike="noStrike" kern="0" cap="none" spc="0" normalizeH="0" baseline="0" noProof="0" dirty="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2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CN" sz="9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ctrlPr>
                        </m:sSubSupPr>
                        <m:e>
                          <m:r>
                            <a:rPr kumimoji="0" lang="en-US" altLang="zh-CN" sz="9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𝑴</m:t>
                          </m:r>
                        </m:e>
                        <m:sub>
                          <m:r>
                            <a:rPr kumimoji="0" lang="en-US" altLang="zh-CN" sz="9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𝒃</m:t>
                          </m:r>
                        </m:sub>
                        <m:sup>
                          <m:r>
                            <a:rPr kumimoji="0" lang="en-US" altLang="zh-CN" sz="900" b="1" i="1" u="none" strike="noStrike" kern="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𝒂𝒈𝒈</m:t>
                          </m:r>
                        </m:sup>
                      </m:sSubSup>
                    </m:oMath>
                  </m:oMathPara>
                </a14:m>
                <a:endParaRPr kumimoji="0" lang="en-US" altLang="zh-CN" sz="9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Choice>
        <mc:Fallback xmlns="">
          <p:sp>
            <p:nvSpPr>
              <p:cNvPr id="116" name="矩形 115">
                <a:extLst>
                  <a:ext uri="{FF2B5EF4-FFF2-40B4-BE49-F238E27FC236}">
                    <a16:creationId xmlns:a16="http://schemas.microsoft.com/office/drawing/2014/main" id="{EC56C6F3-8D81-E56D-BBE4-A3C324784E40}"/>
                  </a:ext>
                </a:extLst>
              </p:cNvPr>
              <p:cNvSpPr>
                <a:spLocks noRot="1" noChangeAspect="1" noMove="1" noResize="1" noEditPoints="1" noAdjustHandles="1" noChangeArrowheads="1" noChangeShapeType="1" noTextEdit="1"/>
              </p:cNvSpPr>
              <p:nvPr/>
            </p:nvSpPr>
            <p:spPr>
              <a:xfrm>
                <a:off x="6711915" y="5624148"/>
                <a:ext cx="506761" cy="185385"/>
              </a:xfrm>
              <a:prstGeom prst="rect">
                <a:avLst/>
              </a:prstGeom>
              <a:blipFill>
                <a:blip r:embed="rId28"/>
                <a:stretch>
                  <a:fillRect t="-16667"/>
                </a:stretch>
              </a:blipFill>
              <a:ln w="12700" cap="flat" cmpd="sng" algn="ctr">
                <a:noFill/>
                <a:prstDash val="solid"/>
                <a:miter lim="800000"/>
              </a:ln>
              <a:effectLst/>
            </p:spPr>
            <p:txBody>
              <a:bodyPr/>
              <a:lstStyle/>
              <a:p>
                <a:r>
                  <a:rPr lang="zh-CN" altLang="en-US">
                    <a:noFill/>
                  </a:rPr>
                  <a:t> </a:t>
                </a:r>
              </a:p>
            </p:txBody>
          </p:sp>
        </mc:Fallback>
      </mc:AlternateContent>
      <p:cxnSp>
        <p:nvCxnSpPr>
          <p:cNvPr id="117" name="直接连接符 116">
            <a:extLst>
              <a:ext uri="{FF2B5EF4-FFF2-40B4-BE49-F238E27FC236}">
                <a16:creationId xmlns:a16="http://schemas.microsoft.com/office/drawing/2014/main" id="{FDF8D5A0-65B8-C7DC-3EF8-DBFD00F254EC}"/>
              </a:ext>
            </a:extLst>
          </p:cNvPr>
          <p:cNvCxnSpPr>
            <a:cxnSpLocks/>
          </p:cNvCxnSpPr>
          <p:nvPr/>
        </p:nvCxnSpPr>
        <p:spPr>
          <a:xfrm flipH="1">
            <a:off x="6635426" y="5489881"/>
            <a:ext cx="23448" cy="319652"/>
          </a:xfrm>
          <a:prstGeom prst="line">
            <a:avLst/>
          </a:prstGeom>
          <a:noFill/>
          <a:ln w="9525" cap="flat" cmpd="sng" algn="ctr">
            <a:solidFill>
              <a:srgbClr val="75BD42">
                <a:lumMod val="75000"/>
              </a:srgbClr>
            </a:solidFill>
            <a:prstDash val="solid"/>
            <a:miter lim="800000"/>
          </a:ln>
          <a:effectLst/>
        </p:spPr>
      </p:cxnSp>
      <mc:AlternateContent xmlns:mc="http://schemas.openxmlformats.org/markup-compatibility/2006" xmlns:a14="http://schemas.microsoft.com/office/drawing/2010/main">
        <mc:Choice Requires="a14">
          <p:sp>
            <p:nvSpPr>
              <p:cNvPr id="118" name="矩形 117">
                <a:extLst>
                  <a:ext uri="{FF2B5EF4-FFF2-40B4-BE49-F238E27FC236}">
                    <a16:creationId xmlns:a16="http://schemas.microsoft.com/office/drawing/2014/main" id="{FA0E1940-E201-72D5-1527-C4895F893770}"/>
                  </a:ext>
                </a:extLst>
              </p:cNvPr>
              <p:cNvSpPr/>
              <p:nvPr/>
            </p:nvSpPr>
            <p:spPr>
              <a:xfrm>
                <a:off x="6409892" y="5923581"/>
                <a:ext cx="877835" cy="185385"/>
              </a:xfrm>
              <a:prstGeom prst="rect">
                <a:avLst/>
              </a:prstGeom>
              <a:noFill/>
              <a:ln w="12700" cap="flat" cmpd="sng" algn="ctr">
                <a:noFill/>
                <a:prstDash val="solid"/>
                <a:miter lim="800000"/>
              </a:ln>
              <a:effectLst/>
            </p:spPr>
            <p:txBody>
              <a:bodyPr wrap="square" rtlCol="0" anchor="b">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srgbClr val="75BD42">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rPr>
                  <a:t>In the same bank </a:t>
                </a:r>
                <a14:m>
                  <m:oMath xmlns:m="http://schemas.openxmlformats.org/officeDocument/2006/math">
                    <m:r>
                      <a:rPr kumimoji="0" lang="en-US" altLang="zh-CN" sz="800" b="1" i="1" u="none" strike="noStrike" kern="0" cap="none" spc="0" normalizeH="0" baseline="0" noProof="0" dirty="0" smtClean="0">
                        <a:ln>
                          <a:noFill/>
                        </a:ln>
                        <a:solidFill>
                          <a:srgbClr val="75BD42">
                            <a:lumMod val="75000"/>
                          </a:srgbClr>
                        </a:solidFill>
                        <a:effectLst/>
                        <a:uLnTx/>
                        <a:uFillTx/>
                        <a:latin typeface="Cambria Math" panose="02040503050406030204" pitchFamily="18" charset="0"/>
                        <a:cs typeface="Times New Roman" panose="02020603050405020304" pitchFamily="18" charset="0"/>
                      </a:rPr>
                      <m:t>𝒃</m:t>
                    </m:r>
                  </m:oMath>
                </a14:m>
                <a:endParaRPr kumimoji="0" lang="en-US" altLang="zh-CN" sz="800" b="1" i="0" u="none" strike="noStrike" kern="0" cap="none" spc="0" normalizeH="0" baseline="0" noProof="0" dirty="0">
                  <a:ln>
                    <a:noFill/>
                  </a:ln>
                  <a:solidFill>
                    <a:srgbClr val="75BD42">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Choice>
        <mc:Fallback xmlns="">
          <p:sp>
            <p:nvSpPr>
              <p:cNvPr id="118" name="矩形 117">
                <a:extLst>
                  <a:ext uri="{FF2B5EF4-FFF2-40B4-BE49-F238E27FC236}">
                    <a16:creationId xmlns:a16="http://schemas.microsoft.com/office/drawing/2014/main" id="{FA0E1940-E201-72D5-1527-C4895F893770}"/>
                  </a:ext>
                </a:extLst>
              </p:cNvPr>
              <p:cNvSpPr>
                <a:spLocks noRot="1" noChangeAspect="1" noMove="1" noResize="1" noEditPoints="1" noAdjustHandles="1" noChangeArrowheads="1" noChangeShapeType="1" noTextEdit="1"/>
              </p:cNvSpPr>
              <p:nvPr/>
            </p:nvSpPr>
            <p:spPr>
              <a:xfrm>
                <a:off x="6409892" y="5923581"/>
                <a:ext cx="877835" cy="185385"/>
              </a:xfrm>
              <a:prstGeom prst="rect">
                <a:avLst/>
              </a:prstGeom>
              <a:blipFill>
                <a:blip r:embed="rId29"/>
                <a:stretch>
                  <a:fillRect t="-76667" b="-10000"/>
                </a:stretch>
              </a:blipFill>
              <a:ln w="12700" cap="flat" cmpd="sng" algn="ctr">
                <a:no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9" name="流程图: 过程 118">
                <a:extLst>
                  <a:ext uri="{FF2B5EF4-FFF2-40B4-BE49-F238E27FC236}">
                    <a16:creationId xmlns:a16="http://schemas.microsoft.com/office/drawing/2014/main" id="{52A4CDD5-FEC3-FB0B-8C1E-CC7971BD3469}"/>
                  </a:ext>
                </a:extLst>
              </p:cNvPr>
              <p:cNvSpPr/>
              <p:nvPr/>
            </p:nvSpPr>
            <p:spPr>
              <a:xfrm>
                <a:off x="8653408" y="4646127"/>
                <a:ext cx="729039" cy="794992"/>
              </a:xfrm>
              <a:prstGeom prst="flowChartProcess">
                <a:avLst/>
              </a:prstGeom>
              <a:solidFill>
                <a:srgbClr val="30B5C5">
                  <a:lumMod val="20000"/>
                  <a:lumOff val="80000"/>
                </a:srgbClr>
              </a:solidFill>
              <a:ln w="6350" cap="flat" cmpd="sng" algn="ctr">
                <a:solidFill>
                  <a:srgbClr val="30B5C5">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r>
                  <a:rPr lang="en-US" altLang="zh-CN" sz="900" b="1" kern="0" dirty="0">
                    <a:solidFill>
                      <a:srgbClr val="1D1D1A"/>
                    </a:solidFill>
                    <a:latin typeface="等线" panose="02010600030101010101" pitchFamily="2" charset="-122"/>
                  </a:rPr>
                  <a:t>Pooling</a:t>
                </a:r>
              </a:p>
              <a:p>
                <a:pPr algn="just" defTabSz="914400">
                  <a:defRPr/>
                </a:pPr>
                <a14:m>
                  <m:oMathPara xmlns:m="http://schemas.openxmlformats.org/officeDocument/2006/math">
                    <m:oMathParaPr>
                      <m:jc m:val="centerGroup"/>
                    </m:oMathParaPr>
                    <m:oMath xmlns:m="http://schemas.openxmlformats.org/officeDocument/2006/math">
                      <m:r>
                        <m:rPr>
                          <m:sty m:val="p"/>
                        </m:rPr>
                        <a:rPr lang="en-US" altLang="zh-CN" sz="800" kern="0" dirty="0" smtClean="0">
                          <a:solidFill>
                            <a:srgbClr val="1D1D1A"/>
                          </a:solidFill>
                          <a:latin typeface="Cambria Math" panose="02040503050406030204" pitchFamily="18" charset="0"/>
                        </a:rPr>
                        <m:t>max</m:t>
                      </m:r>
                      <m:d>
                        <m:dPr>
                          <m:ctrlPr>
                            <a:rPr lang="en-US" altLang="zh-CN" sz="800" i="1" kern="0" dirty="0" smtClean="0">
                              <a:solidFill>
                                <a:srgbClr val="1D1D1A"/>
                              </a:solidFill>
                              <a:latin typeface="Cambria Math" panose="02040503050406030204" pitchFamily="18" charset="0"/>
                            </a:rPr>
                          </m:ctrlPr>
                        </m:dPr>
                        <m:e>
                          <m:r>
                            <a:rPr lang="en-US" altLang="zh-CN" sz="800" kern="0" dirty="0" smtClean="0">
                              <a:solidFill>
                                <a:srgbClr val="1D1D1A"/>
                              </a:solidFill>
                              <a:latin typeface="Cambria Math" panose="02040503050406030204" pitchFamily="18" charset="0"/>
                            </a:rPr>
                            <m:t>⋯</m:t>
                          </m:r>
                        </m:e>
                      </m:d>
                    </m:oMath>
                  </m:oMathPara>
                </a14:m>
                <a:endParaRPr lang="en-US" altLang="zh-CN" sz="800" kern="0" dirty="0">
                  <a:solidFill>
                    <a:srgbClr val="1D1D1A"/>
                  </a:solidFill>
                  <a:latin typeface="等线" panose="02010600030101010101" pitchFamily="2" charset="-122"/>
                </a:endParaRPr>
              </a:p>
              <a:p>
                <a:pPr algn="just" defTabSz="914400">
                  <a:defRPr/>
                </a:pPr>
                <a14:m>
                  <m:oMathPara xmlns:m="http://schemas.openxmlformats.org/officeDocument/2006/math">
                    <m:oMathParaPr>
                      <m:jc m:val="centerGroup"/>
                    </m:oMathParaPr>
                    <m:oMath xmlns:m="http://schemas.openxmlformats.org/officeDocument/2006/math">
                      <m:r>
                        <m:rPr>
                          <m:sty m:val="p"/>
                        </m:rPr>
                        <a:rPr lang="en-US" altLang="zh-CN" sz="800" kern="0" dirty="0" smtClean="0">
                          <a:solidFill>
                            <a:srgbClr val="1D1D1A"/>
                          </a:solidFill>
                          <a:latin typeface="Cambria Math" panose="02040503050406030204" pitchFamily="18" charset="0"/>
                        </a:rPr>
                        <m:t>sum</m:t>
                      </m:r>
                      <m:r>
                        <a:rPr lang="en-US" altLang="zh-CN" sz="800" kern="0" dirty="0" smtClean="0">
                          <a:solidFill>
                            <a:srgbClr val="1D1D1A"/>
                          </a:solidFill>
                          <a:latin typeface="Cambria Math" panose="02040503050406030204" pitchFamily="18" charset="0"/>
                        </a:rPr>
                        <m:t>(⋯)</m:t>
                      </m:r>
                    </m:oMath>
                  </m:oMathPara>
                </a14:m>
                <a:endParaRPr lang="en-US" altLang="zh-CN" sz="800" kern="0" dirty="0">
                  <a:solidFill>
                    <a:srgbClr val="1D1D1A"/>
                  </a:solidFill>
                  <a:latin typeface="等线" panose="02010600030101010101" pitchFamily="2" charset="-122"/>
                </a:endParaRPr>
              </a:p>
              <a:p>
                <a:pPr algn="just" defTabSz="914400">
                  <a:defRPr/>
                </a:pPr>
                <a14:m>
                  <m:oMathPara xmlns:m="http://schemas.openxmlformats.org/officeDocument/2006/math">
                    <m:oMathParaPr>
                      <m:jc m:val="centerGroup"/>
                    </m:oMathParaPr>
                    <m:oMath xmlns:m="http://schemas.openxmlformats.org/officeDocument/2006/math">
                      <m:r>
                        <m:rPr>
                          <m:sty m:val="p"/>
                        </m:rPr>
                        <a:rPr lang="en-US" altLang="zh-CN" sz="800" kern="0" dirty="0" smtClean="0">
                          <a:solidFill>
                            <a:srgbClr val="1D1D1A"/>
                          </a:solidFill>
                          <a:latin typeface="Cambria Math" panose="02040503050406030204" pitchFamily="18" charset="0"/>
                        </a:rPr>
                        <m:t>avg</m:t>
                      </m:r>
                      <m:r>
                        <a:rPr lang="en-US" altLang="zh-CN" sz="800" kern="0" dirty="0" smtClean="0">
                          <a:solidFill>
                            <a:srgbClr val="1D1D1A"/>
                          </a:solidFill>
                          <a:latin typeface="Cambria Math" panose="02040503050406030204" pitchFamily="18" charset="0"/>
                        </a:rPr>
                        <m:t>(⋯)</m:t>
                      </m:r>
                    </m:oMath>
                  </m:oMathPara>
                </a14:m>
                <a:endParaRPr lang="en-US" altLang="zh-CN" sz="800" kern="0" dirty="0">
                  <a:solidFill>
                    <a:srgbClr val="1D1D1A"/>
                  </a:solidFill>
                  <a:latin typeface="等线" panose="02010600030101010101" pitchFamily="2" charset="-122"/>
                </a:endParaRPr>
              </a:p>
              <a:p>
                <a:pPr algn="just" defTabSz="914400">
                  <a:defRPr/>
                </a:pPr>
                <a14:m>
                  <m:oMathPara xmlns:m="http://schemas.openxmlformats.org/officeDocument/2006/math">
                    <m:oMathParaPr>
                      <m:jc m:val="centerGroup"/>
                    </m:oMathParaPr>
                    <m:oMath xmlns:m="http://schemas.openxmlformats.org/officeDocument/2006/math">
                      <m:r>
                        <a:rPr lang="en-US" altLang="zh-CN" sz="800" kern="0" dirty="0" smtClean="0">
                          <a:solidFill>
                            <a:srgbClr val="1D1D1A"/>
                          </a:solidFill>
                          <a:latin typeface="Cambria Math" panose="02040503050406030204" pitchFamily="18" charset="0"/>
                        </a:rPr>
                        <m:t>⋯</m:t>
                      </m:r>
                    </m:oMath>
                  </m:oMathPara>
                </a14:m>
                <a:endParaRPr lang="zh-CN" altLang="en-US" sz="800" kern="0" dirty="0">
                  <a:solidFill>
                    <a:srgbClr val="1D1D1A"/>
                  </a:solidFill>
                  <a:latin typeface="等线" panose="02010600030101010101" pitchFamily="2" charset="-122"/>
                </a:endParaRPr>
              </a:p>
            </p:txBody>
          </p:sp>
        </mc:Choice>
        <mc:Fallback xmlns="">
          <p:sp>
            <p:nvSpPr>
              <p:cNvPr id="119" name="流程图: 过程 118">
                <a:extLst>
                  <a:ext uri="{FF2B5EF4-FFF2-40B4-BE49-F238E27FC236}">
                    <a16:creationId xmlns:a16="http://schemas.microsoft.com/office/drawing/2014/main" id="{52A4CDD5-FEC3-FB0B-8C1E-CC7971BD3469}"/>
                  </a:ext>
                </a:extLst>
              </p:cNvPr>
              <p:cNvSpPr>
                <a:spLocks noRot="1" noChangeAspect="1" noMove="1" noResize="1" noEditPoints="1" noAdjustHandles="1" noChangeArrowheads="1" noChangeShapeType="1" noTextEdit="1"/>
              </p:cNvSpPr>
              <p:nvPr/>
            </p:nvSpPr>
            <p:spPr>
              <a:xfrm>
                <a:off x="8653408" y="4646127"/>
                <a:ext cx="729039" cy="794992"/>
              </a:xfrm>
              <a:prstGeom prst="flowChartProcess">
                <a:avLst/>
              </a:prstGeom>
              <a:blipFill>
                <a:blip r:embed="rId30"/>
                <a:stretch>
                  <a:fillRect/>
                </a:stretch>
              </a:blipFill>
              <a:ln w="6350" cap="flat" cmpd="sng" algn="ctr">
                <a:solidFill>
                  <a:srgbClr val="30B5C5">
                    <a:lumMod val="75000"/>
                  </a:srgbClr>
                </a:solidFill>
                <a:prstDash val="solid"/>
                <a:miter lim="800000"/>
              </a:ln>
              <a:effectLst/>
            </p:spPr>
            <p:txBody>
              <a:bodyPr/>
              <a:lstStyle/>
              <a:p>
                <a:r>
                  <a:rPr lang="zh-CN" altLang="en-US">
                    <a:noFill/>
                  </a:rPr>
                  <a:t> </a:t>
                </a:r>
              </a:p>
            </p:txBody>
          </p:sp>
        </mc:Fallback>
      </mc:AlternateContent>
      <p:cxnSp>
        <p:nvCxnSpPr>
          <p:cNvPr id="120" name="直接箭头连接符 119">
            <a:extLst>
              <a:ext uri="{FF2B5EF4-FFF2-40B4-BE49-F238E27FC236}">
                <a16:creationId xmlns:a16="http://schemas.microsoft.com/office/drawing/2014/main" id="{A2AF8874-2C42-0188-C193-798436C471F2}"/>
              </a:ext>
            </a:extLst>
          </p:cNvPr>
          <p:cNvCxnSpPr>
            <a:cxnSpLocks/>
          </p:cNvCxnSpPr>
          <p:nvPr/>
        </p:nvCxnSpPr>
        <p:spPr>
          <a:xfrm>
            <a:off x="8395081" y="4753833"/>
            <a:ext cx="213741" cy="2"/>
          </a:xfrm>
          <a:prstGeom prst="straightConnector1">
            <a:avLst/>
          </a:prstGeom>
          <a:noFill/>
          <a:ln w="6350" cap="flat" cmpd="sng" algn="ctr">
            <a:solidFill>
              <a:sysClr val="windowText" lastClr="000000"/>
            </a:solidFill>
            <a:prstDash val="solid"/>
            <a:miter lim="800000"/>
            <a:headEnd w="med" len="sm"/>
            <a:tailEnd type="triangle" w="sm" len="med"/>
          </a:ln>
          <a:effectLst/>
        </p:spPr>
      </p:cxnSp>
      <p:cxnSp>
        <p:nvCxnSpPr>
          <p:cNvPr id="121" name="直接箭头连接符 120">
            <a:extLst>
              <a:ext uri="{FF2B5EF4-FFF2-40B4-BE49-F238E27FC236}">
                <a16:creationId xmlns:a16="http://schemas.microsoft.com/office/drawing/2014/main" id="{39256B3B-9865-C694-6CDA-21DFA927DC14}"/>
              </a:ext>
            </a:extLst>
          </p:cNvPr>
          <p:cNvCxnSpPr>
            <a:cxnSpLocks/>
          </p:cNvCxnSpPr>
          <p:nvPr/>
        </p:nvCxnSpPr>
        <p:spPr>
          <a:xfrm>
            <a:off x="8395081" y="4992319"/>
            <a:ext cx="213741" cy="2"/>
          </a:xfrm>
          <a:prstGeom prst="straightConnector1">
            <a:avLst/>
          </a:prstGeom>
          <a:noFill/>
          <a:ln w="6350" cap="flat" cmpd="sng" algn="ctr">
            <a:solidFill>
              <a:sysClr val="windowText" lastClr="000000"/>
            </a:solidFill>
            <a:prstDash val="solid"/>
            <a:miter lim="800000"/>
            <a:headEnd w="med" len="sm"/>
            <a:tailEnd type="triangle" w="sm" len="med"/>
          </a:ln>
          <a:effectLst/>
        </p:spPr>
      </p:cxnSp>
      <p:cxnSp>
        <p:nvCxnSpPr>
          <p:cNvPr id="122" name="直接箭头连接符 121">
            <a:extLst>
              <a:ext uri="{FF2B5EF4-FFF2-40B4-BE49-F238E27FC236}">
                <a16:creationId xmlns:a16="http://schemas.microsoft.com/office/drawing/2014/main" id="{14DA940A-FF15-7F0D-07BA-60445708423A}"/>
              </a:ext>
            </a:extLst>
          </p:cNvPr>
          <p:cNvCxnSpPr>
            <a:cxnSpLocks/>
          </p:cNvCxnSpPr>
          <p:nvPr/>
        </p:nvCxnSpPr>
        <p:spPr>
          <a:xfrm>
            <a:off x="8395081" y="5367051"/>
            <a:ext cx="213741" cy="2"/>
          </a:xfrm>
          <a:prstGeom prst="straightConnector1">
            <a:avLst/>
          </a:prstGeom>
          <a:noFill/>
          <a:ln w="6350" cap="flat" cmpd="sng" algn="ctr">
            <a:solidFill>
              <a:sysClr val="windowText" lastClr="000000"/>
            </a:solidFill>
            <a:prstDash val="solid"/>
            <a:miter lim="800000"/>
            <a:headEnd w="med" len="sm"/>
            <a:tailEnd type="triangle" w="sm" len="med"/>
          </a:ln>
          <a:effectLst/>
        </p:spPr>
      </p:cxnSp>
      <p:cxnSp>
        <p:nvCxnSpPr>
          <p:cNvPr id="123" name="直接箭头连接符 122">
            <a:extLst>
              <a:ext uri="{FF2B5EF4-FFF2-40B4-BE49-F238E27FC236}">
                <a16:creationId xmlns:a16="http://schemas.microsoft.com/office/drawing/2014/main" id="{4189FFE5-EDBF-EBF7-F860-A6573C4482CD}"/>
              </a:ext>
            </a:extLst>
          </p:cNvPr>
          <p:cNvCxnSpPr>
            <a:cxnSpLocks/>
            <a:stCxn id="119" idx="2"/>
          </p:cNvCxnSpPr>
          <p:nvPr/>
        </p:nvCxnSpPr>
        <p:spPr>
          <a:xfrm flipH="1">
            <a:off x="8976092" y="5441119"/>
            <a:ext cx="41836" cy="298335"/>
          </a:xfrm>
          <a:prstGeom prst="straightConnector1">
            <a:avLst/>
          </a:prstGeom>
          <a:noFill/>
          <a:ln w="6350" cap="flat" cmpd="sng" algn="ctr">
            <a:solidFill>
              <a:sysClr val="windowText" lastClr="000000"/>
            </a:solidFill>
            <a:prstDash val="solid"/>
            <a:miter lim="800000"/>
            <a:headEnd w="med" len="sm"/>
            <a:tailEnd type="triangle" w="sm" len="med"/>
          </a:ln>
          <a:effectLst/>
        </p:spPr>
      </p:cxnSp>
      <p:cxnSp>
        <p:nvCxnSpPr>
          <p:cNvPr id="124" name="直接箭头连接符 123">
            <a:extLst>
              <a:ext uri="{FF2B5EF4-FFF2-40B4-BE49-F238E27FC236}">
                <a16:creationId xmlns:a16="http://schemas.microsoft.com/office/drawing/2014/main" id="{197E15AF-6B02-15A2-BDAE-3754F5E89628}"/>
              </a:ext>
            </a:extLst>
          </p:cNvPr>
          <p:cNvCxnSpPr>
            <a:cxnSpLocks/>
            <a:stCxn id="115" idx="3"/>
            <a:endCxn id="126" idx="1"/>
          </p:cNvCxnSpPr>
          <p:nvPr/>
        </p:nvCxnSpPr>
        <p:spPr>
          <a:xfrm>
            <a:off x="8043349" y="5786672"/>
            <a:ext cx="469195" cy="0"/>
          </a:xfrm>
          <a:prstGeom prst="straightConnector1">
            <a:avLst/>
          </a:prstGeom>
          <a:noFill/>
          <a:ln w="6350" cap="flat" cmpd="sng" algn="ctr">
            <a:solidFill>
              <a:sysClr val="windowText" lastClr="000000"/>
            </a:solidFill>
            <a:prstDash val="solid"/>
            <a:miter lim="800000"/>
            <a:headEnd w="med" len="sm"/>
            <a:tailEnd type="triangle" w="sm" len="med"/>
          </a:ln>
          <a:effectLst/>
        </p:spPr>
      </p:cxnSp>
      <mc:AlternateContent xmlns:mc="http://schemas.openxmlformats.org/markup-compatibility/2006" xmlns:a14="http://schemas.microsoft.com/office/drawing/2010/main">
        <mc:Choice Requires="a14">
          <p:sp>
            <p:nvSpPr>
              <p:cNvPr id="125" name="文本框 124">
                <a:extLst>
                  <a:ext uri="{FF2B5EF4-FFF2-40B4-BE49-F238E27FC236}">
                    <a16:creationId xmlns:a16="http://schemas.microsoft.com/office/drawing/2014/main" id="{A182F207-DB04-510A-4A09-3438D0F332FE}"/>
                  </a:ext>
                </a:extLst>
              </p:cNvPr>
              <p:cNvSpPr txBox="1"/>
              <p:nvPr/>
            </p:nvSpPr>
            <p:spPr>
              <a:xfrm>
                <a:off x="10066707" y="5670307"/>
                <a:ext cx="69384" cy="2308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900" b="1" i="1" u="none" strike="noStrike" kern="0" cap="none" spc="0" normalizeH="0" baseline="0" noProof="0" smtClean="0">
                              <a:ln>
                                <a:noFill/>
                              </a:ln>
                              <a:solidFill>
                                <a:prstClr val="black"/>
                              </a:solidFill>
                              <a:effectLst/>
                              <a:uLnTx/>
                              <a:uFillTx/>
                              <a:latin typeface="Cambria Math" panose="02040503050406030204" pitchFamily="18" charset="0"/>
                            </a:rPr>
                            <m:t>𝑭</m:t>
                          </m:r>
                        </m:e>
                        <m:sub>
                          <m:r>
                            <a:rPr kumimoji="0" lang="en-US" altLang="zh-CN" sz="900" b="1" i="0" u="none" strike="noStrike" kern="0" cap="none" spc="0" normalizeH="0" baseline="0" noProof="0" smtClean="0">
                              <a:ln>
                                <a:noFill/>
                              </a:ln>
                              <a:solidFill>
                                <a:prstClr val="black"/>
                              </a:solidFill>
                              <a:effectLst/>
                              <a:uLnTx/>
                              <a:uFillTx/>
                              <a:latin typeface="Cambria Math" panose="02040503050406030204" pitchFamily="18" charset="0"/>
                            </a:rPr>
                            <m:t>𝐛𝐚𝐧𝐤</m:t>
                          </m:r>
                        </m:sub>
                      </m:sSub>
                      <m:r>
                        <a:rPr kumimoji="0" lang="en-US" altLang="zh-CN" sz="900" b="1" i="1" u="none" strike="noStrike" kern="0" cap="none" spc="0" normalizeH="0" baseline="0" noProof="0" smtClean="0">
                          <a:ln>
                            <a:noFill/>
                          </a:ln>
                          <a:solidFill>
                            <a:prstClr val="black"/>
                          </a:solidFill>
                          <a:effectLst/>
                          <a:uLnTx/>
                          <a:uFillTx/>
                          <a:latin typeface="Cambria Math" panose="02040503050406030204" pitchFamily="18" charset="0"/>
                        </a:rPr>
                        <m:t>(</m:t>
                      </m:r>
                      <m:sSub>
                        <m:sSubPr>
                          <m:ctrlPr>
                            <a:rPr kumimoji="0" lang="en-US" altLang="zh-CN" sz="900" b="1"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900" b="1" i="1" u="none" strike="noStrike" kern="0" cap="none" spc="0" normalizeH="0" baseline="0" noProof="0" smtClean="0">
                              <a:ln>
                                <a:noFill/>
                              </a:ln>
                              <a:solidFill>
                                <a:prstClr val="black"/>
                              </a:solidFill>
                              <a:effectLst/>
                              <a:uLnTx/>
                              <a:uFillTx/>
                              <a:latin typeface="Cambria Math" panose="02040503050406030204" pitchFamily="18" charset="0"/>
                            </a:rPr>
                            <m:t>ℰ</m:t>
                          </m:r>
                        </m:e>
                        <m:sub>
                          <m:r>
                            <a:rPr kumimoji="0" lang="en-US" altLang="zh-CN" sz="900" b="1" i="1" u="none" strike="noStrike" kern="0" cap="none" spc="0" normalizeH="0" baseline="0" noProof="0" smtClean="0">
                              <a:ln>
                                <a:noFill/>
                              </a:ln>
                              <a:solidFill>
                                <a:prstClr val="black"/>
                              </a:solidFill>
                              <a:effectLst/>
                              <a:uLnTx/>
                              <a:uFillTx/>
                              <a:latin typeface="Cambria Math" panose="02040503050406030204" pitchFamily="18" charset="0"/>
                            </a:rPr>
                            <m:t>𝒃</m:t>
                          </m:r>
                        </m:sub>
                      </m:sSub>
                      <m:r>
                        <a:rPr kumimoji="0" lang="en-US" altLang="zh-CN" sz="900" b="1" i="1" u="none" strike="noStrike" kern="0" cap="none" spc="0" normalizeH="0" baseline="0" noProof="0" smtClean="0">
                          <a:ln>
                            <a:noFill/>
                          </a:ln>
                          <a:solidFill>
                            <a:prstClr val="black"/>
                          </a:solidFill>
                          <a:effectLst/>
                          <a:uLnTx/>
                          <a:uFillTx/>
                          <a:latin typeface="Cambria Math" panose="02040503050406030204" pitchFamily="18" charset="0"/>
                        </a:rPr>
                        <m:t>)</m:t>
                      </m:r>
                    </m:oMath>
                  </m:oMathPara>
                </a14:m>
                <a:endParaRPr kumimoji="0" lang="en-US" altLang="zh-CN" sz="900" b="1" i="0" u="none" strike="noStrike" kern="0" cap="none" spc="0" normalizeH="0" baseline="0" noProof="0" dirty="0">
                  <a:ln>
                    <a:noFill/>
                  </a:ln>
                  <a:solidFill>
                    <a:prstClr val="black"/>
                  </a:solidFill>
                  <a:effectLst/>
                  <a:uLnTx/>
                  <a:uFillTx/>
                </a:endParaRPr>
              </a:p>
            </p:txBody>
          </p:sp>
        </mc:Choice>
        <mc:Fallback xmlns="">
          <p:sp>
            <p:nvSpPr>
              <p:cNvPr id="125" name="文本框 124">
                <a:extLst>
                  <a:ext uri="{FF2B5EF4-FFF2-40B4-BE49-F238E27FC236}">
                    <a16:creationId xmlns:a16="http://schemas.microsoft.com/office/drawing/2014/main" id="{A182F207-DB04-510A-4A09-3438D0F332FE}"/>
                  </a:ext>
                </a:extLst>
              </p:cNvPr>
              <p:cNvSpPr txBox="1">
                <a:spLocks noRot="1" noChangeAspect="1" noMove="1" noResize="1" noEditPoints="1" noAdjustHandles="1" noChangeArrowheads="1" noChangeShapeType="1" noTextEdit="1"/>
              </p:cNvSpPr>
              <p:nvPr/>
            </p:nvSpPr>
            <p:spPr>
              <a:xfrm>
                <a:off x="10066707" y="5670307"/>
                <a:ext cx="69384" cy="230832"/>
              </a:xfrm>
              <a:prstGeom prst="rect">
                <a:avLst/>
              </a:prstGeom>
              <a:blipFill>
                <a:blip r:embed="rId31"/>
                <a:stretch>
                  <a:fillRect l="-8333" r="-708333" b="-2632"/>
                </a:stretch>
              </a:blipFill>
            </p:spPr>
            <p:txBody>
              <a:bodyPr/>
              <a:lstStyle/>
              <a:p>
                <a:r>
                  <a:rPr lang="zh-CN" altLang="en-US">
                    <a:noFill/>
                  </a:rPr>
                  <a:t> </a:t>
                </a:r>
              </a:p>
            </p:txBody>
          </p:sp>
        </mc:Fallback>
      </mc:AlternateContent>
      <p:sp>
        <p:nvSpPr>
          <p:cNvPr id="126" name="流程图: 过程 125">
            <a:extLst>
              <a:ext uri="{FF2B5EF4-FFF2-40B4-BE49-F238E27FC236}">
                <a16:creationId xmlns:a16="http://schemas.microsoft.com/office/drawing/2014/main" id="{D8DC27B3-4058-3D58-52A3-4D11963A5BD7}"/>
              </a:ext>
            </a:extLst>
          </p:cNvPr>
          <p:cNvSpPr/>
          <p:nvPr/>
        </p:nvSpPr>
        <p:spPr>
          <a:xfrm>
            <a:off x="8512544" y="5713351"/>
            <a:ext cx="809331" cy="146642"/>
          </a:xfrm>
          <a:prstGeom prst="flowChartProcess">
            <a:avLst/>
          </a:prstGeom>
          <a:solidFill>
            <a:srgbClr val="E7E6E6"/>
          </a:solidFill>
          <a:ln w="6350" cap="flat" cmpd="sng" algn="ctr">
            <a:solidFill>
              <a:srgbClr val="E7E6E6">
                <a:lumMod val="50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solidFill>
                  <a:srgbClr val="1D1D1A"/>
                </a:solidFill>
                <a:effectLst/>
                <a:uLnTx/>
                <a:uFillTx/>
                <a:latin typeface="等线" panose="02010600030101010101" pitchFamily="2" charset="-122"/>
              </a:rPr>
              <a:t>Combine</a:t>
            </a:r>
            <a:endParaRPr kumimoji="0" lang="zh-CN" altLang="en-US" sz="900" b="1" i="0" u="none" strike="noStrike" kern="0" cap="none" spc="0" normalizeH="0" baseline="0" noProof="0" dirty="0">
              <a:ln>
                <a:noFill/>
              </a:ln>
              <a:solidFill>
                <a:srgbClr val="1D1D1A"/>
              </a:solidFill>
              <a:effectLst/>
              <a:uLnTx/>
              <a:uFillTx/>
              <a:latin typeface="等线" panose="02010600030101010101" pitchFamily="2" charset="-122"/>
            </a:endParaRPr>
          </a:p>
        </p:txBody>
      </p:sp>
      <p:cxnSp>
        <p:nvCxnSpPr>
          <p:cNvPr id="127" name="直接箭头连接符 126">
            <a:extLst>
              <a:ext uri="{FF2B5EF4-FFF2-40B4-BE49-F238E27FC236}">
                <a16:creationId xmlns:a16="http://schemas.microsoft.com/office/drawing/2014/main" id="{309298D6-138C-B39D-656D-1C01582E4461}"/>
              </a:ext>
            </a:extLst>
          </p:cNvPr>
          <p:cNvCxnSpPr>
            <a:cxnSpLocks/>
            <a:stCxn id="126" idx="3"/>
            <a:endCxn id="125" idx="1"/>
          </p:cNvCxnSpPr>
          <p:nvPr/>
        </p:nvCxnSpPr>
        <p:spPr>
          <a:xfrm flipV="1">
            <a:off x="9321875" y="5785723"/>
            <a:ext cx="744832" cy="949"/>
          </a:xfrm>
          <a:prstGeom prst="straightConnector1">
            <a:avLst/>
          </a:prstGeom>
          <a:noFill/>
          <a:ln w="6350" cap="flat" cmpd="sng" algn="ctr">
            <a:solidFill>
              <a:sysClr val="windowText" lastClr="000000"/>
            </a:solidFill>
            <a:prstDash val="solid"/>
            <a:miter lim="800000"/>
            <a:headEnd w="med" len="sm"/>
            <a:tailEnd type="triangle" w="sm" len="med"/>
          </a:ln>
          <a:effectLst/>
        </p:spPr>
      </p:cxnSp>
      <p:sp>
        <p:nvSpPr>
          <p:cNvPr id="128" name="矩形 127">
            <a:extLst>
              <a:ext uri="{FF2B5EF4-FFF2-40B4-BE49-F238E27FC236}">
                <a16:creationId xmlns:a16="http://schemas.microsoft.com/office/drawing/2014/main" id="{A5F93CB8-DB0F-2E9F-2B96-8EC6B5C5E774}"/>
              </a:ext>
            </a:extLst>
          </p:cNvPr>
          <p:cNvSpPr/>
          <p:nvPr/>
        </p:nvSpPr>
        <p:spPr>
          <a:xfrm>
            <a:off x="9575328" y="5270662"/>
            <a:ext cx="1410249" cy="635241"/>
          </a:xfrm>
          <a:prstGeom prst="rect">
            <a:avLst/>
          </a:prstGeom>
          <a:noFill/>
          <a:ln w="12700" cap="flat" cmpd="sng" algn="ctr">
            <a:solidFill>
              <a:srgbClr val="E7E6E6">
                <a:lumMod val="50000"/>
              </a:srgbClr>
            </a:solidFill>
            <a:prstDash val="dash"/>
            <a:miter lim="800000"/>
          </a:ln>
          <a:effectLst/>
        </p:spPr>
        <p:txBody>
          <a:bodyPr wrap="square"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Bank-level features</a:t>
            </a:r>
            <a:endParaRPr kumimoji="0" lang="zh-CN" altLang="en-US" sz="8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9" name="文本框 128">
                <a:extLst>
                  <a:ext uri="{FF2B5EF4-FFF2-40B4-BE49-F238E27FC236}">
                    <a16:creationId xmlns:a16="http://schemas.microsoft.com/office/drawing/2014/main" id="{526BE34C-8279-DD24-302A-0AF0102B62AD}"/>
                  </a:ext>
                </a:extLst>
              </p:cNvPr>
              <p:cNvSpPr txBox="1"/>
              <p:nvPr/>
            </p:nvSpPr>
            <p:spPr>
              <a:xfrm>
                <a:off x="9843074" y="5441119"/>
                <a:ext cx="334771" cy="2308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900" b="1" i="1" u="none" strike="noStrike" kern="0" cap="none" spc="0" normalizeH="0" baseline="0" noProof="0" smtClean="0">
                          <a:ln>
                            <a:noFill/>
                          </a:ln>
                          <a:solidFill>
                            <a:prstClr val="black"/>
                          </a:solidFill>
                          <a:effectLst/>
                          <a:uLnTx/>
                          <a:uFillTx/>
                          <a:latin typeface="Cambria Math" panose="02040503050406030204" pitchFamily="18" charset="0"/>
                        </a:rPr>
                        <m:t>⋯</m:t>
                      </m:r>
                    </m:oMath>
                  </m:oMathPara>
                </a14:m>
                <a:endParaRPr kumimoji="0" lang="en-US" altLang="zh-CN" sz="900" b="1" i="0" u="none" strike="noStrike" kern="0" cap="none" spc="0" normalizeH="0" baseline="0" noProof="0" dirty="0">
                  <a:ln>
                    <a:noFill/>
                  </a:ln>
                  <a:solidFill>
                    <a:prstClr val="black"/>
                  </a:solidFill>
                  <a:effectLst/>
                  <a:uLnTx/>
                  <a:uFillTx/>
                </a:endParaRPr>
              </a:p>
            </p:txBody>
          </p:sp>
        </mc:Choice>
        <mc:Fallback xmlns="">
          <p:sp>
            <p:nvSpPr>
              <p:cNvPr id="129" name="文本框 128">
                <a:extLst>
                  <a:ext uri="{FF2B5EF4-FFF2-40B4-BE49-F238E27FC236}">
                    <a16:creationId xmlns:a16="http://schemas.microsoft.com/office/drawing/2014/main" id="{526BE34C-8279-DD24-302A-0AF0102B62AD}"/>
                  </a:ext>
                </a:extLst>
              </p:cNvPr>
              <p:cNvSpPr txBox="1">
                <a:spLocks noRot="1" noChangeAspect="1" noMove="1" noResize="1" noEditPoints="1" noAdjustHandles="1" noChangeArrowheads="1" noChangeShapeType="1" noTextEdit="1"/>
              </p:cNvSpPr>
              <p:nvPr/>
            </p:nvSpPr>
            <p:spPr>
              <a:xfrm>
                <a:off x="9843074" y="5441119"/>
                <a:ext cx="334771" cy="230832"/>
              </a:xfrm>
              <a:prstGeom prst="rect">
                <a:avLst/>
              </a:prstGeom>
              <a:blipFill>
                <a:blip r:embed="rId32"/>
                <a:stretch>
                  <a:fillRect/>
                </a:stretch>
              </a:blipFill>
            </p:spPr>
            <p:txBody>
              <a:bodyPr/>
              <a:lstStyle/>
              <a:p>
                <a:r>
                  <a:rPr lang="zh-CN" altLang="en-US">
                    <a:noFill/>
                  </a:rPr>
                  <a:t> </a:t>
                </a:r>
              </a:p>
            </p:txBody>
          </p:sp>
        </mc:Fallback>
      </mc:AlternateContent>
      <p:cxnSp>
        <p:nvCxnSpPr>
          <p:cNvPr id="130" name="直接箭头连接符 129">
            <a:extLst>
              <a:ext uri="{FF2B5EF4-FFF2-40B4-BE49-F238E27FC236}">
                <a16:creationId xmlns:a16="http://schemas.microsoft.com/office/drawing/2014/main" id="{39ED92D7-DDE6-7CA8-44C3-335F94725327}"/>
              </a:ext>
            </a:extLst>
          </p:cNvPr>
          <p:cNvCxnSpPr>
            <a:cxnSpLocks/>
            <a:stCxn id="128" idx="0"/>
            <a:endCxn id="131" idx="2"/>
          </p:cNvCxnSpPr>
          <p:nvPr/>
        </p:nvCxnSpPr>
        <p:spPr>
          <a:xfrm flipV="1">
            <a:off x="10280453" y="4992319"/>
            <a:ext cx="4" cy="278343"/>
          </a:xfrm>
          <a:prstGeom prst="straightConnector1">
            <a:avLst/>
          </a:prstGeom>
          <a:noFill/>
          <a:ln w="6350" cap="flat" cmpd="sng" algn="ctr">
            <a:solidFill>
              <a:sysClr val="windowText" lastClr="000000"/>
            </a:solidFill>
            <a:prstDash val="solid"/>
            <a:miter lim="800000"/>
            <a:headEnd w="med" len="sm"/>
            <a:tailEnd type="triangle" w="sm" len="med"/>
          </a:ln>
          <a:effectLst/>
        </p:spPr>
      </p:cxnSp>
      <p:sp>
        <p:nvSpPr>
          <p:cNvPr id="131" name="流程图: 过程 130">
            <a:extLst>
              <a:ext uri="{FF2B5EF4-FFF2-40B4-BE49-F238E27FC236}">
                <a16:creationId xmlns:a16="http://schemas.microsoft.com/office/drawing/2014/main" id="{415E4073-53FB-35BC-0FAC-160EBE7DA772}"/>
              </a:ext>
            </a:extLst>
          </p:cNvPr>
          <p:cNvSpPr/>
          <p:nvPr/>
        </p:nvSpPr>
        <p:spPr>
          <a:xfrm>
            <a:off x="9575328" y="4680042"/>
            <a:ext cx="1410257" cy="312277"/>
          </a:xfrm>
          <a:prstGeom prst="flowChartProcess">
            <a:avLst/>
          </a:prstGeom>
          <a:solidFill>
            <a:srgbClr val="E7E6E6"/>
          </a:solidFill>
          <a:ln w="6350" cap="flat" cmpd="sng" algn="ctr">
            <a:solidFill>
              <a:srgbClr val="E7E6E6">
                <a:lumMod val="50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solidFill>
                  <a:srgbClr val="1D1D1A"/>
                </a:solidFill>
                <a:effectLst/>
                <a:uLnTx/>
                <a:uFillTx/>
                <a:latin typeface="等线" panose="02010600030101010101" pitchFamily="2" charset="-122"/>
              </a:rPr>
              <a:t>Higher levels BSFE</a:t>
            </a:r>
            <a:endParaRPr kumimoji="0" lang="zh-CN" altLang="en-US" sz="800" b="0" i="0" u="none" strike="noStrike" kern="0" cap="none" spc="0" normalizeH="0" baseline="0" noProof="0" dirty="0">
              <a:ln>
                <a:noFill/>
              </a:ln>
              <a:solidFill>
                <a:srgbClr val="1D1D1A"/>
              </a:solidFill>
              <a:effectLst/>
              <a:uLnTx/>
              <a:uFillTx/>
              <a:latin typeface="等线" panose="02010600030101010101" pitchFamily="2" charset="-122"/>
            </a:endParaRPr>
          </a:p>
        </p:txBody>
      </p:sp>
      <p:cxnSp>
        <p:nvCxnSpPr>
          <p:cNvPr id="132" name="连接符: 肘形 131">
            <a:extLst>
              <a:ext uri="{FF2B5EF4-FFF2-40B4-BE49-F238E27FC236}">
                <a16:creationId xmlns:a16="http://schemas.microsoft.com/office/drawing/2014/main" id="{DD4A7479-F0E0-E8F4-967D-35745F8EACA6}"/>
              </a:ext>
            </a:extLst>
          </p:cNvPr>
          <p:cNvCxnSpPr>
            <a:cxnSpLocks/>
            <a:stCxn id="113" idx="2"/>
            <a:endCxn id="115" idx="1"/>
          </p:cNvCxnSpPr>
          <p:nvPr/>
        </p:nvCxnSpPr>
        <p:spPr>
          <a:xfrm rot="16200000" flipH="1">
            <a:off x="6861147" y="5333508"/>
            <a:ext cx="296789" cy="609538"/>
          </a:xfrm>
          <a:prstGeom prst="bentConnector2">
            <a:avLst/>
          </a:prstGeom>
          <a:noFill/>
          <a:ln w="9525" cap="flat" cmpd="sng" algn="ctr">
            <a:solidFill>
              <a:sysClr val="windowText" lastClr="000000"/>
            </a:solidFill>
            <a:prstDash val="solid"/>
            <a:miter lim="800000"/>
            <a:tailEnd type="triangle"/>
          </a:ln>
          <a:effectLst/>
        </p:spPr>
      </p:cxnSp>
      <p:sp>
        <p:nvSpPr>
          <p:cNvPr id="133" name="矩形 132">
            <a:extLst>
              <a:ext uri="{FF2B5EF4-FFF2-40B4-BE49-F238E27FC236}">
                <a16:creationId xmlns:a16="http://schemas.microsoft.com/office/drawing/2014/main" id="{D074B272-F596-59AA-C9A2-C16010D3F6D0}"/>
              </a:ext>
            </a:extLst>
          </p:cNvPr>
          <p:cNvSpPr/>
          <p:nvPr/>
        </p:nvSpPr>
        <p:spPr>
          <a:xfrm>
            <a:off x="6387354" y="4560965"/>
            <a:ext cx="4880086" cy="1651017"/>
          </a:xfrm>
          <a:prstGeom prst="rect">
            <a:avLst/>
          </a:prstGeom>
          <a:noFill/>
          <a:ln w="12700" cap="flat" cmpd="sng" algn="ctr">
            <a:solidFill>
              <a:schemeClr val="accent1"/>
            </a:solid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chemeClr val="accent1"/>
                </a:solidFill>
                <a:effectLst/>
                <a:uLnTx/>
                <a:uFillTx/>
                <a:latin typeface="等线" panose="02010600030101010101" pitchFamily="2" charset="-122"/>
                <a:ea typeface="微软雅黑" panose="020B0503020204020204" pitchFamily="34" charset="-122"/>
                <a:cs typeface="Times New Roman" panose="02020603050405020304" pitchFamily="18" charset="0"/>
              </a:rPr>
              <a:t>Multi-Binary Spatial Feature Extractor (Multi-BSFE) </a:t>
            </a:r>
            <a:endParaRPr kumimoji="0" lang="zh-CN" altLang="en-US" sz="1200" b="1" i="0" u="none" strike="noStrike" kern="0" cap="none" spc="0" normalizeH="0" baseline="0" noProof="0" dirty="0">
              <a:ln>
                <a:noFill/>
              </a:ln>
              <a:solidFill>
                <a:schemeClr val="accent1"/>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46" name="箭头: 圆角右 145">
            <a:extLst>
              <a:ext uri="{FF2B5EF4-FFF2-40B4-BE49-F238E27FC236}">
                <a16:creationId xmlns:a16="http://schemas.microsoft.com/office/drawing/2014/main" id="{EEB73CEC-9A22-98F4-26AB-7588A7179F80}"/>
              </a:ext>
            </a:extLst>
          </p:cNvPr>
          <p:cNvSpPr/>
          <p:nvPr/>
        </p:nvSpPr>
        <p:spPr>
          <a:xfrm rot="5400000">
            <a:off x="9619603" y="3211918"/>
            <a:ext cx="1786043" cy="614527"/>
          </a:xfrm>
          <a:prstGeom prst="bentArrow">
            <a:avLst>
              <a:gd name="adj1" fmla="val 22981"/>
              <a:gd name="adj2" fmla="val 25000"/>
              <a:gd name="adj3" fmla="val 25000"/>
              <a:gd name="adj4" fmla="val 43750"/>
            </a:avLst>
          </a:prstGeom>
          <a:solidFill>
            <a:schemeClr val="accent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kern="0"/>
            </a:defP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Calibri" panose="020F0502020204030204"/>
              <a:ea typeface="等线" panose="02010600030101010101" pitchFamily="2" charset="-122"/>
              <a:cs typeface="+mn-cs"/>
            </a:endParaRPr>
          </a:p>
        </p:txBody>
      </p:sp>
      <p:sp>
        <p:nvSpPr>
          <p:cNvPr id="147" name="文本框 136">
            <a:extLst>
              <a:ext uri="{FF2B5EF4-FFF2-40B4-BE49-F238E27FC236}">
                <a16:creationId xmlns:a16="http://schemas.microsoft.com/office/drawing/2014/main" id="{FF0BDC76-F66C-DB7A-BD78-C242C65ABACB}"/>
              </a:ext>
            </a:extLst>
          </p:cNvPr>
          <p:cNvSpPr txBox="1"/>
          <p:nvPr/>
        </p:nvSpPr>
        <p:spPr>
          <a:xfrm>
            <a:off x="10667225" y="2935335"/>
            <a:ext cx="1578867" cy="1167692"/>
          </a:xfrm>
          <a:prstGeom prst="rect">
            <a:avLst/>
          </a:prstGeom>
          <a:noFill/>
        </p:spPr>
        <p:txBody>
          <a:bodyPr wrap="square">
            <a:spAutoFit/>
          </a:bodyPr>
          <a:lstStyle>
            <a:defPPr>
              <a:defRPr kern="0"/>
            </a:defPPr>
          </a:lstStyle>
          <a:p>
            <a:pPr algn="ctr" rtl="0">
              <a:lnSpc>
                <a:spcPct val="150000"/>
              </a:lnSpc>
              <a:defRPr/>
            </a:pPr>
            <a:r>
              <a:rPr lang="en-US" altLang="zh-CN" sz="1200" b="1" dirty="0">
                <a:solidFill>
                  <a:schemeClr val="accent1"/>
                </a:solidFill>
                <a:latin typeface="等线" panose="02010600030101010101" pitchFamily="2" charset="-122"/>
                <a:ea typeface="微软雅黑" panose="020B0503020204020204" pitchFamily="34" charset="-122"/>
                <a:cs typeface="Times New Roman" panose="02020603050405020304" pitchFamily="18" charset="0"/>
              </a:rPr>
              <a:t>Aggregation Across Hierarchies</a:t>
            </a:r>
          </a:p>
          <a:p>
            <a:pPr algn="ctr" rtl="0">
              <a:lnSpc>
                <a:spcPct val="150000"/>
              </a:lnSpc>
              <a:defRPr/>
            </a:pPr>
            <a:r>
              <a:rPr lang="en-US" altLang="zh-CN" sz="1200" b="1" kern="1200" dirty="0">
                <a:solidFill>
                  <a:schemeClr val="accent1"/>
                </a:solidFill>
                <a:latin typeface="微软雅黑" panose="020B0503020204020204" pitchFamily="34" charset="-122"/>
                <a:ea typeface="微软雅黑" panose="020B0503020204020204" pitchFamily="34" charset="-122"/>
                <a:cs typeface="+mn-cs"/>
              </a:rPr>
              <a:t>Low-level</a:t>
            </a:r>
          </a:p>
          <a:p>
            <a:pPr algn="ctr" rtl="0">
              <a:lnSpc>
                <a:spcPct val="150000"/>
              </a:lnSpc>
              <a:defRPr/>
            </a:pPr>
            <a:r>
              <a:rPr lang="en-US" altLang="zh-CN" sz="1200" b="1" dirty="0">
                <a:solidFill>
                  <a:schemeClr val="accent1"/>
                </a:solidFill>
                <a:latin typeface="微软雅黑" panose="020B0503020204020204" pitchFamily="34" charset="-122"/>
                <a:ea typeface="微软雅黑" panose="020B0503020204020204" pitchFamily="34" charset="-122"/>
              </a:rPr>
              <a:t>High-Level</a:t>
            </a:r>
            <a:endParaRPr lang="en-US" altLang="zh-CN" sz="1200" b="1" kern="1200" dirty="0">
              <a:solidFill>
                <a:schemeClr val="accent1"/>
              </a:solidFill>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148" name="文本框 147">
                <a:extLst>
                  <a:ext uri="{FF2B5EF4-FFF2-40B4-BE49-F238E27FC236}">
                    <a16:creationId xmlns:a16="http://schemas.microsoft.com/office/drawing/2014/main" id="{70783E36-F438-27A7-3DC6-45A959C5EB46}"/>
                  </a:ext>
                </a:extLst>
              </p:cNvPr>
              <p:cNvSpPr txBox="1"/>
              <p:nvPr/>
            </p:nvSpPr>
            <p:spPr>
              <a:xfrm>
                <a:off x="6586119" y="6315924"/>
                <a:ext cx="5105900" cy="420896"/>
              </a:xfrm>
              <a:prstGeom prst="roundRect">
                <a:avLst/>
              </a:prstGeom>
              <a:noFill/>
              <a:ln>
                <a:solidFill>
                  <a:schemeClr val="tx1"/>
                </a:solidFill>
                <a:prstDash val="dash"/>
              </a:ln>
            </p:spPr>
            <p:txBody>
              <a:bodyPr wrap="square">
                <a:spAutoFit/>
              </a:bodyPr>
              <a:lstStyle/>
              <a:p>
                <a:r>
                  <a:rPr lang="en-US" altLang="zh-CN" dirty="0">
                    <a:solidFill>
                      <a:schemeClr val="accent1"/>
                    </a:solidFill>
                    <a:latin typeface="+mn-ea"/>
                  </a:rPr>
                  <a:t>1.3 Multilevel Spatiotemporal Features </a:t>
                </a:r>
                <a14:m>
                  <m:oMath xmlns:m="http://schemas.openxmlformats.org/officeDocument/2006/math">
                    <m:sSubSup>
                      <m:sSubSupPr>
                        <m:ctrlPr>
                          <a:rPr lang="en-US" altLang="zh-CN" i="1" dirty="0">
                            <a:solidFill>
                              <a:schemeClr val="accent1"/>
                            </a:solidFill>
                            <a:latin typeface="Cambria Math" panose="02040503050406030204" pitchFamily="18" charset="0"/>
                          </a:rPr>
                        </m:ctrlPr>
                      </m:sSubSupPr>
                      <m:e>
                        <m:r>
                          <a:rPr lang="en-US" altLang="zh-CN" i="1" dirty="0">
                            <a:solidFill>
                              <a:schemeClr val="accent1"/>
                            </a:solidFill>
                            <a:latin typeface="Cambria Math" panose="02040503050406030204" pitchFamily="18" charset="0"/>
                          </a:rPr>
                          <m:t>𝐹𝑐</m:t>
                        </m:r>
                      </m:e>
                      <m:sub>
                        <m:r>
                          <a:rPr lang="en-US" altLang="zh-CN" i="1" dirty="0">
                            <a:solidFill>
                              <a:schemeClr val="accent1"/>
                            </a:solidFill>
                            <a:latin typeface="Cambria Math" panose="02040503050406030204" pitchFamily="18" charset="0"/>
                          </a:rPr>
                          <m:t>𝑑</m:t>
                        </m:r>
                      </m:sub>
                      <m:sup>
                        <m:r>
                          <a:rPr lang="en-US" altLang="zh-CN" i="1" dirty="0">
                            <a:solidFill>
                              <a:schemeClr val="accent1"/>
                            </a:solidFill>
                            <a:latin typeface="Cambria Math" panose="02040503050406030204" pitchFamily="18" charset="0"/>
                          </a:rPr>
                          <m:t>𝑇</m:t>
                        </m:r>
                      </m:sup>
                    </m:sSubSup>
                    <m:r>
                      <a:rPr lang="en-US" altLang="zh-CN" i="1" dirty="0">
                        <a:solidFill>
                          <a:schemeClr val="accent1"/>
                        </a:solidFill>
                        <a:latin typeface="Cambria Math" panose="02040503050406030204" pitchFamily="18" charset="0"/>
                      </a:rPr>
                      <m:t>∈</m:t>
                    </m:r>
                    <m:sSup>
                      <m:sSupPr>
                        <m:ctrlPr>
                          <a:rPr lang="en-US" altLang="zh-CN" i="1" dirty="0">
                            <a:solidFill>
                              <a:schemeClr val="accent1"/>
                            </a:solidFill>
                            <a:latin typeface="Cambria Math" panose="02040503050406030204" pitchFamily="18" charset="0"/>
                          </a:rPr>
                        </m:ctrlPr>
                      </m:sSupPr>
                      <m:e>
                        <m:r>
                          <a:rPr lang="en-US" altLang="zh-CN" i="1" dirty="0">
                            <a:solidFill>
                              <a:schemeClr val="accent1"/>
                            </a:solidFill>
                            <a:latin typeface="Cambria Math" panose="02040503050406030204" pitchFamily="18" charset="0"/>
                          </a:rPr>
                          <m:t>ℝ</m:t>
                        </m:r>
                      </m:e>
                      <m:sup>
                        <m:sSub>
                          <m:sSubPr>
                            <m:ctrlPr>
                              <a:rPr lang="en-US" altLang="zh-CN" i="1" dirty="0">
                                <a:solidFill>
                                  <a:schemeClr val="accent1"/>
                                </a:solidFill>
                                <a:latin typeface="Cambria Math" panose="02040503050406030204" pitchFamily="18" charset="0"/>
                              </a:rPr>
                            </m:ctrlPr>
                          </m:sSubPr>
                          <m:e>
                            <m:r>
                              <a:rPr lang="en-US" altLang="zh-CN" i="1" dirty="0">
                                <a:solidFill>
                                  <a:schemeClr val="accent1"/>
                                </a:solidFill>
                                <a:latin typeface="Cambria Math" panose="02040503050406030204" pitchFamily="18" charset="0"/>
                              </a:rPr>
                              <m:t>𝑑</m:t>
                            </m:r>
                          </m:e>
                          <m:sub>
                            <m:r>
                              <a:rPr lang="en-US" altLang="zh-CN" i="1" dirty="0">
                                <a:solidFill>
                                  <a:schemeClr val="accent1"/>
                                </a:solidFill>
                                <a:latin typeface="Cambria Math" panose="02040503050406030204" pitchFamily="18" charset="0"/>
                              </a:rPr>
                              <m:t>𝑐</m:t>
                            </m:r>
                          </m:sub>
                        </m:sSub>
                      </m:sup>
                    </m:sSup>
                  </m:oMath>
                </a14:m>
                <a:endParaRPr lang="zh-CN" altLang="en-US" dirty="0">
                  <a:solidFill>
                    <a:schemeClr val="accent1"/>
                  </a:solidFill>
                  <a:latin typeface="+mn-ea"/>
                </a:endParaRPr>
              </a:p>
            </p:txBody>
          </p:sp>
        </mc:Choice>
        <mc:Fallback xmlns="">
          <p:sp>
            <p:nvSpPr>
              <p:cNvPr id="148" name="文本框 147">
                <a:extLst>
                  <a:ext uri="{FF2B5EF4-FFF2-40B4-BE49-F238E27FC236}">
                    <a16:creationId xmlns:a16="http://schemas.microsoft.com/office/drawing/2014/main" id="{70783E36-F438-27A7-3DC6-45A959C5EB46}"/>
                  </a:ext>
                </a:extLst>
              </p:cNvPr>
              <p:cNvSpPr txBox="1">
                <a:spLocks noRot="1" noChangeAspect="1" noMove="1" noResize="1" noEditPoints="1" noAdjustHandles="1" noChangeArrowheads="1" noChangeShapeType="1" noTextEdit="1"/>
              </p:cNvSpPr>
              <p:nvPr/>
            </p:nvSpPr>
            <p:spPr>
              <a:xfrm>
                <a:off x="6586119" y="6315924"/>
                <a:ext cx="5105900" cy="420896"/>
              </a:xfrm>
              <a:prstGeom prst="roundRect">
                <a:avLst/>
              </a:prstGeom>
              <a:blipFill>
                <a:blip r:embed="rId33"/>
                <a:stretch>
                  <a:fillRect l="-476" b="-15493"/>
                </a:stretch>
              </a:blipFill>
              <a:ln>
                <a:solidFill>
                  <a:schemeClr val="tx1"/>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 name="文本框 148">
                <a:extLst>
                  <a:ext uri="{FF2B5EF4-FFF2-40B4-BE49-F238E27FC236}">
                    <a16:creationId xmlns:a16="http://schemas.microsoft.com/office/drawing/2014/main" id="{6C4C28B7-868D-9B04-64BF-CAFE0B800A55}"/>
                  </a:ext>
                </a:extLst>
              </p:cNvPr>
              <p:cNvSpPr txBox="1"/>
              <p:nvPr/>
            </p:nvSpPr>
            <p:spPr>
              <a:xfrm>
                <a:off x="10223975" y="1312685"/>
                <a:ext cx="2003553" cy="1039292"/>
              </a:xfrm>
              <a:prstGeom prst="roundRect">
                <a:avLst/>
              </a:prstGeom>
              <a:noFill/>
              <a:ln>
                <a:solidFill>
                  <a:schemeClr val="tx1"/>
                </a:solidFill>
                <a:prstDash val="dash"/>
              </a:ln>
            </p:spPr>
            <p:txBody>
              <a:bodyPr wrap="square">
                <a:spAutoFit/>
              </a:bodyPr>
              <a:lstStyle/>
              <a:p>
                <a:r>
                  <a:rPr lang="en-US" altLang="zh-CN" dirty="0">
                    <a:solidFill>
                      <a:srgbClr val="ED6D00"/>
                    </a:solidFill>
                    <a:latin typeface="+mn-ea"/>
                  </a:rPr>
                  <a:t>1.2 Event Spatial Features</a:t>
                </a:r>
                <a:endParaRPr lang="en-US" altLang="zh-CN" b="0" i="1" dirty="0">
                  <a:solidFill>
                    <a:srgbClr val="ED6D0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Sup>
                        <m:sSubSupPr>
                          <m:ctrlPr>
                            <a:rPr lang="en-US" altLang="zh-CN" b="0" i="1" dirty="0" smtClean="0">
                              <a:solidFill>
                                <a:srgbClr val="ED6D00"/>
                              </a:solidFill>
                              <a:latin typeface="Cambria Math" panose="02040503050406030204" pitchFamily="18" charset="0"/>
                            </a:rPr>
                          </m:ctrlPr>
                        </m:sSubSupPr>
                        <m:e>
                          <m:r>
                            <a:rPr lang="en-US" altLang="zh-CN" b="0" i="1" dirty="0" smtClean="0">
                              <a:solidFill>
                                <a:srgbClr val="ED6D00"/>
                              </a:solidFill>
                              <a:latin typeface="Cambria Math" panose="02040503050406030204" pitchFamily="18" charset="0"/>
                            </a:rPr>
                            <m:t>𝐹𝑏</m:t>
                          </m:r>
                        </m:e>
                        <m:sub>
                          <m:r>
                            <a:rPr lang="en-US" altLang="zh-CN" b="0" i="1" dirty="0" smtClean="0">
                              <a:solidFill>
                                <a:srgbClr val="ED6D00"/>
                              </a:solidFill>
                              <a:latin typeface="Cambria Math" panose="02040503050406030204" pitchFamily="18" charset="0"/>
                            </a:rPr>
                            <m:t>𝑑</m:t>
                          </m:r>
                        </m:sub>
                        <m:sup>
                          <m:r>
                            <a:rPr lang="en-US" altLang="zh-CN" b="0" i="1" dirty="0" smtClean="0">
                              <a:solidFill>
                                <a:srgbClr val="ED6D00"/>
                              </a:solidFill>
                              <a:latin typeface="Cambria Math" panose="02040503050406030204" pitchFamily="18" charset="0"/>
                            </a:rPr>
                            <m:t>𝑇</m:t>
                          </m:r>
                        </m:sup>
                      </m:sSubSup>
                      <m:r>
                        <a:rPr lang="en-US" altLang="zh-CN" b="0" i="1" dirty="0" smtClean="0">
                          <a:solidFill>
                            <a:srgbClr val="ED6D00"/>
                          </a:solidFill>
                          <a:latin typeface="Cambria Math" panose="02040503050406030204" pitchFamily="18" charset="0"/>
                        </a:rPr>
                        <m:t>∈</m:t>
                      </m:r>
                      <m:sSup>
                        <m:sSupPr>
                          <m:ctrlPr>
                            <a:rPr lang="en-US" altLang="zh-CN" b="0" i="1" dirty="0" smtClean="0">
                              <a:solidFill>
                                <a:srgbClr val="ED6D00"/>
                              </a:solidFill>
                              <a:latin typeface="Cambria Math" panose="02040503050406030204" pitchFamily="18" charset="0"/>
                            </a:rPr>
                          </m:ctrlPr>
                        </m:sSupPr>
                        <m:e>
                          <m:r>
                            <a:rPr lang="en-US" altLang="zh-CN" b="0" i="1" dirty="0" smtClean="0">
                              <a:solidFill>
                                <a:srgbClr val="ED6D00"/>
                              </a:solidFill>
                              <a:latin typeface="Cambria Math" panose="02040503050406030204" pitchFamily="18" charset="0"/>
                            </a:rPr>
                            <m:t>ℝ</m:t>
                          </m:r>
                        </m:e>
                        <m:sup>
                          <m:r>
                            <a:rPr lang="en-US" altLang="zh-CN" b="0" i="1" dirty="0" smtClean="0">
                              <a:solidFill>
                                <a:srgbClr val="ED6D00"/>
                              </a:solidFill>
                              <a:latin typeface="Cambria Math" panose="02040503050406030204" pitchFamily="18" charset="0"/>
                            </a:rPr>
                            <m:t>𝐿</m:t>
                          </m:r>
                          <m:r>
                            <a:rPr lang="en-US" altLang="zh-CN" b="0" i="1" dirty="0" smtClean="0">
                              <a:solidFill>
                                <a:srgbClr val="ED6D00"/>
                              </a:solidFill>
                              <a:latin typeface="Cambria Math" panose="02040503050406030204" pitchFamily="18" charset="0"/>
                            </a:rPr>
                            <m:t>×</m:t>
                          </m:r>
                          <m:sSub>
                            <m:sSubPr>
                              <m:ctrlPr>
                                <a:rPr lang="en-US" altLang="zh-CN" b="0" i="1" dirty="0" smtClean="0">
                                  <a:solidFill>
                                    <a:srgbClr val="ED6D00"/>
                                  </a:solidFill>
                                  <a:latin typeface="Cambria Math" panose="02040503050406030204" pitchFamily="18" charset="0"/>
                                </a:rPr>
                              </m:ctrlPr>
                            </m:sSubPr>
                            <m:e>
                              <m:r>
                                <a:rPr lang="en-US" altLang="zh-CN" b="0" i="1" dirty="0" smtClean="0">
                                  <a:solidFill>
                                    <a:srgbClr val="ED6D00"/>
                                  </a:solidFill>
                                  <a:latin typeface="Cambria Math" panose="02040503050406030204" pitchFamily="18" charset="0"/>
                                </a:rPr>
                                <m:t>𝑑</m:t>
                              </m:r>
                            </m:e>
                            <m:sub>
                              <m:r>
                                <a:rPr lang="en-US" altLang="zh-CN" b="0" i="1" dirty="0" smtClean="0">
                                  <a:solidFill>
                                    <a:srgbClr val="ED6D00"/>
                                  </a:solidFill>
                                  <a:latin typeface="Cambria Math" panose="02040503050406030204" pitchFamily="18" charset="0"/>
                                </a:rPr>
                                <m:t>𝑏</m:t>
                              </m:r>
                            </m:sub>
                          </m:sSub>
                        </m:sup>
                      </m:sSup>
                    </m:oMath>
                  </m:oMathPara>
                </a14:m>
                <a:endParaRPr lang="zh-CN" altLang="en-US" dirty="0">
                  <a:solidFill>
                    <a:srgbClr val="ED6D00"/>
                  </a:solidFill>
                  <a:latin typeface="+mn-ea"/>
                </a:endParaRPr>
              </a:p>
            </p:txBody>
          </p:sp>
        </mc:Choice>
        <mc:Fallback xmlns="">
          <p:sp>
            <p:nvSpPr>
              <p:cNvPr id="149" name="文本框 148">
                <a:extLst>
                  <a:ext uri="{FF2B5EF4-FFF2-40B4-BE49-F238E27FC236}">
                    <a16:creationId xmlns:a16="http://schemas.microsoft.com/office/drawing/2014/main" id="{6C4C28B7-868D-9B04-64BF-CAFE0B800A55}"/>
                  </a:ext>
                </a:extLst>
              </p:cNvPr>
              <p:cNvSpPr txBox="1">
                <a:spLocks noRot="1" noChangeAspect="1" noMove="1" noResize="1" noEditPoints="1" noAdjustHandles="1" noChangeArrowheads="1" noChangeShapeType="1" noTextEdit="1"/>
              </p:cNvSpPr>
              <p:nvPr/>
            </p:nvSpPr>
            <p:spPr>
              <a:xfrm>
                <a:off x="10223975" y="1312685"/>
                <a:ext cx="2003553" cy="1039292"/>
              </a:xfrm>
              <a:prstGeom prst="roundRect">
                <a:avLst/>
              </a:prstGeom>
              <a:blipFill>
                <a:blip r:embed="rId34"/>
                <a:stretch>
                  <a:fillRect/>
                </a:stretch>
              </a:blipFill>
              <a:ln>
                <a:solidFill>
                  <a:schemeClr val="tx1"/>
                </a:solidFill>
                <a:prstDash val="dash"/>
              </a:ln>
            </p:spPr>
            <p:txBody>
              <a:bodyPr/>
              <a:lstStyle/>
              <a:p>
                <a:r>
                  <a:rPr lang="zh-CN" altLang="en-US">
                    <a:noFill/>
                  </a:rPr>
                  <a:t> </a:t>
                </a:r>
              </a:p>
            </p:txBody>
          </p:sp>
        </mc:Fallback>
      </mc:AlternateContent>
    </p:spTree>
    <p:extLst>
      <p:ext uri="{BB962C8B-B14F-4D97-AF65-F5344CB8AC3E}">
        <p14:creationId xmlns:p14="http://schemas.microsoft.com/office/powerpoint/2010/main" val="4047580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A620A8C-8690-0EEA-C7CE-66F729B0CAD2}"/>
              </a:ext>
            </a:extLst>
          </p:cNvPr>
          <p:cNvSpPr txBox="1"/>
          <p:nvPr/>
        </p:nvSpPr>
        <p:spPr>
          <a:xfrm>
            <a:off x="790215" y="365302"/>
            <a:ext cx="7836200" cy="461665"/>
          </a:xfrm>
          <a:prstGeom prst="rect">
            <a:avLst/>
          </a:prstGeom>
          <a:noFill/>
        </p:spPr>
        <p:txBody>
          <a:bodyPr wrap="square" rtlCol="0">
            <a:spAutoFit/>
          </a:bodyPr>
          <a:lstStyle/>
          <a:p>
            <a:r>
              <a:rPr lang="en-US" altLang="zh-CN" sz="2400" b="1" dirty="0">
                <a:solidFill>
                  <a:schemeClr val="accent5">
                    <a:lumMod val="75000"/>
                  </a:schemeClr>
                </a:solidFill>
                <a:latin typeface="-apple-system"/>
              </a:rPr>
              <a:t>Research Topic 2: Memory Fault Prediction</a:t>
            </a:r>
            <a:endParaRPr lang="en-US" altLang="zh-CN" sz="2400" b="1" dirty="0">
              <a:solidFill>
                <a:schemeClr val="accent5">
                  <a:lumMod val="75000"/>
                </a:schemeClr>
              </a:solidFill>
              <a:latin typeface="+mn-ea"/>
            </a:endParaRPr>
          </a:p>
        </p:txBody>
      </p:sp>
      <p:sp>
        <p:nvSpPr>
          <p:cNvPr id="3" name="矩形: 圆角 2">
            <a:extLst>
              <a:ext uri="{FF2B5EF4-FFF2-40B4-BE49-F238E27FC236}">
                <a16:creationId xmlns:a16="http://schemas.microsoft.com/office/drawing/2014/main" id="{6818841E-D0E5-3744-CE49-CDB8D069AAF9}"/>
              </a:ext>
            </a:extLst>
          </p:cNvPr>
          <p:cNvSpPr/>
          <p:nvPr/>
        </p:nvSpPr>
        <p:spPr>
          <a:xfrm>
            <a:off x="1367397" y="1195237"/>
            <a:ext cx="9328312" cy="2582436"/>
          </a:xfrm>
          <a:prstGeom prst="roundRect">
            <a:avLst>
              <a:gd name="adj" fmla="val 11086"/>
            </a:avLst>
          </a:prstGeom>
          <a:solidFill>
            <a:schemeClr val="accent5">
              <a:lumMod val="20000"/>
              <a:lumOff val="80000"/>
              <a:alpha val="14902"/>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a:lnSpc>
                <a:spcPct val="50000"/>
              </a:lnSpc>
            </a:pPr>
            <a:endParaRPr lang="zh-CN" altLang="en-US" sz="1600" b="1" dirty="0">
              <a:solidFill>
                <a:schemeClr val="bg2">
                  <a:lumMod val="10000"/>
                </a:schemeClr>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19CED48-5A6C-5EBE-B777-0E360ACCF586}"/>
                  </a:ext>
                </a:extLst>
              </p:cNvPr>
              <p:cNvSpPr txBox="1"/>
              <p:nvPr/>
            </p:nvSpPr>
            <p:spPr>
              <a:xfrm>
                <a:off x="1725759" y="1345512"/>
                <a:ext cx="2343091" cy="324000"/>
              </a:xfrm>
              <a:prstGeom prst="roundRect">
                <a:avLst/>
              </a:prstGeom>
              <a:noFill/>
              <a:ln>
                <a:solidFill>
                  <a:schemeClr val="tx1"/>
                </a:solidFill>
                <a:prstDash val="dash"/>
              </a:ln>
            </p:spPr>
            <p:txBody>
              <a:bodyPr wrap="square">
                <a:spAutoFit/>
              </a:bodyPr>
              <a:lstStyle/>
              <a:p>
                <a:r>
                  <a:rPr lang="zh-CN" altLang="en-US" sz="1200" dirty="0">
                    <a:solidFill>
                      <a:srgbClr val="0070C0"/>
                    </a:solidFill>
                    <a:latin typeface="+mn-ea"/>
                  </a:rPr>
                  <a:t>时间戳表征 </a:t>
                </a:r>
                <a14:m>
                  <m:oMath xmlns:m="http://schemas.openxmlformats.org/officeDocument/2006/math">
                    <m:sSubSup>
                      <m:sSubSupPr>
                        <m:ctrlPr>
                          <a:rPr lang="en-US" altLang="zh-CN" sz="1200" b="0" i="1" smtClean="0">
                            <a:solidFill>
                              <a:srgbClr val="0070C0"/>
                            </a:solidFill>
                            <a:latin typeface="Cambria Math" panose="02040503050406030204" pitchFamily="18" charset="0"/>
                          </a:rPr>
                        </m:ctrlPr>
                      </m:sSubSupPr>
                      <m:e>
                        <m:r>
                          <a:rPr lang="en-US" altLang="zh-CN" sz="1200" b="0" i="1" smtClean="0">
                            <a:solidFill>
                              <a:srgbClr val="0070C0"/>
                            </a:solidFill>
                            <a:latin typeface="Cambria Math" panose="02040503050406030204" pitchFamily="18" charset="0"/>
                          </a:rPr>
                          <m:t>𝑍𝑎</m:t>
                        </m:r>
                      </m:e>
                      <m:sub>
                        <m:r>
                          <a:rPr lang="en-US" altLang="zh-CN" sz="1200" b="0" i="1" smtClean="0">
                            <a:solidFill>
                              <a:srgbClr val="0070C0"/>
                            </a:solidFill>
                            <a:latin typeface="Cambria Math" panose="02040503050406030204" pitchFamily="18" charset="0"/>
                          </a:rPr>
                          <m:t>𝑑</m:t>
                        </m:r>
                      </m:sub>
                      <m:sup>
                        <m:r>
                          <a:rPr lang="en-US" altLang="zh-CN" sz="1200" b="0" i="1" smtClean="0">
                            <a:solidFill>
                              <a:srgbClr val="0070C0"/>
                            </a:solidFill>
                            <a:latin typeface="Cambria Math" panose="02040503050406030204" pitchFamily="18" charset="0"/>
                          </a:rPr>
                          <m:t>𝑇</m:t>
                        </m:r>
                      </m:sup>
                    </m:sSubSup>
                    <m:r>
                      <a:rPr lang="en-US" altLang="zh-CN" sz="1200" b="0" i="1" smtClean="0">
                        <a:solidFill>
                          <a:srgbClr val="0070C0"/>
                        </a:solidFill>
                        <a:latin typeface="Cambria Math" panose="02040503050406030204" pitchFamily="18" charset="0"/>
                      </a:rPr>
                      <m:t>∈</m:t>
                    </m:r>
                    <m:sSup>
                      <m:sSupPr>
                        <m:ctrlPr>
                          <a:rPr lang="en-US" altLang="zh-CN" sz="1200" b="0" i="1" smtClean="0">
                            <a:solidFill>
                              <a:srgbClr val="0070C0"/>
                            </a:solidFill>
                            <a:latin typeface="Cambria Math" panose="02040503050406030204" pitchFamily="18" charset="0"/>
                          </a:rPr>
                        </m:ctrlPr>
                      </m:sSupPr>
                      <m:e>
                        <m:r>
                          <a:rPr lang="en-US" altLang="zh-CN" sz="1200" b="0" i="1" smtClean="0">
                            <a:solidFill>
                              <a:srgbClr val="0070C0"/>
                            </a:solidFill>
                            <a:latin typeface="Cambria Math" panose="02040503050406030204" pitchFamily="18" charset="0"/>
                          </a:rPr>
                          <m:t>ℝ</m:t>
                        </m:r>
                      </m:e>
                      <m:sup>
                        <m:r>
                          <a:rPr lang="en-US" altLang="zh-CN" sz="1200" b="0" i="1" smtClean="0">
                            <a:solidFill>
                              <a:srgbClr val="0070C0"/>
                            </a:solidFill>
                            <a:latin typeface="Cambria Math" panose="02040503050406030204" pitchFamily="18" charset="0"/>
                          </a:rPr>
                          <m:t>𝐿</m:t>
                        </m:r>
                        <m:r>
                          <a:rPr lang="en-US" altLang="zh-CN" sz="1200" b="0" i="1" smtClean="0">
                            <a:solidFill>
                              <a:srgbClr val="0070C0"/>
                            </a:solidFill>
                            <a:latin typeface="Cambria Math" panose="02040503050406030204" pitchFamily="18" charset="0"/>
                          </a:rPr>
                          <m:t>×</m:t>
                        </m:r>
                        <m:sSub>
                          <m:sSubPr>
                            <m:ctrlPr>
                              <a:rPr lang="en-US" altLang="zh-CN" sz="1200" b="0" i="1" smtClean="0">
                                <a:solidFill>
                                  <a:srgbClr val="0070C0"/>
                                </a:solidFill>
                                <a:latin typeface="Cambria Math" panose="02040503050406030204" pitchFamily="18" charset="0"/>
                              </a:rPr>
                            </m:ctrlPr>
                          </m:sSubPr>
                          <m:e>
                            <m:r>
                              <a:rPr lang="en-US" altLang="zh-CN" sz="1200" b="0" i="1" smtClean="0">
                                <a:solidFill>
                                  <a:srgbClr val="0070C0"/>
                                </a:solidFill>
                                <a:latin typeface="Cambria Math" panose="02040503050406030204" pitchFamily="18" charset="0"/>
                              </a:rPr>
                              <m:t>𝑑</m:t>
                            </m:r>
                          </m:e>
                          <m:sub>
                            <m:r>
                              <a:rPr lang="en-US" altLang="zh-CN" sz="1200" b="0" i="1" smtClean="0">
                                <a:solidFill>
                                  <a:srgbClr val="0070C0"/>
                                </a:solidFill>
                                <a:latin typeface="Cambria Math" panose="02040503050406030204" pitchFamily="18" charset="0"/>
                              </a:rPr>
                              <m:t>𝑧</m:t>
                            </m:r>
                          </m:sub>
                        </m:sSub>
                      </m:sup>
                    </m:sSup>
                  </m:oMath>
                </a14:m>
                <a:endParaRPr lang="zh-CN" altLang="en-US" sz="1200" dirty="0">
                  <a:latin typeface="+mn-ea"/>
                </a:endParaRPr>
              </a:p>
            </p:txBody>
          </p:sp>
        </mc:Choice>
        <mc:Fallback xmlns="">
          <p:sp>
            <p:nvSpPr>
              <p:cNvPr id="4" name="文本框 3">
                <a:extLst>
                  <a:ext uri="{FF2B5EF4-FFF2-40B4-BE49-F238E27FC236}">
                    <a16:creationId xmlns:a16="http://schemas.microsoft.com/office/drawing/2014/main" id="{119CED48-5A6C-5EBE-B777-0E360ACCF586}"/>
                  </a:ext>
                </a:extLst>
              </p:cNvPr>
              <p:cNvSpPr txBox="1">
                <a:spLocks noRot="1" noChangeAspect="1" noMove="1" noResize="1" noEditPoints="1" noAdjustHandles="1" noChangeArrowheads="1" noChangeShapeType="1" noTextEdit="1"/>
              </p:cNvSpPr>
              <p:nvPr/>
            </p:nvSpPr>
            <p:spPr>
              <a:xfrm>
                <a:off x="1725759" y="1345512"/>
                <a:ext cx="2343091" cy="324000"/>
              </a:xfrm>
              <a:prstGeom prst="roundRect">
                <a:avLst/>
              </a:prstGeom>
              <a:blipFill>
                <a:blip r:embed="rId3"/>
                <a:stretch>
                  <a:fillRect b="-5455"/>
                </a:stretch>
              </a:blipFill>
              <a:ln>
                <a:solidFill>
                  <a:schemeClr val="tx1"/>
                </a:solidFill>
                <a:prstDash val="dash"/>
              </a:ln>
            </p:spPr>
            <p:txBody>
              <a:bodyPr/>
              <a:lstStyle/>
              <a:p>
                <a:r>
                  <a:rPr lang="zh-CN" altLang="en-US">
                    <a:noFill/>
                  </a:rPr>
                  <a:t> </a:t>
                </a:r>
              </a:p>
            </p:txBody>
          </p:sp>
        </mc:Fallback>
      </mc:AlternateContent>
      <p:sp>
        <p:nvSpPr>
          <p:cNvPr id="5" name="矩形: 圆角 4">
            <a:extLst>
              <a:ext uri="{FF2B5EF4-FFF2-40B4-BE49-F238E27FC236}">
                <a16:creationId xmlns:a16="http://schemas.microsoft.com/office/drawing/2014/main" id="{4B6CCA45-8A0F-20B9-FBF9-9E046151F216}"/>
              </a:ext>
            </a:extLst>
          </p:cNvPr>
          <p:cNvSpPr/>
          <p:nvPr/>
        </p:nvSpPr>
        <p:spPr>
          <a:xfrm>
            <a:off x="4706919" y="1398179"/>
            <a:ext cx="2481721" cy="402256"/>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b="1" dirty="0">
                <a:solidFill>
                  <a:schemeClr val="bg2">
                    <a:lumMod val="10000"/>
                  </a:schemeClr>
                </a:solidFill>
                <a:latin typeface="+mn-ea"/>
              </a:rPr>
              <a:t>Time-aware Model</a:t>
            </a:r>
            <a:endParaRPr lang="zh-CN" altLang="en-US" sz="1400" b="1" dirty="0">
              <a:solidFill>
                <a:schemeClr val="bg2">
                  <a:lumMod val="10000"/>
                </a:schemeClr>
              </a:solidFill>
              <a:latin typeface="+mn-ea"/>
            </a:endParaRPr>
          </a:p>
        </p:txBody>
      </p:sp>
      <p:cxnSp>
        <p:nvCxnSpPr>
          <p:cNvPr id="6" name="直接箭头连接符 5">
            <a:extLst>
              <a:ext uri="{FF2B5EF4-FFF2-40B4-BE49-F238E27FC236}">
                <a16:creationId xmlns:a16="http://schemas.microsoft.com/office/drawing/2014/main" id="{62EFA220-8E94-0C06-4E03-FF2E91287952}"/>
              </a:ext>
            </a:extLst>
          </p:cNvPr>
          <p:cNvCxnSpPr>
            <a:cxnSpLocks/>
            <a:stCxn id="4" idx="3"/>
            <a:endCxn id="5" idx="1"/>
          </p:cNvCxnSpPr>
          <p:nvPr/>
        </p:nvCxnSpPr>
        <p:spPr>
          <a:xfrm>
            <a:off x="4068850" y="1507512"/>
            <a:ext cx="638069" cy="917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715207C-379D-6677-558F-3B85E3CF67D1}"/>
                  </a:ext>
                </a:extLst>
              </p:cNvPr>
              <p:cNvSpPr txBox="1"/>
              <p:nvPr/>
            </p:nvSpPr>
            <p:spPr>
              <a:xfrm>
                <a:off x="1725759" y="1812590"/>
                <a:ext cx="2343091" cy="324000"/>
              </a:xfrm>
              <a:prstGeom prst="roundRect">
                <a:avLst/>
              </a:prstGeom>
              <a:noFill/>
              <a:ln>
                <a:solidFill>
                  <a:schemeClr val="tx1"/>
                </a:solidFill>
                <a:prstDash val="dash"/>
              </a:ln>
            </p:spPr>
            <p:txBody>
              <a:bodyPr wrap="square">
                <a:spAutoFit/>
              </a:bodyPr>
              <a:lstStyle/>
              <a:p>
                <a:r>
                  <a:rPr lang="zh-CN" altLang="en-US" sz="1200" dirty="0">
                    <a:solidFill>
                      <a:schemeClr val="accent5">
                        <a:lumMod val="75000"/>
                      </a:schemeClr>
                    </a:solidFill>
                    <a:latin typeface="+mn-ea"/>
                  </a:rPr>
                  <a:t>统计特征 </a:t>
                </a:r>
                <a14:m>
                  <m:oMath xmlns:m="http://schemas.openxmlformats.org/officeDocument/2006/math">
                    <m:sSubSup>
                      <m:sSubSupPr>
                        <m:ctrlPr>
                          <a:rPr lang="en-US" altLang="zh-CN" sz="1200" i="1" dirty="0">
                            <a:solidFill>
                              <a:schemeClr val="accent5">
                                <a:lumMod val="75000"/>
                              </a:schemeClr>
                            </a:solidFill>
                            <a:latin typeface="Cambria Math" panose="02040503050406030204" pitchFamily="18" charset="0"/>
                          </a:rPr>
                        </m:ctrlPr>
                      </m:sSubSupPr>
                      <m:e>
                        <m:r>
                          <a:rPr lang="en-US" altLang="zh-CN" sz="1200" i="1" dirty="0">
                            <a:solidFill>
                              <a:schemeClr val="accent5">
                                <a:lumMod val="75000"/>
                              </a:schemeClr>
                            </a:solidFill>
                            <a:latin typeface="Cambria Math" panose="02040503050406030204" pitchFamily="18" charset="0"/>
                          </a:rPr>
                          <m:t>𝐹𝑎</m:t>
                        </m:r>
                      </m:e>
                      <m:sub>
                        <m:r>
                          <a:rPr lang="en-US" altLang="zh-CN" sz="1200" i="1" dirty="0">
                            <a:solidFill>
                              <a:schemeClr val="accent5">
                                <a:lumMod val="75000"/>
                              </a:schemeClr>
                            </a:solidFill>
                            <a:latin typeface="Cambria Math" panose="02040503050406030204" pitchFamily="18" charset="0"/>
                          </a:rPr>
                          <m:t>𝑑</m:t>
                        </m:r>
                      </m:sub>
                      <m:sup>
                        <m:r>
                          <a:rPr lang="en-US" altLang="zh-CN" sz="1200" i="1" dirty="0">
                            <a:solidFill>
                              <a:schemeClr val="accent5">
                                <a:lumMod val="75000"/>
                              </a:schemeClr>
                            </a:solidFill>
                            <a:latin typeface="Cambria Math" panose="02040503050406030204" pitchFamily="18" charset="0"/>
                          </a:rPr>
                          <m:t>𝑇</m:t>
                        </m:r>
                      </m:sup>
                    </m:sSubSup>
                    <m:r>
                      <a:rPr lang="en-US" altLang="zh-CN" sz="1200" i="1" dirty="0">
                        <a:solidFill>
                          <a:schemeClr val="accent5">
                            <a:lumMod val="75000"/>
                          </a:schemeClr>
                        </a:solidFill>
                        <a:latin typeface="Cambria Math" panose="02040503050406030204" pitchFamily="18" charset="0"/>
                      </a:rPr>
                      <m:t>∈</m:t>
                    </m:r>
                    <m:sSup>
                      <m:sSupPr>
                        <m:ctrlPr>
                          <a:rPr lang="en-US" altLang="zh-CN" sz="1200" i="1" dirty="0">
                            <a:solidFill>
                              <a:schemeClr val="accent5">
                                <a:lumMod val="75000"/>
                              </a:schemeClr>
                            </a:solidFill>
                            <a:latin typeface="Cambria Math" panose="02040503050406030204" pitchFamily="18" charset="0"/>
                          </a:rPr>
                        </m:ctrlPr>
                      </m:sSupPr>
                      <m:e>
                        <m:r>
                          <a:rPr lang="en-US" altLang="zh-CN" sz="1200" i="1" dirty="0">
                            <a:solidFill>
                              <a:schemeClr val="accent5">
                                <a:lumMod val="75000"/>
                              </a:schemeClr>
                            </a:solidFill>
                            <a:latin typeface="Cambria Math" panose="02040503050406030204" pitchFamily="18" charset="0"/>
                          </a:rPr>
                          <m:t>ℝ</m:t>
                        </m:r>
                      </m:e>
                      <m:sup>
                        <m:sSub>
                          <m:sSubPr>
                            <m:ctrlPr>
                              <a:rPr lang="en-US" altLang="zh-CN" sz="1200" i="1" dirty="0">
                                <a:solidFill>
                                  <a:schemeClr val="accent5">
                                    <a:lumMod val="75000"/>
                                  </a:schemeClr>
                                </a:solidFill>
                                <a:latin typeface="Cambria Math" panose="02040503050406030204" pitchFamily="18" charset="0"/>
                              </a:rPr>
                            </m:ctrlPr>
                          </m:sSubPr>
                          <m:e>
                            <m:r>
                              <a:rPr lang="en-US" altLang="zh-CN" sz="1200" i="1" dirty="0">
                                <a:solidFill>
                                  <a:schemeClr val="accent5">
                                    <a:lumMod val="75000"/>
                                  </a:schemeClr>
                                </a:solidFill>
                                <a:latin typeface="Cambria Math" panose="02040503050406030204" pitchFamily="18" charset="0"/>
                              </a:rPr>
                              <m:t>𝑑</m:t>
                            </m:r>
                          </m:e>
                          <m:sub>
                            <m:r>
                              <a:rPr lang="en-US" altLang="zh-CN" sz="1200" i="1" dirty="0">
                                <a:solidFill>
                                  <a:schemeClr val="accent5">
                                    <a:lumMod val="75000"/>
                                  </a:schemeClr>
                                </a:solidFill>
                                <a:latin typeface="Cambria Math" panose="02040503050406030204" pitchFamily="18" charset="0"/>
                              </a:rPr>
                              <m:t>𝑎</m:t>
                            </m:r>
                          </m:sub>
                        </m:sSub>
                      </m:sup>
                    </m:sSup>
                  </m:oMath>
                </a14:m>
                <a:endParaRPr lang="zh-CN" altLang="en-US" sz="1200" dirty="0">
                  <a:solidFill>
                    <a:schemeClr val="accent1"/>
                  </a:solidFill>
                  <a:latin typeface="+mn-ea"/>
                </a:endParaRPr>
              </a:p>
            </p:txBody>
          </p:sp>
        </mc:Choice>
        <mc:Fallback xmlns="">
          <p:sp>
            <p:nvSpPr>
              <p:cNvPr id="7" name="文本框 6">
                <a:extLst>
                  <a:ext uri="{FF2B5EF4-FFF2-40B4-BE49-F238E27FC236}">
                    <a16:creationId xmlns:a16="http://schemas.microsoft.com/office/drawing/2014/main" id="{C715207C-379D-6677-558F-3B85E3CF67D1}"/>
                  </a:ext>
                </a:extLst>
              </p:cNvPr>
              <p:cNvSpPr txBox="1">
                <a:spLocks noRot="1" noChangeAspect="1" noMove="1" noResize="1" noEditPoints="1" noAdjustHandles="1" noChangeArrowheads="1" noChangeShapeType="1" noTextEdit="1"/>
              </p:cNvSpPr>
              <p:nvPr/>
            </p:nvSpPr>
            <p:spPr>
              <a:xfrm>
                <a:off x="1725759" y="1812590"/>
                <a:ext cx="2343091" cy="324000"/>
              </a:xfrm>
              <a:prstGeom prst="roundRect">
                <a:avLst/>
              </a:prstGeom>
              <a:blipFill>
                <a:blip r:embed="rId4"/>
                <a:stretch>
                  <a:fillRect b="-7273"/>
                </a:stretch>
              </a:blipFill>
              <a:ln>
                <a:solidFill>
                  <a:schemeClr val="tx1"/>
                </a:solidFill>
                <a:prstDash val="dash"/>
              </a:ln>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DA8C9FF1-700F-804A-C6A8-5CD2A9CB3698}"/>
              </a:ext>
            </a:extLst>
          </p:cNvPr>
          <p:cNvCxnSpPr>
            <a:cxnSpLocks/>
            <a:stCxn id="7" idx="3"/>
            <a:endCxn id="9" idx="1"/>
          </p:cNvCxnSpPr>
          <p:nvPr/>
        </p:nvCxnSpPr>
        <p:spPr>
          <a:xfrm>
            <a:off x="4068850" y="1974590"/>
            <a:ext cx="638068" cy="2549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圆角 8">
            <a:extLst>
              <a:ext uri="{FF2B5EF4-FFF2-40B4-BE49-F238E27FC236}">
                <a16:creationId xmlns:a16="http://schemas.microsoft.com/office/drawing/2014/main" id="{B807618C-47A1-B50F-7AD4-591A1F61D3C4}"/>
              </a:ext>
            </a:extLst>
          </p:cNvPr>
          <p:cNvSpPr/>
          <p:nvPr/>
        </p:nvSpPr>
        <p:spPr>
          <a:xfrm>
            <a:off x="4706918" y="2028374"/>
            <a:ext cx="2481721" cy="402256"/>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b="1" dirty="0">
                <a:solidFill>
                  <a:schemeClr val="bg2">
                    <a:lumMod val="10000"/>
                  </a:schemeClr>
                </a:solidFill>
                <a:latin typeface="+mn-ea"/>
              </a:rPr>
              <a:t>Time-patch scale Model</a:t>
            </a:r>
            <a:endParaRPr lang="zh-CN" altLang="en-US" sz="1400" b="1" dirty="0">
              <a:solidFill>
                <a:schemeClr val="bg2">
                  <a:lumMod val="10000"/>
                </a:schemeClr>
              </a:solidFill>
              <a:latin typeface="+mn-ea"/>
            </a:endParaRPr>
          </a:p>
        </p:txBody>
      </p:sp>
      <p:cxnSp>
        <p:nvCxnSpPr>
          <p:cNvPr id="10" name="直接箭头连接符 9">
            <a:extLst>
              <a:ext uri="{FF2B5EF4-FFF2-40B4-BE49-F238E27FC236}">
                <a16:creationId xmlns:a16="http://schemas.microsoft.com/office/drawing/2014/main" id="{037AABEC-7117-CD5C-12C9-CC7E03AA56C6}"/>
              </a:ext>
            </a:extLst>
          </p:cNvPr>
          <p:cNvCxnSpPr>
            <a:cxnSpLocks/>
            <a:stCxn id="13" idx="3"/>
            <a:endCxn id="11" idx="1"/>
          </p:cNvCxnSpPr>
          <p:nvPr/>
        </p:nvCxnSpPr>
        <p:spPr>
          <a:xfrm>
            <a:off x="4068850" y="2441668"/>
            <a:ext cx="638067" cy="3903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圆角 10">
            <a:extLst>
              <a:ext uri="{FF2B5EF4-FFF2-40B4-BE49-F238E27FC236}">
                <a16:creationId xmlns:a16="http://schemas.microsoft.com/office/drawing/2014/main" id="{F9762BB1-748C-E73F-0C44-C24D94B67363}"/>
              </a:ext>
            </a:extLst>
          </p:cNvPr>
          <p:cNvSpPr/>
          <p:nvPr/>
        </p:nvSpPr>
        <p:spPr>
          <a:xfrm>
            <a:off x="4706917" y="2630864"/>
            <a:ext cx="2481721" cy="402256"/>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b="1" dirty="0">
                <a:solidFill>
                  <a:schemeClr val="bg2">
                    <a:lumMod val="10000"/>
                  </a:schemeClr>
                </a:solidFill>
                <a:latin typeface="+mn-ea"/>
              </a:rPr>
              <a:t>Time-point scale Model</a:t>
            </a:r>
            <a:endParaRPr lang="zh-CN" altLang="en-US" sz="1400" b="1" dirty="0">
              <a:solidFill>
                <a:schemeClr val="bg2">
                  <a:lumMod val="10000"/>
                </a:schemeClr>
              </a:solidFill>
              <a:latin typeface="+mn-ea"/>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DDFABD6-499D-CCF2-BA47-DE76232DE044}"/>
                  </a:ext>
                </a:extLst>
              </p:cNvPr>
              <p:cNvSpPr txBox="1"/>
              <p:nvPr/>
            </p:nvSpPr>
            <p:spPr>
              <a:xfrm>
                <a:off x="1725759" y="2746746"/>
                <a:ext cx="2343091" cy="324000"/>
              </a:xfrm>
              <a:prstGeom prst="roundRect">
                <a:avLst/>
              </a:prstGeom>
              <a:noFill/>
              <a:ln>
                <a:solidFill>
                  <a:schemeClr val="tx1"/>
                </a:solidFill>
                <a:prstDash val="dash"/>
              </a:ln>
            </p:spPr>
            <p:txBody>
              <a:bodyPr wrap="square">
                <a:spAutoFit/>
              </a:bodyPr>
              <a:lstStyle/>
              <a:p>
                <a:r>
                  <a:rPr lang="zh-CN" altLang="en-US" sz="1200" dirty="0">
                    <a:solidFill>
                      <a:schemeClr val="accent1"/>
                    </a:solidFill>
                    <a:latin typeface="+mn-ea"/>
                  </a:rPr>
                  <a:t>多层级时空特征 </a:t>
                </a:r>
                <a14:m>
                  <m:oMath xmlns:m="http://schemas.openxmlformats.org/officeDocument/2006/math">
                    <m:sSubSup>
                      <m:sSubSupPr>
                        <m:ctrlPr>
                          <a:rPr lang="en-US" altLang="zh-CN" sz="1200" i="1" dirty="0">
                            <a:solidFill>
                              <a:schemeClr val="accent1"/>
                            </a:solidFill>
                            <a:latin typeface="Cambria Math" panose="02040503050406030204" pitchFamily="18" charset="0"/>
                          </a:rPr>
                        </m:ctrlPr>
                      </m:sSubSupPr>
                      <m:e>
                        <m:r>
                          <a:rPr lang="en-US" altLang="zh-CN" sz="1200" i="1" dirty="0">
                            <a:solidFill>
                              <a:schemeClr val="accent1"/>
                            </a:solidFill>
                            <a:latin typeface="Cambria Math" panose="02040503050406030204" pitchFamily="18" charset="0"/>
                          </a:rPr>
                          <m:t>𝐹𝑐</m:t>
                        </m:r>
                      </m:e>
                      <m:sub>
                        <m:r>
                          <a:rPr lang="en-US" altLang="zh-CN" sz="1200" i="1" dirty="0">
                            <a:solidFill>
                              <a:schemeClr val="accent1"/>
                            </a:solidFill>
                            <a:latin typeface="Cambria Math" panose="02040503050406030204" pitchFamily="18" charset="0"/>
                          </a:rPr>
                          <m:t>𝑑</m:t>
                        </m:r>
                      </m:sub>
                      <m:sup>
                        <m:r>
                          <a:rPr lang="en-US" altLang="zh-CN" sz="1200" i="1" dirty="0">
                            <a:solidFill>
                              <a:schemeClr val="accent1"/>
                            </a:solidFill>
                            <a:latin typeface="Cambria Math" panose="02040503050406030204" pitchFamily="18" charset="0"/>
                          </a:rPr>
                          <m:t>𝑇</m:t>
                        </m:r>
                      </m:sup>
                    </m:sSubSup>
                    <m:r>
                      <a:rPr lang="en-US" altLang="zh-CN" sz="1200" i="1" dirty="0">
                        <a:solidFill>
                          <a:schemeClr val="accent1"/>
                        </a:solidFill>
                        <a:latin typeface="Cambria Math" panose="02040503050406030204" pitchFamily="18" charset="0"/>
                      </a:rPr>
                      <m:t>∈</m:t>
                    </m:r>
                    <m:sSup>
                      <m:sSupPr>
                        <m:ctrlPr>
                          <a:rPr lang="en-US" altLang="zh-CN" sz="1200" i="1" dirty="0">
                            <a:solidFill>
                              <a:schemeClr val="accent1"/>
                            </a:solidFill>
                            <a:latin typeface="Cambria Math" panose="02040503050406030204" pitchFamily="18" charset="0"/>
                          </a:rPr>
                        </m:ctrlPr>
                      </m:sSupPr>
                      <m:e>
                        <m:r>
                          <a:rPr lang="en-US" altLang="zh-CN" sz="1200" i="1" dirty="0">
                            <a:solidFill>
                              <a:schemeClr val="accent1"/>
                            </a:solidFill>
                            <a:latin typeface="Cambria Math" panose="02040503050406030204" pitchFamily="18" charset="0"/>
                          </a:rPr>
                          <m:t>ℝ</m:t>
                        </m:r>
                      </m:e>
                      <m:sup>
                        <m:sSub>
                          <m:sSubPr>
                            <m:ctrlPr>
                              <a:rPr lang="en-US" altLang="zh-CN" sz="1200" i="1" dirty="0">
                                <a:solidFill>
                                  <a:schemeClr val="accent1"/>
                                </a:solidFill>
                                <a:latin typeface="Cambria Math" panose="02040503050406030204" pitchFamily="18" charset="0"/>
                              </a:rPr>
                            </m:ctrlPr>
                          </m:sSubPr>
                          <m:e>
                            <m:r>
                              <a:rPr lang="en-US" altLang="zh-CN" sz="1200" i="1" dirty="0">
                                <a:solidFill>
                                  <a:schemeClr val="accent1"/>
                                </a:solidFill>
                                <a:latin typeface="Cambria Math" panose="02040503050406030204" pitchFamily="18" charset="0"/>
                              </a:rPr>
                              <m:t>𝑑</m:t>
                            </m:r>
                          </m:e>
                          <m:sub>
                            <m:r>
                              <a:rPr lang="en-US" altLang="zh-CN" sz="1200" i="1" dirty="0">
                                <a:solidFill>
                                  <a:schemeClr val="accent1"/>
                                </a:solidFill>
                                <a:latin typeface="Cambria Math" panose="02040503050406030204" pitchFamily="18" charset="0"/>
                              </a:rPr>
                              <m:t>𝑐</m:t>
                            </m:r>
                          </m:sub>
                        </m:sSub>
                      </m:sup>
                    </m:sSup>
                  </m:oMath>
                </a14:m>
                <a:endParaRPr lang="zh-CN" altLang="en-US" sz="1200" dirty="0">
                  <a:solidFill>
                    <a:schemeClr val="accent1"/>
                  </a:solidFill>
                  <a:latin typeface="+mn-ea"/>
                </a:endParaRPr>
              </a:p>
            </p:txBody>
          </p:sp>
        </mc:Choice>
        <mc:Fallback xmlns="">
          <p:sp>
            <p:nvSpPr>
              <p:cNvPr id="12" name="文本框 11">
                <a:extLst>
                  <a:ext uri="{FF2B5EF4-FFF2-40B4-BE49-F238E27FC236}">
                    <a16:creationId xmlns:a16="http://schemas.microsoft.com/office/drawing/2014/main" id="{DDDFABD6-499D-CCF2-BA47-DE76232DE044}"/>
                  </a:ext>
                </a:extLst>
              </p:cNvPr>
              <p:cNvSpPr txBox="1">
                <a:spLocks noRot="1" noChangeAspect="1" noMove="1" noResize="1" noEditPoints="1" noAdjustHandles="1" noChangeArrowheads="1" noChangeShapeType="1" noTextEdit="1"/>
              </p:cNvSpPr>
              <p:nvPr/>
            </p:nvSpPr>
            <p:spPr>
              <a:xfrm>
                <a:off x="1725759" y="2746746"/>
                <a:ext cx="2343091" cy="324000"/>
              </a:xfrm>
              <a:prstGeom prst="roundRect">
                <a:avLst/>
              </a:prstGeom>
              <a:blipFill>
                <a:blip r:embed="rId5"/>
                <a:stretch>
                  <a:fillRect b="-5455"/>
                </a:stretch>
              </a:blipFill>
              <a:ln>
                <a:solidFill>
                  <a:schemeClr val="tx1"/>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FD443F7-A63E-B2D8-0E6A-A960E3EC4B40}"/>
                  </a:ext>
                </a:extLst>
              </p:cNvPr>
              <p:cNvSpPr txBox="1"/>
              <p:nvPr/>
            </p:nvSpPr>
            <p:spPr>
              <a:xfrm>
                <a:off x="1725759" y="2279668"/>
                <a:ext cx="2343091" cy="324000"/>
              </a:xfrm>
              <a:prstGeom prst="roundRect">
                <a:avLst/>
              </a:prstGeom>
              <a:noFill/>
              <a:ln>
                <a:solidFill>
                  <a:schemeClr val="tx1"/>
                </a:solidFill>
                <a:prstDash val="dash"/>
              </a:ln>
            </p:spPr>
            <p:txBody>
              <a:bodyPr wrap="square">
                <a:spAutoFit/>
              </a:bodyPr>
              <a:lstStyle/>
              <a:p>
                <a:r>
                  <a:rPr lang="zh-CN" altLang="en-US" sz="1200" dirty="0">
                    <a:solidFill>
                      <a:srgbClr val="ED6D00"/>
                    </a:solidFill>
                    <a:latin typeface="+mn-ea"/>
                  </a:rPr>
                  <a:t>事件空间特征 </a:t>
                </a:r>
                <a14:m>
                  <m:oMath xmlns:m="http://schemas.openxmlformats.org/officeDocument/2006/math">
                    <m:sSubSup>
                      <m:sSubSupPr>
                        <m:ctrlPr>
                          <a:rPr lang="en-US" altLang="zh-CN" sz="1200" i="1" dirty="0">
                            <a:solidFill>
                              <a:srgbClr val="ED6D00"/>
                            </a:solidFill>
                            <a:latin typeface="Cambria Math" panose="02040503050406030204" pitchFamily="18" charset="0"/>
                          </a:rPr>
                        </m:ctrlPr>
                      </m:sSubSupPr>
                      <m:e>
                        <m:r>
                          <a:rPr lang="en-US" altLang="zh-CN" sz="1200" i="1" dirty="0">
                            <a:solidFill>
                              <a:srgbClr val="ED6D00"/>
                            </a:solidFill>
                            <a:latin typeface="Cambria Math" panose="02040503050406030204" pitchFamily="18" charset="0"/>
                          </a:rPr>
                          <m:t>𝐹𝑏</m:t>
                        </m:r>
                      </m:e>
                      <m:sub>
                        <m:r>
                          <a:rPr lang="en-US" altLang="zh-CN" sz="1200" i="1" dirty="0">
                            <a:solidFill>
                              <a:srgbClr val="ED6D00"/>
                            </a:solidFill>
                            <a:latin typeface="Cambria Math" panose="02040503050406030204" pitchFamily="18" charset="0"/>
                          </a:rPr>
                          <m:t>𝑑</m:t>
                        </m:r>
                      </m:sub>
                      <m:sup>
                        <m:r>
                          <a:rPr lang="en-US" altLang="zh-CN" sz="1200" i="1" dirty="0">
                            <a:solidFill>
                              <a:srgbClr val="ED6D00"/>
                            </a:solidFill>
                            <a:latin typeface="Cambria Math" panose="02040503050406030204" pitchFamily="18" charset="0"/>
                          </a:rPr>
                          <m:t>𝑇</m:t>
                        </m:r>
                      </m:sup>
                    </m:sSubSup>
                    <m:r>
                      <a:rPr lang="en-US" altLang="zh-CN" sz="1200" i="1" dirty="0">
                        <a:solidFill>
                          <a:srgbClr val="ED6D00"/>
                        </a:solidFill>
                        <a:latin typeface="Cambria Math" panose="02040503050406030204" pitchFamily="18" charset="0"/>
                      </a:rPr>
                      <m:t>∈</m:t>
                    </m:r>
                    <m:sSup>
                      <m:sSupPr>
                        <m:ctrlPr>
                          <a:rPr lang="en-US" altLang="zh-CN" sz="1200" i="1" dirty="0">
                            <a:solidFill>
                              <a:srgbClr val="ED6D00"/>
                            </a:solidFill>
                            <a:latin typeface="Cambria Math" panose="02040503050406030204" pitchFamily="18" charset="0"/>
                          </a:rPr>
                        </m:ctrlPr>
                      </m:sSupPr>
                      <m:e>
                        <m:r>
                          <a:rPr lang="en-US" altLang="zh-CN" sz="1200" i="1" dirty="0">
                            <a:solidFill>
                              <a:srgbClr val="ED6D00"/>
                            </a:solidFill>
                            <a:latin typeface="Cambria Math" panose="02040503050406030204" pitchFamily="18" charset="0"/>
                          </a:rPr>
                          <m:t>ℝ</m:t>
                        </m:r>
                      </m:e>
                      <m:sup>
                        <m:r>
                          <a:rPr lang="en-US" altLang="zh-CN" sz="1200" i="1" dirty="0">
                            <a:solidFill>
                              <a:srgbClr val="ED6D00"/>
                            </a:solidFill>
                            <a:latin typeface="Cambria Math" panose="02040503050406030204" pitchFamily="18" charset="0"/>
                          </a:rPr>
                          <m:t>𝐿</m:t>
                        </m:r>
                        <m:r>
                          <a:rPr lang="en-US" altLang="zh-CN" sz="1200" i="1" dirty="0">
                            <a:solidFill>
                              <a:srgbClr val="ED6D00"/>
                            </a:solidFill>
                            <a:latin typeface="Cambria Math" panose="02040503050406030204" pitchFamily="18" charset="0"/>
                          </a:rPr>
                          <m:t>×</m:t>
                        </m:r>
                        <m:sSub>
                          <m:sSubPr>
                            <m:ctrlPr>
                              <a:rPr lang="en-US" altLang="zh-CN" sz="1200" i="1" dirty="0">
                                <a:solidFill>
                                  <a:srgbClr val="ED6D00"/>
                                </a:solidFill>
                                <a:latin typeface="Cambria Math" panose="02040503050406030204" pitchFamily="18" charset="0"/>
                              </a:rPr>
                            </m:ctrlPr>
                          </m:sSubPr>
                          <m:e>
                            <m:r>
                              <a:rPr lang="en-US" altLang="zh-CN" sz="1200" i="1" dirty="0">
                                <a:solidFill>
                                  <a:srgbClr val="ED6D00"/>
                                </a:solidFill>
                                <a:latin typeface="Cambria Math" panose="02040503050406030204" pitchFamily="18" charset="0"/>
                              </a:rPr>
                              <m:t>𝑑</m:t>
                            </m:r>
                          </m:e>
                          <m:sub>
                            <m:r>
                              <a:rPr lang="en-US" altLang="zh-CN" sz="1200" i="1" dirty="0">
                                <a:solidFill>
                                  <a:srgbClr val="ED6D00"/>
                                </a:solidFill>
                                <a:latin typeface="Cambria Math" panose="02040503050406030204" pitchFamily="18" charset="0"/>
                              </a:rPr>
                              <m:t>𝑏</m:t>
                            </m:r>
                          </m:sub>
                        </m:sSub>
                      </m:sup>
                    </m:sSup>
                  </m:oMath>
                </a14:m>
                <a:endParaRPr lang="zh-CN" altLang="en-US" sz="1200" dirty="0">
                  <a:solidFill>
                    <a:srgbClr val="ED6D00"/>
                  </a:solidFill>
                  <a:latin typeface="+mn-ea"/>
                </a:endParaRPr>
              </a:p>
            </p:txBody>
          </p:sp>
        </mc:Choice>
        <mc:Fallback xmlns="">
          <p:sp>
            <p:nvSpPr>
              <p:cNvPr id="13" name="文本框 12">
                <a:extLst>
                  <a:ext uri="{FF2B5EF4-FFF2-40B4-BE49-F238E27FC236}">
                    <a16:creationId xmlns:a16="http://schemas.microsoft.com/office/drawing/2014/main" id="{FFD443F7-A63E-B2D8-0E6A-A960E3EC4B40}"/>
                  </a:ext>
                </a:extLst>
              </p:cNvPr>
              <p:cNvSpPr txBox="1">
                <a:spLocks noRot="1" noChangeAspect="1" noMove="1" noResize="1" noEditPoints="1" noAdjustHandles="1" noChangeArrowheads="1" noChangeShapeType="1" noTextEdit="1"/>
              </p:cNvSpPr>
              <p:nvPr/>
            </p:nvSpPr>
            <p:spPr>
              <a:xfrm>
                <a:off x="1725759" y="2279668"/>
                <a:ext cx="2343091" cy="324000"/>
              </a:xfrm>
              <a:prstGeom prst="roundRect">
                <a:avLst/>
              </a:prstGeom>
              <a:blipFill>
                <a:blip r:embed="rId6"/>
                <a:stretch>
                  <a:fillRect b="-7273"/>
                </a:stretch>
              </a:blipFill>
              <a:ln>
                <a:solidFill>
                  <a:schemeClr val="tx1"/>
                </a:solidFill>
                <a:prstDash val="dash"/>
              </a:ln>
            </p:spPr>
            <p:txBody>
              <a:bodyPr/>
              <a:lstStyle/>
              <a:p>
                <a:r>
                  <a:rPr lang="zh-CN" altLang="en-US">
                    <a:noFill/>
                  </a:rPr>
                  <a:t> </a:t>
                </a:r>
              </a:p>
            </p:txBody>
          </p:sp>
        </mc:Fallback>
      </mc:AlternateContent>
      <p:cxnSp>
        <p:nvCxnSpPr>
          <p:cNvPr id="14" name="直接箭头连接符 13">
            <a:extLst>
              <a:ext uri="{FF2B5EF4-FFF2-40B4-BE49-F238E27FC236}">
                <a16:creationId xmlns:a16="http://schemas.microsoft.com/office/drawing/2014/main" id="{996D970D-CE84-23FC-2C9F-CB80A24806ED}"/>
              </a:ext>
            </a:extLst>
          </p:cNvPr>
          <p:cNvCxnSpPr>
            <a:cxnSpLocks/>
            <a:stCxn id="13" idx="3"/>
            <a:endCxn id="5" idx="1"/>
          </p:cNvCxnSpPr>
          <p:nvPr/>
        </p:nvCxnSpPr>
        <p:spPr>
          <a:xfrm flipV="1">
            <a:off x="4068850" y="1599307"/>
            <a:ext cx="638069" cy="8423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707BF574-E435-A96A-A44F-14CDE4FD9F91}"/>
              </a:ext>
            </a:extLst>
          </p:cNvPr>
          <p:cNvCxnSpPr>
            <a:cxnSpLocks/>
            <a:stCxn id="12" idx="3"/>
            <a:endCxn id="9" idx="1"/>
          </p:cNvCxnSpPr>
          <p:nvPr/>
        </p:nvCxnSpPr>
        <p:spPr>
          <a:xfrm flipV="1">
            <a:off x="4068850" y="2229502"/>
            <a:ext cx="638068" cy="6792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圆角 15">
            <a:extLst>
              <a:ext uri="{FF2B5EF4-FFF2-40B4-BE49-F238E27FC236}">
                <a16:creationId xmlns:a16="http://schemas.microsoft.com/office/drawing/2014/main" id="{0A2E8792-A150-F0B8-3BC3-12C50063199B}"/>
              </a:ext>
            </a:extLst>
          </p:cNvPr>
          <p:cNvSpPr/>
          <p:nvPr/>
        </p:nvSpPr>
        <p:spPr>
          <a:xfrm>
            <a:off x="7661573" y="1398179"/>
            <a:ext cx="2481721" cy="402256"/>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b="1" dirty="0">
                <a:solidFill>
                  <a:schemeClr val="bg2">
                    <a:lumMod val="10000"/>
                  </a:schemeClr>
                </a:solidFill>
                <a:latin typeface="+mn-ea"/>
              </a:rPr>
              <a:t>SRE Engineer Inspection</a:t>
            </a:r>
            <a:endParaRPr lang="zh-CN" altLang="en-US" sz="1200" b="1" dirty="0">
              <a:solidFill>
                <a:schemeClr val="bg2">
                  <a:lumMod val="10000"/>
                </a:schemeClr>
              </a:solidFill>
              <a:latin typeface="+mn-ea"/>
            </a:endParaRPr>
          </a:p>
        </p:txBody>
      </p:sp>
      <p:sp>
        <p:nvSpPr>
          <p:cNvPr id="17" name="矩形: 圆角 16">
            <a:extLst>
              <a:ext uri="{FF2B5EF4-FFF2-40B4-BE49-F238E27FC236}">
                <a16:creationId xmlns:a16="http://schemas.microsoft.com/office/drawing/2014/main" id="{C8A46EED-3DFF-9885-55D5-D91F3E852635}"/>
              </a:ext>
            </a:extLst>
          </p:cNvPr>
          <p:cNvSpPr/>
          <p:nvPr/>
        </p:nvSpPr>
        <p:spPr>
          <a:xfrm>
            <a:off x="7661572" y="2028374"/>
            <a:ext cx="2481721" cy="402256"/>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b="1" dirty="0">
                <a:solidFill>
                  <a:schemeClr val="bg2">
                    <a:lumMod val="10000"/>
                  </a:schemeClr>
                </a:solidFill>
                <a:latin typeface="+mn-ea"/>
              </a:rPr>
              <a:t>Post-hoc Interpretability Tools</a:t>
            </a:r>
            <a:endParaRPr lang="zh-CN" altLang="en-US" sz="1200" b="1" dirty="0">
              <a:solidFill>
                <a:schemeClr val="bg2">
                  <a:lumMod val="10000"/>
                </a:schemeClr>
              </a:solidFill>
              <a:latin typeface="+mn-ea"/>
            </a:endParaRPr>
          </a:p>
        </p:txBody>
      </p:sp>
      <p:sp>
        <p:nvSpPr>
          <p:cNvPr id="18" name="矩形: 圆角 17">
            <a:extLst>
              <a:ext uri="{FF2B5EF4-FFF2-40B4-BE49-F238E27FC236}">
                <a16:creationId xmlns:a16="http://schemas.microsoft.com/office/drawing/2014/main" id="{5BEC4265-57DD-AD41-3170-531E5B3727E0}"/>
              </a:ext>
            </a:extLst>
          </p:cNvPr>
          <p:cNvSpPr/>
          <p:nvPr/>
        </p:nvSpPr>
        <p:spPr>
          <a:xfrm>
            <a:off x="7661571" y="2630864"/>
            <a:ext cx="2481721" cy="402256"/>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b="1" dirty="0">
                <a:solidFill>
                  <a:schemeClr val="bg2">
                    <a:lumMod val="10000"/>
                  </a:schemeClr>
                </a:solidFill>
                <a:latin typeface="+mn-ea"/>
              </a:rPr>
              <a:t>Model Interpretability</a:t>
            </a:r>
            <a:endParaRPr lang="zh-CN" altLang="en-US" sz="1200" b="1" dirty="0">
              <a:solidFill>
                <a:schemeClr val="bg2">
                  <a:lumMod val="10000"/>
                </a:schemeClr>
              </a:solidFill>
              <a:latin typeface="+mn-ea"/>
            </a:endParaRPr>
          </a:p>
        </p:txBody>
      </p:sp>
      <p:cxnSp>
        <p:nvCxnSpPr>
          <p:cNvPr id="19" name="直接箭头连接符 18">
            <a:extLst>
              <a:ext uri="{FF2B5EF4-FFF2-40B4-BE49-F238E27FC236}">
                <a16:creationId xmlns:a16="http://schemas.microsoft.com/office/drawing/2014/main" id="{C95CA2C7-E532-A13A-41AB-D0711343AF73}"/>
              </a:ext>
            </a:extLst>
          </p:cNvPr>
          <p:cNvCxnSpPr>
            <a:cxnSpLocks/>
            <a:stCxn id="5" idx="3"/>
            <a:endCxn id="16" idx="1"/>
          </p:cNvCxnSpPr>
          <p:nvPr/>
        </p:nvCxnSpPr>
        <p:spPr>
          <a:xfrm>
            <a:off x="7188640" y="1599307"/>
            <a:ext cx="4729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71D81AD8-5169-951A-2FE2-A77819E008CC}"/>
              </a:ext>
            </a:extLst>
          </p:cNvPr>
          <p:cNvCxnSpPr>
            <a:cxnSpLocks/>
            <a:stCxn id="9" idx="3"/>
            <a:endCxn id="17" idx="1"/>
          </p:cNvCxnSpPr>
          <p:nvPr/>
        </p:nvCxnSpPr>
        <p:spPr>
          <a:xfrm>
            <a:off x="7188639" y="2229502"/>
            <a:ext cx="4729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8C68ECD-79A1-5038-5294-518AA2E94F8C}"/>
              </a:ext>
            </a:extLst>
          </p:cNvPr>
          <p:cNvCxnSpPr>
            <a:cxnSpLocks/>
            <a:stCxn id="11" idx="3"/>
            <a:endCxn id="18" idx="1"/>
          </p:cNvCxnSpPr>
          <p:nvPr/>
        </p:nvCxnSpPr>
        <p:spPr>
          <a:xfrm>
            <a:off x="7188638" y="2831992"/>
            <a:ext cx="4729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30F4400E-6D1F-2DE1-A824-928AD191C8E5}"/>
              </a:ext>
            </a:extLst>
          </p:cNvPr>
          <p:cNvCxnSpPr>
            <a:cxnSpLocks/>
            <a:stCxn id="9" idx="3"/>
            <a:endCxn id="16" idx="1"/>
          </p:cNvCxnSpPr>
          <p:nvPr/>
        </p:nvCxnSpPr>
        <p:spPr>
          <a:xfrm flipV="1">
            <a:off x="7188639" y="1599307"/>
            <a:ext cx="472934" cy="6301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4581BD7-1F0E-4F13-087F-47F3E213D490}"/>
              </a:ext>
            </a:extLst>
          </p:cNvPr>
          <p:cNvCxnSpPr>
            <a:cxnSpLocks/>
            <a:stCxn id="11" idx="3"/>
            <a:endCxn id="16" idx="1"/>
          </p:cNvCxnSpPr>
          <p:nvPr/>
        </p:nvCxnSpPr>
        <p:spPr>
          <a:xfrm flipV="1">
            <a:off x="7188638" y="1599307"/>
            <a:ext cx="472935" cy="12326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Content Placeholder 5">
            <a:extLst>
              <a:ext uri="{FF2B5EF4-FFF2-40B4-BE49-F238E27FC236}">
                <a16:creationId xmlns:a16="http://schemas.microsoft.com/office/drawing/2014/main" id="{E9823E23-3615-C5B4-4448-BB659ED4FCE4}"/>
              </a:ext>
            </a:extLst>
          </p:cNvPr>
          <p:cNvSpPr txBox="1">
            <a:spLocks/>
          </p:cNvSpPr>
          <p:nvPr/>
        </p:nvSpPr>
        <p:spPr>
          <a:xfrm>
            <a:off x="2127167" y="3115696"/>
            <a:ext cx="1428755" cy="288088"/>
          </a:xfrm>
          <a:prstGeom prst="rect">
            <a:avLst/>
          </a:prstGeom>
        </p:spPr>
        <p:txBody>
          <a:bodyPr vert="horz" lIns="91440" tIns="45720" rIns="91440" bIns="45720" rtlCol="0">
            <a:noAutofit/>
          </a:bodyPr>
          <a:lstStyle>
            <a:lvl1pPr marL="171442" indent="-171442" algn="l" defTabSz="685766" rtl="0" eaLnBrk="1" latinLnBrk="0" hangingPunct="1">
              <a:lnSpc>
                <a:spcPct val="90000"/>
              </a:lnSpc>
              <a:spcBef>
                <a:spcPts val="750"/>
              </a:spcBef>
              <a:buFont typeface="Arial" panose="020B0604020202020204" pitchFamily="34" charset="0"/>
              <a:buChar char="•"/>
              <a:defRPr sz="210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1pPr>
            <a:lvl2pPr marL="514325" indent="-171442" algn="l" defTabSz="685766" rtl="0" eaLnBrk="1" latinLnBrk="0" hangingPunct="1">
              <a:lnSpc>
                <a:spcPct val="90000"/>
              </a:lnSpc>
              <a:spcBef>
                <a:spcPts val="375"/>
              </a:spcBef>
              <a:buFont typeface="Arial" panose="020B0604020202020204" pitchFamily="34" charset="0"/>
              <a:buChar char="•"/>
              <a:defRPr sz="180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3pPr>
            <a:lvl4pPr marL="1200090"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4pPr>
            <a:lvl5pPr marL="1542974"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spcBef>
                <a:spcPts val="0"/>
              </a:spcBef>
              <a:buNone/>
            </a:pPr>
            <a:r>
              <a:rPr lang="en-US" altLang="zh-CN" sz="1400" dirty="0">
                <a:solidFill>
                  <a:prstClr val="black"/>
                </a:solidFill>
                <a:latin typeface="+mn-ea"/>
                <a:ea typeface="+mn-ea"/>
                <a:cs typeface="Quire Sans" panose="020B0502040400020003" pitchFamily="34" charset="0"/>
              </a:rPr>
              <a:t>Representations</a:t>
            </a:r>
            <a:endParaRPr lang="en-US" sz="1400" dirty="0">
              <a:solidFill>
                <a:srgbClr val="5B9BD5">
                  <a:lumMod val="75000"/>
                </a:srgbClr>
              </a:solidFill>
              <a:latin typeface="+mn-ea"/>
              <a:ea typeface="+mn-ea"/>
              <a:cs typeface="Quire Sans" panose="020B0502040400020003" pitchFamily="34" charset="0"/>
            </a:endParaRPr>
          </a:p>
        </p:txBody>
      </p:sp>
      <p:sp>
        <p:nvSpPr>
          <p:cNvPr id="25" name="Content Placeholder 5">
            <a:extLst>
              <a:ext uri="{FF2B5EF4-FFF2-40B4-BE49-F238E27FC236}">
                <a16:creationId xmlns:a16="http://schemas.microsoft.com/office/drawing/2014/main" id="{1C1033F6-704F-EB72-C4B1-98BD52EDE1D5}"/>
              </a:ext>
            </a:extLst>
          </p:cNvPr>
          <p:cNvSpPr txBox="1">
            <a:spLocks/>
          </p:cNvSpPr>
          <p:nvPr/>
        </p:nvSpPr>
        <p:spPr>
          <a:xfrm>
            <a:off x="5110508" y="3115696"/>
            <a:ext cx="1428755" cy="288088"/>
          </a:xfrm>
          <a:prstGeom prst="rect">
            <a:avLst/>
          </a:prstGeom>
        </p:spPr>
        <p:txBody>
          <a:bodyPr vert="horz" lIns="91440" tIns="45720" rIns="91440" bIns="45720" rtlCol="0">
            <a:noAutofit/>
          </a:bodyPr>
          <a:lstStyle>
            <a:lvl1pPr marL="171442" indent="-171442" algn="l" defTabSz="685766" rtl="0" eaLnBrk="1" latinLnBrk="0" hangingPunct="1">
              <a:lnSpc>
                <a:spcPct val="90000"/>
              </a:lnSpc>
              <a:spcBef>
                <a:spcPts val="750"/>
              </a:spcBef>
              <a:buFont typeface="Arial" panose="020B0604020202020204" pitchFamily="34" charset="0"/>
              <a:buChar char="•"/>
              <a:defRPr sz="210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1pPr>
            <a:lvl2pPr marL="514325" indent="-171442" algn="l" defTabSz="685766" rtl="0" eaLnBrk="1" latinLnBrk="0" hangingPunct="1">
              <a:lnSpc>
                <a:spcPct val="90000"/>
              </a:lnSpc>
              <a:spcBef>
                <a:spcPts val="375"/>
              </a:spcBef>
              <a:buFont typeface="Arial" panose="020B0604020202020204" pitchFamily="34" charset="0"/>
              <a:buChar char="•"/>
              <a:defRPr sz="180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3pPr>
            <a:lvl4pPr marL="1200090"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4pPr>
            <a:lvl5pPr marL="1542974"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spcBef>
                <a:spcPts val="0"/>
              </a:spcBef>
              <a:buNone/>
            </a:pPr>
            <a:r>
              <a:rPr lang="en-US" altLang="zh-CN" sz="1400" dirty="0">
                <a:solidFill>
                  <a:prstClr val="black"/>
                </a:solidFill>
                <a:latin typeface="+mn-ea"/>
                <a:ea typeface="+mn-ea"/>
                <a:cs typeface="Quire Sans" panose="020B0502040400020003" pitchFamily="34" charset="0"/>
              </a:rPr>
              <a:t>MFP model</a:t>
            </a:r>
            <a:endParaRPr lang="en-US" sz="1400" dirty="0">
              <a:solidFill>
                <a:srgbClr val="5B9BD5">
                  <a:lumMod val="75000"/>
                </a:srgbClr>
              </a:solidFill>
              <a:latin typeface="+mn-ea"/>
              <a:ea typeface="+mn-ea"/>
              <a:cs typeface="Quire Sans" panose="020B0502040400020003" pitchFamily="34" charset="0"/>
            </a:endParaRPr>
          </a:p>
        </p:txBody>
      </p:sp>
      <p:sp>
        <p:nvSpPr>
          <p:cNvPr id="26" name="Content Placeholder 5">
            <a:extLst>
              <a:ext uri="{FF2B5EF4-FFF2-40B4-BE49-F238E27FC236}">
                <a16:creationId xmlns:a16="http://schemas.microsoft.com/office/drawing/2014/main" id="{F1C70D8C-629F-3956-F04D-BD283DEC0479}"/>
              </a:ext>
            </a:extLst>
          </p:cNvPr>
          <p:cNvSpPr txBox="1">
            <a:spLocks/>
          </p:cNvSpPr>
          <p:nvPr/>
        </p:nvSpPr>
        <p:spPr>
          <a:xfrm>
            <a:off x="8123840" y="3115696"/>
            <a:ext cx="1428755" cy="288088"/>
          </a:xfrm>
          <a:prstGeom prst="rect">
            <a:avLst/>
          </a:prstGeom>
        </p:spPr>
        <p:txBody>
          <a:bodyPr vert="horz" lIns="91440" tIns="45720" rIns="91440" bIns="45720" rtlCol="0">
            <a:noAutofit/>
          </a:bodyPr>
          <a:lstStyle>
            <a:lvl1pPr marL="171442" indent="-171442" algn="l" defTabSz="685766" rtl="0" eaLnBrk="1" latinLnBrk="0" hangingPunct="1">
              <a:lnSpc>
                <a:spcPct val="90000"/>
              </a:lnSpc>
              <a:spcBef>
                <a:spcPts val="750"/>
              </a:spcBef>
              <a:buFont typeface="Arial" panose="020B0604020202020204" pitchFamily="34" charset="0"/>
              <a:buChar char="•"/>
              <a:defRPr sz="210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1pPr>
            <a:lvl2pPr marL="514325" indent="-171442" algn="l" defTabSz="685766" rtl="0" eaLnBrk="1" latinLnBrk="0" hangingPunct="1">
              <a:lnSpc>
                <a:spcPct val="90000"/>
              </a:lnSpc>
              <a:spcBef>
                <a:spcPts val="375"/>
              </a:spcBef>
              <a:buFont typeface="Arial" panose="020B0604020202020204" pitchFamily="34" charset="0"/>
              <a:buChar char="•"/>
              <a:defRPr sz="180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3pPr>
            <a:lvl4pPr marL="1200090"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4pPr>
            <a:lvl5pPr marL="1542974"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Trebuchet MS" panose="020B0603020202020204" pitchFamily="34" charset="0"/>
                <a:ea typeface="Verdana" panose="020B0604030504040204" pitchFamily="34" charset="0"/>
                <a:cs typeface="Courier New" panose="02070309020205020404" pitchFamily="49" charset="0"/>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spcBef>
                <a:spcPts val="0"/>
              </a:spcBef>
              <a:buNone/>
            </a:pPr>
            <a:r>
              <a:rPr lang="en-US" altLang="zh-CN" sz="1400" dirty="0">
                <a:solidFill>
                  <a:prstClr val="black"/>
                </a:solidFill>
                <a:latin typeface="+mn-ea"/>
                <a:ea typeface="+mn-ea"/>
                <a:cs typeface="Quire Sans" panose="020B0502040400020003" pitchFamily="34" charset="0"/>
              </a:rPr>
              <a:t>Analysis</a:t>
            </a:r>
            <a:endParaRPr lang="en-US" sz="1400" dirty="0">
              <a:solidFill>
                <a:srgbClr val="5B9BD5">
                  <a:lumMod val="75000"/>
                </a:srgbClr>
              </a:solidFill>
              <a:latin typeface="+mn-ea"/>
              <a:ea typeface="+mn-ea"/>
              <a:cs typeface="Quire Sans" panose="020B0502040400020003" pitchFamily="34" charset="0"/>
            </a:endParaRPr>
          </a:p>
        </p:txBody>
      </p:sp>
      <p:sp>
        <p:nvSpPr>
          <p:cNvPr id="27" name="文本框 26">
            <a:extLst>
              <a:ext uri="{FF2B5EF4-FFF2-40B4-BE49-F238E27FC236}">
                <a16:creationId xmlns:a16="http://schemas.microsoft.com/office/drawing/2014/main" id="{5D812979-B7BD-AD1C-47F1-D310B6AAD768}"/>
              </a:ext>
            </a:extLst>
          </p:cNvPr>
          <p:cNvSpPr txBox="1"/>
          <p:nvPr/>
        </p:nvSpPr>
        <p:spPr>
          <a:xfrm>
            <a:off x="4040194" y="3471925"/>
            <a:ext cx="3815166" cy="307777"/>
          </a:xfrm>
          <a:prstGeom prst="rect">
            <a:avLst/>
          </a:prstGeom>
          <a:noFill/>
        </p:spPr>
        <p:txBody>
          <a:bodyPr wrap="square">
            <a:spAutoFit/>
          </a:bodyPr>
          <a:lstStyle/>
          <a:p>
            <a:pPr algn="ctr"/>
            <a:r>
              <a:rPr lang="en-US" altLang="zh-CN" sz="1400" b="1" dirty="0">
                <a:latin typeface="+mn-ea"/>
              </a:rPr>
              <a:t>Research Topic 2: Memory Fault Prediction</a:t>
            </a:r>
          </a:p>
        </p:txBody>
      </p:sp>
      <p:graphicFrame>
        <p:nvGraphicFramePr>
          <p:cNvPr id="29" name="表格 2">
            <a:extLst>
              <a:ext uri="{FF2B5EF4-FFF2-40B4-BE49-F238E27FC236}">
                <a16:creationId xmlns:a16="http://schemas.microsoft.com/office/drawing/2014/main" id="{95377BC0-918A-F29E-7136-3FFDE1D4D5B8}"/>
              </a:ext>
            </a:extLst>
          </p:cNvPr>
          <p:cNvGraphicFramePr>
            <a:graphicFrameLocks noGrp="1"/>
          </p:cNvGraphicFramePr>
          <p:nvPr>
            <p:extLst>
              <p:ext uri="{D42A27DB-BD31-4B8C-83A1-F6EECF244321}">
                <p14:modId xmlns:p14="http://schemas.microsoft.com/office/powerpoint/2010/main" val="1082058404"/>
              </p:ext>
            </p:extLst>
          </p:nvPr>
        </p:nvGraphicFramePr>
        <p:xfrm>
          <a:off x="1117165" y="4046100"/>
          <a:ext cx="9828775" cy="1966229"/>
        </p:xfrm>
        <a:graphic>
          <a:graphicData uri="http://schemas.openxmlformats.org/drawingml/2006/table">
            <a:tbl>
              <a:tblPr firstRow="1" bandRow="1">
                <a:tableStyleId>{72833802-FEF1-4C79-8D5D-14CF1EAF98D9}</a:tableStyleId>
              </a:tblPr>
              <a:tblGrid>
                <a:gridCol w="2181707">
                  <a:extLst>
                    <a:ext uri="{9D8B030D-6E8A-4147-A177-3AD203B41FA5}">
                      <a16:colId xmlns:a16="http://schemas.microsoft.com/office/drawing/2014/main" val="2452203876"/>
                    </a:ext>
                  </a:extLst>
                </a:gridCol>
                <a:gridCol w="2153049">
                  <a:extLst>
                    <a:ext uri="{9D8B030D-6E8A-4147-A177-3AD203B41FA5}">
                      <a16:colId xmlns:a16="http://schemas.microsoft.com/office/drawing/2014/main" val="2340157249"/>
                    </a:ext>
                  </a:extLst>
                </a:gridCol>
                <a:gridCol w="2125045">
                  <a:extLst>
                    <a:ext uri="{9D8B030D-6E8A-4147-A177-3AD203B41FA5}">
                      <a16:colId xmlns:a16="http://schemas.microsoft.com/office/drawing/2014/main" val="1296821715"/>
                    </a:ext>
                  </a:extLst>
                </a:gridCol>
                <a:gridCol w="1684487">
                  <a:extLst>
                    <a:ext uri="{9D8B030D-6E8A-4147-A177-3AD203B41FA5}">
                      <a16:colId xmlns:a16="http://schemas.microsoft.com/office/drawing/2014/main" val="2420473056"/>
                    </a:ext>
                  </a:extLst>
                </a:gridCol>
                <a:gridCol w="1684487">
                  <a:extLst>
                    <a:ext uri="{9D8B030D-6E8A-4147-A177-3AD203B41FA5}">
                      <a16:colId xmlns:a16="http://schemas.microsoft.com/office/drawing/2014/main" val="3181697496"/>
                    </a:ext>
                  </a:extLst>
                </a:gridCol>
              </a:tblGrid>
              <a:tr h="411749">
                <a:tc>
                  <a:txBody>
                    <a:bodyPr/>
                    <a:lstStyle/>
                    <a:p>
                      <a:pPr algn="ctr"/>
                      <a:endParaRPr lang="zh-CN" altLang="en-US" sz="1400" dirty="0">
                        <a:solidFill>
                          <a:schemeClr val="tx2"/>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0000"/>
                    </a:solidFill>
                  </a:tcPr>
                </a:tc>
                <a:tc>
                  <a:txBody>
                    <a:bodyPr/>
                    <a:lstStyle/>
                    <a:p>
                      <a:pPr algn="ctr"/>
                      <a:r>
                        <a:rPr lang="en-US" altLang="zh-CN" sz="1400" dirty="0">
                          <a:solidFill>
                            <a:schemeClr val="tx2"/>
                          </a:solidFill>
                        </a:rPr>
                        <a:t>Training Input</a:t>
                      </a:r>
                      <a:endParaRPr lang="zh-CN" altLang="en-US" sz="1400" dirty="0">
                        <a:solidFill>
                          <a:schemeClr val="tx2"/>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0000"/>
                    </a:solidFill>
                  </a:tcPr>
                </a:tc>
                <a:tc>
                  <a:txBody>
                    <a:bodyPr/>
                    <a:lstStyle/>
                    <a:p>
                      <a:pPr algn="ctr"/>
                      <a:r>
                        <a:rPr lang="en-US" altLang="zh-CN" sz="1400" dirty="0">
                          <a:solidFill>
                            <a:schemeClr val="tx2"/>
                          </a:solidFill>
                        </a:rPr>
                        <a:t>Model</a:t>
                      </a:r>
                      <a:endParaRPr lang="zh-CN" altLang="en-US" sz="1400" dirty="0">
                        <a:solidFill>
                          <a:schemeClr val="tx2"/>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0000"/>
                    </a:solidFill>
                  </a:tcPr>
                </a:tc>
                <a:tc>
                  <a:txBody>
                    <a:bodyPr/>
                    <a:lstStyle/>
                    <a:p>
                      <a:pPr algn="ctr"/>
                      <a:r>
                        <a:rPr lang="en-US" altLang="zh-CN" sz="1400" dirty="0">
                          <a:solidFill>
                            <a:schemeClr val="tx2"/>
                          </a:solidFill>
                        </a:rPr>
                        <a:t>Object</a:t>
                      </a:r>
                      <a:endParaRPr lang="zh-CN" altLang="en-US" sz="1400" dirty="0">
                        <a:solidFill>
                          <a:schemeClr val="tx2"/>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0000"/>
                    </a:solidFill>
                  </a:tcPr>
                </a:tc>
                <a:tc>
                  <a:txBody>
                    <a:bodyPr/>
                    <a:lstStyle/>
                    <a:p>
                      <a:pPr algn="ctr"/>
                      <a:r>
                        <a:rPr lang="en-US" altLang="zh-CN" sz="1400" dirty="0">
                          <a:solidFill>
                            <a:schemeClr val="tx2"/>
                          </a:solidFill>
                        </a:rPr>
                        <a:t>Inference Input</a:t>
                      </a:r>
                      <a:endParaRPr lang="zh-CN" altLang="en-US" sz="1400" dirty="0">
                        <a:solidFill>
                          <a:schemeClr val="tx2"/>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0000"/>
                    </a:solidFill>
                  </a:tcPr>
                </a:tc>
                <a:extLst>
                  <a:ext uri="{0D108BD9-81ED-4DB2-BD59-A6C34878D82A}">
                    <a16:rowId xmlns:a16="http://schemas.microsoft.com/office/drawing/2014/main" val="1894701999"/>
                  </a:ext>
                </a:extLst>
              </a:tr>
              <a:tr h="411749">
                <a:tc>
                  <a:txBody>
                    <a:bodyPr/>
                    <a:lstStyle/>
                    <a:p>
                      <a:r>
                        <a:rPr lang="en-US" altLang="zh-CN" sz="1400" b="1" dirty="0">
                          <a:latin typeface="+mn-ea"/>
                        </a:rPr>
                        <a:t>Time-aware Model</a:t>
                      </a:r>
                      <a:endParaRPr lang="zh-CN" altLang="en-US" sz="1400" dirty="0"/>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altLang="zh-CN" sz="1400" dirty="0"/>
                        <a:t>Time Window</a:t>
                      </a:r>
                    </a:p>
                    <a:p>
                      <a:r>
                        <a:rPr lang="en-US" altLang="zh-CN" sz="1400" dirty="0"/>
                        <a:t>Time Point Features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a:r>
                        <a:rPr lang="en-US" altLang="zh-CN" sz="1400" dirty="0"/>
                        <a:t>Dual-path</a:t>
                      </a:r>
                      <a:r>
                        <a:rPr lang="zh-CN" altLang="en-US" sz="1400" dirty="0"/>
                        <a:t> </a:t>
                      </a:r>
                      <a:r>
                        <a:rPr lang="en-US" altLang="zh-CN" sz="1400" dirty="0"/>
                        <a:t>Transformer</a:t>
                      </a:r>
                      <a:endParaRPr lang="zh-CN" altLang="en-US" sz="1400" dirty="0"/>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altLang="zh-CN" sz="1400" dirty="0"/>
                        <a:t>Minimize Cross-Entropy</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altLang="zh-CN" sz="1400" dirty="0"/>
                        <a:t>The same as during training</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64901608"/>
                  </a:ext>
                </a:extLst>
              </a:tr>
              <a:tr h="411749">
                <a:tc>
                  <a:txBody>
                    <a:bodyPr/>
                    <a:lstStyle/>
                    <a:p>
                      <a:r>
                        <a:rPr lang="en-US" altLang="zh-CN" sz="1400" b="1" dirty="0">
                          <a:latin typeface="+mn-ea"/>
                        </a:rPr>
                        <a:t>Time-patch scale Model</a:t>
                      </a:r>
                      <a:endParaRPr lang="zh-CN" altLang="en-US" sz="1400" b="1" dirty="0"/>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altLang="zh-CN" sz="1400" dirty="0"/>
                        <a:t>Time Window</a:t>
                      </a:r>
                    </a:p>
                    <a:p>
                      <a:r>
                        <a:rPr lang="en-US" altLang="zh-CN" sz="1400" dirty="0"/>
                        <a:t>Time Patch Features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altLang="zh-CN" sz="1400" dirty="0"/>
                        <a:t>Any classifier, such as LGBM</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altLang="zh-CN" sz="1400" dirty="0"/>
                        <a:t>Minimize Cross-Entropy</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altLang="zh-CN" sz="1400" dirty="0"/>
                        <a:t>The same as during training</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123957391"/>
                  </a:ext>
                </a:extLst>
              </a:tr>
              <a:tr h="411749">
                <a:tc>
                  <a:txBody>
                    <a:bodyPr/>
                    <a:lstStyle/>
                    <a:p>
                      <a:r>
                        <a:rPr lang="en-US" altLang="zh-CN" sz="1400" b="1" dirty="0">
                          <a:latin typeface="+mn-ea"/>
                        </a:rPr>
                        <a:t>Time-point scale Model</a:t>
                      </a:r>
                      <a:endParaRPr lang="zh-CN" altLang="en-US" sz="1400" dirty="0"/>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altLang="zh-CN" sz="1400" dirty="0"/>
                        <a:t>All History</a:t>
                      </a:r>
                    </a:p>
                    <a:p>
                      <a:r>
                        <a:rPr lang="en-US" altLang="zh-CN" sz="1400" dirty="0"/>
                        <a:t>Time Point Features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a:r>
                        <a:rPr lang="en-US" altLang="zh-CN" sz="1400" kern="1200" dirty="0">
                          <a:solidFill>
                            <a:schemeClr val="tx1"/>
                          </a:solidFill>
                          <a:latin typeface="+mn-lt"/>
                          <a:ea typeface="+mn-ea"/>
                          <a:cs typeface="+mn-cs"/>
                        </a:rPr>
                        <a:t>Custom Decision Tree</a:t>
                      </a:r>
                      <a:endParaRPr lang="zh-CN" altLang="en-US" sz="1400" kern="1200" dirty="0">
                        <a:solidFill>
                          <a:schemeClr val="tx1"/>
                        </a:solidFill>
                        <a:latin typeface="+mn-lt"/>
                        <a:ea typeface="+mn-ea"/>
                        <a:cs typeface="+mn-cs"/>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altLang="zh-CN" sz="1400" dirty="0"/>
                        <a:t>Minimize Gini Index</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r>
                        <a:rPr lang="en-US" altLang="zh-CN" sz="1400" dirty="0"/>
                        <a:t>Single time point features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38226578"/>
                  </a:ext>
                </a:extLst>
              </a:tr>
            </a:tbl>
          </a:graphicData>
        </a:graphic>
      </p:graphicFrame>
    </p:spTree>
    <p:extLst>
      <p:ext uri="{BB962C8B-B14F-4D97-AF65-F5344CB8AC3E}">
        <p14:creationId xmlns:p14="http://schemas.microsoft.com/office/powerpoint/2010/main" val="2622914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A620A8C-8690-0EEA-C7CE-66F729B0CAD2}"/>
              </a:ext>
            </a:extLst>
          </p:cNvPr>
          <p:cNvSpPr txBox="1"/>
          <p:nvPr/>
        </p:nvSpPr>
        <p:spPr>
          <a:xfrm>
            <a:off x="790215" y="365302"/>
            <a:ext cx="7836200" cy="461665"/>
          </a:xfrm>
          <a:prstGeom prst="rect">
            <a:avLst/>
          </a:prstGeom>
          <a:noFill/>
        </p:spPr>
        <p:txBody>
          <a:bodyPr wrap="square" rtlCol="0">
            <a:spAutoFit/>
          </a:bodyPr>
          <a:lstStyle/>
          <a:p>
            <a:r>
              <a:rPr lang="en-US" altLang="zh-CN" sz="2400" b="1" dirty="0">
                <a:solidFill>
                  <a:schemeClr val="accent5">
                    <a:lumMod val="75000"/>
                  </a:schemeClr>
                </a:solidFill>
                <a:latin typeface="-apple-system"/>
              </a:rPr>
              <a:t>2.1 Time-aware model</a:t>
            </a:r>
            <a:endParaRPr lang="en-US" altLang="zh-CN" sz="2400" b="1" dirty="0">
              <a:solidFill>
                <a:schemeClr val="accent5">
                  <a:lumMod val="75000"/>
                </a:schemeClr>
              </a:solidFill>
              <a:latin typeface="+mn-ea"/>
            </a:endParaRP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6CF4EF6F-E98D-9A40-56E2-704C2024583F}"/>
                  </a:ext>
                </a:extLst>
              </p:cNvPr>
              <p:cNvSpPr txBox="1"/>
              <p:nvPr/>
            </p:nvSpPr>
            <p:spPr>
              <a:xfrm>
                <a:off x="623582" y="1410086"/>
                <a:ext cx="1210773" cy="527166"/>
              </a:xfrm>
              <a:prstGeom prst="roundRect">
                <a:avLst/>
              </a:prstGeom>
              <a:noFill/>
              <a:ln w="12700">
                <a:solidFill>
                  <a:schemeClr val="tx1"/>
                </a:solidFill>
                <a:prstDash val="dash"/>
              </a:ln>
            </p:spPr>
            <p:txBody>
              <a:bodyPr wrap="square">
                <a:spAutoFit/>
              </a:bodyPr>
              <a:lstStyle/>
              <a:p>
                <a:pPr algn="ctr"/>
                <a:r>
                  <a:rPr lang="zh-CN" altLang="en-US" sz="1200" b="1" dirty="0">
                    <a:solidFill>
                      <a:srgbClr val="0070C0"/>
                    </a:solidFill>
                    <a:latin typeface="+mn-ea"/>
                  </a:rPr>
                  <a:t>时间戳表征 </a:t>
                </a:r>
                <a14:m>
                  <m:oMath xmlns:m="http://schemas.openxmlformats.org/officeDocument/2006/math">
                    <m:sSubSup>
                      <m:sSubSupPr>
                        <m:ctrlPr>
                          <a:rPr lang="en-US" altLang="zh-CN" sz="1200" b="1" i="1" smtClean="0">
                            <a:solidFill>
                              <a:srgbClr val="0070C0"/>
                            </a:solidFill>
                            <a:latin typeface="Cambria Math" panose="02040503050406030204" pitchFamily="18" charset="0"/>
                          </a:rPr>
                        </m:ctrlPr>
                      </m:sSubSupPr>
                      <m:e>
                        <m:r>
                          <a:rPr lang="en-US" altLang="zh-CN" sz="1200" b="1" i="1" smtClean="0">
                            <a:solidFill>
                              <a:srgbClr val="0070C0"/>
                            </a:solidFill>
                            <a:latin typeface="Cambria Math" panose="02040503050406030204" pitchFamily="18" charset="0"/>
                          </a:rPr>
                          <m:t>𝒁𝒂</m:t>
                        </m:r>
                      </m:e>
                      <m:sub>
                        <m:r>
                          <a:rPr lang="en-US" altLang="zh-CN" sz="1200" b="1" i="1" smtClean="0">
                            <a:solidFill>
                              <a:srgbClr val="0070C0"/>
                            </a:solidFill>
                            <a:latin typeface="Cambria Math" panose="02040503050406030204" pitchFamily="18" charset="0"/>
                          </a:rPr>
                          <m:t>𝒅</m:t>
                        </m:r>
                      </m:sub>
                      <m:sup>
                        <m:r>
                          <a:rPr lang="en-US" altLang="zh-CN" sz="1200" b="1" i="1" smtClean="0">
                            <a:solidFill>
                              <a:srgbClr val="0070C0"/>
                            </a:solidFill>
                            <a:latin typeface="Cambria Math" panose="02040503050406030204" pitchFamily="18" charset="0"/>
                          </a:rPr>
                          <m:t>𝑻</m:t>
                        </m:r>
                      </m:sup>
                    </m:sSubSup>
                  </m:oMath>
                </a14:m>
                <a:endParaRPr lang="zh-CN" altLang="en-US" sz="1200" b="1" dirty="0">
                  <a:latin typeface="+mn-ea"/>
                </a:endParaRPr>
              </a:p>
            </p:txBody>
          </p:sp>
        </mc:Choice>
        <mc:Fallback xmlns="">
          <p:sp>
            <p:nvSpPr>
              <p:cNvPr id="31" name="文本框 30">
                <a:extLst>
                  <a:ext uri="{FF2B5EF4-FFF2-40B4-BE49-F238E27FC236}">
                    <a16:creationId xmlns:a16="http://schemas.microsoft.com/office/drawing/2014/main" id="{6CF4EF6F-E98D-9A40-56E2-704C2024583F}"/>
                  </a:ext>
                </a:extLst>
              </p:cNvPr>
              <p:cNvSpPr txBox="1">
                <a:spLocks noRot="1" noChangeAspect="1" noMove="1" noResize="1" noEditPoints="1" noAdjustHandles="1" noChangeArrowheads="1" noChangeShapeType="1" noTextEdit="1"/>
              </p:cNvSpPr>
              <p:nvPr/>
            </p:nvSpPr>
            <p:spPr>
              <a:xfrm>
                <a:off x="623582" y="1410086"/>
                <a:ext cx="1210773" cy="527166"/>
              </a:xfrm>
              <a:prstGeom prst="roundRect">
                <a:avLst/>
              </a:prstGeom>
              <a:blipFill>
                <a:blip r:embed="rId3"/>
                <a:stretch>
                  <a:fillRect/>
                </a:stretch>
              </a:blipFill>
              <a:ln w="12700">
                <a:solidFill>
                  <a:schemeClr val="tx1"/>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E6F3EFEF-8804-AC81-A06B-3DA169211F20}"/>
                  </a:ext>
                </a:extLst>
              </p:cNvPr>
              <p:cNvSpPr txBox="1"/>
              <p:nvPr/>
            </p:nvSpPr>
            <p:spPr>
              <a:xfrm>
                <a:off x="2162146" y="1410086"/>
                <a:ext cx="1386899" cy="527166"/>
              </a:xfrm>
              <a:prstGeom prst="roundRect">
                <a:avLst/>
              </a:prstGeom>
              <a:noFill/>
              <a:ln w="12700">
                <a:solidFill>
                  <a:schemeClr val="tx1"/>
                </a:solidFill>
                <a:prstDash val="dash"/>
              </a:ln>
            </p:spPr>
            <p:txBody>
              <a:bodyPr wrap="square">
                <a:spAutoFit/>
              </a:bodyPr>
              <a:lstStyle/>
              <a:p>
                <a:pPr algn="ctr"/>
                <a:r>
                  <a:rPr lang="zh-CN" altLang="en-US" sz="1200" b="1" dirty="0">
                    <a:solidFill>
                      <a:srgbClr val="ED6D00"/>
                    </a:solidFill>
                    <a:latin typeface="+mn-ea"/>
                  </a:rPr>
                  <a:t>事件空间特征 </a:t>
                </a:r>
                <a14:m>
                  <m:oMath xmlns:m="http://schemas.openxmlformats.org/officeDocument/2006/math">
                    <m:sSubSup>
                      <m:sSubSupPr>
                        <m:ctrlPr>
                          <a:rPr lang="en-US" altLang="zh-CN" sz="1200" b="1" i="1" dirty="0">
                            <a:solidFill>
                              <a:srgbClr val="ED6D00"/>
                            </a:solidFill>
                            <a:latin typeface="Cambria Math" panose="02040503050406030204" pitchFamily="18" charset="0"/>
                          </a:rPr>
                        </m:ctrlPr>
                      </m:sSubSupPr>
                      <m:e>
                        <m:r>
                          <a:rPr lang="en-US" altLang="zh-CN" sz="1200" b="1" i="1" dirty="0">
                            <a:solidFill>
                              <a:srgbClr val="ED6D00"/>
                            </a:solidFill>
                            <a:latin typeface="Cambria Math" panose="02040503050406030204" pitchFamily="18" charset="0"/>
                          </a:rPr>
                          <m:t>𝑭𝒃</m:t>
                        </m:r>
                      </m:e>
                      <m:sub>
                        <m:r>
                          <a:rPr lang="en-US" altLang="zh-CN" sz="1200" b="1" i="1" dirty="0">
                            <a:solidFill>
                              <a:srgbClr val="ED6D00"/>
                            </a:solidFill>
                            <a:latin typeface="Cambria Math" panose="02040503050406030204" pitchFamily="18" charset="0"/>
                          </a:rPr>
                          <m:t>𝒅</m:t>
                        </m:r>
                      </m:sub>
                      <m:sup>
                        <m:r>
                          <a:rPr lang="en-US" altLang="zh-CN" sz="1200" b="1" i="1" dirty="0">
                            <a:solidFill>
                              <a:srgbClr val="ED6D00"/>
                            </a:solidFill>
                            <a:latin typeface="Cambria Math" panose="02040503050406030204" pitchFamily="18" charset="0"/>
                          </a:rPr>
                          <m:t>𝑻</m:t>
                        </m:r>
                      </m:sup>
                    </m:sSubSup>
                  </m:oMath>
                </a14:m>
                <a:endParaRPr lang="zh-CN" altLang="en-US" sz="1200" b="1" dirty="0">
                  <a:solidFill>
                    <a:srgbClr val="ED6D00"/>
                  </a:solidFill>
                  <a:latin typeface="+mn-ea"/>
                </a:endParaRPr>
              </a:p>
            </p:txBody>
          </p:sp>
        </mc:Choice>
        <mc:Fallback xmlns="">
          <p:sp>
            <p:nvSpPr>
              <p:cNvPr id="32" name="文本框 31">
                <a:extLst>
                  <a:ext uri="{FF2B5EF4-FFF2-40B4-BE49-F238E27FC236}">
                    <a16:creationId xmlns:a16="http://schemas.microsoft.com/office/drawing/2014/main" id="{E6F3EFEF-8804-AC81-A06B-3DA169211F20}"/>
                  </a:ext>
                </a:extLst>
              </p:cNvPr>
              <p:cNvSpPr txBox="1">
                <a:spLocks noRot="1" noChangeAspect="1" noMove="1" noResize="1" noEditPoints="1" noAdjustHandles="1" noChangeArrowheads="1" noChangeShapeType="1" noTextEdit="1"/>
              </p:cNvSpPr>
              <p:nvPr/>
            </p:nvSpPr>
            <p:spPr>
              <a:xfrm>
                <a:off x="2162146" y="1410086"/>
                <a:ext cx="1386899" cy="527166"/>
              </a:xfrm>
              <a:prstGeom prst="roundRect">
                <a:avLst/>
              </a:prstGeom>
              <a:blipFill>
                <a:blip r:embed="rId4"/>
                <a:stretch>
                  <a:fillRect/>
                </a:stretch>
              </a:blipFill>
              <a:ln w="12700">
                <a:solidFill>
                  <a:schemeClr val="tx1"/>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3021EE6B-B5A3-E8C3-5E7D-F6F8506BB0AA}"/>
                  </a:ext>
                </a:extLst>
              </p:cNvPr>
              <p:cNvSpPr txBox="1"/>
              <p:nvPr/>
            </p:nvSpPr>
            <p:spPr>
              <a:xfrm>
                <a:off x="623583" y="2369830"/>
                <a:ext cx="2750408" cy="322855"/>
              </a:xfrm>
              <a:prstGeom prst="roundRect">
                <a:avLst/>
              </a:prstGeom>
              <a:noFill/>
              <a:ln w="12700">
                <a:solidFill>
                  <a:schemeClr val="tx1"/>
                </a:solidFill>
                <a:prstDash val="dash"/>
              </a:ln>
            </p:spPr>
            <p:txBody>
              <a:bodyPr wrap="square">
                <a:spAutoFit/>
              </a:bodyPr>
              <a:lstStyle/>
              <a:p>
                <a:pPr algn="ctr"/>
                <a:r>
                  <a:rPr lang="zh-CN" altLang="en-US" sz="1200" b="1" dirty="0">
                    <a:solidFill>
                      <a:schemeClr val="accent4">
                        <a:lumMod val="50000"/>
                      </a:schemeClr>
                    </a:solidFill>
                    <a:latin typeface="+mn-ea"/>
                  </a:rPr>
                  <a:t>“时间</a:t>
                </a:r>
                <a:r>
                  <a:rPr lang="en-US" altLang="zh-CN" sz="1200" b="1" dirty="0">
                    <a:solidFill>
                      <a:schemeClr val="accent4">
                        <a:lumMod val="50000"/>
                      </a:schemeClr>
                    </a:solidFill>
                    <a:latin typeface="+mn-ea"/>
                  </a:rPr>
                  <a:t>+</a:t>
                </a:r>
                <a:r>
                  <a:rPr lang="zh-CN" altLang="en-US" sz="1200" b="1" dirty="0">
                    <a:solidFill>
                      <a:schemeClr val="accent4">
                        <a:lumMod val="50000"/>
                      </a:schemeClr>
                    </a:solidFill>
                    <a:latin typeface="+mn-ea"/>
                  </a:rPr>
                  <a:t>事件”表征 </a:t>
                </a:r>
                <a14:m>
                  <m:oMath xmlns:m="http://schemas.openxmlformats.org/officeDocument/2006/math">
                    <m:sSubSup>
                      <m:sSubSupPr>
                        <m:ctrlPr>
                          <a:rPr lang="en-US" altLang="zh-CN" sz="1200" b="1" i="1" smtClean="0">
                            <a:solidFill>
                              <a:schemeClr val="accent4">
                                <a:lumMod val="50000"/>
                              </a:schemeClr>
                            </a:solidFill>
                            <a:latin typeface="Cambria Math" panose="02040503050406030204" pitchFamily="18" charset="0"/>
                          </a:rPr>
                        </m:ctrlPr>
                      </m:sSubSupPr>
                      <m:e>
                        <m:r>
                          <a:rPr lang="en-US" altLang="zh-CN" sz="1200" b="1" i="1" smtClean="0">
                            <a:solidFill>
                              <a:schemeClr val="accent4">
                                <a:lumMod val="50000"/>
                              </a:schemeClr>
                            </a:solidFill>
                            <a:latin typeface="Cambria Math" panose="02040503050406030204" pitchFamily="18" charset="0"/>
                          </a:rPr>
                          <m:t>𝒁𝒃</m:t>
                        </m:r>
                      </m:e>
                      <m:sub>
                        <m:r>
                          <a:rPr lang="en-US" altLang="zh-CN" sz="1200" b="1" i="1" smtClean="0">
                            <a:solidFill>
                              <a:schemeClr val="accent4">
                                <a:lumMod val="50000"/>
                              </a:schemeClr>
                            </a:solidFill>
                            <a:latin typeface="Cambria Math" panose="02040503050406030204" pitchFamily="18" charset="0"/>
                          </a:rPr>
                          <m:t>𝒅</m:t>
                        </m:r>
                      </m:sub>
                      <m:sup>
                        <m:r>
                          <a:rPr lang="en-US" altLang="zh-CN" sz="1200" b="1" i="1" smtClean="0">
                            <a:solidFill>
                              <a:schemeClr val="accent4">
                                <a:lumMod val="50000"/>
                              </a:schemeClr>
                            </a:solidFill>
                            <a:latin typeface="Cambria Math" panose="02040503050406030204" pitchFamily="18" charset="0"/>
                          </a:rPr>
                          <m:t>𝑻</m:t>
                        </m:r>
                      </m:sup>
                    </m:sSubSup>
                  </m:oMath>
                </a14:m>
                <a:endParaRPr lang="zh-CN" altLang="en-US" sz="1200" b="1" dirty="0">
                  <a:solidFill>
                    <a:schemeClr val="accent4">
                      <a:lumMod val="50000"/>
                    </a:schemeClr>
                  </a:solidFill>
                  <a:latin typeface="+mn-ea"/>
                </a:endParaRPr>
              </a:p>
            </p:txBody>
          </p:sp>
        </mc:Choice>
        <mc:Fallback xmlns="">
          <p:sp>
            <p:nvSpPr>
              <p:cNvPr id="33" name="文本框 32">
                <a:extLst>
                  <a:ext uri="{FF2B5EF4-FFF2-40B4-BE49-F238E27FC236}">
                    <a16:creationId xmlns:a16="http://schemas.microsoft.com/office/drawing/2014/main" id="{3021EE6B-B5A3-E8C3-5E7D-F6F8506BB0AA}"/>
                  </a:ext>
                </a:extLst>
              </p:cNvPr>
              <p:cNvSpPr txBox="1">
                <a:spLocks noRot="1" noChangeAspect="1" noMove="1" noResize="1" noEditPoints="1" noAdjustHandles="1" noChangeArrowheads="1" noChangeShapeType="1" noTextEdit="1"/>
              </p:cNvSpPr>
              <p:nvPr/>
            </p:nvSpPr>
            <p:spPr>
              <a:xfrm>
                <a:off x="623583" y="2369830"/>
                <a:ext cx="2750408" cy="322855"/>
              </a:xfrm>
              <a:prstGeom prst="roundRect">
                <a:avLst/>
              </a:prstGeom>
              <a:blipFill>
                <a:blip r:embed="rId5"/>
                <a:stretch>
                  <a:fillRect b="-7273"/>
                </a:stretch>
              </a:blipFill>
              <a:ln w="12700">
                <a:solidFill>
                  <a:schemeClr val="tx1"/>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D7CCC16A-D3BA-2897-E766-7F4EE7666333}"/>
                  </a:ext>
                </a:extLst>
              </p:cNvPr>
              <p:cNvSpPr txBox="1"/>
              <p:nvPr/>
            </p:nvSpPr>
            <p:spPr>
              <a:xfrm>
                <a:off x="3587335" y="1415783"/>
                <a:ext cx="1939551" cy="306467"/>
              </a:xfrm>
              <a:prstGeom prst="roundRect">
                <a:avLst/>
              </a:prstGeom>
              <a:noFill/>
              <a:ln w="12700">
                <a:solidFill>
                  <a:schemeClr val="tx1"/>
                </a:solidFill>
                <a:prstDash val="dash"/>
              </a:ln>
            </p:spPr>
            <p:txBody>
              <a:bodyPr wrap="square">
                <a:spAutoFit/>
              </a:bodyPr>
              <a:lstStyle/>
              <a:p>
                <a:pPr algn="ctr"/>
                <a:r>
                  <a:rPr lang="zh-CN" altLang="en-US" sz="1200" b="1" dirty="0">
                    <a:solidFill>
                      <a:srgbClr val="6D4298"/>
                    </a:solidFill>
                    <a:latin typeface="+mn-ea"/>
                  </a:rPr>
                  <a:t>属性特征</a:t>
                </a:r>
                <a:r>
                  <a:rPr lang="en-US" altLang="zh-CN" sz="1200" b="1" dirty="0">
                    <a:solidFill>
                      <a:srgbClr val="6D4298"/>
                    </a:solidFill>
                    <a:latin typeface="+mn-ea"/>
                  </a:rPr>
                  <a:t> </a:t>
                </a:r>
                <a14:m>
                  <m:oMath xmlns:m="http://schemas.openxmlformats.org/officeDocument/2006/math">
                    <m:sSub>
                      <m:sSubPr>
                        <m:ctrlPr>
                          <a:rPr lang="en-US" altLang="zh-CN" sz="1200" b="1" i="1" smtClean="0">
                            <a:solidFill>
                              <a:srgbClr val="6D4298"/>
                            </a:solidFill>
                            <a:latin typeface="Cambria Math" panose="02040503050406030204" pitchFamily="18" charset="0"/>
                          </a:rPr>
                        </m:ctrlPr>
                      </m:sSubPr>
                      <m:e>
                        <m:r>
                          <a:rPr lang="en-US" altLang="zh-CN" sz="1200" b="1" i="1" smtClean="0">
                            <a:solidFill>
                              <a:srgbClr val="6D4298"/>
                            </a:solidFill>
                            <a:latin typeface="Cambria Math" panose="02040503050406030204" pitchFamily="18" charset="0"/>
                          </a:rPr>
                          <m:t>𝑺</m:t>
                        </m:r>
                      </m:e>
                      <m:sub>
                        <m:r>
                          <a:rPr lang="en-US" altLang="zh-CN" sz="1200" b="1" i="1" smtClean="0">
                            <a:solidFill>
                              <a:srgbClr val="6D4298"/>
                            </a:solidFill>
                            <a:latin typeface="Cambria Math" panose="02040503050406030204" pitchFamily="18" charset="0"/>
                          </a:rPr>
                          <m:t>𝒅</m:t>
                        </m:r>
                      </m:sub>
                    </m:sSub>
                  </m:oMath>
                </a14:m>
                <a:endParaRPr lang="zh-CN" altLang="en-US" sz="1200" b="1" dirty="0">
                  <a:solidFill>
                    <a:srgbClr val="6D4298"/>
                  </a:solidFill>
                  <a:latin typeface="+mn-ea"/>
                </a:endParaRPr>
              </a:p>
            </p:txBody>
          </p:sp>
        </mc:Choice>
        <mc:Fallback xmlns="">
          <p:sp>
            <p:nvSpPr>
              <p:cNvPr id="34" name="文本框 33">
                <a:extLst>
                  <a:ext uri="{FF2B5EF4-FFF2-40B4-BE49-F238E27FC236}">
                    <a16:creationId xmlns:a16="http://schemas.microsoft.com/office/drawing/2014/main" id="{D7CCC16A-D3BA-2897-E766-7F4EE7666333}"/>
                  </a:ext>
                </a:extLst>
              </p:cNvPr>
              <p:cNvSpPr txBox="1">
                <a:spLocks noRot="1" noChangeAspect="1" noMove="1" noResize="1" noEditPoints="1" noAdjustHandles="1" noChangeArrowheads="1" noChangeShapeType="1" noTextEdit="1"/>
              </p:cNvSpPr>
              <p:nvPr/>
            </p:nvSpPr>
            <p:spPr>
              <a:xfrm>
                <a:off x="3587335" y="1415783"/>
                <a:ext cx="1939551" cy="306467"/>
              </a:xfrm>
              <a:prstGeom prst="roundRect">
                <a:avLst/>
              </a:prstGeom>
              <a:blipFill>
                <a:blip r:embed="rId6"/>
                <a:stretch>
                  <a:fillRect b="-7547"/>
                </a:stretch>
              </a:blipFill>
              <a:ln w="12700">
                <a:solidFill>
                  <a:schemeClr val="tx1"/>
                </a:solidFill>
                <a:prstDash val="dash"/>
              </a:ln>
            </p:spPr>
            <p:txBody>
              <a:bodyPr/>
              <a:lstStyle/>
              <a:p>
                <a:r>
                  <a:rPr lang="zh-CN" altLang="en-US">
                    <a:noFill/>
                  </a:rPr>
                  <a:t> </a:t>
                </a:r>
              </a:p>
            </p:txBody>
          </p:sp>
        </mc:Fallback>
      </mc:AlternateContent>
      <p:sp>
        <p:nvSpPr>
          <p:cNvPr id="35" name="文本框 34">
            <a:extLst>
              <a:ext uri="{FF2B5EF4-FFF2-40B4-BE49-F238E27FC236}">
                <a16:creationId xmlns:a16="http://schemas.microsoft.com/office/drawing/2014/main" id="{3160F6ED-D09A-5635-CDFF-73F2636203E6}"/>
              </a:ext>
            </a:extLst>
          </p:cNvPr>
          <p:cNvSpPr txBox="1"/>
          <p:nvPr/>
        </p:nvSpPr>
        <p:spPr>
          <a:xfrm>
            <a:off x="1095196" y="2925626"/>
            <a:ext cx="1800000" cy="306467"/>
          </a:xfrm>
          <a:prstGeom prst="roundRect">
            <a:avLst/>
          </a:prstGeom>
          <a:noFill/>
          <a:ln w="12700">
            <a:solidFill>
              <a:schemeClr val="tx1"/>
            </a:solidFill>
            <a:prstDash val="solid"/>
          </a:ln>
        </p:spPr>
        <p:txBody>
          <a:bodyPr wrap="square">
            <a:spAutoFit/>
          </a:bodyPr>
          <a:lstStyle/>
          <a:p>
            <a:pPr algn="ctr"/>
            <a:r>
              <a:rPr lang="en-US" altLang="zh-CN" sz="1200" b="1" dirty="0">
                <a:solidFill>
                  <a:schemeClr val="tx1"/>
                </a:solidFill>
                <a:latin typeface="+mn-ea"/>
              </a:rPr>
              <a:t>Projection</a:t>
            </a:r>
            <a:endParaRPr lang="zh-CN" altLang="en-US" sz="1200" b="1" dirty="0">
              <a:solidFill>
                <a:schemeClr val="tx1"/>
              </a:solidFill>
              <a:latin typeface="+mn-ea"/>
            </a:endParaRPr>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955E4F1A-E8F9-0818-A5E2-C0BB86E166FF}"/>
                  </a:ext>
                </a:extLst>
              </p:cNvPr>
              <p:cNvSpPr txBox="1"/>
              <p:nvPr/>
            </p:nvSpPr>
            <p:spPr>
              <a:xfrm>
                <a:off x="3657110" y="2923675"/>
                <a:ext cx="1800000" cy="306467"/>
              </a:xfrm>
              <a:prstGeom prst="roundRect">
                <a:avLst/>
              </a:prstGeom>
              <a:noFill/>
              <a:ln w="12700">
                <a:solidFill>
                  <a:schemeClr val="tx1"/>
                </a:solidFill>
                <a:prstDash val="solid"/>
              </a:ln>
            </p:spPr>
            <p:txBody>
              <a:bodyPr wrap="square">
                <a:spAutoFit/>
              </a:bodyPr>
              <a:lstStyle/>
              <a:p>
                <a:pPr algn="ctr"/>
                <a14:m>
                  <m:oMathPara xmlns:m="http://schemas.openxmlformats.org/officeDocument/2006/math">
                    <m:oMathParaPr>
                      <m:jc m:val="centerGroup"/>
                    </m:oMathParaPr>
                    <m:oMath xmlns:m="http://schemas.openxmlformats.org/officeDocument/2006/math">
                      <m:r>
                        <m:rPr>
                          <m:nor/>
                        </m:rPr>
                        <a:rPr lang="en-US" altLang="zh-CN" sz="1200" b="1" dirty="0">
                          <a:latin typeface="+mn-ea"/>
                        </a:rPr>
                        <m:t>Projection</m:t>
                      </m:r>
                    </m:oMath>
                  </m:oMathPara>
                </a14:m>
                <a:endParaRPr lang="zh-CN" altLang="en-US" sz="1200" b="1" dirty="0">
                  <a:latin typeface="+mn-ea"/>
                </a:endParaRPr>
              </a:p>
            </p:txBody>
          </p:sp>
        </mc:Choice>
        <mc:Fallback xmlns="">
          <p:sp>
            <p:nvSpPr>
              <p:cNvPr id="36" name="文本框 35">
                <a:extLst>
                  <a:ext uri="{FF2B5EF4-FFF2-40B4-BE49-F238E27FC236}">
                    <a16:creationId xmlns:a16="http://schemas.microsoft.com/office/drawing/2014/main" id="{955E4F1A-E8F9-0818-A5E2-C0BB86E166FF}"/>
                  </a:ext>
                </a:extLst>
              </p:cNvPr>
              <p:cNvSpPr txBox="1">
                <a:spLocks noRot="1" noChangeAspect="1" noMove="1" noResize="1" noEditPoints="1" noAdjustHandles="1" noChangeArrowheads="1" noChangeShapeType="1" noTextEdit="1"/>
              </p:cNvSpPr>
              <p:nvPr/>
            </p:nvSpPr>
            <p:spPr>
              <a:xfrm>
                <a:off x="3657110" y="2923675"/>
                <a:ext cx="1800000" cy="306467"/>
              </a:xfrm>
              <a:prstGeom prst="roundRect">
                <a:avLst/>
              </a:prstGeom>
              <a:blipFill>
                <a:blip r:embed="rId7"/>
                <a:stretch>
                  <a:fillRect/>
                </a:stretch>
              </a:blipFill>
              <a:ln w="12700">
                <a:solidFill>
                  <a:schemeClr val="tx1"/>
                </a:solid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891D013D-EFA7-E355-659A-EDC0C5B89AD6}"/>
                  </a:ext>
                </a:extLst>
              </p:cNvPr>
              <p:cNvSpPr txBox="1"/>
              <p:nvPr/>
            </p:nvSpPr>
            <p:spPr>
              <a:xfrm>
                <a:off x="3587336" y="2369830"/>
                <a:ext cx="1939551" cy="306467"/>
              </a:xfrm>
              <a:prstGeom prst="roundRect">
                <a:avLst/>
              </a:prstGeom>
              <a:noFill/>
              <a:ln w="12700">
                <a:solidFill>
                  <a:schemeClr val="tx1"/>
                </a:solidFill>
                <a:prstDash val="dash"/>
              </a:ln>
            </p:spPr>
            <p:txBody>
              <a:bodyPr wrap="square">
                <a:spAutoFit/>
              </a:bodyPr>
              <a:lstStyle/>
              <a:p>
                <a:pPr algn="ctr"/>
                <a:r>
                  <a:rPr lang="zh-CN" altLang="en-US" sz="1200" b="1" dirty="0">
                    <a:solidFill>
                      <a:srgbClr val="6D4298"/>
                    </a:solidFill>
                    <a:latin typeface="+mn-ea"/>
                  </a:rPr>
                  <a:t>属性表征 </a:t>
                </a:r>
                <a14:m>
                  <m:oMath xmlns:m="http://schemas.openxmlformats.org/officeDocument/2006/math">
                    <m:sSub>
                      <m:sSubPr>
                        <m:ctrlPr>
                          <a:rPr lang="en-US" altLang="zh-CN" sz="1200" b="1" i="1" smtClean="0">
                            <a:solidFill>
                              <a:srgbClr val="6D4298"/>
                            </a:solidFill>
                            <a:latin typeface="Cambria Math" panose="02040503050406030204" pitchFamily="18" charset="0"/>
                          </a:rPr>
                        </m:ctrlPr>
                      </m:sSubPr>
                      <m:e>
                        <m:r>
                          <a:rPr lang="en-US" altLang="zh-CN" sz="1200" b="1" i="1" smtClean="0">
                            <a:solidFill>
                              <a:srgbClr val="6D4298"/>
                            </a:solidFill>
                            <a:latin typeface="Cambria Math" panose="02040503050406030204" pitchFamily="18" charset="0"/>
                          </a:rPr>
                          <m:t>𝒁𝒄</m:t>
                        </m:r>
                      </m:e>
                      <m:sub>
                        <m:r>
                          <a:rPr lang="en-US" altLang="zh-CN" sz="1200" b="1" i="1" smtClean="0">
                            <a:solidFill>
                              <a:srgbClr val="6D4298"/>
                            </a:solidFill>
                            <a:latin typeface="Cambria Math" panose="02040503050406030204" pitchFamily="18" charset="0"/>
                          </a:rPr>
                          <m:t>𝒅</m:t>
                        </m:r>
                      </m:sub>
                    </m:sSub>
                  </m:oMath>
                </a14:m>
                <a:endParaRPr lang="zh-CN" altLang="en-US" sz="1200" b="1" dirty="0">
                  <a:solidFill>
                    <a:srgbClr val="6D4298"/>
                  </a:solidFill>
                  <a:latin typeface="+mn-ea"/>
                </a:endParaRPr>
              </a:p>
            </p:txBody>
          </p:sp>
        </mc:Choice>
        <mc:Fallback xmlns="">
          <p:sp>
            <p:nvSpPr>
              <p:cNvPr id="37" name="文本框 36">
                <a:extLst>
                  <a:ext uri="{FF2B5EF4-FFF2-40B4-BE49-F238E27FC236}">
                    <a16:creationId xmlns:a16="http://schemas.microsoft.com/office/drawing/2014/main" id="{891D013D-EFA7-E355-659A-EDC0C5B89AD6}"/>
                  </a:ext>
                </a:extLst>
              </p:cNvPr>
              <p:cNvSpPr txBox="1">
                <a:spLocks noRot="1" noChangeAspect="1" noMove="1" noResize="1" noEditPoints="1" noAdjustHandles="1" noChangeArrowheads="1" noChangeShapeType="1" noTextEdit="1"/>
              </p:cNvSpPr>
              <p:nvPr/>
            </p:nvSpPr>
            <p:spPr>
              <a:xfrm>
                <a:off x="3587336" y="2369830"/>
                <a:ext cx="1939551" cy="306467"/>
              </a:xfrm>
              <a:prstGeom prst="roundRect">
                <a:avLst/>
              </a:prstGeom>
              <a:blipFill>
                <a:blip r:embed="rId8"/>
                <a:stretch>
                  <a:fillRect b="-7692"/>
                </a:stretch>
              </a:blipFill>
              <a:ln w="12700">
                <a:solidFill>
                  <a:schemeClr val="tx1"/>
                </a:solidFill>
                <a:prstDash val="dash"/>
              </a:ln>
            </p:spPr>
            <p:txBody>
              <a:bodyPr/>
              <a:lstStyle/>
              <a:p>
                <a:r>
                  <a:rPr lang="zh-CN" altLang="en-US">
                    <a:noFill/>
                  </a:rPr>
                  <a:t> </a:t>
                </a:r>
              </a:p>
            </p:txBody>
          </p:sp>
        </mc:Fallback>
      </mc:AlternateContent>
      <p:sp>
        <p:nvSpPr>
          <p:cNvPr id="38" name="文本框 37">
            <a:extLst>
              <a:ext uri="{FF2B5EF4-FFF2-40B4-BE49-F238E27FC236}">
                <a16:creationId xmlns:a16="http://schemas.microsoft.com/office/drawing/2014/main" id="{14A88E21-4AD5-A3D5-FA25-A02EA72626AD}"/>
              </a:ext>
            </a:extLst>
          </p:cNvPr>
          <p:cNvSpPr txBox="1"/>
          <p:nvPr/>
        </p:nvSpPr>
        <p:spPr>
          <a:xfrm>
            <a:off x="1453106" y="1922032"/>
            <a:ext cx="1065586" cy="230832"/>
          </a:xfrm>
          <a:prstGeom prst="rect">
            <a:avLst/>
          </a:prstGeom>
          <a:noFill/>
        </p:spPr>
        <p:txBody>
          <a:bodyPr wrap="square">
            <a:spAutoFit/>
          </a:bodyPr>
          <a:lstStyle/>
          <a:p>
            <a:pPr algn="ctr"/>
            <a:r>
              <a:rPr lang="en-US" altLang="zh-CN" sz="900" b="1" dirty="0">
                <a:latin typeface="+mn-ea"/>
              </a:rPr>
              <a:t>Combine</a:t>
            </a:r>
            <a:endParaRPr lang="zh-CN" altLang="en-US" sz="900" b="1" dirty="0">
              <a:solidFill>
                <a:schemeClr val="tx1"/>
              </a:solidFill>
              <a:latin typeface="+mn-ea"/>
            </a:endParaRPr>
          </a:p>
        </p:txBody>
      </p:sp>
      <p:cxnSp>
        <p:nvCxnSpPr>
          <p:cNvPr id="39" name="直接箭头连接符 38">
            <a:extLst>
              <a:ext uri="{FF2B5EF4-FFF2-40B4-BE49-F238E27FC236}">
                <a16:creationId xmlns:a16="http://schemas.microsoft.com/office/drawing/2014/main" id="{A4CFB4C1-9B4E-09B0-E8A1-BAA7C46F3887}"/>
              </a:ext>
            </a:extLst>
          </p:cNvPr>
          <p:cNvCxnSpPr>
            <a:cxnSpLocks/>
            <a:stCxn id="34" idx="2"/>
            <a:endCxn id="37" idx="0"/>
          </p:cNvCxnSpPr>
          <p:nvPr/>
        </p:nvCxnSpPr>
        <p:spPr>
          <a:xfrm>
            <a:off x="4557111" y="1722250"/>
            <a:ext cx="1" cy="64758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A161546B-8FAC-C610-57E2-1B1FF8691D73}"/>
              </a:ext>
            </a:extLst>
          </p:cNvPr>
          <p:cNvSpPr txBox="1"/>
          <p:nvPr/>
        </p:nvSpPr>
        <p:spPr>
          <a:xfrm>
            <a:off x="3712404" y="1911322"/>
            <a:ext cx="1188724" cy="230832"/>
          </a:xfrm>
          <a:prstGeom prst="rect">
            <a:avLst/>
          </a:prstGeom>
          <a:noFill/>
        </p:spPr>
        <p:txBody>
          <a:bodyPr wrap="square">
            <a:spAutoFit/>
          </a:bodyPr>
          <a:lstStyle/>
          <a:p>
            <a:pPr algn="ctr"/>
            <a:r>
              <a:rPr lang="en-US" altLang="zh-CN" sz="900" b="1" dirty="0">
                <a:latin typeface="+mn-ea"/>
              </a:rPr>
              <a:t>Project</a:t>
            </a:r>
            <a:endParaRPr lang="zh-CN" altLang="en-US" sz="900" b="1" dirty="0">
              <a:solidFill>
                <a:schemeClr val="tx1"/>
              </a:solidFill>
              <a:latin typeface="+mn-ea"/>
            </a:endParaRPr>
          </a:p>
        </p:txBody>
      </p:sp>
      <p:cxnSp>
        <p:nvCxnSpPr>
          <p:cNvPr id="41" name="直接箭头连接符 40">
            <a:extLst>
              <a:ext uri="{FF2B5EF4-FFF2-40B4-BE49-F238E27FC236}">
                <a16:creationId xmlns:a16="http://schemas.microsoft.com/office/drawing/2014/main" id="{51544342-0084-DAA0-F94B-85179F8DE623}"/>
              </a:ext>
            </a:extLst>
          </p:cNvPr>
          <p:cNvCxnSpPr>
            <a:cxnSpLocks/>
          </p:cNvCxnSpPr>
          <p:nvPr/>
        </p:nvCxnSpPr>
        <p:spPr>
          <a:xfrm>
            <a:off x="1348387" y="3223556"/>
            <a:ext cx="0" cy="501612"/>
          </a:xfrm>
          <a:prstGeom prst="straightConnector1">
            <a:avLst/>
          </a:prstGeom>
          <a:ln w="9525">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D09737C6-9B2A-B9C5-E981-0F8177272052}"/>
              </a:ext>
            </a:extLst>
          </p:cNvPr>
          <p:cNvCxnSpPr>
            <a:cxnSpLocks/>
          </p:cNvCxnSpPr>
          <p:nvPr/>
        </p:nvCxnSpPr>
        <p:spPr>
          <a:xfrm>
            <a:off x="1770345" y="3223556"/>
            <a:ext cx="0" cy="501612"/>
          </a:xfrm>
          <a:prstGeom prst="straightConnector1">
            <a:avLst/>
          </a:prstGeom>
          <a:ln w="9525">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7935AC49-22B7-9EB7-702B-D9EACC3EA0C0}"/>
              </a:ext>
            </a:extLst>
          </p:cNvPr>
          <p:cNvCxnSpPr>
            <a:cxnSpLocks/>
          </p:cNvCxnSpPr>
          <p:nvPr/>
        </p:nvCxnSpPr>
        <p:spPr>
          <a:xfrm>
            <a:off x="2192304" y="3223556"/>
            <a:ext cx="0" cy="501612"/>
          </a:xfrm>
          <a:prstGeom prst="straightConnector1">
            <a:avLst/>
          </a:prstGeom>
          <a:ln w="9525">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7A0601AE-403C-DBDB-05DB-560AE832E110}"/>
                  </a:ext>
                </a:extLst>
              </p:cNvPr>
              <p:cNvSpPr txBox="1"/>
              <p:nvPr/>
            </p:nvSpPr>
            <p:spPr>
              <a:xfrm>
                <a:off x="1109043" y="3257111"/>
                <a:ext cx="331232" cy="2891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sz="1200" b="0" i="1" dirty="0" smtClean="0">
                              <a:solidFill>
                                <a:schemeClr val="accent4">
                                  <a:lumMod val="50000"/>
                                </a:schemeClr>
                              </a:solidFill>
                              <a:latin typeface="Cambria Math" panose="02040503050406030204" pitchFamily="18" charset="0"/>
                            </a:rPr>
                          </m:ctrlPr>
                        </m:sSubSupPr>
                        <m:e>
                          <m:r>
                            <a:rPr lang="en-US" altLang="zh-CN" sz="1200" i="1" dirty="0" smtClean="0">
                              <a:solidFill>
                                <a:schemeClr val="accent4">
                                  <a:lumMod val="50000"/>
                                </a:schemeClr>
                              </a:solidFill>
                              <a:latin typeface="Cambria Math" panose="02040503050406030204" pitchFamily="18" charset="0"/>
                            </a:rPr>
                            <m:t>𝑄</m:t>
                          </m:r>
                        </m:e>
                        <m:sub>
                          <m:r>
                            <a:rPr lang="en-US" altLang="zh-CN" sz="1200" i="1" dirty="0" smtClean="0">
                              <a:solidFill>
                                <a:schemeClr val="accent4">
                                  <a:lumMod val="50000"/>
                                </a:schemeClr>
                              </a:solidFill>
                              <a:latin typeface="Cambria Math" panose="02040503050406030204" pitchFamily="18" charset="0"/>
                            </a:rPr>
                            <m:t>𝑑</m:t>
                          </m:r>
                        </m:sub>
                        <m:sup>
                          <m:r>
                            <a:rPr lang="en-US" altLang="zh-CN" sz="1200" b="0" i="1" dirty="0" smtClean="0">
                              <a:solidFill>
                                <a:schemeClr val="accent4">
                                  <a:lumMod val="50000"/>
                                </a:schemeClr>
                              </a:solidFill>
                              <a:latin typeface="Cambria Math" panose="02040503050406030204" pitchFamily="18" charset="0"/>
                            </a:rPr>
                            <m:t>𝑏</m:t>
                          </m:r>
                        </m:sup>
                      </m:sSubSup>
                    </m:oMath>
                  </m:oMathPara>
                </a14:m>
                <a:endParaRPr lang="zh-CN" altLang="en-US" sz="1200" dirty="0">
                  <a:solidFill>
                    <a:schemeClr val="accent4">
                      <a:lumMod val="50000"/>
                    </a:schemeClr>
                  </a:solidFill>
                  <a:latin typeface="+mn-ea"/>
                </a:endParaRPr>
              </a:p>
            </p:txBody>
          </p:sp>
        </mc:Choice>
        <mc:Fallback xmlns="">
          <p:sp>
            <p:nvSpPr>
              <p:cNvPr id="44" name="文本框 43">
                <a:extLst>
                  <a:ext uri="{FF2B5EF4-FFF2-40B4-BE49-F238E27FC236}">
                    <a16:creationId xmlns:a16="http://schemas.microsoft.com/office/drawing/2014/main" id="{7A0601AE-403C-DBDB-05DB-560AE832E110}"/>
                  </a:ext>
                </a:extLst>
              </p:cNvPr>
              <p:cNvSpPr txBox="1">
                <a:spLocks noRot="1" noChangeAspect="1" noMove="1" noResize="1" noEditPoints="1" noAdjustHandles="1" noChangeArrowheads="1" noChangeShapeType="1" noTextEdit="1"/>
              </p:cNvSpPr>
              <p:nvPr/>
            </p:nvSpPr>
            <p:spPr>
              <a:xfrm>
                <a:off x="1109043" y="3257111"/>
                <a:ext cx="331232" cy="289182"/>
              </a:xfrm>
              <a:prstGeom prst="rect">
                <a:avLst/>
              </a:prstGeom>
              <a:blipFill>
                <a:blip r:embed="rId9"/>
                <a:stretch>
                  <a:fillRect l="-37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D126D2A5-E93E-FA24-90DC-3982EE912309}"/>
                  </a:ext>
                </a:extLst>
              </p:cNvPr>
              <p:cNvSpPr txBox="1"/>
              <p:nvPr/>
            </p:nvSpPr>
            <p:spPr>
              <a:xfrm>
                <a:off x="1537953" y="3257111"/>
                <a:ext cx="331232" cy="2891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sz="1200" b="0" i="1" dirty="0" smtClean="0">
                              <a:solidFill>
                                <a:schemeClr val="accent4">
                                  <a:lumMod val="50000"/>
                                </a:schemeClr>
                              </a:solidFill>
                              <a:latin typeface="Cambria Math" panose="02040503050406030204" pitchFamily="18" charset="0"/>
                            </a:rPr>
                          </m:ctrlPr>
                        </m:sSubSupPr>
                        <m:e>
                          <m:r>
                            <a:rPr lang="en-US" altLang="zh-CN" sz="1200" b="0" i="1" dirty="0" smtClean="0">
                              <a:solidFill>
                                <a:schemeClr val="accent4">
                                  <a:lumMod val="50000"/>
                                </a:schemeClr>
                              </a:solidFill>
                              <a:latin typeface="Cambria Math" panose="02040503050406030204" pitchFamily="18" charset="0"/>
                            </a:rPr>
                            <m:t>𝐾</m:t>
                          </m:r>
                        </m:e>
                        <m:sub>
                          <m:r>
                            <a:rPr lang="en-US" altLang="zh-CN" sz="1200" i="1" dirty="0" smtClean="0">
                              <a:solidFill>
                                <a:schemeClr val="accent4">
                                  <a:lumMod val="50000"/>
                                </a:schemeClr>
                              </a:solidFill>
                              <a:latin typeface="Cambria Math" panose="02040503050406030204" pitchFamily="18" charset="0"/>
                            </a:rPr>
                            <m:t>𝑑</m:t>
                          </m:r>
                        </m:sub>
                        <m:sup>
                          <m:r>
                            <a:rPr lang="en-US" altLang="zh-CN" sz="1200" b="0" i="1" dirty="0" smtClean="0">
                              <a:solidFill>
                                <a:schemeClr val="accent4">
                                  <a:lumMod val="50000"/>
                                </a:schemeClr>
                              </a:solidFill>
                              <a:latin typeface="Cambria Math" panose="02040503050406030204" pitchFamily="18" charset="0"/>
                            </a:rPr>
                            <m:t>𝑏</m:t>
                          </m:r>
                        </m:sup>
                      </m:sSubSup>
                    </m:oMath>
                  </m:oMathPara>
                </a14:m>
                <a:endParaRPr lang="zh-CN" altLang="en-US" sz="1200" dirty="0">
                  <a:solidFill>
                    <a:schemeClr val="accent4">
                      <a:lumMod val="50000"/>
                    </a:schemeClr>
                  </a:solidFill>
                  <a:latin typeface="+mn-ea"/>
                </a:endParaRPr>
              </a:p>
            </p:txBody>
          </p:sp>
        </mc:Choice>
        <mc:Fallback xmlns="">
          <p:sp>
            <p:nvSpPr>
              <p:cNvPr id="45" name="文本框 44">
                <a:extLst>
                  <a:ext uri="{FF2B5EF4-FFF2-40B4-BE49-F238E27FC236}">
                    <a16:creationId xmlns:a16="http://schemas.microsoft.com/office/drawing/2014/main" id="{D126D2A5-E93E-FA24-90DC-3982EE912309}"/>
                  </a:ext>
                </a:extLst>
              </p:cNvPr>
              <p:cNvSpPr txBox="1">
                <a:spLocks noRot="1" noChangeAspect="1" noMove="1" noResize="1" noEditPoints="1" noAdjustHandles="1" noChangeArrowheads="1" noChangeShapeType="1" noTextEdit="1"/>
              </p:cNvSpPr>
              <p:nvPr/>
            </p:nvSpPr>
            <p:spPr>
              <a:xfrm>
                <a:off x="1537953" y="3257111"/>
                <a:ext cx="331232" cy="289182"/>
              </a:xfrm>
              <a:prstGeom prst="rect">
                <a:avLst/>
              </a:prstGeom>
              <a:blipFill>
                <a:blip r:embed="rId10"/>
                <a:stretch>
                  <a:fillRect l="-1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E8BA49F3-457E-6982-72B1-FD0170F32BC5}"/>
                  </a:ext>
                </a:extLst>
              </p:cNvPr>
              <p:cNvSpPr txBox="1"/>
              <p:nvPr/>
            </p:nvSpPr>
            <p:spPr>
              <a:xfrm>
                <a:off x="1966863" y="3257111"/>
                <a:ext cx="331232" cy="2891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sz="1200" b="0" i="1" dirty="0" smtClean="0">
                              <a:solidFill>
                                <a:schemeClr val="accent4">
                                  <a:lumMod val="50000"/>
                                </a:schemeClr>
                              </a:solidFill>
                              <a:latin typeface="Cambria Math" panose="02040503050406030204" pitchFamily="18" charset="0"/>
                            </a:rPr>
                          </m:ctrlPr>
                        </m:sSubSupPr>
                        <m:e>
                          <m:r>
                            <a:rPr lang="en-US" altLang="zh-CN" sz="1200" b="0" i="1" dirty="0" smtClean="0">
                              <a:solidFill>
                                <a:schemeClr val="accent4">
                                  <a:lumMod val="50000"/>
                                </a:schemeClr>
                              </a:solidFill>
                              <a:latin typeface="Cambria Math" panose="02040503050406030204" pitchFamily="18" charset="0"/>
                            </a:rPr>
                            <m:t>𝑉</m:t>
                          </m:r>
                        </m:e>
                        <m:sub>
                          <m:r>
                            <a:rPr lang="en-US" altLang="zh-CN" sz="1200" i="1" dirty="0" smtClean="0">
                              <a:solidFill>
                                <a:schemeClr val="accent4">
                                  <a:lumMod val="50000"/>
                                </a:schemeClr>
                              </a:solidFill>
                              <a:latin typeface="Cambria Math" panose="02040503050406030204" pitchFamily="18" charset="0"/>
                            </a:rPr>
                            <m:t>𝑑</m:t>
                          </m:r>
                        </m:sub>
                        <m:sup>
                          <m:r>
                            <a:rPr lang="en-US" altLang="zh-CN" sz="1200" b="0" i="1" dirty="0" smtClean="0">
                              <a:solidFill>
                                <a:schemeClr val="accent4">
                                  <a:lumMod val="50000"/>
                                </a:schemeClr>
                              </a:solidFill>
                              <a:latin typeface="Cambria Math" panose="02040503050406030204" pitchFamily="18" charset="0"/>
                            </a:rPr>
                            <m:t>𝑏</m:t>
                          </m:r>
                        </m:sup>
                      </m:sSubSup>
                    </m:oMath>
                  </m:oMathPara>
                </a14:m>
                <a:endParaRPr lang="zh-CN" altLang="en-US" sz="1200" dirty="0">
                  <a:solidFill>
                    <a:schemeClr val="accent4">
                      <a:lumMod val="50000"/>
                    </a:schemeClr>
                  </a:solidFill>
                  <a:latin typeface="+mn-ea"/>
                </a:endParaRPr>
              </a:p>
            </p:txBody>
          </p:sp>
        </mc:Choice>
        <mc:Fallback xmlns="">
          <p:sp>
            <p:nvSpPr>
              <p:cNvPr id="46" name="文本框 45">
                <a:extLst>
                  <a:ext uri="{FF2B5EF4-FFF2-40B4-BE49-F238E27FC236}">
                    <a16:creationId xmlns:a16="http://schemas.microsoft.com/office/drawing/2014/main" id="{E8BA49F3-457E-6982-72B1-FD0170F32BC5}"/>
                  </a:ext>
                </a:extLst>
              </p:cNvPr>
              <p:cNvSpPr txBox="1">
                <a:spLocks noRot="1" noChangeAspect="1" noMove="1" noResize="1" noEditPoints="1" noAdjustHandles="1" noChangeArrowheads="1" noChangeShapeType="1" noTextEdit="1"/>
              </p:cNvSpPr>
              <p:nvPr/>
            </p:nvSpPr>
            <p:spPr>
              <a:xfrm>
                <a:off x="1966863" y="3257111"/>
                <a:ext cx="331232" cy="289182"/>
              </a:xfrm>
              <a:prstGeom prst="rect">
                <a:avLst/>
              </a:prstGeom>
              <a:blipFill>
                <a:blip r:embed="rId11"/>
                <a:stretch>
                  <a:fillRect/>
                </a:stretch>
              </a:blipFill>
            </p:spPr>
            <p:txBody>
              <a:bodyPr/>
              <a:lstStyle/>
              <a:p>
                <a:r>
                  <a:rPr lang="zh-CN" altLang="en-US">
                    <a:noFill/>
                  </a:rPr>
                  <a:t> </a:t>
                </a:r>
              </a:p>
            </p:txBody>
          </p:sp>
        </mc:Fallback>
      </mc:AlternateContent>
      <p:cxnSp>
        <p:nvCxnSpPr>
          <p:cNvPr id="47" name="直接箭头连接符 46">
            <a:extLst>
              <a:ext uri="{FF2B5EF4-FFF2-40B4-BE49-F238E27FC236}">
                <a16:creationId xmlns:a16="http://schemas.microsoft.com/office/drawing/2014/main" id="{ADD01E02-32B4-3DAD-6010-F70D628750DB}"/>
              </a:ext>
            </a:extLst>
          </p:cNvPr>
          <p:cNvCxnSpPr>
            <a:cxnSpLocks/>
            <a:stCxn id="33" idx="2"/>
            <a:endCxn id="35" idx="0"/>
          </p:cNvCxnSpPr>
          <p:nvPr/>
        </p:nvCxnSpPr>
        <p:spPr>
          <a:xfrm flipH="1">
            <a:off x="1995196" y="2692685"/>
            <a:ext cx="3591" cy="23294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10A43EB6-E736-EF6E-A227-6B99837A52E6}"/>
              </a:ext>
            </a:extLst>
          </p:cNvPr>
          <p:cNvCxnSpPr>
            <a:cxnSpLocks/>
            <a:stCxn id="37" idx="2"/>
            <a:endCxn id="36" idx="0"/>
          </p:cNvCxnSpPr>
          <p:nvPr/>
        </p:nvCxnSpPr>
        <p:spPr>
          <a:xfrm flipH="1">
            <a:off x="4557110" y="2676297"/>
            <a:ext cx="2" cy="247378"/>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9DED96D8-D1DB-EC9C-C554-9BDC7C89106A}"/>
              </a:ext>
            </a:extLst>
          </p:cNvPr>
          <p:cNvCxnSpPr>
            <a:cxnSpLocks/>
            <a:stCxn id="35" idx="3"/>
            <a:endCxn id="36" idx="1"/>
          </p:cNvCxnSpPr>
          <p:nvPr/>
        </p:nvCxnSpPr>
        <p:spPr>
          <a:xfrm flipV="1">
            <a:off x="2895196" y="3076909"/>
            <a:ext cx="761914" cy="1951"/>
          </a:xfrm>
          <a:prstGeom prst="straightConnector1">
            <a:avLst/>
          </a:prstGeom>
          <a:ln w="127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6F1324E9-E0B5-BBA2-7576-8ABC054FDF21}"/>
              </a:ext>
            </a:extLst>
          </p:cNvPr>
          <p:cNvSpPr txBox="1"/>
          <p:nvPr/>
        </p:nvSpPr>
        <p:spPr>
          <a:xfrm>
            <a:off x="2605646" y="2738696"/>
            <a:ext cx="1320085" cy="230832"/>
          </a:xfrm>
          <a:prstGeom prst="rect">
            <a:avLst/>
          </a:prstGeom>
          <a:noFill/>
        </p:spPr>
        <p:txBody>
          <a:bodyPr wrap="square">
            <a:spAutoFit/>
          </a:bodyPr>
          <a:lstStyle/>
          <a:p>
            <a:pPr algn="ctr"/>
            <a:r>
              <a:rPr lang="en-US" altLang="zh-CN" sz="900" b="1" dirty="0">
                <a:latin typeface="+mn-ea"/>
              </a:rPr>
              <a:t>Shared weights</a:t>
            </a:r>
            <a:endParaRPr lang="zh-CN" altLang="en-US" sz="900" b="1" dirty="0">
              <a:solidFill>
                <a:schemeClr val="tx1"/>
              </a:solidFill>
              <a:latin typeface="+mn-ea"/>
            </a:endParaRPr>
          </a:p>
        </p:txBody>
      </p:sp>
      <p:sp>
        <p:nvSpPr>
          <p:cNvPr id="51" name="文本框 50">
            <a:extLst>
              <a:ext uri="{FF2B5EF4-FFF2-40B4-BE49-F238E27FC236}">
                <a16:creationId xmlns:a16="http://schemas.microsoft.com/office/drawing/2014/main" id="{E56E9B51-931B-7D9A-11B5-1FA7EA5B8797}"/>
              </a:ext>
            </a:extLst>
          </p:cNvPr>
          <p:cNvSpPr txBox="1"/>
          <p:nvPr/>
        </p:nvSpPr>
        <p:spPr>
          <a:xfrm>
            <a:off x="952464" y="3730267"/>
            <a:ext cx="1939551" cy="306467"/>
          </a:xfrm>
          <a:prstGeom prst="roundRect">
            <a:avLst/>
          </a:prstGeom>
          <a:noFill/>
          <a:ln w="12700">
            <a:solidFill>
              <a:schemeClr val="tx1"/>
            </a:solidFill>
            <a:prstDash val="solid"/>
          </a:ln>
        </p:spPr>
        <p:txBody>
          <a:bodyPr wrap="square">
            <a:spAutoFit/>
          </a:bodyPr>
          <a:lstStyle/>
          <a:p>
            <a:pPr algn="ctr"/>
            <a:r>
              <a:rPr lang="en-US" altLang="zh-CN" sz="1200" b="1" dirty="0">
                <a:latin typeface="+mn-ea"/>
              </a:rPr>
              <a:t>Self-Attention</a:t>
            </a:r>
            <a:endParaRPr lang="zh-CN" altLang="en-US" sz="1200" b="1" dirty="0">
              <a:latin typeface="+mn-ea"/>
            </a:endParaRPr>
          </a:p>
        </p:txBody>
      </p:sp>
      <p:sp>
        <p:nvSpPr>
          <p:cNvPr id="52" name="文本框 51">
            <a:extLst>
              <a:ext uri="{FF2B5EF4-FFF2-40B4-BE49-F238E27FC236}">
                <a16:creationId xmlns:a16="http://schemas.microsoft.com/office/drawing/2014/main" id="{9EED72C4-0138-4472-9F74-8A2A7A46B729}"/>
              </a:ext>
            </a:extLst>
          </p:cNvPr>
          <p:cNvSpPr txBox="1"/>
          <p:nvPr/>
        </p:nvSpPr>
        <p:spPr>
          <a:xfrm>
            <a:off x="3600351" y="3727506"/>
            <a:ext cx="1939551" cy="306467"/>
          </a:xfrm>
          <a:prstGeom prst="roundRect">
            <a:avLst/>
          </a:prstGeom>
          <a:noFill/>
          <a:ln w="12700">
            <a:solidFill>
              <a:schemeClr val="tx1"/>
            </a:solidFill>
            <a:prstDash val="solid"/>
          </a:ln>
        </p:spPr>
        <p:txBody>
          <a:bodyPr wrap="square">
            <a:spAutoFit/>
          </a:bodyPr>
          <a:lstStyle/>
          <a:p>
            <a:pPr algn="ctr"/>
            <a:r>
              <a:rPr lang="en-US" altLang="zh-CN" sz="1200" b="1" dirty="0">
                <a:solidFill>
                  <a:schemeClr val="tx1"/>
                </a:solidFill>
                <a:latin typeface="+mn-ea"/>
              </a:rPr>
              <a:t>Cross-Attention</a:t>
            </a:r>
            <a:endParaRPr lang="zh-CN" altLang="en-US" sz="1200" b="1" dirty="0">
              <a:solidFill>
                <a:schemeClr val="tx1"/>
              </a:solidFill>
              <a:latin typeface="+mn-ea"/>
            </a:endParaRPr>
          </a:p>
        </p:txBody>
      </p:sp>
      <p:cxnSp>
        <p:nvCxnSpPr>
          <p:cNvPr id="53" name="连接符: 肘形 52">
            <a:extLst>
              <a:ext uri="{FF2B5EF4-FFF2-40B4-BE49-F238E27FC236}">
                <a16:creationId xmlns:a16="http://schemas.microsoft.com/office/drawing/2014/main" id="{9F1F4B5D-1823-88E7-0F41-378A70718DCC}"/>
              </a:ext>
            </a:extLst>
          </p:cNvPr>
          <p:cNvCxnSpPr>
            <a:cxnSpLocks/>
          </p:cNvCxnSpPr>
          <p:nvPr/>
        </p:nvCxnSpPr>
        <p:spPr>
          <a:xfrm rot="16200000" flipH="1">
            <a:off x="2440595" y="2192333"/>
            <a:ext cx="495413" cy="2574931"/>
          </a:xfrm>
          <a:prstGeom prst="bentConnector3">
            <a:avLst>
              <a:gd name="adj1" fmla="val 62305"/>
            </a:avLst>
          </a:prstGeom>
          <a:ln w="9525">
            <a:solidFill>
              <a:srgbClr val="7E64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CCF37608-B4E4-C78A-C428-59F2B1928338}"/>
                  </a:ext>
                </a:extLst>
              </p:cNvPr>
              <p:cNvSpPr txBox="1"/>
              <p:nvPr/>
            </p:nvSpPr>
            <p:spPr>
              <a:xfrm>
                <a:off x="3745800" y="3259651"/>
                <a:ext cx="331232" cy="2891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sz="1200" b="0" i="1" dirty="0" smtClean="0">
                              <a:solidFill>
                                <a:schemeClr val="accent4">
                                  <a:lumMod val="50000"/>
                                </a:schemeClr>
                              </a:solidFill>
                              <a:latin typeface="Cambria Math" panose="02040503050406030204" pitchFamily="18" charset="0"/>
                            </a:rPr>
                          </m:ctrlPr>
                        </m:sSubSupPr>
                        <m:e>
                          <m:r>
                            <a:rPr lang="en-US" altLang="zh-CN" sz="1200" i="1" dirty="0" smtClean="0">
                              <a:solidFill>
                                <a:schemeClr val="accent4">
                                  <a:lumMod val="50000"/>
                                </a:schemeClr>
                              </a:solidFill>
                              <a:latin typeface="Cambria Math" panose="02040503050406030204" pitchFamily="18" charset="0"/>
                            </a:rPr>
                            <m:t>𝑄</m:t>
                          </m:r>
                        </m:e>
                        <m:sub>
                          <m:r>
                            <a:rPr lang="en-US" altLang="zh-CN" sz="1200" i="1" dirty="0" smtClean="0">
                              <a:solidFill>
                                <a:schemeClr val="accent4">
                                  <a:lumMod val="50000"/>
                                </a:schemeClr>
                              </a:solidFill>
                              <a:latin typeface="Cambria Math" panose="02040503050406030204" pitchFamily="18" charset="0"/>
                            </a:rPr>
                            <m:t>𝑑</m:t>
                          </m:r>
                        </m:sub>
                        <m:sup>
                          <m:r>
                            <a:rPr lang="en-US" altLang="zh-CN" sz="1200" b="0" i="1" dirty="0" smtClean="0">
                              <a:solidFill>
                                <a:schemeClr val="accent4">
                                  <a:lumMod val="50000"/>
                                </a:schemeClr>
                              </a:solidFill>
                              <a:latin typeface="Cambria Math" panose="02040503050406030204" pitchFamily="18" charset="0"/>
                            </a:rPr>
                            <m:t>𝑏</m:t>
                          </m:r>
                        </m:sup>
                      </m:sSubSup>
                    </m:oMath>
                  </m:oMathPara>
                </a14:m>
                <a:endParaRPr lang="zh-CN" altLang="en-US" sz="1200" dirty="0">
                  <a:solidFill>
                    <a:schemeClr val="accent4">
                      <a:lumMod val="50000"/>
                    </a:schemeClr>
                  </a:solidFill>
                  <a:latin typeface="+mn-ea"/>
                </a:endParaRPr>
              </a:p>
            </p:txBody>
          </p:sp>
        </mc:Choice>
        <mc:Fallback xmlns="">
          <p:sp>
            <p:nvSpPr>
              <p:cNvPr id="54" name="文本框 53">
                <a:extLst>
                  <a:ext uri="{FF2B5EF4-FFF2-40B4-BE49-F238E27FC236}">
                    <a16:creationId xmlns:a16="http://schemas.microsoft.com/office/drawing/2014/main" id="{CCF37608-B4E4-C78A-C428-59F2B1928338}"/>
                  </a:ext>
                </a:extLst>
              </p:cNvPr>
              <p:cNvSpPr txBox="1">
                <a:spLocks noRot="1" noChangeAspect="1" noMove="1" noResize="1" noEditPoints="1" noAdjustHandles="1" noChangeArrowheads="1" noChangeShapeType="1" noTextEdit="1"/>
              </p:cNvSpPr>
              <p:nvPr/>
            </p:nvSpPr>
            <p:spPr>
              <a:xfrm>
                <a:off x="3745800" y="3259651"/>
                <a:ext cx="331232" cy="289182"/>
              </a:xfrm>
              <a:prstGeom prst="rect">
                <a:avLst/>
              </a:prstGeom>
              <a:blipFill>
                <a:blip r:embed="rId12"/>
                <a:stretch>
                  <a:fillRect l="-3636"/>
                </a:stretch>
              </a:blipFill>
            </p:spPr>
            <p:txBody>
              <a:bodyPr/>
              <a:lstStyle/>
              <a:p>
                <a:r>
                  <a:rPr lang="zh-CN" altLang="en-US">
                    <a:noFill/>
                  </a:rPr>
                  <a:t> </a:t>
                </a:r>
              </a:p>
            </p:txBody>
          </p:sp>
        </mc:Fallback>
      </mc:AlternateContent>
      <p:cxnSp>
        <p:nvCxnSpPr>
          <p:cNvPr id="55" name="直接箭头连接符 54">
            <a:extLst>
              <a:ext uri="{FF2B5EF4-FFF2-40B4-BE49-F238E27FC236}">
                <a16:creationId xmlns:a16="http://schemas.microsoft.com/office/drawing/2014/main" id="{6F35158B-0F3D-F2C5-C044-1E6A874191CA}"/>
              </a:ext>
            </a:extLst>
          </p:cNvPr>
          <p:cNvCxnSpPr>
            <a:cxnSpLocks/>
          </p:cNvCxnSpPr>
          <p:nvPr/>
        </p:nvCxnSpPr>
        <p:spPr>
          <a:xfrm>
            <a:off x="4414485" y="3223556"/>
            <a:ext cx="0" cy="501612"/>
          </a:xfrm>
          <a:prstGeom prst="straightConnector1">
            <a:avLst/>
          </a:prstGeom>
          <a:ln w="9525">
            <a:solidFill>
              <a:srgbClr val="6D4298"/>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26A38348-6D80-1E75-1E78-B53FB054E8A6}"/>
              </a:ext>
            </a:extLst>
          </p:cNvPr>
          <p:cNvCxnSpPr>
            <a:cxnSpLocks/>
          </p:cNvCxnSpPr>
          <p:nvPr/>
        </p:nvCxnSpPr>
        <p:spPr>
          <a:xfrm>
            <a:off x="4836444" y="3223556"/>
            <a:ext cx="0" cy="501612"/>
          </a:xfrm>
          <a:prstGeom prst="straightConnector1">
            <a:avLst/>
          </a:prstGeom>
          <a:ln w="9525">
            <a:solidFill>
              <a:srgbClr val="6D4298"/>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91ED34A6-9C0B-CC32-505C-EAC79B0C5D82}"/>
                  </a:ext>
                </a:extLst>
              </p:cNvPr>
              <p:cNvSpPr txBox="1"/>
              <p:nvPr/>
            </p:nvSpPr>
            <p:spPr>
              <a:xfrm>
                <a:off x="4182093" y="3259651"/>
                <a:ext cx="331232"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sz="1200" b="0" i="1" dirty="0" smtClean="0">
                              <a:solidFill>
                                <a:srgbClr val="6D4298"/>
                              </a:solidFill>
                              <a:latin typeface="Cambria Math" panose="02040503050406030204" pitchFamily="18" charset="0"/>
                            </a:rPr>
                          </m:ctrlPr>
                        </m:sSubSupPr>
                        <m:e>
                          <m:r>
                            <a:rPr lang="en-US" altLang="zh-CN" sz="1200" b="0" i="1" dirty="0" smtClean="0">
                              <a:solidFill>
                                <a:srgbClr val="6D4298"/>
                              </a:solidFill>
                              <a:latin typeface="Cambria Math" panose="02040503050406030204" pitchFamily="18" charset="0"/>
                            </a:rPr>
                            <m:t>𝐾</m:t>
                          </m:r>
                        </m:e>
                        <m:sub>
                          <m:r>
                            <a:rPr lang="en-US" altLang="zh-CN" sz="1200" i="1" dirty="0" smtClean="0">
                              <a:solidFill>
                                <a:srgbClr val="6D4298"/>
                              </a:solidFill>
                              <a:latin typeface="Cambria Math" panose="02040503050406030204" pitchFamily="18" charset="0"/>
                            </a:rPr>
                            <m:t>𝑑</m:t>
                          </m:r>
                        </m:sub>
                        <m:sup>
                          <m:r>
                            <a:rPr lang="en-US" altLang="zh-CN" sz="1200" b="0" i="1" dirty="0" smtClean="0">
                              <a:solidFill>
                                <a:srgbClr val="6D4298"/>
                              </a:solidFill>
                              <a:latin typeface="Cambria Math" panose="02040503050406030204" pitchFamily="18" charset="0"/>
                            </a:rPr>
                            <m:t>𝑐</m:t>
                          </m:r>
                        </m:sup>
                      </m:sSubSup>
                    </m:oMath>
                  </m:oMathPara>
                </a14:m>
                <a:endParaRPr lang="zh-CN" altLang="en-US" sz="1200" dirty="0">
                  <a:solidFill>
                    <a:srgbClr val="6D4298"/>
                  </a:solidFill>
                  <a:latin typeface="+mn-ea"/>
                </a:endParaRPr>
              </a:p>
            </p:txBody>
          </p:sp>
        </mc:Choice>
        <mc:Fallback xmlns="">
          <p:sp>
            <p:nvSpPr>
              <p:cNvPr id="57" name="文本框 56">
                <a:extLst>
                  <a:ext uri="{FF2B5EF4-FFF2-40B4-BE49-F238E27FC236}">
                    <a16:creationId xmlns:a16="http://schemas.microsoft.com/office/drawing/2014/main" id="{91ED34A6-9C0B-CC32-505C-EAC79B0C5D82}"/>
                  </a:ext>
                </a:extLst>
              </p:cNvPr>
              <p:cNvSpPr txBox="1">
                <a:spLocks noRot="1" noChangeAspect="1" noMove="1" noResize="1" noEditPoints="1" noAdjustHandles="1" noChangeArrowheads="1" noChangeShapeType="1" noTextEdit="1"/>
              </p:cNvSpPr>
              <p:nvPr/>
            </p:nvSpPr>
            <p:spPr>
              <a:xfrm>
                <a:off x="4182093" y="3259651"/>
                <a:ext cx="331232" cy="27699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82874E00-F881-5419-6327-278FDB50A13A}"/>
                  </a:ext>
                </a:extLst>
              </p:cNvPr>
              <p:cNvSpPr txBox="1"/>
              <p:nvPr/>
            </p:nvSpPr>
            <p:spPr>
              <a:xfrm>
                <a:off x="4611003" y="3259651"/>
                <a:ext cx="331232"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sz="1200" b="0" i="1" dirty="0" smtClean="0">
                              <a:solidFill>
                                <a:srgbClr val="6D4298"/>
                              </a:solidFill>
                              <a:latin typeface="Cambria Math" panose="02040503050406030204" pitchFamily="18" charset="0"/>
                            </a:rPr>
                          </m:ctrlPr>
                        </m:sSubSupPr>
                        <m:e>
                          <m:r>
                            <a:rPr lang="en-US" altLang="zh-CN" sz="1200" b="0" i="1" dirty="0" smtClean="0">
                              <a:solidFill>
                                <a:srgbClr val="6D4298"/>
                              </a:solidFill>
                              <a:latin typeface="Cambria Math" panose="02040503050406030204" pitchFamily="18" charset="0"/>
                            </a:rPr>
                            <m:t>𝑉</m:t>
                          </m:r>
                        </m:e>
                        <m:sub>
                          <m:r>
                            <a:rPr lang="en-US" altLang="zh-CN" sz="1200" i="1" dirty="0" smtClean="0">
                              <a:solidFill>
                                <a:srgbClr val="6D4298"/>
                              </a:solidFill>
                              <a:latin typeface="Cambria Math" panose="02040503050406030204" pitchFamily="18" charset="0"/>
                            </a:rPr>
                            <m:t>𝑑</m:t>
                          </m:r>
                        </m:sub>
                        <m:sup>
                          <m:r>
                            <a:rPr lang="en-US" altLang="zh-CN" sz="1200" b="0" i="1" dirty="0" smtClean="0">
                              <a:solidFill>
                                <a:srgbClr val="6D4298"/>
                              </a:solidFill>
                              <a:latin typeface="Cambria Math" panose="02040503050406030204" pitchFamily="18" charset="0"/>
                            </a:rPr>
                            <m:t>𝑐</m:t>
                          </m:r>
                        </m:sup>
                      </m:sSubSup>
                    </m:oMath>
                  </m:oMathPara>
                </a14:m>
                <a:endParaRPr lang="zh-CN" altLang="en-US" sz="1200" dirty="0">
                  <a:solidFill>
                    <a:srgbClr val="6D4298"/>
                  </a:solidFill>
                  <a:latin typeface="+mn-ea"/>
                </a:endParaRPr>
              </a:p>
            </p:txBody>
          </p:sp>
        </mc:Choice>
        <mc:Fallback xmlns="">
          <p:sp>
            <p:nvSpPr>
              <p:cNvPr id="58" name="文本框 57">
                <a:extLst>
                  <a:ext uri="{FF2B5EF4-FFF2-40B4-BE49-F238E27FC236}">
                    <a16:creationId xmlns:a16="http://schemas.microsoft.com/office/drawing/2014/main" id="{82874E00-F881-5419-6327-278FDB50A13A}"/>
                  </a:ext>
                </a:extLst>
              </p:cNvPr>
              <p:cNvSpPr txBox="1">
                <a:spLocks noRot="1" noChangeAspect="1" noMove="1" noResize="1" noEditPoints="1" noAdjustHandles="1" noChangeArrowheads="1" noChangeShapeType="1" noTextEdit="1"/>
              </p:cNvSpPr>
              <p:nvPr/>
            </p:nvSpPr>
            <p:spPr>
              <a:xfrm>
                <a:off x="4611003" y="3259651"/>
                <a:ext cx="331232" cy="276999"/>
              </a:xfrm>
              <a:prstGeom prst="rect">
                <a:avLst/>
              </a:prstGeom>
              <a:blipFill>
                <a:blip r:embed="rId14"/>
                <a:stretch>
                  <a:fillRect/>
                </a:stretch>
              </a:blipFill>
            </p:spPr>
            <p:txBody>
              <a:bodyPr/>
              <a:lstStyle/>
              <a:p>
                <a:r>
                  <a:rPr lang="zh-CN" altLang="en-US">
                    <a:noFill/>
                  </a:rPr>
                  <a:t> </a:t>
                </a:r>
              </a:p>
            </p:txBody>
          </p:sp>
        </mc:Fallback>
      </mc:AlternateContent>
      <p:sp>
        <p:nvSpPr>
          <p:cNvPr id="59" name="文本框 58">
            <a:extLst>
              <a:ext uri="{FF2B5EF4-FFF2-40B4-BE49-F238E27FC236}">
                <a16:creationId xmlns:a16="http://schemas.microsoft.com/office/drawing/2014/main" id="{9273507B-43FD-09F3-17A4-8AFF687149C6}"/>
              </a:ext>
            </a:extLst>
          </p:cNvPr>
          <p:cNvSpPr txBox="1"/>
          <p:nvPr/>
        </p:nvSpPr>
        <p:spPr>
          <a:xfrm>
            <a:off x="955645" y="4202495"/>
            <a:ext cx="1939551" cy="306467"/>
          </a:xfrm>
          <a:prstGeom prst="roundRect">
            <a:avLst/>
          </a:prstGeom>
          <a:noFill/>
          <a:ln w="12700">
            <a:solidFill>
              <a:schemeClr val="tx1"/>
            </a:solidFill>
            <a:prstDash val="solid"/>
          </a:ln>
        </p:spPr>
        <p:txBody>
          <a:bodyPr wrap="square">
            <a:spAutoFit/>
          </a:bodyPr>
          <a:lstStyle/>
          <a:p>
            <a:pPr algn="ctr"/>
            <a:r>
              <a:rPr lang="en-US" altLang="zh-CN" sz="1200" b="1" dirty="0">
                <a:solidFill>
                  <a:schemeClr val="tx1"/>
                </a:solidFill>
                <a:latin typeface="+mn-ea"/>
              </a:rPr>
              <a:t>Dense</a:t>
            </a:r>
            <a:endParaRPr lang="zh-CN" altLang="en-US" sz="1200" b="1" dirty="0">
              <a:solidFill>
                <a:schemeClr val="tx1"/>
              </a:solidFill>
              <a:latin typeface="+mn-ea"/>
            </a:endParaRPr>
          </a:p>
        </p:txBody>
      </p: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31226737-BB0D-7E12-C6BF-8D95BB2CF171}"/>
                  </a:ext>
                </a:extLst>
              </p:cNvPr>
              <p:cNvSpPr txBox="1"/>
              <p:nvPr/>
            </p:nvSpPr>
            <p:spPr>
              <a:xfrm>
                <a:off x="3596604" y="4202495"/>
                <a:ext cx="1939551" cy="306467"/>
              </a:xfrm>
              <a:prstGeom prst="roundRect">
                <a:avLst/>
              </a:prstGeom>
              <a:noFill/>
              <a:ln w="12700">
                <a:solidFill>
                  <a:schemeClr val="tx1"/>
                </a:solidFill>
                <a:prstDash val="solid"/>
              </a:ln>
            </p:spPr>
            <p:txBody>
              <a:bodyPr wrap="square">
                <a:spAutoFit/>
              </a:bodyPr>
              <a:lstStyle/>
              <a:p>
                <a:pPr algn="ctr"/>
                <a14:m>
                  <m:oMathPara xmlns:m="http://schemas.openxmlformats.org/officeDocument/2006/math">
                    <m:oMathParaPr>
                      <m:jc m:val="centerGroup"/>
                    </m:oMathParaPr>
                    <m:oMath xmlns:m="http://schemas.openxmlformats.org/officeDocument/2006/math">
                      <m:r>
                        <m:rPr>
                          <m:nor/>
                        </m:rPr>
                        <a:rPr lang="en-US" altLang="zh-CN" sz="1200" b="1" dirty="0">
                          <a:latin typeface="+mn-ea"/>
                        </a:rPr>
                        <m:t>Dense</m:t>
                      </m:r>
                    </m:oMath>
                  </m:oMathPara>
                </a14:m>
                <a:endParaRPr lang="zh-CN" altLang="en-US" sz="1200" b="1" dirty="0">
                  <a:latin typeface="+mn-ea"/>
                </a:endParaRPr>
              </a:p>
            </p:txBody>
          </p:sp>
        </mc:Choice>
        <mc:Fallback xmlns="">
          <p:sp>
            <p:nvSpPr>
              <p:cNvPr id="60" name="文本框 59">
                <a:extLst>
                  <a:ext uri="{FF2B5EF4-FFF2-40B4-BE49-F238E27FC236}">
                    <a16:creationId xmlns:a16="http://schemas.microsoft.com/office/drawing/2014/main" id="{31226737-BB0D-7E12-C6BF-8D95BB2CF171}"/>
                  </a:ext>
                </a:extLst>
              </p:cNvPr>
              <p:cNvSpPr txBox="1">
                <a:spLocks noRot="1" noChangeAspect="1" noMove="1" noResize="1" noEditPoints="1" noAdjustHandles="1" noChangeArrowheads="1" noChangeShapeType="1" noTextEdit="1"/>
              </p:cNvSpPr>
              <p:nvPr/>
            </p:nvSpPr>
            <p:spPr>
              <a:xfrm>
                <a:off x="3596604" y="4202495"/>
                <a:ext cx="1939551" cy="306467"/>
              </a:xfrm>
              <a:prstGeom prst="roundRect">
                <a:avLst/>
              </a:prstGeom>
              <a:blipFill>
                <a:blip r:embed="rId15"/>
                <a:stretch>
                  <a:fillRect/>
                </a:stretch>
              </a:blipFill>
              <a:ln w="12700">
                <a:solidFill>
                  <a:schemeClr val="tx1"/>
                </a:solidFill>
                <a:prstDash val="solid"/>
              </a:ln>
            </p:spPr>
            <p:txBody>
              <a:bodyPr/>
              <a:lstStyle/>
              <a:p>
                <a:r>
                  <a:rPr lang="zh-CN" altLang="en-US">
                    <a:noFill/>
                  </a:rPr>
                  <a:t> </a:t>
                </a:r>
              </a:p>
            </p:txBody>
          </p:sp>
        </mc:Fallback>
      </mc:AlternateContent>
      <p:cxnSp>
        <p:nvCxnSpPr>
          <p:cNvPr id="63" name="直接箭头连接符 62">
            <a:extLst>
              <a:ext uri="{FF2B5EF4-FFF2-40B4-BE49-F238E27FC236}">
                <a16:creationId xmlns:a16="http://schemas.microsoft.com/office/drawing/2014/main" id="{9263195E-CC06-4109-2A06-FC5FE7DD9233}"/>
              </a:ext>
            </a:extLst>
          </p:cNvPr>
          <p:cNvCxnSpPr>
            <a:cxnSpLocks/>
            <a:stCxn id="51" idx="2"/>
            <a:endCxn id="59" idx="0"/>
          </p:cNvCxnSpPr>
          <p:nvPr/>
        </p:nvCxnSpPr>
        <p:spPr>
          <a:xfrm>
            <a:off x="1922240" y="4036734"/>
            <a:ext cx="3181" cy="16576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C506191A-3650-7125-39B1-C754F5C5EB0C}"/>
              </a:ext>
            </a:extLst>
          </p:cNvPr>
          <p:cNvCxnSpPr>
            <a:cxnSpLocks/>
            <a:stCxn id="52" idx="2"/>
            <a:endCxn id="60" idx="0"/>
          </p:cNvCxnSpPr>
          <p:nvPr/>
        </p:nvCxnSpPr>
        <p:spPr>
          <a:xfrm flipH="1">
            <a:off x="4566380" y="4033973"/>
            <a:ext cx="3747" cy="168522"/>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DCC7F062-F5AD-FEAC-3DC5-4C55A625242D}"/>
              </a:ext>
            </a:extLst>
          </p:cNvPr>
          <p:cNvSpPr txBox="1"/>
          <p:nvPr/>
        </p:nvSpPr>
        <p:spPr>
          <a:xfrm>
            <a:off x="2319715" y="4767741"/>
            <a:ext cx="1939551" cy="306467"/>
          </a:xfrm>
          <a:prstGeom prst="roundRect">
            <a:avLst/>
          </a:prstGeom>
          <a:noFill/>
          <a:ln w="12700">
            <a:solidFill>
              <a:schemeClr val="tx1"/>
            </a:solidFill>
            <a:prstDash val="solid"/>
          </a:ln>
        </p:spPr>
        <p:txBody>
          <a:bodyPr wrap="square">
            <a:spAutoFit/>
          </a:bodyPr>
          <a:lstStyle/>
          <a:p>
            <a:pPr algn="ctr"/>
            <a:r>
              <a:rPr lang="en-US" altLang="zh-CN" sz="1200" b="1" dirty="0">
                <a:solidFill>
                  <a:schemeClr val="tx1"/>
                </a:solidFill>
                <a:latin typeface="+mn-ea"/>
              </a:rPr>
              <a:t>Integration</a:t>
            </a:r>
            <a:endParaRPr lang="zh-CN" altLang="en-US" sz="1200" b="1" dirty="0">
              <a:solidFill>
                <a:schemeClr val="tx1"/>
              </a:solidFill>
              <a:latin typeface="+mn-ea"/>
            </a:endParaRPr>
          </a:p>
        </p:txBody>
      </p:sp>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D55F7611-90B4-1CFD-F01E-6A25C533F759}"/>
                  </a:ext>
                </a:extLst>
              </p:cNvPr>
              <p:cNvSpPr txBox="1"/>
              <p:nvPr/>
            </p:nvSpPr>
            <p:spPr>
              <a:xfrm>
                <a:off x="1355788" y="4508962"/>
                <a:ext cx="612658" cy="646331"/>
              </a:xfrm>
              <a:prstGeom prst="rect">
                <a:avLst/>
              </a:prstGeom>
              <a:noFill/>
            </p:spPr>
            <p:txBody>
              <a:bodyPr wrap="square">
                <a:spAutoFit/>
              </a:bodyPr>
              <a:lstStyle/>
              <a:p>
                <a:pPr algn="ctr"/>
                <a:r>
                  <a:rPr lang="en-US" altLang="zh-CN" sz="900" b="1" dirty="0">
                    <a:latin typeface="+mn-ea"/>
                  </a:rPr>
                  <a:t>Add</a:t>
                </a:r>
              </a:p>
              <a:p>
                <a:pPr algn="ctr"/>
                <a:r>
                  <a:rPr lang="en-US" altLang="zh-CN" sz="900" b="1" dirty="0">
                    <a:latin typeface="+mn-ea"/>
                  </a:rPr>
                  <a:t>Norm</a:t>
                </a:r>
              </a:p>
              <a:p>
                <a:pPr algn="ctr"/>
                <a:r>
                  <a:rPr lang="en-US" altLang="zh-CN" sz="900" b="1" dirty="0">
                    <a:latin typeface="+mn-ea"/>
                  </a:rPr>
                  <a:t>FFN</a:t>
                </a:r>
              </a:p>
              <a:p>
                <a:pPr algn="ctr"/>
                <a14:m>
                  <m:oMathPara xmlns:m="http://schemas.openxmlformats.org/officeDocument/2006/math">
                    <m:oMathParaPr>
                      <m:jc m:val="centerGroup"/>
                    </m:oMathParaPr>
                    <m:oMath xmlns:m="http://schemas.openxmlformats.org/officeDocument/2006/math">
                      <m:r>
                        <a:rPr lang="en-US" altLang="zh-CN" sz="900" b="1" i="1" smtClean="0">
                          <a:solidFill>
                            <a:schemeClr val="tx1"/>
                          </a:solidFill>
                          <a:latin typeface="Cambria Math" panose="02040503050406030204" pitchFamily="18" charset="0"/>
                        </a:rPr>
                        <m:t>⋯</m:t>
                      </m:r>
                    </m:oMath>
                  </m:oMathPara>
                </a14:m>
                <a:endParaRPr lang="en-US" altLang="zh-CN" sz="900" b="1" dirty="0">
                  <a:solidFill>
                    <a:schemeClr val="tx1"/>
                  </a:solidFill>
                  <a:latin typeface="+mn-ea"/>
                </a:endParaRPr>
              </a:p>
            </p:txBody>
          </p:sp>
        </mc:Choice>
        <mc:Fallback xmlns="">
          <p:sp>
            <p:nvSpPr>
              <p:cNvPr id="66" name="文本框 65">
                <a:extLst>
                  <a:ext uri="{FF2B5EF4-FFF2-40B4-BE49-F238E27FC236}">
                    <a16:creationId xmlns:a16="http://schemas.microsoft.com/office/drawing/2014/main" id="{D55F7611-90B4-1CFD-F01E-6A25C533F759}"/>
                  </a:ext>
                </a:extLst>
              </p:cNvPr>
              <p:cNvSpPr txBox="1">
                <a:spLocks noRot="1" noChangeAspect="1" noMove="1" noResize="1" noEditPoints="1" noAdjustHandles="1" noChangeArrowheads="1" noChangeShapeType="1" noTextEdit="1"/>
              </p:cNvSpPr>
              <p:nvPr/>
            </p:nvSpPr>
            <p:spPr>
              <a:xfrm>
                <a:off x="1355788" y="4508962"/>
                <a:ext cx="612658" cy="646331"/>
              </a:xfrm>
              <a:prstGeom prst="rect">
                <a:avLst/>
              </a:prstGeom>
              <a:blipFill>
                <a:blip r:embed="rId16"/>
                <a:stretch>
                  <a:fillRect/>
                </a:stretch>
              </a:blipFill>
            </p:spPr>
            <p:txBody>
              <a:bodyPr/>
              <a:lstStyle/>
              <a:p>
                <a:r>
                  <a:rPr lang="zh-CN" altLang="en-US">
                    <a:noFill/>
                  </a:rPr>
                  <a:t> </a:t>
                </a:r>
              </a:p>
            </p:txBody>
          </p:sp>
        </mc:Fallback>
      </mc:AlternateContent>
      <p:cxnSp>
        <p:nvCxnSpPr>
          <p:cNvPr id="67" name="连接符: 肘形 66">
            <a:extLst>
              <a:ext uri="{FF2B5EF4-FFF2-40B4-BE49-F238E27FC236}">
                <a16:creationId xmlns:a16="http://schemas.microsoft.com/office/drawing/2014/main" id="{380AB68B-7053-FD47-E4F9-A2E0C29416F8}"/>
              </a:ext>
            </a:extLst>
          </p:cNvPr>
          <p:cNvCxnSpPr>
            <a:cxnSpLocks/>
            <a:stCxn id="31" idx="2"/>
            <a:endCxn id="33" idx="0"/>
          </p:cNvCxnSpPr>
          <p:nvPr/>
        </p:nvCxnSpPr>
        <p:spPr>
          <a:xfrm rot="16200000" flipH="1">
            <a:off x="1397589" y="1768632"/>
            <a:ext cx="432578" cy="769818"/>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连接符: 肘形 67">
            <a:extLst>
              <a:ext uri="{FF2B5EF4-FFF2-40B4-BE49-F238E27FC236}">
                <a16:creationId xmlns:a16="http://schemas.microsoft.com/office/drawing/2014/main" id="{11F732F1-DB2B-CFC0-9DD2-FBBBB98BE9B1}"/>
              </a:ext>
            </a:extLst>
          </p:cNvPr>
          <p:cNvCxnSpPr>
            <a:cxnSpLocks/>
            <a:stCxn id="32" idx="2"/>
            <a:endCxn id="33" idx="0"/>
          </p:cNvCxnSpPr>
          <p:nvPr/>
        </p:nvCxnSpPr>
        <p:spPr>
          <a:xfrm rot="5400000">
            <a:off x="2210903" y="1725137"/>
            <a:ext cx="432578" cy="85680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连接符: 肘形 68">
            <a:extLst>
              <a:ext uri="{FF2B5EF4-FFF2-40B4-BE49-F238E27FC236}">
                <a16:creationId xmlns:a16="http://schemas.microsoft.com/office/drawing/2014/main" id="{208AC15C-FE10-69F0-F951-8DBB500B02F6}"/>
              </a:ext>
            </a:extLst>
          </p:cNvPr>
          <p:cNvCxnSpPr>
            <a:cxnSpLocks/>
            <a:stCxn id="59" idx="2"/>
            <a:endCxn id="65" idx="1"/>
          </p:cNvCxnSpPr>
          <p:nvPr/>
        </p:nvCxnSpPr>
        <p:spPr>
          <a:xfrm rot="16200000" flipH="1">
            <a:off x="1916562" y="4517821"/>
            <a:ext cx="412013" cy="394294"/>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连接符: 肘形 69">
            <a:extLst>
              <a:ext uri="{FF2B5EF4-FFF2-40B4-BE49-F238E27FC236}">
                <a16:creationId xmlns:a16="http://schemas.microsoft.com/office/drawing/2014/main" id="{18CD1EF9-098C-CA9B-6A15-D9358D157673}"/>
              </a:ext>
            </a:extLst>
          </p:cNvPr>
          <p:cNvCxnSpPr>
            <a:cxnSpLocks/>
            <a:stCxn id="60" idx="2"/>
            <a:endCxn id="65" idx="3"/>
          </p:cNvCxnSpPr>
          <p:nvPr/>
        </p:nvCxnSpPr>
        <p:spPr>
          <a:xfrm rot="5400000">
            <a:off x="4206817" y="4561411"/>
            <a:ext cx="412013" cy="307114"/>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9D2F7490-5691-4DBE-CD63-F3E87D18A0E0}"/>
                  </a:ext>
                </a:extLst>
              </p:cNvPr>
              <p:cNvSpPr txBox="1"/>
              <p:nvPr/>
            </p:nvSpPr>
            <p:spPr>
              <a:xfrm>
                <a:off x="4335887" y="4506619"/>
                <a:ext cx="811432" cy="646331"/>
              </a:xfrm>
              <a:prstGeom prst="rect">
                <a:avLst/>
              </a:prstGeom>
              <a:noFill/>
            </p:spPr>
            <p:txBody>
              <a:bodyPr wrap="square">
                <a:spAutoFit/>
              </a:bodyPr>
              <a:lstStyle/>
              <a:p>
                <a:pPr algn="ctr"/>
                <a:r>
                  <a:rPr lang="en-US" altLang="zh-CN" sz="900" b="1" dirty="0">
                    <a:latin typeface="+mn-ea"/>
                  </a:rPr>
                  <a:t>Add</a:t>
                </a:r>
              </a:p>
              <a:p>
                <a:pPr algn="ctr"/>
                <a:r>
                  <a:rPr lang="en-US" altLang="zh-CN" sz="900" b="1" dirty="0">
                    <a:latin typeface="+mn-ea"/>
                  </a:rPr>
                  <a:t>Norm</a:t>
                </a:r>
              </a:p>
              <a:p>
                <a:pPr algn="ctr"/>
                <a:r>
                  <a:rPr lang="en-US" altLang="zh-CN" sz="900" b="1" dirty="0">
                    <a:latin typeface="+mn-ea"/>
                  </a:rPr>
                  <a:t>FFN</a:t>
                </a:r>
              </a:p>
              <a:p>
                <a:pPr algn="ctr"/>
                <a14:m>
                  <m:oMathPara xmlns:m="http://schemas.openxmlformats.org/officeDocument/2006/math">
                    <m:oMathParaPr>
                      <m:jc m:val="centerGroup"/>
                    </m:oMathParaPr>
                    <m:oMath xmlns:m="http://schemas.openxmlformats.org/officeDocument/2006/math">
                      <m:r>
                        <a:rPr lang="en-US" altLang="zh-CN" sz="900" b="1" i="1" smtClean="0">
                          <a:solidFill>
                            <a:schemeClr val="tx1"/>
                          </a:solidFill>
                          <a:latin typeface="Cambria Math" panose="02040503050406030204" pitchFamily="18" charset="0"/>
                        </a:rPr>
                        <m:t>⋯</m:t>
                      </m:r>
                    </m:oMath>
                  </m:oMathPara>
                </a14:m>
                <a:endParaRPr lang="en-US" altLang="zh-CN" sz="900" b="1" dirty="0">
                  <a:solidFill>
                    <a:schemeClr val="tx1"/>
                  </a:solidFill>
                  <a:latin typeface="+mn-ea"/>
                </a:endParaRPr>
              </a:p>
            </p:txBody>
          </p:sp>
        </mc:Choice>
        <mc:Fallback xmlns="">
          <p:sp>
            <p:nvSpPr>
              <p:cNvPr id="71" name="文本框 70">
                <a:extLst>
                  <a:ext uri="{FF2B5EF4-FFF2-40B4-BE49-F238E27FC236}">
                    <a16:creationId xmlns:a16="http://schemas.microsoft.com/office/drawing/2014/main" id="{9D2F7490-5691-4DBE-CD63-F3E87D18A0E0}"/>
                  </a:ext>
                </a:extLst>
              </p:cNvPr>
              <p:cNvSpPr txBox="1">
                <a:spLocks noRot="1" noChangeAspect="1" noMove="1" noResize="1" noEditPoints="1" noAdjustHandles="1" noChangeArrowheads="1" noChangeShapeType="1" noTextEdit="1"/>
              </p:cNvSpPr>
              <p:nvPr/>
            </p:nvSpPr>
            <p:spPr>
              <a:xfrm>
                <a:off x="4335887" y="4506619"/>
                <a:ext cx="811432" cy="646331"/>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0D8D8BE6-FC5E-79DD-8DBE-C9C043EE1B63}"/>
                  </a:ext>
                </a:extLst>
              </p:cNvPr>
              <p:cNvSpPr txBox="1"/>
              <p:nvPr/>
            </p:nvSpPr>
            <p:spPr>
              <a:xfrm>
                <a:off x="1248718" y="5363555"/>
                <a:ext cx="1939551" cy="322855"/>
              </a:xfrm>
              <a:prstGeom prst="roundRect">
                <a:avLst/>
              </a:prstGeom>
              <a:noFill/>
              <a:ln w="12700">
                <a:solidFill>
                  <a:schemeClr val="tx1"/>
                </a:solidFill>
                <a:prstDash val="solid"/>
              </a:ln>
            </p:spPr>
            <p:txBody>
              <a:bodyPr wrap="square">
                <a:spAutoFit/>
              </a:bodyPr>
              <a:lstStyle/>
              <a:p>
                <a:pPr algn="ctr"/>
                <a:r>
                  <a:rPr lang="zh-CN" altLang="en-US" sz="1200" b="1" dirty="0">
                    <a:solidFill>
                      <a:schemeClr val="tx1"/>
                    </a:solidFill>
                    <a:latin typeface="+mn-ea"/>
                  </a:rPr>
                  <a:t>时空嵌入表征 </a:t>
                </a:r>
                <a14:m>
                  <m:oMath xmlns:m="http://schemas.openxmlformats.org/officeDocument/2006/math">
                    <m:sSubSup>
                      <m:sSubSupPr>
                        <m:ctrlPr>
                          <a:rPr lang="en-US" altLang="zh-CN" sz="1200" b="1" i="1" dirty="0" smtClean="0">
                            <a:solidFill>
                              <a:schemeClr val="tx1"/>
                            </a:solidFill>
                            <a:latin typeface="Cambria Math" panose="02040503050406030204" pitchFamily="18" charset="0"/>
                          </a:rPr>
                        </m:ctrlPr>
                      </m:sSubSupPr>
                      <m:e>
                        <m:r>
                          <a:rPr lang="en-US" altLang="zh-CN" sz="1200" b="1" i="1" dirty="0" smtClean="0">
                            <a:solidFill>
                              <a:schemeClr val="tx1"/>
                            </a:solidFill>
                            <a:latin typeface="Cambria Math" panose="02040503050406030204" pitchFamily="18" charset="0"/>
                          </a:rPr>
                          <m:t>𝒁</m:t>
                        </m:r>
                      </m:e>
                      <m:sub>
                        <m:r>
                          <a:rPr lang="en-US" altLang="zh-CN" sz="1200" b="1" i="1" dirty="0" smtClean="0">
                            <a:solidFill>
                              <a:schemeClr val="tx1"/>
                            </a:solidFill>
                            <a:latin typeface="Cambria Math" panose="02040503050406030204" pitchFamily="18" charset="0"/>
                          </a:rPr>
                          <m:t>𝒅</m:t>
                        </m:r>
                      </m:sub>
                      <m:sup>
                        <m:r>
                          <a:rPr lang="en-US" altLang="zh-CN" sz="1200" b="1" i="1" dirty="0" smtClean="0">
                            <a:solidFill>
                              <a:schemeClr val="tx1"/>
                            </a:solidFill>
                            <a:latin typeface="Cambria Math" panose="02040503050406030204" pitchFamily="18" charset="0"/>
                          </a:rPr>
                          <m:t>𝑻</m:t>
                        </m:r>
                      </m:sup>
                    </m:sSubSup>
                  </m:oMath>
                </a14:m>
                <a:endParaRPr lang="zh-CN" altLang="en-US" sz="1200" b="1" dirty="0">
                  <a:solidFill>
                    <a:schemeClr val="tx1"/>
                  </a:solidFill>
                  <a:latin typeface="+mn-ea"/>
                </a:endParaRPr>
              </a:p>
            </p:txBody>
          </p:sp>
        </mc:Choice>
        <mc:Fallback xmlns="">
          <p:sp>
            <p:nvSpPr>
              <p:cNvPr id="72" name="文本框 71">
                <a:extLst>
                  <a:ext uri="{FF2B5EF4-FFF2-40B4-BE49-F238E27FC236}">
                    <a16:creationId xmlns:a16="http://schemas.microsoft.com/office/drawing/2014/main" id="{0D8D8BE6-FC5E-79DD-8DBE-C9C043EE1B63}"/>
                  </a:ext>
                </a:extLst>
              </p:cNvPr>
              <p:cNvSpPr txBox="1">
                <a:spLocks noRot="1" noChangeAspect="1" noMove="1" noResize="1" noEditPoints="1" noAdjustHandles="1" noChangeArrowheads="1" noChangeShapeType="1" noTextEdit="1"/>
              </p:cNvSpPr>
              <p:nvPr/>
            </p:nvSpPr>
            <p:spPr>
              <a:xfrm>
                <a:off x="1248718" y="5363555"/>
                <a:ext cx="1939551" cy="322855"/>
              </a:xfrm>
              <a:prstGeom prst="roundRect">
                <a:avLst/>
              </a:prstGeom>
              <a:blipFill>
                <a:blip r:embed="rId18"/>
                <a:stretch>
                  <a:fillRect b="-7273"/>
                </a:stretch>
              </a:blipFill>
              <a:ln w="12700">
                <a:solidFill>
                  <a:schemeClr val="tx1"/>
                </a:solidFill>
                <a:prstDash val="solid"/>
              </a:ln>
            </p:spPr>
            <p:txBody>
              <a:bodyPr/>
              <a:lstStyle/>
              <a:p>
                <a:r>
                  <a:rPr lang="zh-CN" altLang="en-US">
                    <a:noFill/>
                  </a:rPr>
                  <a:t> </a:t>
                </a:r>
              </a:p>
            </p:txBody>
          </p:sp>
        </mc:Fallback>
      </mc:AlternateContent>
      <p:sp>
        <p:nvSpPr>
          <p:cNvPr id="73" name="矩形 72">
            <a:extLst>
              <a:ext uri="{FF2B5EF4-FFF2-40B4-BE49-F238E27FC236}">
                <a16:creationId xmlns:a16="http://schemas.microsoft.com/office/drawing/2014/main" id="{52850D98-F0F2-2F2C-D027-E6E28EF48099}"/>
              </a:ext>
            </a:extLst>
          </p:cNvPr>
          <p:cNvSpPr/>
          <p:nvPr/>
        </p:nvSpPr>
        <p:spPr>
          <a:xfrm>
            <a:off x="497258" y="1277717"/>
            <a:ext cx="5204459" cy="4864464"/>
          </a:xfrm>
          <a:prstGeom prst="rect">
            <a:avLst/>
          </a:prstGeom>
          <a:noFill/>
          <a:ln w="12700" cap="flat" cmpd="sng" algn="ctr">
            <a:solidFill>
              <a:srgbClr val="4874CB">
                <a:shade val="15000"/>
              </a:srgbClr>
            </a:solid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E54C5E">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rPr>
              <a:t>Time-aware Prediction Module</a:t>
            </a:r>
            <a:endParaRPr kumimoji="0" lang="zh-CN" altLang="en-US" sz="1400" b="1" i="0" u="none" strike="noStrike" kern="0" cap="none" spc="0" normalizeH="0" baseline="0" noProof="0" dirty="0">
              <a:ln>
                <a:noFill/>
              </a:ln>
              <a:solidFill>
                <a:srgbClr val="E54C5E">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pic>
        <p:nvPicPr>
          <p:cNvPr id="74" name="图片 73">
            <a:extLst>
              <a:ext uri="{FF2B5EF4-FFF2-40B4-BE49-F238E27FC236}">
                <a16:creationId xmlns:a16="http://schemas.microsoft.com/office/drawing/2014/main" id="{73A58F40-773F-4E8E-3E51-34479A5C125C}"/>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3880378" y="5236097"/>
            <a:ext cx="584330" cy="584330"/>
          </a:xfrm>
          <a:prstGeom prst="rect">
            <a:avLst/>
          </a:prstGeom>
        </p:spPr>
      </p:pic>
      <p:sp>
        <p:nvSpPr>
          <p:cNvPr id="75" name="矩形 74">
            <a:extLst>
              <a:ext uri="{FF2B5EF4-FFF2-40B4-BE49-F238E27FC236}">
                <a16:creationId xmlns:a16="http://schemas.microsoft.com/office/drawing/2014/main" id="{4A1FBBDE-B8B3-1C9B-EFB9-7B9BB2AD6EE3}"/>
              </a:ext>
            </a:extLst>
          </p:cNvPr>
          <p:cNvSpPr/>
          <p:nvPr/>
        </p:nvSpPr>
        <p:spPr>
          <a:xfrm>
            <a:off x="4335887" y="5402884"/>
            <a:ext cx="921405" cy="2507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b">
            <a:noAutofit/>
          </a:bodyPr>
          <a:lstStyle/>
          <a:p>
            <a:pPr algn="ctr"/>
            <a:r>
              <a:rPr lang="en-US" altLang="zh-CN" sz="1200" b="1" dirty="0">
                <a:solidFill>
                  <a:schemeClr val="tx1"/>
                </a:solidFill>
                <a:latin typeface="等线" panose="02010600030101010101" pitchFamily="2" charset="-122"/>
                <a:ea typeface="等线" panose="02010600030101010101" pitchFamily="2" charset="-122"/>
                <a:cs typeface="Times New Roman" panose="02020603050405020304" pitchFamily="18" charset="0"/>
              </a:rPr>
              <a:t>Classifier</a:t>
            </a:r>
          </a:p>
        </p:txBody>
      </p:sp>
      <p:cxnSp>
        <p:nvCxnSpPr>
          <p:cNvPr id="76" name="连接符: 肘形 75">
            <a:extLst>
              <a:ext uri="{FF2B5EF4-FFF2-40B4-BE49-F238E27FC236}">
                <a16:creationId xmlns:a16="http://schemas.microsoft.com/office/drawing/2014/main" id="{DAA3D760-CB74-6A24-163C-5620198A84BA}"/>
              </a:ext>
            </a:extLst>
          </p:cNvPr>
          <p:cNvCxnSpPr>
            <a:cxnSpLocks/>
            <a:stCxn id="65" idx="2"/>
            <a:endCxn id="72" idx="0"/>
          </p:cNvCxnSpPr>
          <p:nvPr/>
        </p:nvCxnSpPr>
        <p:spPr>
          <a:xfrm rot="5400000">
            <a:off x="2609320" y="4683383"/>
            <a:ext cx="289347" cy="107099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BA150EB2-8F57-8CDD-7C0A-19048C571141}"/>
              </a:ext>
            </a:extLst>
          </p:cNvPr>
          <p:cNvCxnSpPr>
            <a:cxnSpLocks/>
            <a:stCxn id="72" idx="3"/>
            <a:endCxn id="74" idx="1"/>
          </p:cNvCxnSpPr>
          <p:nvPr/>
        </p:nvCxnSpPr>
        <p:spPr>
          <a:xfrm>
            <a:off x="3188269" y="5524983"/>
            <a:ext cx="692109" cy="327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39B97F4B-D60E-81C9-EE0C-1AD7224FCF38}"/>
              </a:ext>
            </a:extLst>
          </p:cNvPr>
          <p:cNvCxnSpPr>
            <a:cxnSpLocks/>
            <a:stCxn id="59" idx="3"/>
            <a:endCxn id="60" idx="1"/>
          </p:cNvCxnSpPr>
          <p:nvPr/>
        </p:nvCxnSpPr>
        <p:spPr>
          <a:xfrm>
            <a:off x="2895196" y="4355729"/>
            <a:ext cx="701408" cy="0"/>
          </a:xfrm>
          <a:prstGeom prst="straightConnector1">
            <a:avLst/>
          </a:prstGeom>
          <a:ln w="127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21" name="文本框 120">
            <a:extLst>
              <a:ext uri="{FF2B5EF4-FFF2-40B4-BE49-F238E27FC236}">
                <a16:creationId xmlns:a16="http://schemas.microsoft.com/office/drawing/2014/main" id="{E05330C7-AABB-7C7A-52C4-4E0856B89B53}"/>
              </a:ext>
            </a:extLst>
          </p:cNvPr>
          <p:cNvSpPr txBox="1"/>
          <p:nvPr/>
        </p:nvSpPr>
        <p:spPr>
          <a:xfrm>
            <a:off x="2582394" y="4023577"/>
            <a:ext cx="1320085" cy="230832"/>
          </a:xfrm>
          <a:prstGeom prst="rect">
            <a:avLst/>
          </a:prstGeom>
          <a:noFill/>
        </p:spPr>
        <p:txBody>
          <a:bodyPr wrap="square">
            <a:spAutoFit/>
          </a:bodyPr>
          <a:lstStyle/>
          <a:p>
            <a:pPr algn="ctr"/>
            <a:r>
              <a:rPr lang="en-US" altLang="zh-CN" sz="900" b="1" dirty="0">
                <a:latin typeface="+mn-ea"/>
              </a:rPr>
              <a:t>Shared weights</a:t>
            </a:r>
            <a:endParaRPr lang="zh-CN" altLang="en-US" sz="900" b="1" dirty="0">
              <a:solidFill>
                <a:schemeClr val="tx1"/>
              </a:solidFill>
              <a:latin typeface="+mn-ea"/>
            </a:endParaRPr>
          </a:p>
        </p:txBody>
      </p:sp>
      <mc:AlternateContent xmlns:mc="http://schemas.openxmlformats.org/markup-compatibility/2006" xmlns:a14="http://schemas.microsoft.com/office/drawing/2010/main">
        <mc:Choice Requires="a14">
          <p:sp>
            <p:nvSpPr>
              <p:cNvPr id="127" name="文本框 126">
                <a:extLst>
                  <a:ext uri="{FF2B5EF4-FFF2-40B4-BE49-F238E27FC236}">
                    <a16:creationId xmlns:a16="http://schemas.microsoft.com/office/drawing/2014/main" id="{EFD51D8B-E47E-7930-33D5-AA10D9C60EC2}"/>
                  </a:ext>
                </a:extLst>
              </p:cNvPr>
              <p:cNvSpPr txBox="1"/>
              <p:nvPr/>
            </p:nvSpPr>
            <p:spPr>
              <a:xfrm>
                <a:off x="5947523" y="1160090"/>
                <a:ext cx="5494038" cy="5441298"/>
              </a:xfrm>
              <a:prstGeom prst="rect">
                <a:avLst/>
              </a:prstGeom>
              <a:solidFill>
                <a:schemeClr val="tx2">
                  <a:lumMod val="95000"/>
                </a:schemeClr>
              </a:solidFill>
              <a:ln>
                <a:solidFill>
                  <a:srgbClr val="221815"/>
                </a:solidFill>
              </a:ln>
            </p:spPr>
            <p:txBody>
              <a:bodyPr wrap="square">
                <a:spAutoFit/>
              </a:bodyPr>
              <a:lstStyle/>
              <a:p>
                <a:pPr marL="285750" indent="-285750">
                  <a:lnSpc>
                    <a:spcPct val="150000"/>
                  </a:lnSpc>
                  <a:spcBef>
                    <a:spcPts val="300"/>
                  </a:spcBef>
                  <a:spcAft>
                    <a:spcPts val="300"/>
                  </a:spcAft>
                  <a:buClr>
                    <a:srgbClr val="C7000B"/>
                  </a:buClr>
                  <a:buFont typeface="Wingdings" panose="05000000000000000000" pitchFamily="2" charset="2"/>
                  <a:buChar char="Ø"/>
                </a:pPr>
                <a:r>
                  <a:rPr lang="en-US" altLang="zh-CN" sz="1400" dirty="0"/>
                  <a:t>In Research Method 1, the output of time embedding</a:t>
                </a:r>
                <a14:m>
                  <m:oMath xmlns:m="http://schemas.openxmlformats.org/officeDocument/2006/math">
                    <m:r>
                      <a:rPr lang="en-US" altLang="zh-CN" sz="1400" b="0" i="0" smtClean="0">
                        <a:latin typeface="Cambria Math" panose="02040503050406030204" pitchFamily="18" charset="0"/>
                      </a:rPr>
                      <m:t> </m:t>
                    </m:r>
                    <m:sSubSup>
                      <m:sSubSupPr>
                        <m:ctrlPr>
                          <a:rPr lang="zh-CN" altLang="zh-CN" sz="1400" i="1">
                            <a:latin typeface="Cambria Math" panose="02040503050406030204" pitchFamily="18" charset="0"/>
                          </a:rPr>
                        </m:ctrlPr>
                      </m:sSubSupPr>
                      <m:e>
                        <m:r>
                          <a:rPr lang="en-US" altLang="zh-CN" sz="1400">
                            <a:latin typeface="Cambria Math" panose="02040503050406030204" pitchFamily="18" charset="0"/>
                          </a:rPr>
                          <m:t>𝑍𝑎</m:t>
                        </m:r>
                      </m:e>
                      <m:sub>
                        <m:r>
                          <a:rPr lang="en-US" altLang="zh-CN" sz="1400">
                            <a:latin typeface="Cambria Math" panose="02040503050406030204" pitchFamily="18" charset="0"/>
                          </a:rPr>
                          <m:t>𝑑</m:t>
                        </m:r>
                      </m:sub>
                      <m:sup>
                        <m:r>
                          <a:rPr lang="en-US" altLang="zh-CN" sz="1400">
                            <a:latin typeface="Cambria Math" panose="02040503050406030204" pitchFamily="18" charset="0"/>
                          </a:rPr>
                          <m:t>𝑇</m:t>
                        </m:r>
                      </m:sup>
                    </m:sSubSup>
                    <m:r>
                      <a:rPr lang="en-US" altLang="zh-CN" sz="1400">
                        <a:latin typeface="Cambria Math" panose="02040503050406030204" pitchFamily="18" charset="0"/>
                      </a:rPr>
                      <m:t>∈</m:t>
                    </m:r>
                    <m:sSup>
                      <m:sSupPr>
                        <m:ctrlPr>
                          <a:rPr lang="zh-CN" altLang="zh-CN" sz="1400" i="1">
                            <a:latin typeface="Cambria Math" panose="02040503050406030204" pitchFamily="18" charset="0"/>
                          </a:rPr>
                        </m:ctrlPr>
                      </m:sSupPr>
                      <m:e>
                        <m:r>
                          <a:rPr lang="en-US" altLang="zh-CN" sz="1400">
                            <a:latin typeface="Cambria Math" panose="02040503050406030204" pitchFamily="18" charset="0"/>
                          </a:rPr>
                          <m:t>ℝ</m:t>
                        </m:r>
                      </m:e>
                      <m:sup>
                        <m:r>
                          <a:rPr lang="en-US" altLang="zh-CN" sz="1400">
                            <a:latin typeface="Cambria Math" panose="02040503050406030204" pitchFamily="18" charset="0"/>
                          </a:rPr>
                          <m:t>𝐿</m:t>
                        </m:r>
                        <m:r>
                          <a:rPr lang="en-U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n-US" altLang="zh-CN" sz="1400">
                                <a:latin typeface="Cambria Math" panose="02040503050406030204" pitchFamily="18" charset="0"/>
                              </a:rPr>
                              <m:t>𝑑</m:t>
                            </m:r>
                          </m:e>
                          <m:sub>
                            <m:r>
                              <a:rPr lang="en-US" altLang="zh-CN" sz="1400">
                                <a:latin typeface="Cambria Math" panose="02040503050406030204" pitchFamily="18" charset="0"/>
                              </a:rPr>
                              <m:t>𝑧</m:t>
                            </m:r>
                          </m:sub>
                        </m:sSub>
                      </m:sup>
                    </m:sSup>
                  </m:oMath>
                </a14:m>
                <a:r>
                  <a:rPr lang="en-US" altLang="zh-CN" sz="1400" dirty="0">
                    <a:latin typeface="+mn-ea"/>
                  </a:rPr>
                  <a:t> </a:t>
                </a:r>
                <a:r>
                  <a:rPr lang="en-US" altLang="zh-CN" sz="1400" dirty="0"/>
                  <a:t>and event spatial features</a:t>
                </a:r>
                <a14:m>
                  <m:oMath xmlns:m="http://schemas.openxmlformats.org/officeDocument/2006/math">
                    <m:r>
                      <a:rPr lang="en-US" altLang="zh-CN" sz="1400" b="0" i="0" smtClean="0">
                        <a:latin typeface="Cambria Math" panose="02040503050406030204" pitchFamily="18" charset="0"/>
                      </a:rPr>
                      <m:t> </m:t>
                    </m:r>
                    <m:sSubSup>
                      <m:sSubSupPr>
                        <m:ctrlPr>
                          <a:rPr lang="zh-CN" altLang="zh-CN" sz="1400" i="1">
                            <a:latin typeface="Cambria Math" panose="02040503050406030204" pitchFamily="18" charset="0"/>
                          </a:rPr>
                        </m:ctrlPr>
                      </m:sSubSupPr>
                      <m:e>
                        <m:r>
                          <a:rPr lang="en-US" altLang="zh-CN" sz="1400">
                            <a:latin typeface="Cambria Math" panose="02040503050406030204" pitchFamily="18" charset="0"/>
                          </a:rPr>
                          <m:t>𝐹𝑏</m:t>
                        </m:r>
                      </m:e>
                      <m:sub>
                        <m:r>
                          <a:rPr lang="en-US" altLang="zh-CN" sz="1400">
                            <a:latin typeface="Cambria Math" panose="02040503050406030204" pitchFamily="18" charset="0"/>
                          </a:rPr>
                          <m:t>𝑑</m:t>
                        </m:r>
                      </m:sub>
                      <m:sup>
                        <m:r>
                          <a:rPr lang="en-US" altLang="zh-CN" sz="1400">
                            <a:latin typeface="Cambria Math" panose="02040503050406030204" pitchFamily="18" charset="0"/>
                          </a:rPr>
                          <m:t>𝑇</m:t>
                        </m:r>
                      </m:sup>
                    </m:sSubSup>
                    <m:r>
                      <a:rPr lang="en-US" altLang="zh-CN" sz="1400">
                        <a:latin typeface="Cambria Math" panose="02040503050406030204" pitchFamily="18" charset="0"/>
                      </a:rPr>
                      <m:t>∈</m:t>
                    </m:r>
                    <m:sSup>
                      <m:sSupPr>
                        <m:ctrlPr>
                          <a:rPr lang="zh-CN" altLang="zh-CN" sz="1400" i="1">
                            <a:latin typeface="Cambria Math" panose="02040503050406030204" pitchFamily="18" charset="0"/>
                          </a:rPr>
                        </m:ctrlPr>
                      </m:sSupPr>
                      <m:e>
                        <m:r>
                          <a:rPr lang="en-US" altLang="zh-CN" sz="1400">
                            <a:latin typeface="Cambria Math" panose="02040503050406030204" pitchFamily="18" charset="0"/>
                          </a:rPr>
                          <m:t>ℝ</m:t>
                        </m:r>
                      </m:e>
                      <m:sup>
                        <m:r>
                          <a:rPr lang="en-US" altLang="zh-CN" sz="1400">
                            <a:latin typeface="Cambria Math" panose="02040503050406030204" pitchFamily="18" charset="0"/>
                          </a:rPr>
                          <m:t>𝐿</m:t>
                        </m:r>
                        <m:r>
                          <a:rPr lang="en-U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n-US" altLang="zh-CN" sz="1400">
                                <a:latin typeface="Cambria Math" panose="02040503050406030204" pitchFamily="18" charset="0"/>
                              </a:rPr>
                              <m:t>𝑑</m:t>
                            </m:r>
                          </m:e>
                          <m:sub>
                            <m:r>
                              <a:rPr lang="en-US" altLang="zh-CN" sz="1400">
                                <a:latin typeface="Cambria Math" panose="02040503050406030204" pitchFamily="18" charset="0"/>
                              </a:rPr>
                              <m:t>𝑏</m:t>
                            </m:r>
                          </m:sub>
                        </m:sSub>
                      </m:sup>
                    </m:sSup>
                  </m:oMath>
                </a14:m>
                <a:r>
                  <a:rPr lang="en-US" altLang="zh-CN" sz="1400" dirty="0">
                    <a:latin typeface="+mn-ea"/>
                  </a:rPr>
                  <a:t> </a:t>
                </a:r>
                <a:r>
                  <a:rPr lang="en-US" altLang="zh-CN" sz="1400" dirty="0"/>
                  <a:t>are concatenated to form the event sequence "time + event" representation, i.e.,</a:t>
                </a:r>
                <a:endParaRPr lang="zh-CN" altLang="zh-CN" sz="1400" dirty="0">
                  <a:latin typeface="+mn-ea"/>
                </a:endParaRPr>
              </a:p>
              <a:p>
                <a:pPr>
                  <a:lnSpc>
                    <a:spcPct val="150000"/>
                  </a:lnSpc>
                </a:pPr>
                <a14:m>
                  <m:oMathPara xmlns:m="http://schemas.openxmlformats.org/officeDocument/2006/math">
                    <m:oMathParaPr>
                      <m:jc m:val="centerGroup"/>
                    </m:oMathParaPr>
                    <m:oMath xmlns:m="http://schemas.openxmlformats.org/officeDocument/2006/math">
                      <m:eqArr>
                        <m:eqArrPr>
                          <m:ctrlPr>
                            <a:rPr lang="zh-CN" altLang="zh-CN" sz="1400" i="1">
                              <a:latin typeface="Cambria Math" panose="02040503050406030204" pitchFamily="18" charset="0"/>
                            </a:rPr>
                          </m:ctrlPr>
                        </m:eqArrPr>
                        <m:e>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𝑍𝑏</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𝑇</m:t>
                              </m:r>
                            </m:sup>
                          </m:sSubSup>
                          <m:r>
                            <a:rPr lang="en-US" altLang="zh-CN" sz="1400" i="1">
                              <a:latin typeface="Cambria Math" panose="02040503050406030204" pitchFamily="18" charset="0"/>
                            </a:rPr>
                            <m:t>=</m:t>
                          </m:r>
                          <m:d>
                            <m:dPr>
                              <m:begChr m:val="["/>
                              <m:endChr m:val="]"/>
                              <m:ctrlPr>
                                <a:rPr lang="zh-CN" altLang="zh-CN" sz="1400" i="1">
                                  <a:latin typeface="Cambria Math" panose="02040503050406030204" pitchFamily="18" charset="0"/>
                                </a:rPr>
                              </m:ctrlPr>
                            </m:dPr>
                            <m:e>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𝑍𝑎</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𝑇</m:t>
                                  </m:r>
                                </m:sup>
                              </m:sSubSup>
                              <m:r>
                                <a:rPr lang="en-US" altLang="zh-CN" sz="1400" i="1">
                                  <a:latin typeface="Cambria Math" panose="02040503050406030204" pitchFamily="18" charset="0"/>
                                </a:rPr>
                                <m:t>,</m:t>
                              </m:r>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𝐹𝑏</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𝑇</m:t>
                                  </m:r>
                                </m:sup>
                              </m:sSubSup>
                            </m:e>
                          </m:d>
                          <m:r>
                            <a:rPr lang="en-US" altLang="zh-CN" sz="1400" i="1">
                              <a:latin typeface="Cambria Math" panose="02040503050406030204" pitchFamily="18" charset="0"/>
                            </a:rPr>
                            <m:t>,</m:t>
                          </m:r>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𝑍</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𝑇</m:t>
                              </m:r>
                            </m:sup>
                          </m:sSubSup>
                          <m:r>
                            <a:rPr lang="en-US" altLang="zh-CN" sz="1400" i="1">
                              <a:latin typeface="Cambria Math" panose="02040503050406030204" pitchFamily="18" charset="0"/>
                            </a:rPr>
                            <m:t>∈</m:t>
                          </m:r>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ℝ</m:t>
                              </m:r>
                            </m:e>
                            <m:sup>
                              <m:r>
                                <a:rPr lang="en-US" altLang="zh-CN" sz="1400" i="1">
                                  <a:latin typeface="Cambria Math" panose="02040503050406030204" pitchFamily="18" charset="0"/>
                                </a:rPr>
                                <m:t>𝐿</m:t>
                              </m:r>
                              <m:r>
                                <a:rPr lang="en-US" altLang="zh-CN" sz="1400" i="1">
                                  <a:latin typeface="Cambria Math" panose="02040503050406030204" pitchFamily="18" charset="0"/>
                                </a:rPr>
                                <m:t>×</m:t>
                              </m:r>
                              <m:d>
                                <m:dPr>
                                  <m:ctrlPr>
                                    <a:rPr lang="zh-CN" altLang="zh-CN" sz="1400" i="1">
                                      <a:latin typeface="Cambria Math" panose="02040503050406030204" pitchFamily="18" charset="0"/>
                                    </a:rPr>
                                  </m:ctrlPr>
                                </m:dPr>
                                <m:e>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𝑑</m:t>
                                      </m:r>
                                    </m:e>
                                    <m:sub>
                                      <m:r>
                                        <a:rPr lang="en-US" altLang="zh-CN" sz="1400" i="1">
                                          <a:latin typeface="Cambria Math" panose="02040503050406030204" pitchFamily="18" charset="0"/>
                                        </a:rPr>
                                        <m:t>𝑧</m:t>
                                      </m:r>
                                    </m:sub>
                                  </m:sSub>
                                  <m:r>
                                    <a:rPr lang="en-U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𝑑</m:t>
                                      </m:r>
                                    </m:e>
                                    <m:sub>
                                      <m:r>
                                        <a:rPr lang="en-US" altLang="zh-CN" sz="1400" i="1">
                                          <a:latin typeface="Cambria Math" panose="02040503050406030204" pitchFamily="18" charset="0"/>
                                        </a:rPr>
                                        <m:t>𝑏</m:t>
                                      </m:r>
                                    </m:sub>
                                  </m:sSub>
                                </m:e>
                              </m:d>
                            </m:sup>
                          </m:sSup>
                          <m:r>
                            <a:rPr lang="en-US" altLang="zh-CN" sz="1400" b="0" i="1" smtClean="0">
                              <a:latin typeface="Cambria Math" panose="02040503050406030204" pitchFamily="18" charset="0"/>
                            </a:rPr>
                            <m:t>,</m:t>
                          </m:r>
                        </m:e>
                      </m:eqArr>
                    </m:oMath>
                  </m:oMathPara>
                </a14:m>
                <a:endParaRPr lang="zh-CN" altLang="zh-CN" sz="1400" dirty="0">
                  <a:latin typeface="+mn-ea"/>
                </a:endParaRPr>
              </a:p>
              <a:p>
                <a:pPr marL="285750" indent="-285750">
                  <a:lnSpc>
                    <a:spcPct val="150000"/>
                  </a:lnSpc>
                  <a:spcBef>
                    <a:spcPts val="300"/>
                  </a:spcBef>
                  <a:spcAft>
                    <a:spcPts val="300"/>
                  </a:spcAft>
                  <a:buClr>
                    <a:srgbClr val="C7000B"/>
                  </a:buClr>
                  <a:buFont typeface="Wingdings" panose="05000000000000000000" pitchFamily="2" charset="2"/>
                  <a:buChar char="Ø"/>
                </a:pPr>
                <a:r>
                  <a:rPr lang="en-US" altLang="zh-CN" sz="1400" dirty="0"/>
                  <a:t>Next, the "time + event" representation </a:t>
                </a:r>
                <a14:m>
                  <m:oMath xmlns:m="http://schemas.openxmlformats.org/officeDocument/2006/math">
                    <m:sSubSup>
                      <m:sSubSupPr>
                        <m:ctrlPr>
                          <a:rPr lang="zh-CN" altLang="zh-CN" sz="1400" i="1" smtClean="0">
                            <a:latin typeface="Cambria Math" panose="02040503050406030204" pitchFamily="18" charset="0"/>
                          </a:rPr>
                        </m:ctrlPr>
                      </m:sSubSupPr>
                      <m:e>
                        <m:r>
                          <a:rPr lang="en-US" altLang="zh-CN" sz="1400">
                            <a:latin typeface="Cambria Math" panose="02040503050406030204" pitchFamily="18" charset="0"/>
                          </a:rPr>
                          <m:t>𝑍𝑏</m:t>
                        </m:r>
                      </m:e>
                      <m:sub>
                        <m:r>
                          <a:rPr lang="en-US" altLang="zh-CN" sz="1400">
                            <a:latin typeface="Cambria Math" panose="02040503050406030204" pitchFamily="18" charset="0"/>
                          </a:rPr>
                          <m:t>𝑑</m:t>
                        </m:r>
                      </m:sub>
                      <m:sup>
                        <m:r>
                          <a:rPr lang="en-US" altLang="zh-CN" sz="1400">
                            <a:latin typeface="Cambria Math" panose="02040503050406030204" pitchFamily="18" charset="0"/>
                          </a:rPr>
                          <m:t>𝑇</m:t>
                        </m:r>
                      </m:sup>
                    </m:sSubSup>
                  </m:oMath>
                </a14:m>
                <a:r>
                  <a:rPr lang="en-US" altLang="zh-CN" sz="1400" dirty="0"/>
                  <a:t>​ is input into a Self-Attention Layer to obtain spatiotemporal embeddings. Considering that different memory modules have distinct attribute features </a:t>
                </a:r>
                <a14:m>
                  <m:oMath xmlns:m="http://schemas.openxmlformats.org/officeDocument/2006/math">
                    <m:sSub>
                      <m:sSubPr>
                        <m:ctrlPr>
                          <a:rPr lang="zh-CN" altLang="zh-CN" sz="1400" i="1">
                            <a:latin typeface="Cambria Math" panose="02040503050406030204" pitchFamily="18" charset="0"/>
                          </a:rPr>
                        </m:ctrlPr>
                      </m:sSubPr>
                      <m:e>
                        <m:r>
                          <a:rPr lang="en-US" altLang="zh-CN" sz="1400">
                            <a:latin typeface="Cambria Math" panose="02040503050406030204" pitchFamily="18" charset="0"/>
                          </a:rPr>
                          <m:t>𝑆</m:t>
                        </m:r>
                      </m:e>
                      <m:sub>
                        <m:r>
                          <a:rPr lang="en-US" altLang="zh-CN" sz="1400">
                            <a:latin typeface="Cambria Math" panose="02040503050406030204" pitchFamily="18" charset="0"/>
                          </a:rPr>
                          <m:t>𝑑</m:t>
                        </m:r>
                      </m:sub>
                    </m:sSub>
                  </m:oMath>
                </a14:m>
                <a:r>
                  <a:rPr lang="en-US" altLang="zh-CN" sz="1400" dirty="0"/>
                  <a:t>​, which represent the Server-level information in the multi-level memory data, we first project it to </a:t>
                </a:r>
                <a14:m>
                  <m:oMath xmlns:m="http://schemas.openxmlformats.org/officeDocument/2006/math">
                    <m:sSub>
                      <m:sSubPr>
                        <m:ctrlPr>
                          <a:rPr lang="zh-CN" altLang="zh-CN" sz="1400" i="1">
                            <a:latin typeface="Cambria Math" panose="02040503050406030204" pitchFamily="18" charset="0"/>
                          </a:rPr>
                        </m:ctrlPr>
                      </m:sSubPr>
                      <m:e>
                        <m:r>
                          <a:rPr lang="en-US" altLang="zh-CN" sz="1400">
                            <a:latin typeface="Cambria Math" panose="02040503050406030204" pitchFamily="18" charset="0"/>
                          </a:rPr>
                          <m:t>𝑍𝑐</m:t>
                        </m:r>
                      </m:e>
                      <m:sub>
                        <m:r>
                          <a:rPr lang="en-US" altLang="zh-CN" sz="1400">
                            <a:latin typeface="Cambria Math" panose="02040503050406030204" pitchFamily="18" charset="0"/>
                          </a:rPr>
                          <m:t>𝑑</m:t>
                        </m:r>
                      </m:sub>
                    </m:sSub>
                  </m:oMath>
                </a14:m>
                <a:r>
                  <a:rPr lang="en-US" altLang="zh-CN" sz="1400" dirty="0"/>
                  <a:t>​, then use a Cross-Attention Layer to incorporate it into the spatiotemporal representation.</a:t>
                </a:r>
                <a:endParaRPr lang="en-US" altLang="zh-CN" sz="1400" dirty="0">
                  <a:latin typeface="+mn-ea"/>
                </a:endParaRPr>
              </a:p>
              <a:p>
                <a:pPr marL="285750" indent="-285750">
                  <a:lnSpc>
                    <a:spcPct val="150000"/>
                  </a:lnSpc>
                  <a:spcBef>
                    <a:spcPts val="300"/>
                  </a:spcBef>
                  <a:spcAft>
                    <a:spcPts val="300"/>
                  </a:spcAft>
                  <a:buClr>
                    <a:srgbClr val="C7000B"/>
                  </a:buClr>
                  <a:buFont typeface="Wingdings" panose="05000000000000000000" pitchFamily="2" charset="2"/>
                  <a:buChar char="Ø"/>
                </a:pPr>
                <a:r>
                  <a:rPr lang="en-US" altLang="zh-CN" sz="1400" b="1" dirty="0"/>
                  <a:t>Self-Attention for Spatiotemporal Representation </a:t>
                </a:r>
                <a:endParaRPr lang="en-US" altLang="zh-CN" sz="1400" b="1" i="1" dirty="0">
                  <a:latin typeface="Cambria Math" panose="02040503050406030204" pitchFamily="18" charset="0"/>
                </a:endParaRPr>
              </a:p>
              <a:p>
                <a:pPr>
                  <a:spcBef>
                    <a:spcPts val="300"/>
                  </a:spcBef>
                  <a:spcAft>
                    <a:spcPts val="300"/>
                  </a:spcAft>
                  <a:buClr>
                    <a:srgbClr val="C7000B"/>
                  </a:buClr>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rPr>
                        <m:t>𝑆𝐴</m:t>
                      </m:r>
                      <m:r>
                        <a:rPr lang="en-US" altLang="zh-CN" sz="1400" i="1">
                          <a:latin typeface="Cambria Math" panose="02040503050406030204" pitchFamily="18" charset="0"/>
                        </a:rPr>
                        <m:t>(</m:t>
                      </m:r>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𝑄</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𝑏</m:t>
                          </m:r>
                        </m:sup>
                      </m:sSubSup>
                      <m:r>
                        <a:rPr lang="en-US" altLang="zh-CN" sz="1400" i="1">
                          <a:latin typeface="Cambria Math" panose="02040503050406030204" pitchFamily="18" charset="0"/>
                        </a:rPr>
                        <m:t>, </m:t>
                      </m:r>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𝐾</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𝑏</m:t>
                          </m:r>
                        </m:sup>
                      </m:sSubSup>
                      <m:r>
                        <a:rPr lang="en-US" altLang="zh-CN" sz="1400" i="1">
                          <a:latin typeface="Cambria Math" panose="02040503050406030204" pitchFamily="18" charset="0"/>
                        </a:rPr>
                        <m:t>, </m:t>
                      </m:r>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𝑉</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𝑏</m:t>
                          </m:r>
                        </m:sup>
                      </m:sSubSup>
                      <m:r>
                        <a:rPr lang="en-US" altLang="zh-CN" sz="1400" i="1">
                          <a:latin typeface="Cambria Math" panose="02040503050406030204" pitchFamily="18" charset="0"/>
                        </a:rPr>
                        <m:t>)=</m:t>
                      </m:r>
                      <m:r>
                        <m:rPr>
                          <m:sty m:val="p"/>
                        </m:rPr>
                        <a:rPr lang="en-US" altLang="zh-CN" sz="1400" i="1">
                          <a:latin typeface="Cambria Math" panose="02040503050406030204" pitchFamily="18" charset="0"/>
                        </a:rPr>
                        <m:t>Softmax</m:t>
                      </m:r>
                      <m:r>
                        <a:rPr lang="en-US" altLang="zh-CN" sz="1400" i="1">
                          <a:latin typeface="Cambria Math" panose="02040503050406030204" pitchFamily="18" charset="0"/>
                        </a:rPr>
                        <m:t>(</m:t>
                      </m:r>
                      <m:f>
                        <m:fPr>
                          <m:ctrlPr>
                            <a:rPr lang="zh-CN" altLang="zh-CN" sz="1400" i="1">
                              <a:latin typeface="Cambria Math" panose="02040503050406030204" pitchFamily="18" charset="0"/>
                            </a:rPr>
                          </m:ctrlPr>
                        </m:fPr>
                        <m:num>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𝑄</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𝑏</m:t>
                              </m:r>
                            </m:sup>
                          </m:sSubSup>
                          <m:sSup>
                            <m:sSupPr>
                              <m:ctrlPr>
                                <a:rPr lang="zh-CN" altLang="zh-CN" sz="1400" i="1">
                                  <a:latin typeface="Cambria Math" panose="02040503050406030204" pitchFamily="18" charset="0"/>
                                </a:rPr>
                              </m:ctrlPr>
                            </m:sSupPr>
                            <m:e>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𝐾</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𝑏</m:t>
                                  </m:r>
                                </m:sup>
                              </m:sSubSup>
                            </m:e>
                            <m:sup>
                              <m:r>
                                <m:rPr>
                                  <m:sty m:val="p"/>
                                </m:rPr>
                                <a:rPr lang="en-US" altLang="zh-CN" sz="1400" i="1">
                                  <a:latin typeface="Cambria Math" panose="02040503050406030204" pitchFamily="18" charset="0"/>
                                </a:rPr>
                                <m:t>T</m:t>
                              </m:r>
                            </m:sup>
                          </m:sSup>
                        </m:num>
                        <m:den>
                          <m:rad>
                            <m:radPr>
                              <m:degHide m:val="on"/>
                              <m:ctrlPr>
                                <a:rPr lang="zh-CN" altLang="zh-CN" sz="1400" i="1">
                                  <a:latin typeface="Cambria Math" panose="02040503050406030204" pitchFamily="18" charset="0"/>
                                </a:rPr>
                              </m:ctrlPr>
                            </m:radPr>
                            <m:deg/>
                            <m:e>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𝑑</m:t>
                                  </m:r>
                                </m:e>
                                <m:sup>
                                  <m:r>
                                    <a:rPr lang="en-US" altLang="zh-CN" sz="1400" i="1">
                                      <a:latin typeface="Cambria Math" panose="02040503050406030204" pitchFamily="18" charset="0"/>
                                    </a:rPr>
                                    <m:t>′</m:t>
                                  </m:r>
                                </m:sup>
                              </m:sSup>
                            </m:e>
                          </m:rad>
                        </m:den>
                      </m:f>
                      <m:r>
                        <a:rPr lang="en-US" altLang="zh-CN" sz="1400" i="1">
                          <a:latin typeface="Cambria Math" panose="02040503050406030204" pitchFamily="18" charset="0"/>
                        </a:rPr>
                        <m:t>)</m:t>
                      </m:r>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𝑉</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𝑏</m:t>
                          </m:r>
                        </m:sup>
                      </m:sSubSup>
                      <m:r>
                        <a:rPr lang="en-US" altLang="zh-CN" sz="1400" i="1">
                          <a:latin typeface="Cambria Math" panose="02040503050406030204" pitchFamily="18" charset="0"/>
                        </a:rPr>
                        <m:t>,</m:t>
                      </m:r>
                    </m:oMath>
                  </m:oMathPara>
                </a14:m>
                <a:endParaRPr lang="en-US" altLang="zh-CN" sz="1400" i="1" dirty="0">
                  <a:latin typeface="+mn-ea"/>
                </a:endParaRPr>
              </a:p>
              <a:p>
                <a:pPr marL="285750" indent="-285750">
                  <a:lnSpc>
                    <a:spcPct val="150000"/>
                  </a:lnSpc>
                  <a:spcBef>
                    <a:spcPts val="300"/>
                  </a:spcBef>
                  <a:spcAft>
                    <a:spcPts val="300"/>
                  </a:spcAft>
                  <a:buClr>
                    <a:srgbClr val="C7000B"/>
                  </a:buClr>
                  <a:buFont typeface="Wingdings" panose="05000000000000000000" pitchFamily="2" charset="2"/>
                  <a:buChar char="Ø"/>
                </a:pPr>
                <a:r>
                  <a:rPr lang="en-US" altLang="zh-CN" sz="1400" b="1" dirty="0"/>
                  <a:t>Cross-Attention for Spatiotemporal Representation </a:t>
                </a:r>
                <a:endParaRPr lang="en-US" altLang="zh-CN" sz="1400" b="1" i="1" dirty="0">
                  <a:latin typeface="Cambria Math" panose="02040503050406030204" pitchFamily="18" charset="0"/>
                </a:endParaRPr>
              </a:p>
              <a:p>
                <a:pPr>
                  <a:spcBef>
                    <a:spcPts val="300"/>
                  </a:spcBef>
                  <a:spcAft>
                    <a:spcPts val="300"/>
                  </a:spcAft>
                  <a:buClr>
                    <a:srgbClr val="C7000B"/>
                  </a:buClr>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rPr>
                        <m:t>𝐶𝐴</m:t>
                      </m:r>
                      <m:r>
                        <a:rPr lang="en-US" altLang="zh-CN" sz="1400" i="1">
                          <a:latin typeface="Cambria Math" panose="02040503050406030204" pitchFamily="18" charset="0"/>
                        </a:rPr>
                        <m:t>(</m:t>
                      </m:r>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𝑄</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𝑏</m:t>
                          </m:r>
                        </m:sup>
                      </m:sSubSup>
                      <m:r>
                        <a:rPr lang="en-US" altLang="zh-CN" sz="1400" i="1">
                          <a:latin typeface="Cambria Math" panose="02040503050406030204" pitchFamily="18" charset="0"/>
                        </a:rPr>
                        <m:t>, </m:t>
                      </m:r>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𝐾</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𝑐</m:t>
                          </m:r>
                        </m:sup>
                      </m:sSubSup>
                      <m:r>
                        <a:rPr lang="en-US" altLang="zh-CN" sz="1400" i="1">
                          <a:latin typeface="Cambria Math" panose="02040503050406030204" pitchFamily="18" charset="0"/>
                        </a:rPr>
                        <m:t>, </m:t>
                      </m:r>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𝑉</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𝑐</m:t>
                          </m:r>
                        </m:sup>
                      </m:sSubSup>
                      <m:r>
                        <a:rPr lang="en-US" altLang="zh-CN" sz="1400" i="1">
                          <a:latin typeface="Cambria Math" panose="02040503050406030204" pitchFamily="18" charset="0"/>
                        </a:rPr>
                        <m:t>)=</m:t>
                      </m:r>
                      <m:r>
                        <m:rPr>
                          <m:sty m:val="p"/>
                        </m:rPr>
                        <a:rPr lang="en-US" altLang="zh-CN" sz="1400" i="1">
                          <a:latin typeface="Cambria Math" panose="02040503050406030204" pitchFamily="18" charset="0"/>
                        </a:rPr>
                        <m:t>Softmax</m:t>
                      </m:r>
                      <m:r>
                        <a:rPr lang="en-US" altLang="zh-CN" sz="1400" i="1">
                          <a:latin typeface="Cambria Math" panose="02040503050406030204" pitchFamily="18" charset="0"/>
                        </a:rPr>
                        <m:t>(</m:t>
                      </m:r>
                      <m:f>
                        <m:fPr>
                          <m:ctrlPr>
                            <a:rPr lang="zh-CN" altLang="zh-CN" sz="1400" i="1">
                              <a:latin typeface="Cambria Math" panose="02040503050406030204" pitchFamily="18" charset="0"/>
                            </a:rPr>
                          </m:ctrlPr>
                        </m:fPr>
                        <m:num>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𝑄</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𝑏</m:t>
                              </m:r>
                            </m:sup>
                          </m:sSubSup>
                          <m:sSup>
                            <m:sSupPr>
                              <m:ctrlPr>
                                <a:rPr lang="zh-CN" altLang="zh-CN" sz="1400" i="1">
                                  <a:latin typeface="Cambria Math" panose="02040503050406030204" pitchFamily="18" charset="0"/>
                                </a:rPr>
                              </m:ctrlPr>
                            </m:sSupPr>
                            <m:e>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𝐾</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𝑐</m:t>
                                  </m:r>
                                </m:sup>
                              </m:sSubSup>
                            </m:e>
                            <m:sup>
                              <m:r>
                                <m:rPr>
                                  <m:sty m:val="p"/>
                                </m:rPr>
                                <a:rPr lang="en-US" altLang="zh-CN" sz="1400" i="1">
                                  <a:latin typeface="Cambria Math" panose="02040503050406030204" pitchFamily="18" charset="0"/>
                                </a:rPr>
                                <m:t>T</m:t>
                              </m:r>
                            </m:sup>
                          </m:sSup>
                        </m:num>
                        <m:den>
                          <m:rad>
                            <m:radPr>
                              <m:degHide m:val="on"/>
                              <m:ctrlPr>
                                <a:rPr lang="zh-CN" altLang="zh-CN" sz="1400" i="1">
                                  <a:latin typeface="Cambria Math" panose="02040503050406030204" pitchFamily="18" charset="0"/>
                                </a:rPr>
                              </m:ctrlPr>
                            </m:radPr>
                            <m:deg/>
                            <m:e>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𝑑</m:t>
                                  </m:r>
                                </m:e>
                                <m:sup>
                                  <m:r>
                                    <a:rPr lang="en-US" altLang="zh-CN" sz="1400" i="1">
                                      <a:latin typeface="Cambria Math" panose="02040503050406030204" pitchFamily="18" charset="0"/>
                                    </a:rPr>
                                    <m:t>′</m:t>
                                  </m:r>
                                </m:sup>
                              </m:sSup>
                            </m:e>
                          </m:rad>
                        </m:den>
                      </m:f>
                      <m:r>
                        <a:rPr lang="en-US" altLang="zh-CN" sz="1400" i="1">
                          <a:latin typeface="Cambria Math" panose="02040503050406030204" pitchFamily="18" charset="0"/>
                        </a:rPr>
                        <m:t>)</m:t>
                      </m:r>
                      <m:sSubSup>
                        <m:sSubSupPr>
                          <m:ctrlPr>
                            <a:rPr lang="zh-CN" altLang="zh-CN" sz="1400" i="1">
                              <a:latin typeface="Cambria Math" panose="02040503050406030204" pitchFamily="18" charset="0"/>
                            </a:rPr>
                          </m:ctrlPr>
                        </m:sSubSupPr>
                        <m:e>
                          <m:r>
                            <a:rPr lang="en-US" altLang="zh-CN" sz="1400" i="1">
                              <a:latin typeface="Cambria Math" panose="02040503050406030204" pitchFamily="18" charset="0"/>
                            </a:rPr>
                            <m:t>𝑉</m:t>
                          </m:r>
                        </m:e>
                        <m:sub>
                          <m:r>
                            <a:rPr lang="en-US" altLang="zh-CN" sz="1400" i="1">
                              <a:latin typeface="Cambria Math" panose="02040503050406030204" pitchFamily="18" charset="0"/>
                            </a:rPr>
                            <m:t>𝑑</m:t>
                          </m:r>
                        </m:sub>
                        <m:sup>
                          <m:r>
                            <a:rPr lang="en-US" altLang="zh-CN" sz="1400" i="1">
                              <a:latin typeface="Cambria Math" panose="02040503050406030204" pitchFamily="18" charset="0"/>
                            </a:rPr>
                            <m:t>𝑐</m:t>
                          </m:r>
                        </m:sup>
                      </m:sSubSup>
                      <m:r>
                        <a:rPr lang="en-US" altLang="zh-CN" sz="1400" i="1">
                          <a:latin typeface="Cambria Math" panose="02040503050406030204" pitchFamily="18" charset="0"/>
                        </a:rPr>
                        <m:t>,</m:t>
                      </m:r>
                    </m:oMath>
                  </m:oMathPara>
                </a14:m>
                <a:endParaRPr lang="zh-CN" altLang="zh-CN" sz="1400" i="1" dirty="0">
                  <a:latin typeface="+mn-ea"/>
                </a:endParaRPr>
              </a:p>
            </p:txBody>
          </p:sp>
        </mc:Choice>
        <mc:Fallback xmlns="">
          <p:sp>
            <p:nvSpPr>
              <p:cNvPr id="127" name="文本框 126">
                <a:extLst>
                  <a:ext uri="{FF2B5EF4-FFF2-40B4-BE49-F238E27FC236}">
                    <a16:creationId xmlns:a16="http://schemas.microsoft.com/office/drawing/2014/main" id="{EFD51D8B-E47E-7930-33D5-AA10D9C60EC2}"/>
                  </a:ext>
                </a:extLst>
              </p:cNvPr>
              <p:cNvSpPr txBox="1">
                <a:spLocks noRot="1" noChangeAspect="1" noMove="1" noResize="1" noEditPoints="1" noAdjustHandles="1" noChangeArrowheads="1" noChangeShapeType="1" noTextEdit="1"/>
              </p:cNvSpPr>
              <p:nvPr/>
            </p:nvSpPr>
            <p:spPr>
              <a:xfrm>
                <a:off x="5947523" y="1160090"/>
                <a:ext cx="5494038" cy="5441298"/>
              </a:xfrm>
              <a:prstGeom prst="rect">
                <a:avLst/>
              </a:prstGeom>
              <a:blipFill>
                <a:blip r:embed="rId20"/>
                <a:stretch>
                  <a:fillRect l="-111"/>
                </a:stretch>
              </a:blipFill>
              <a:ln>
                <a:solidFill>
                  <a:srgbClr val="221815"/>
                </a:solidFill>
              </a:ln>
            </p:spPr>
            <p:txBody>
              <a:bodyPr/>
              <a:lstStyle/>
              <a:p>
                <a:r>
                  <a:rPr lang="zh-CN" altLang="en-US">
                    <a:noFill/>
                  </a:rPr>
                  <a:t> </a:t>
                </a:r>
              </a:p>
            </p:txBody>
          </p:sp>
        </mc:Fallback>
      </mc:AlternateContent>
    </p:spTree>
    <p:extLst>
      <p:ext uri="{BB962C8B-B14F-4D97-AF65-F5344CB8AC3E}">
        <p14:creationId xmlns:p14="http://schemas.microsoft.com/office/powerpoint/2010/main" val="1973154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A620A8C-8690-0EEA-C7CE-66F729B0CAD2}"/>
              </a:ext>
            </a:extLst>
          </p:cNvPr>
          <p:cNvSpPr txBox="1"/>
          <p:nvPr/>
        </p:nvSpPr>
        <p:spPr>
          <a:xfrm>
            <a:off x="790215" y="365302"/>
            <a:ext cx="7836200" cy="461665"/>
          </a:xfrm>
          <a:prstGeom prst="rect">
            <a:avLst/>
          </a:prstGeom>
          <a:noFill/>
        </p:spPr>
        <p:txBody>
          <a:bodyPr wrap="square" rtlCol="0">
            <a:spAutoFit/>
          </a:bodyPr>
          <a:lstStyle/>
          <a:p>
            <a:r>
              <a:rPr lang="en-US" altLang="zh-CN" sz="2400" b="1" dirty="0">
                <a:solidFill>
                  <a:schemeClr val="accent5">
                    <a:lumMod val="75000"/>
                  </a:schemeClr>
                </a:solidFill>
                <a:latin typeface="-apple-system"/>
              </a:rPr>
              <a:t>2.2 Time-patch scale model</a:t>
            </a:r>
            <a:endParaRPr lang="en-US" altLang="zh-CN" sz="2400" b="1" dirty="0">
              <a:solidFill>
                <a:schemeClr val="accent5">
                  <a:lumMod val="75000"/>
                </a:schemeClr>
              </a:solidFill>
              <a:latin typeface="+mn-ea"/>
            </a:endParaRPr>
          </a:p>
        </p:txBody>
      </p:sp>
      <p:graphicFrame>
        <p:nvGraphicFramePr>
          <p:cNvPr id="123" name="表格 6">
            <a:extLst>
              <a:ext uri="{FF2B5EF4-FFF2-40B4-BE49-F238E27FC236}">
                <a16:creationId xmlns:a16="http://schemas.microsoft.com/office/drawing/2014/main" id="{10D36020-A475-7FE0-F8FB-0AD7F110E4C0}"/>
              </a:ext>
            </a:extLst>
          </p:cNvPr>
          <p:cNvGraphicFramePr>
            <a:graphicFrameLocks noGrp="1"/>
          </p:cNvGraphicFramePr>
          <p:nvPr>
            <p:extLst>
              <p:ext uri="{D42A27DB-BD31-4B8C-83A1-F6EECF244321}">
                <p14:modId xmlns:p14="http://schemas.microsoft.com/office/powerpoint/2010/main" val="2387853658"/>
              </p:ext>
            </p:extLst>
          </p:nvPr>
        </p:nvGraphicFramePr>
        <p:xfrm>
          <a:off x="1993106" y="3694589"/>
          <a:ext cx="4851048" cy="1828800"/>
        </p:xfrm>
        <a:graphic>
          <a:graphicData uri="http://schemas.openxmlformats.org/drawingml/2006/table">
            <a:tbl>
              <a:tblPr firstRow="1" bandRow="1">
                <a:tableStyleId>{72833802-FEF1-4C79-8D5D-14CF1EAF98D9}</a:tableStyleId>
              </a:tblPr>
              <a:tblGrid>
                <a:gridCol w="689743">
                  <a:extLst>
                    <a:ext uri="{9D8B030D-6E8A-4147-A177-3AD203B41FA5}">
                      <a16:colId xmlns:a16="http://schemas.microsoft.com/office/drawing/2014/main" val="3452714212"/>
                    </a:ext>
                  </a:extLst>
                </a:gridCol>
                <a:gridCol w="832168">
                  <a:extLst>
                    <a:ext uri="{9D8B030D-6E8A-4147-A177-3AD203B41FA5}">
                      <a16:colId xmlns:a16="http://schemas.microsoft.com/office/drawing/2014/main" val="2838335064"/>
                    </a:ext>
                  </a:extLst>
                </a:gridCol>
                <a:gridCol w="890604">
                  <a:extLst>
                    <a:ext uri="{9D8B030D-6E8A-4147-A177-3AD203B41FA5}">
                      <a16:colId xmlns:a16="http://schemas.microsoft.com/office/drawing/2014/main" val="4054148381"/>
                    </a:ext>
                  </a:extLst>
                </a:gridCol>
                <a:gridCol w="995680">
                  <a:extLst>
                    <a:ext uri="{9D8B030D-6E8A-4147-A177-3AD203B41FA5}">
                      <a16:colId xmlns:a16="http://schemas.microsoft.com/office/drawing/2014/main" val="1592269495"/>
                    </a:ext>
                  </a:extLst>
                </a:gridCol>
                <a:gridCol w="531196">
                  <a:extLst>
                    <a:ext uri="{9D8B030D-6E8A-4147-A177-3AD203B41FA5}">
                      <a16:colId xmlns:a16="http://schemas.microsoft.com/office/drawing/2014/main" val="1436892577"/>
                    </a:ext>
                  </a:extLst>
                </a:gridCol>
                <a:gridCol w="319177">
                  <a:extLst>
                    <a:ext uri="{9D8B030D-6E8A-4147-A177-3AD203B41FA5}">
                      <a16:colId xmlns:a16="http://schemas.microsoft.com/office/drawing/2014/main" val="1273563960"/>
                    </a:ext>
                  </a:extLst>
                </a:gridCol>
                <a:gridCol w="592480">
                  <a:extLst>
                    <a:ext uri="{9D8B030D-6E8A-4147-A177-3AD203B41FA5}">
                      <a16:colId xmlns:a16="http://schemas.microsoft.com/office/drawing/2014/main" val="284870081"/>
                    </a:ext>
                  </a:extLst>
                </a:gridCol>
              </a:tblGrid>
              <a:tr h="170694">
                <a:tc>
                  <a:txBody>
                    <a:bodyPr/>
                    <a:lstStyle/>
                    <a:p>
                      <a:pPr algn="ctr"/>
                      <a:r>
                        <a:rPr lang="en-US" altLang="zh-CN" sz="1200" b="1" kern="1200" dirty="0" err="1">
                          <a:solidFill>
                            <a:schemeClr val="tx2"/>
                          </a:solidFill>
                          <a:latin typeface="+mn-lt"/>
                          <a:ea typeface="+mn-ea"/>
                          <a:cs typeface="+mn-cs"/>
                        </a:rPr>
                        <a:t>RowId</a:t>
                      </a:r>
                      <a:endParaRPr lang="zh-CN" altLang="en-US" sz="1200" b="1" kern="1200" dirty="0">
                        <a:solidFill>
                          <a:schemeClr val="tx2"/>
                        </a:solidFill>
                        <a:latin typeface="+mn-lt"/>
                        <a:ea typeface="+mn-ea"/>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C00000"/>
                    </a:solidFill>
                  </a:tcPr>
                </a:tc>
                <a:tc>
                  <a:txBody>
                    <a:bodyPr/>
                    <a:lstStyle/>
                    <a:p>
                      <a:pPr algn="ctr"/>
                      <a:r>
                        <a:rPr lang="en-US" altLang="zh-CN" sz="1200" b="1" kern="1200" dirty="0" err="1">
                          <a:solidFill>
                            <a:schemeClr val="tx2"/>
                          </a:solidFill>
                          <a:latin typeface="+mn-lt"/>
                          <a:ea typeface="+mn-ea"/>
                          <a:cs typeface="+mn-cs"/>
                        </a:rPr>
                        <a:t>ColumnId</a:t>
                      </a:r>
                      <a:endParaRPr lang="zh-CN" altLang="en-US" sz="1200" b="1" kern="1200" dirty="0">
                        <a:solidFill>
                          <a:schemeClr val="tx2"/>
                        </a:solidFill>
                        <a:latin typeface="+mn-lt"/>
                        <a:ea typeface="+mn-ea"/>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C00000"/>
                    </a:solidFill>
                  </a:tcPr>
                </a:tc>
                <a:tc>
                  <a:txBody>
                    <a:bodyPr/>
                    <a:lstStyle/>
                    <a:p>
                      <a:pPr algn="ctr"/>
                      <a:r>
                        <a:rPr lang="en-US" altLang="zh-CN" sz="1200" b="1" kern="1200" dirty="0" err="1">
                          <a:solidFill>
                            <a:schemeClr val="tx2"/>
                          </a:solidFill>
                          <a:latin typeface="+mn-lt"/>
                          <a:ea typeface="+mn-ea"/>
                          <a:cs typeface="+mn-cs"/>
                        </a:rPr>
                        <a:t>RetryRdErrLogParity</a:t>
                      </a:r>
                      <a:endParaRPr lang="zh-CN" altLang="en-US" sz="1200" b="1" kern="1200" dirty="0">
                        <a:solidFill>
                          <a:schemeClr val="tx2"/>
                        </a:solidFill>
                        <a:latin typeface="+mn-lt"/>
                        <a:ea typeface="+mn-ea"/>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C00000"/>
                    </a:solidFill>
                  </a:tcPr>
                </a:tc>
                <a:tc>
                  <a:txBody>
                    <a:bodyPr/>
                    <a:lstStyle/>
                    <a:p>
                      <a:pPr algn="ctr"/>
                      <a:r>
                        <a:rPr lang="en-US" altLang="zh-CN" sz="1200" b="1" kern="1200" dirty="0">
                          <a:solidFill>
                            <a:schemeClr val="tx2"/>
                          </a:solidFill>
                          <a:latin typeface="+mn-lt"/>
                          <a:ea typeface="+mn-ea"/>
                          <a:cs typeface="+mn-cs"/>
                        </a:rPr>
                        <a:t>LogTime</a:t>
                      </a:r>
                      <a:endParaRPr lang="zh-CN" altLang="en-US" sz="1200" b="1" kern="1200" dirty="0">
                        <a:solidFill>
                          <a:schemeClr val="tx2"/>
                        </a:solidFill>
                        <a:latin typeface="+mn-lt"/>
                        <a:ea typeface="+mn-ea"/>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C00000"/>
                    </a:solidFill>
                  </a:tcPr>
                </a:tc>
                <a:tc>
                  <a:txBody>
                    <a:bodyPr/>
                    <a:lstStyle/>
                    <a:p>
                      <a:pPr algn="ctr"/>
                      <a:r>
                        <a:rPr lang="en-US" altLang="zh-CN" sz="1200" b="1" kern="1200" dirty="0">
                          <a:solidFill>
                            <a:schemeClr val="tx2"/>
                          </a:solidFill>
                          <a:latin typeface="+mn-lt"/>
                          <a:ea typeface="+mn-ea"/>
                          <a:cs typeface="+mn-cs"/>
                        </a:rPr>
                        <a:t>xxx</a:t>
                      </a:r>
                      <a:endParaRPr lang="zh-CN" altLang="en-US" sz="1200" b="1" kern="1200" dirty="0">
                        <a:solidFill>
                          <a:schemeClr val="tx2"/>
                        </a:solidFill>
                        <a:latin typeface="+mn-lt"/>
                        <a:ea typeface="+mn-ea"/>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C00000"/>
                    </a:solidFill>
                  </a:tcPr>
                </a:tc>
                <a:tc>
                  <a:txBody>
                    <a:bodyPr/>
                    <a:lstStyle/>
                    <a:p>
                      <a:pPr algn="ctr"/>
                      <a:r>
                        <a:rPr lang="en-US" altLang="zh-CN" sz="1200" b="1" kern="1200" dirty="0">
                          <a:solidFill>
                            <a:schemeClr val="tx2"/>
                          </a:solidFill>
                          <a:latin typeface="+mn-lt"/>
                          <a:ea typeface="+mn-ea"/>
                          <a:cs typeface="+mn-cs"/>
                        </a:rPr>
                        <a:t>…</a:t>
                      </a:r>
                      <a:endParaRPr lang="zh-CN" altLang="en-US" sz="1200" b="1" kern="1200" dirty="0">
                        <a:solidFill>
                          <a:schemeClr val="tx2"/>
                        </a:solidFill>
                        <a:latin typeface="+mn-lt"/>
                        <a:ea typeface="+mn-ea"/>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C00000"/>
                    </a:solidFill>
                  </a:tcPr>
                </a:tc>
                <a:tc>
                  <a:txBody>
                    <a:bodyPr/>
                    <a:lstStyle/>
                    <a:p>
                      <a:pPr algn="ctr"/>
                      <a:r>
                        <a:rPr lang="en-US" altLang="zh-CN" sz="1200" b="1" kern="1200" dirty="0">
                          <a:solidFill>
                            <a:schemeClr val="tx2"/>
                          </a:solidFill>
                          <a:latin typeface="+mn-lt"/>
                          <a:ea typeface="+mn-ea"/>
                          <a:cs typeface="+mn-cs"/>
                        </a:rPr>
                        <a:t>xxx</a:t>
                      </a:r>
                      <a:endParaRPr lang="zh-CN" altLang="en-US" sz="1200" b="1" kern="1200" dirty="0">
                        <a:solidFill>
                          <a:schemeClr val="tx2"/>
                        </a:solidFill>
                        <a:latin typeface="+mn-lt"/>
                        <a:ea typeface="+mn-ea"/>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C00000"/>
                    </a:solidFill>
                  </a:tcPr>
                </a:tc>
                <a:extLst>
                  <a:ext uri="{0D108BD9-81ED-4DB2-BD59-A6C34878D82A}">
                    <a16:rowId xmlns:a16="http://schemas.microsoft.com/office/drawing/2014/main" val="456293675"/>
                  </a:ext>
                </a:extLst>
              </a:tr>
              <a:tr h="170694">
                <a:tc>
                  <a:txBody>
                    <a:bodyPr/>
                    <a:lstStyle/>
                    <a:p>
                      <a:pPr algn="ctr"/>
                      <a:r>
                        <a:rPr lang="en-US" altLang="zh-CN" sz="1200" dirty="0">
                          <a:latin typeface="+mn-lt"/>
                        </a:rPr>
                        <a:t>68876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60000"/>
                        <a:lumOff val="40000"/>
                      </a:schemeClr>
                    </a:solidFill>
                  </a:tcPr>
                </a:tc>
                <a:tc>
                  <a:txBody>
                    <a:bodyPr/>
                    <a:lstStyle/>
                    <a:p>
                      <a:pPr algn="ctr"/>
                      <a:r>
                        <a:rPr lang="en-US" altLang="zh-CN" sz="1200" dirty="0">
                          <a:latin typeface="+mn-lt"/>
                        </a:rPr>
                        <a:t>136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60000"/>
                        <a:lumOff val="40000"/>
                      </a:schemeClr>
                    </a:solidFill>
                  </a:tcPr>
                </a:tc>
                <a:tc>
                  <a:txBody>
                    <a:bodyPr/>
                    <a:lstStyle/>
                    <a:p>
                      <a:pPr algn="ctr"/>
                      <a:r>
                        <a:rPr lang="en-US" altLang="zh-CN" sz="1200" dirty="0">
                          <a:latin typeface="+mn-lt"/>
                        </a:rPr>
                        <a:t>65536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60000"/>
                        <a:lumOff val="40000"/>
                      </a:schemeClr>
                    </a:solidFill>
                  </a:tcPr>
                </a:tc>
                <a:tc>
                  <a:txBody>
                    <a:bodyPr/>
                    <a:lstStyle/>
                    <a:p>
                      <a:pPr algn="ctr"/>
                      <a:r>
                        <a:rPr lang="en-US" altLang="zh-CN" sz="1200" dirty="0">
                          <a:latin typeface="+mn-lt"/>
                        </a:rPr>
                        <a:t>1717193965</a:t>
                      </a: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60000"/>
                        <a:lumOff val="4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xxx</a:t>
                      </a:r>
                      <a:endParaRPr kumimoji="0" lang="zh-CN" altLang="en-US"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60000"/>
                        <a:lumOff val="40000"/>
                      </a:schemeClr>
                    </a:solidFill>
                  </a:tcPr>
                </a:tc>
                <a:tc>
                  <a:txBody>
                    <a:bodyPr/>
                    <a:lstStyle/>
                    <a:p>
                      <a:pPr algn="ctr"/>
                      <a:r>
                        <a:rPr kumimoji="0" lang="en-US" altLang="zh-CN" sz="1200" b="0" i="0" u="none" strike="noStrike" kern="1200" cap="none" spc="0" normalizeH="0" baseline="0" dirty="0">
                          <a:ln>
                            <a:noFill/>
                          </a:ln>
                          <a:solidFill>
                            <a:srgbClr val="1D1D1A"/>
                          </a:solidFill>
                          <a:effectLst/>
                          <a:uLnTx/>
                          <a:uFillTx/>
                          <a:latin typeface="Calibri" panose="020F0502020204030204"/>
                          <a:ea typeface="等线" panose="02010600030101010101" pitchFamily="2" charset="-122"/>
                          <a:cs typeface="+mn-cs"/>
                        </a:rPr>
                        <a:t>…</a:t>
                      </a:r>
                      <a:endParaRPr kumimoji="0" lang="zh-CN" altLang="en-US" sz="1200" b="0" i="0" u="none" strike="noStrike" kern="1200" cap="none" spc="0" normalizeH="0" baseline="0" dirty="0">
                        <a:ln>
                          <a:noFill/>
                        </a:ln>
                        <a:solidFill>
                          <a:srgbClr val="1D1D1A"/>
                        </a:solidFill>
                        <a:effectLst/>
                        <a:uLnTx/>
                        <a:uFillTx/>
                        <a:latin typeface="Calibri" panose="020F0502020204030204"/>
                        <a:ea typeface="等线" panose="02010600030101010101" pitchFamily="2" charset="-122"/>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60000"/>
                        <a:lumOff val="4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xxx</a:t>
                      </a:r>
                      <a:endParaRPr kumimoji="0" lang="zh-CN" altLang="en-US"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4206117406"/>
                  </a:ext>
                </a:extLst>
              </a:tr>
              <a:tr h="170694">
                <a:tc>
                  <a:txBody>
                    <a:bodyPr/>
                    <a:lstStyle/>
                    <a:p>
                      <a:pPr algn="ctr"/>
                      <a:r>
                        <a:rPr lang="en-US" altLang="zh-CN" sz="1200" dirty="0">
                          <a:latin typeface="+mn-lt"/>
                        </a:rPr>
                        <a:t>68876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200" dirty="0">
                          <a:latin typeface="+mn-lt"/>
                        </a:rPr>
                        <a:t>136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200" dirty="0">
                          <a:latin typeface="+mn-lt"/>
                        </a:rPr>
                        <a:t>65536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200" dirty="0">
                          <a:latin typeface="+mn-lt"/>
                        </a:rPr>
                        <a:t>1717193992</a:t>
                      </a: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xxx</a:t>
                      </a:r>
                      <a:endParaRPr kumimoji="0" lang="zh-CN" altLang="en-US"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dirty="0">
                          <a:ln>
                            <a:noFill/>
                          </a:ln>
                          <a:solidFill>
                            <a:srgbClr val="1D1D1A"/>
                          </a:solidFill>
                          <a:effectLst/>
                          <a:uLnTx/>
                          <a:uFillTx/>
                          <a:latin typeface="+mn-lt"/>
                          <a:ea typeface="+mn-ea"/>
                          <a:cs typeface="+mn-cs"/>
                        </a:rPr>
                        <a:t>…</a:t>
                      </a:r>
                      <a:endParaRPr kumimoji="0" lang="zh-CN" altLang="en-US" sz="1200" b="0" i="0" u="none" strike="noStrike" kern="1200" cap="none" spc="0" normalizeH="0" baseline="0" dirty="0">
                        <a:ln>
                          <a:noFill/>
                        </a:ln>
                        <a:solidFill>
                          <a:srgbClr val="1D1D1A"/>
                        </a:solidFill>
                        <a:effectLst/>
                        <a:uLnTx/>
                        <a:uFillTx/>
                        <a:latin typeface="+mn-lt"/>
                        <a:ea typeface="+mn-ea"/>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xxx</a:t>
                      </a:r>
                      <a:endParaRPr kumimoji="0" lang="zh-CN" altLang="en-US"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106651507"/>
                  </a:ext>
                </a:extLst>
              </a:tr>
              <a:tr h="170694">
                <a:tc>
                  <a:txBody>
                    <a:bodyPr/>
                    <a:lstStyle/>
                    <a:p>
                      <a:pPr algn="ctr"/>
                      <a:r>
                        <a:rPr lang="en-US" altLang="zh-CN" sz="1200" dirty="0">
                          <a:latin typeface="+mn-lt"/>
                        </a:rPr>
                        <a:t>68876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200" dirty="0">
                          <a:latin typeface="+mn-lt"/>
                        </a:rPr>
                        <a:t>136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200" dirty="0">
                          <a:latin typeface="+mn-lt"/>
                        </a:rPr>
                        <a:t>65536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200" dirty="0">
                          <a:latin typeface="+mn-lt"/>
                        </a:rPr>
                        <a:t>1717194030</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xxx</a:t>
                      </a:r>
                      <a:endParaRPr kumimoji="0" lang="zh-CN" altLang="en-US"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kumimoji="0" lang="en-US" altLang="zh-CN" sz="1200" b="0" i="0" u="none" strike="noStrike" kern="1200" cap="none" spc="0" normalizeH="0" baseline="0" dirty="0">
                          <a:ln>
                            <a:noFill/>
                          </a:ln>
                          <a:solidFill>
                            <a:srgbClr val="1D1D1A"/>
                          </a:solidFill>
                          <a:effectLst/>
                          <a:uLnTx/>
                          <a:uFillTx/>
                          <a:latin typeface="Calibri" panose="020F0502020204030204"/>
                          <a:ea typeface="等线" panose="02010600030101010101" pitchFamily="2" charset="-122"/>
                          <a:cs typeface="+mn-cs"/>
                        </a:rPr>
                        <a:t>…</a:t>
                      </a:r>
                      <a:endParaRPr kumimoji="0" lang="zh-CN" altLang="en-US" sz="1200" b="0" i="0" u="none" strike="noStrike" kern="1200" cap="none" spc="0" normalizeH="0" baseline="0" dirty="0">
                        <a:ln>
                          <a:noFill/>
                        </a:ln>
                        <a:solidFill>
                          <a:srgbClr val="1D1D1A"/>
                        </a:solidFill>
                        <a:effectLst/>
                        <a:uLnTx/>
                        <a:uFillTx/>
                        <a:latin typeface="Calibri" panose="020F0502020204030204"/>
                        <a:ea typeface="等线" panose="02010600030101010101" pitchFamily="2" charset="-122"/>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xxx</a:t>
                      </a:r>
                      <a:endParaRPr kumimoji="0" lang="zh-CN" altLang="en-US"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266138005"/>
                  </a:ext>
                </a:extLst>
              </a:tr>
              <a:tr h="0">
                <a:tc>
                  <a:txBody>
                    <a:bodyPr/>
                    <a:lstStyle/>
                    <a:p>
                      <a:pPr algn="ctr"/>
                      <a:r>
                        <a:rPr lang="en-US" altLang="zh-CN" sz="1200" dirty="0">
                          <a:latin typeface="+mn-lt"/>
                        </a:rPr>
                        <a:t>68876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60000"/>
                        <a:lumOff val="40000"/>
                      </a:schemeClr>
                    </a:solidFill>
                  </a:tcPr>
                </a:tc>
                <a:tc>
                  <a:txBody>
                    <a:bodyPr/>
                    <a:lstStyle/>
                    <a:p>
                      <a:pPr algn="ctr"/>
                      <a:r>
                        <a:rPr lang="en-US" altLang="zh-CN" sz="1200" dirty="0">
                          <a:latin typeface="+mn-lt"/>
                        </a:rPr>
                        <a:t>136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60000"/>
                        <a:lumOff val="40000"/>
                      </a:schemeClr>
                    </a:solidFill>
                  </a:tcPr>
                </a:tc>
                <a:tc>
                  <a:txBody>
                    <a:bodyPr/>
                    <a:lstStyle/>
                    <a:p>
                      <a:pPr algn="ctr"/>
                      <a:r>
                        <a:rPr lang="en-US" altLang="zh-CN" sz="1200" dirty="0">
                          <a:latin typeface="+mn-lt"/>
                        </a:rPr>
                        <a:t>4096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60000"/>
                        <a:lumOff val="40000"/>
                      </a:schemeClr>
                    </a:solidFill>
                  </a:tcPr>
                </a:tc>
                <a:tc>
                  <a:txBody>
                    <a:bodyPr/>
                    <a:lstStyle/>
                    <a:p>
                      <a:pPr algn="ctr"/>
                      <a:r>
                        <a:rPr lang="en-US" altLang="zh-CN" sz="1200" dirty="0">
                          <a:latin typeface="+mn-lt"/>
                        </a:rPr>
                        <a:t>1717199247</a:t>
                      </a: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xxx</a:t>
                      </a:r>
                      <a:endParaRPr kumimoji="0" lang="zh-CN" altLang="en-US"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dirty="0">
                          <a:ln>
                            <a:noFill/>
                          </a:ln>
                          <a:solidFill>
                            <a:srgbClr val="1D1D1A"/>
                          </a:solidFill>
                          <a:effectLst/>
                          <a:uLnTx/>
                          <a:uFillTx/>
                          <a:latin typeface="+mn-lt"/>
                          <a:ea typeface="+mn-ea"/>
                          <a:cs typeface="+mn-cs"/>
                        </a:rPr>
                        <a:t>…</a:t>
                      </a:r>
                      <a:endParaRPr kumimoji="0" lang="zh-CN" altLang="en-US" sz="1200" b="0" i="0" u="none" strike="noStrike" kern="1200" cap="none" spc="0" normalizeH="0" baseline="0" dirty="0">
                        <a:ln>
                          <a:noFill/>
                        </a:ln>
                        <a:solidFill>
                          <a:srgbClr val="1D1D1A"/>
                        </a:solidFill>
                        <a:effectLst/>
                        <a:uLnTx/>
                        <a:uFillTx/>
                        <a:latin typeface="+mn-lt"/>
                        <a:ea typeface="+mn-ea"/>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xxx</a:t>
                      </a:r>
                      <a:endParaRPr kumimoji="0" lang="zh-CN" altLang="en-US"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4179614761"/>
                  </a:ext>
                </a:extLst>
              </a:tr>
              <a:tr h="170694">
                <a:tc>
                  <a:txBody>
                    <a:bodyPr/>
                    <a:lstStyle/>
                    <a:p>
                      <a:pPr algn="ctr"/>
                      <a:r>
                        <a:rPr lang="en-US" altLang="zh-CN" sz="1200" dirty="0">
                          <a:latin typeface="+mn-lt"/>
                        </a:rPr>
                        <a:t>68876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latin typeface="+mn-lt"/>
                        </a:rPr>
                        <a:t>136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latin typeface="+mn-lt"/>
                        </a:rPr>
                        <a:t>4096</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latin typeface="+mn-lt"/>
                        </a:rPr>
                        <a:t>1717199279</a:t>
                      </a:r>
                      <a:endParaRPr lang="zh-CN" altLang="en-US" sz="1200" dirty="0">
                        <a:latin typeface="+mn-lt"/>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xxx</a:t>
                      </a:r>
                      <a:endParaRPr kumimoji="0" lang="zh-CN" altLang="en-US"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20000"/>
                        <a:lumOff val="80000"/>
                      </a:schemeClr>
                    </a:solidFill>
                  </a:tcPr>
                </a:tc>
                <a:tc>
                  <a:txBody>
                    <a:bodyPr/>
                    <a:lstStyle/>
                    <a:p>
                      <a:pPr algn="ctr"/>
                      <a:r>
                        <a:rPr kumimoji="0" lang="en-US" altLang="zh-CN" sz="1200" b="0" i="0" u="none" strike="noStrike" kern="1200" cap="none" spc="0" normalizeH="0" baseline="0" dirty="0">
                          <a:ln>
                            <a:noFill/>
                          </a:ln>
                          <a:solidFill>
                            <a:srgbClr val="1D1D1A"/>
                          </a:solidFill>
                          <a:effectLst/>
                          <a:uLnTx/>
                          <a:uFillTx/>
                          <a:latin typeface="Calibri" panose="020F0502020204030204"/>
                          <a:ea typeface="等线" panose="02010600030101010101" pitchFamily="2" charset="-122"/>
                          <a:cs typeface="+mn-cs"/>
                        </a:rPr>
                        <a:t>…</a:t>
                      </a:r>
                      <a:endParaRPr kumimoji="0" lang="zh-CN" altLang="en-US" sz="1200" b="0" i="0" u="none" strike="noStrike" kern="1200" cap="none" spc="0" normalizeH="0" baseline="0" dirty="0">
                        <a:ln>
                          <a:noFill/>
                        </a:ln>
                        <a:solidFill>
                          <a:srgbClr val="1D1D1A"/>
                        </a:solidFill>
                        <a:effectLst/>
                        <a:uLnTx/>
                        <a:uFillTx/>
                        <a:latin typeface="Calibri" panose="020F0502020204030204"/>
                        <a:ea typeface="等线" panose="02010600030101010101" pitchFamily="2" charset="-122"/>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xxx</a:t>
                      </a:r>
                      <a:endParaRPr kumimoji="0" lang="zh-CN" altLang="en-US"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75025835"/>
                  </a:ext>
                </a:extLst>
              </a:tr>
            </a:tbl>
          </a:graphicData>
        </a:graphic>
      </p:graphicFrame>
      <p:grpSp>
        <p:nvGrpSpPr>
          <p:cNvPr id="124" name="组合 123">
            <a:extLst>
              <a:ext uri="{FF2B5EF4-FFF2-40B4-BE49-F238E27FC236}">
                <a16:creationId xmlns:a16="http://schemas.microsoft.com/office/drawing/2014/main" id="{887ED841-04A3-FD96-8C34-5ABC8F71151D}"/>
              </a:ext>
            </a:extLst>
          </p:cNvPr>
          <p:cNvGrpSpPr/>
          <p:nvPr/>
        </p:nvGrpSpPr>
        <p:grpSpPr>
          <a:xfrm>
            <a:off x="408801" y="4120743"/>
            <a:ext cx="942080" cy="1215594"/>
            <a:chOff x="721829" y="1482702"/>
            <a:chExt cx="942080" cy="1215594"/>
          </a:xfrm>
        </p:grpSpPr>
        <p:pic>
          <p:nvPicPr>
            <p:cNvPr id="125" name="图片 124">
              <a:extLst>
                <a:ext uri="{FF2B5EF4-FFF2-40B4-BE49-F238E27FC236}">
                  <a16:creationId xmlns:a16="http://schemas.microsoft.com/office/drawing/2014/main" id="{914DAEE7-3E4E-2515-473E-DB36DF8056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829" y="1482702"/>
              <a:ext cx="870549" cy="870549"/>
            </a:xfrm>
            <a:prstGeom prst="rect">
              <a:avLst/>
            </a:prstGeom>
          </p:spPr>
        </p:pic>
        <p:sp>
          <p:nvSpPr>
            <p:cNvPr id="126" name="文本框 125">
              <a:extLst>
                <a:ext uri="{FF2B5EF4-FFF2-40B4-BE49-F238E27FC236}">
                  <a16:creationId xmlns:a16="http://schemas.microsoft.com/office/drawing/2014/main" id="{28C91346-CE78-1FE9-C02A-0B3456FCCA5E}"/>
                </a:ext>
              </a:extLst>
            </p:cNvPr>
            <p:cNvSpPr txBox="1"/>
            <p:nvPr/>
          </p:nvSpPr>
          <p:spPr>
            <a:xfrm>
              <a:off x="721829" y="2328964"/>
              <a:ext cx="942080" cy="369332"/>
            </a:xfrm>
            <a:prstGeom prst="rect">
              <a:avLst/>
            </a:prstGeom>
            <a:noFill/>
          </p:spPr>
          <p:txBody>
            <a:bodyPr wrap="square">
              <a:spAutoFit/>
            </a:bodyPr>
            <a:lstStyle/>
            <a:p>
              <a:pPr algn="ctr"/>
              <a:r>
                <a:rPr lang="en-US" altLang="zh-CN" sz="1800" dirty="0">
                  <a:latin typeface="+mn-ea"/>
                </a:rPr>
                <a:t>SN_s</a:t>
              </a:r>
              <a:endParaRPr lang="zh-CN" altLang="en-US" dirty="0"/>
            </a:p>
          </p:txBody>
        </p:sp>
      </p:grpSp>
      <p:cxnSp>
        <p:nvCxnSpPr>
          <p:cNvPr id="128" name="直接连接符 127">
            <a:extLst>
              <a:ext uri="{FF2B5EF4-FFF2-40B4-BE49-F238E27FC236}">
                <a16:creationId xmlns:a16="http://schemas.microsoft.com/office/drawing/2014/main" id="{06BB11EE-7C51-8F13-4708-E0406A13A999}"/>
              </a:ext>
            </a:extLst>
          </p:cNvPr>
          <p:cNvCxnSpPr>
            <a:cxnSpLocks/>
          </p:cNvCxnSpPr>
          <p:nvPr/>
        </p:nvCxnSpPr>
        <p:spPr>
          <a:xfrm flipV="1">
            <a:off x="1350116" y="4003177"/>
            <a:ext cx="539525" cy="328688"/>
          </a:xfrm>
          <a:prstGeom prst="line">
            <a:avLst/>
          </a:prstGeom>
        </p:spPr>
        <p:style>
          <a:lnRef idx="1">
            <a:schemeClr val="dk1"/>
          </a:lnRef>
          <a:fillRef idx="0">
            <a:schemeClr val="dk1"/>
          </a:fillRef>
          <a:effectRef idx="0">
            <a:schemeClr val="dk1"/>
          </a:effectRef>
          <a:fontRef idx="minor">
            <a:schemeClr val="tx1"/>
          </a:fontRef>
        </p:style>
      </p:cxnSp>
      <p:cxnSp>
        <p:nvCxnSpPr>
          <p:cNvPr id="129" name="直接连接符 128">
            <a:extLst>
              <a:ext uri="{FF2B5EF4-FFF2-40B4-BE49-F238E27FC236}">
                <a16:creationId xmlns:a16="http://schemas.microsoft.com/office/drawing/2014/main" id="{B2B71DD1-7A6F-9FB8-447E-0452005DC146}"/>
              </a:ext>
            </a:extLst>
          </p:cNvPr>
          <p:cNvCxnSpPr>
            <a:cxnSpLocks/>
          </p:cNvCxnSpPr>
          <p:nvPr/>
        </p:nvCxnSpPr>
        <p:spPr>
          <a:xfrm>
            <a:off x="1350880" y="4805197"/>
            <a:ext cx="539525" cy="328688"/>
          </a:xfrm>
          <a:prstGeom prst="line">
            <a:avLst/>
          </a:prstGeom>
        </p:spPr>
        <p:style>
          <a:lnRef idx="1">
            <a:schemeClr val="dk1"/>
          </a:lnRef>
          <a:fillRef idx="0">
            <a:schemeClr val="dk1"/>
          </a:fillRef>
          <a:effectRef idx="0">
            <a:schemeClr val="dk1"/>
          </a:effectRef>
          <a:fontRef idx="minor">
            <a:schemeClr val="tx1"/>
          </a:fontRef>
        </p:style>
      </p:cxnSp>
      <p:sp>
        <p:nvSpPr>
          <p:cNvPr id="143" name="矩形 142">
            <a:extLst>
              <a:ext uri="{FF2B5EF4-FFF2-40B4-BE49-F238E27FC236}">
                <a16:creationId xmlns:a16="http://schemas.microsoft.com/office/drawing/2014/main" id="{A87581A0-A7AE-B694-C416-C2944E63B5F7}"/>
              </a:ext>
            </a:extLst>
          </p:cNvPr>
          <p:cNvSpPr/>
          <p:nvPr/>
        </p:nvSpPr>
        <p:spPr>
          <a:xfrm>
            <a:off x="7145470" y="3876145"/>
            <a:ext cx="4690953" cy="1491260"/>
          </a:xfrm>
          <a:prstGeom prst="rect">
            <a:avLst/>
          </a:prstGeom>
          <a:noFill/>
          <a:ln w="12700" cap="flat" cmpd="sng" algn="ctr">
            <a:solidFill>
              <a:srgbClr val="4874CB">
                <a:shade val="15000"/>
              </a:srgbClr>
            </a:solid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E54C5E">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rPr>
              <a:t>Time-patch Scale Prediction Module</a:t>
            </a:r>
            <a:endParaRPr kumimoji="0" lang="zh-CN" altLang="en-US" sz="1200" b="1" i="0" u="none" strike="noStrike" kern="0" cap="none" spc="0" normalizeH="0" baseline="0" noProof="0" dirty="0">
              <a:ln>
                <a:noFill/>
              </a:ln>
              <a:solidFill>
                <a:srgbClr val="E54C5E">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pic>
        <p:nvPicPr>
          <p:cNvPr id="144" name="图片 143">
            <a:extLst>
              <a:ext uri="{FF2B5EF4-FFF2-40B4-BE49-F238E27FC236}">
                <a16:creationId xmlns:a16="http://schemas.microsoft.com/office/drawing/2014/main" id="{1C0396A5-EDBA-DCF4-F344-B9DC6EE6F0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35174" y="4236772"/>
            <a:ext cx="576000" cy="576000"/>
          </a:xfrm>
          <a:prstGeom prst="rect">
            <a:avLst/>
          </a:prstGeom>
        </p:spPr>
      </p:pic>
      <p:sp>
        <p:nvSpPr>
          <p:cNvPr id="145" name="矩形 144">
            <a:extLst>
              <a:ext uri="{FF2B5EF4-FFF2-40B4-BE49-F238E27FC236}">
                <a16:creationId xmlns:a16="http://schemas.microsoft.com/office/drawing/2014/main" id="{976147F2-9D15-1BA7-C155-24A61F3C8A27}"/>
              </a:ext>
            </a:extLst>
          </p:cNvPr>
          <p:cNvSpPr/>
          <p:nvPr/>
        </p:nvSpPr>
        <p:spPr>
          <a:xfrm>
            <a:off x="10614585" y="4655345"/>
            <a:ext cx="1384441" cy="185385"/>
          </a:xfrm>
          <a:prstGeom prst="rect">
            <a:avLst/>
          </a:prstGeom>
          <a:noFill/>
          <a:ln w="12700" cap="flat" cmpd="sng" algn="ctr">
            <a:noFill/>
            <a:prstDash val="solid"/>
            <a:miter lim="800000"/>
          </a:ln>
          <a:effectLst/>
        </p:spPr>
        <p:txBody>
          <a:bodyPr wrap="square" rtlCol="0" anchor="b">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Classifier</a:t>
            </a:r>
          </a:p>
        </p:txBody>
      </p:sp>
      <mc:AlternateContent xmlns:mc="http://schemas.openxmlformats.org/markup-compatibility/2006" xmlns:a14="http://schemas.microsoft.com/office/drawing/2010/main">
        <mc:Choice Requires="a14">
          <p:sp>
            <p:nvSpPr>
              <p:cNvPr id="146" name="文本框 145">
                <a:extLst>
                  <a:ext uri="{FF2B5EF4-FFF2-40B4-BE49-F238E27FC236}">
                    <a16:creationId xmlns:a16="http://schemas.microsoft.com/office/drawing/2014/main" id="{E839D800-5B39-BFF1-8BC0-453BB6224E67}"/>
                  </a:ext>
                </a:extLst>
              </p:cNvPr>
              <p:cNvSpPr txBox="1"/>
              <p:nvPr/>
            </p:nvSpPr>
            <p:spPr>
              <a:xfrm>
                <a:off x="7319366" y="3936578"/>
                <a:ext cx="2900704" cy="322855"/>
              </a:xfrm>
              <a:prstGeom prst="roundRect">
                <a:avLst/>
              </a:prstGeom>
              <a:noFill/>
              <a:ln w="9525">
                <a:solidFill>
                  <a:sysClr val="windowText" lastClr="000000"/>
                </a:solidFill>
                <a:prstDash val="dash"/>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61B230">
                        <a:lumMod val="75000"/>
                      </a:srgbClr>
                    </a:solidFill>
                    <a:effectLst/>
                    <a:uLnTx/>
                    <a:uFillTx/>
                    <a:latin typeface="等线" panose="02010600030101010101" pitchFamily="2" charset="-122"/>
                  </a:rPr>
                  <a:t>统计特征 </a:t>
                </a:r>
                <a14:m>
                  <m:oMath xmlns:m="http://schemas.openxmlformats.org/officeDocument/2006/math">
                    <m:sSubSup>
                      <m:sSubSupPr>
                        <m:ctrlP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ctrlPr>
                      </m:sSubSupPr>
                      <m:e>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𝑭𝒂</m:t>
                        </m:r>
                      </m:e>
                      <m:sub>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𝒅</m:t>
                        </m:r>
                      </m:sub>
                      <m:sup>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𝑻</m:t>
                        </m:r>
                      </m:sup>
                    </m:sSubSup>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m:t>
                    </m:r>
                    <m:sSup>
                      <m:sSupPr>
                        <m:ctrlP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ctrlPr>
                      </m:sSupPr>
                      <m:e>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ℝ</m:t>
                        </m:r>
                      </m:e>
                      <m:sup>
                        <m:sSub>
                          <m:sSubPr>
                            <m:ctrlP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ctrlPr>
                          </m:sSubPr>
                          <m:e>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𝒅</m:t>
                            </m:r>
                          </m:e>
                          <m:sub>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𝒂</m:t>
                            </m:r>
                          </m:sub>
                        </m:sSub>
                      </m:sup>
                    </m:sSup>
                  </m:oMath>
                </a14:m>
                <a:endParaRPr kumimoji="0" lang="zh-CN" altLang="en-US" sz="1200" b="1" i="0" u="none" strike="noStrike" kern="0" cap="none" spc="0" normalizeH="0" baseline="0" noProof="0" dirty="0">
                  <a:ln>
                    <a:noFill/>
                  </a:ln>
                  <a:solidFill>
                    <a:srgbClr val="E9002F"/>
                  </a:solidFill>
                  <a:effectLst/>
                  <a:uLnTx/>
                  <a:uFillTx/>
                  <a:latin typeface="等线" panose="02010600030101010101" pitchFamily="2" charset="-122"/>
                </a:endParaRPr>
              </a:p>
            </p:txBody>
          </p:sp>
        </mc:Choice>
        <mc:Fallback xmlns="">
          <p:sp>
            <p:nvSpPr>
              <p:cNvPr id="146" name="文本框 145">
                <a:extLst>
                  <a:ext uri="{FF2B5EF4-FFF2-40B4-BE49-F238E27FC236}">
                    <a16:creationId xmlns:a16="http://schemas.microsoft.com/office/drawing/2014/main" id="{E839D800-5B39-BFF1-8BC0-453BB6224E67}"/>
                  </a:ext>
                </a:extLst>
              </p:cNvPr>
              <p:cNvSpPr txBox="1">
                <a:spLocks noRot="1" noChangeAspect="1" noMove="1" noResize="1" noEditPoints="1" noAdjustHandles="1" noChangeArrowheads="1" noChangeShapeType="1" noTextEdit="1"/>
              </p:cNvSpPr>
              <p:nvPr/>
            </p:nvSpPr>
            <p:spPr>
              <a:xfrm>
                <a:off x="7319366" y="3936578"/>
                <a:ext cx="2900704" cy="322855"/>
              </a:xfrm>
              <a:prstGeom prst="roundRect">
                <a:avLst/>
              </a:prstGeom>
              <a:blipFill>
                <a:blip r:embed="rId5"/>
                <a:stretch>
                  <a:fillRect b="-7273"/>
                </a:stretch>
              </a:blipFill>
              <a:ln w="9525">
                <a:solidFill>
                  <a:sysClr val="windowText" lastClr="000000"/>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7" name="文本框 146">
                <a:extLst>
                  <a:ext uri="{FF2B5EF4-FFF2-40B4-BE49-F238E27FC236}">
                    <a16:creationId xmlns:a16="http://schemas.microsoft.com/office/drawing/2014/main" id="{7D62AA4F-9B14-EB32-B8D3-D7A4AA65691C}"/>
                  </a:ext>
                </a:extLst>
              </p:cNvPr>
              <p:cNvSpPr txBox="1"/>
              <p:nvPr/>
            </p:nvSpPr>
            <p:spPr>
              <a:xfrm>
                <a:off x="7319366" y="4360325"/>
                <a:ext cx="2900704" cy="322855"/>
              </a:xfrm>
              <a:prstGeom prst="roundRect">
                <a:avLst/>
              </a:prstGeom>
              <a:noFill/>
              <a:ln w="9525">
                <a:solidFill>
                  <a:sysClr val="windowText" lastClr="000000"/>
                </a:solidFill>
                <a:prstDash val="dash"/>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E9002F"/>
                    </a:solidFill>
                    <a:effectLst/>
                    <a:uLnTx/>
                    <a:uFillTx/>
                    <a:latin typeface="等线" panose="02010600030101010101" pitchFamily="2" charset="-122"/>
                  </a:rPr>
                  <a:t>多层级时空特征 </a:t>
                </a:r>
                <a14:m>
                  <m:oMath xmlns:m="http://schemas.openxmlformats.org/officeDocument/2006/math">
                    <m:sSubSup>
                      <m:sSubSupPr>
                        <m:ctrlP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ctrlPr>
                      </m:sSubSupPr>
                      <m:e>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𝑭𝒄</m:t>
                        </m:r>
                      </m:e>
                      <m:sub>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𝒅</m:t>
                        </m:r>
                      </m:sub>
                      <m:sup>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𝑻</m:t>
                        </m:r>
                      </m:sup>
                    </m:sSubSup>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m:t>
                    </m:r>
                    <m:sSup>
                      <m:sSupPr>
                        <m:ctrlP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ctrlPr>
                      </m:sSupPr>
                      <m:e>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ℝ</m:t>
                        </m:r>
                      </m:e>
                      <m:sup>
                        <m:sSub>
                          <m:sSubPr>
                            <m:ctrlP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ctrlPr>
                          </m:sSubPr>
                          <m:e>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𝒅</m:t>
                            </m:r>
                          </m:e>
                          <m:sub>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𝒄</m:t>
                            </m:r>
                          </m:sub>
                        </m:sSub>
                      </m:sup>
                    </m:sSup>
                  </m:oMath>
                </a14:m>
                <a:endParaRPr kumimoji="0" lang="zh-CN" altLang="en-US" sz="1200" b="1" i="0" u="none" strike="noStrike" kern="0" cap="none" spc="0" normalizeH="0" baseline="0" noProof="0" dirty="0">
                  <a:ln>
                    <a:noFill/>
                  </a:ln>
                  <a:solidFill>
                    <a:srgbClr val="E9002F"/>
                  </a:solidFill>
                  <a:effectLst/>
                  <a:uLnTx/>
                  <a:uFillTx/>
                  <a:latin typeface="等线" panose="02010600030101010101" pitchFamily="2" charset="-122"/>
                </a:endParaRPr>
              </a:p>
            </p:txBody>
          </p:sp>
        </mc:Choice>
        <mc:Fallback xmlns="">
          <p:sp>
            <p:nvSpPr>
              <p:cNvPr id="147" name="文本框 146">
                <a:extLst>
                  <a:ext uri="{FF2B5EF4-FFF2-40B4-BE49-F238E27FC236}">
                    <a16:creationId xmlns:a16="http://schemas.microsoft.com/office/drawing/2014/main" id="{7D62AA4F-9B14-EB32-B8D3-D7A4AA65691C}"/>
                  </a:ext>
                </a:extLst>
              </p:cNvPr>
              <p:cNvSpPr txBox="1">
                <a:spLocks noRot="1" noChangeAspect="1" noMove="1" noResize="1" noEditPoints="1" noAdjustHandles="1" noChangeArrowheads="1" noChangeShapeType="1" noTextEdit="1"/>
              </p:cNvSpPr>
              <p:nvPr/>
            </p:nvSpPr>
            <p:spPr>
              <a:xfrm>
                <a:off x="7319366" y="4360325"/>
                <a:ext cx="2900704" cy="322855"/>
              </a:xfrm>
              <a:prstGeom prst="roundRect">
                <a:avLst/>
              </a:prstGeom>
              <a:blipFill>
                <a:blip r:embed="rId6"/>
                <a:stretch>
                  <a:fillRect b="-9091"/>
                </a:stretch>
              </a:blipFill>
              <a:ln w="9525">
                <a:solidFill>
                  <a:sysClr val="windowText" lastClr="000000"/>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8" name="文本框 147">
                <a:extLst>
                  <a:ext uri="{FF2B5EF4-FFF2-40B4-BE49-F238E27FC236}">
                    <a16:creationId xmlns:a16="http://schemas.microsoft.com/office/drawing/2014/main" id="{9353C55C-8925-D52C-35A3-D046F4E69A04}"/>
                  </a:ext>
                </a:extLst>
              </p:cNvPr>
              <p:cNvSpPr txBox="1"/>
              <p:nvPr/>
            </p:nvSpPr>
            <p:spPr>
              <a:xfrm>
                <a:off x="7319366" y="4784071"/>
                <a:ext cx="2914239" cy="306467"/>
              </a:xfrm>
              <a:prstGeom prst="roundRect">
                <a:avLst/>
              </a:prstGeom>
              <a:noFill/>
              <a:ln w="9525">
                <a:solidFill>
                  <a:sysClr val="windowText" lastClr="000000"/>
                </a:solidFill>
                <a:prstDash val="dash"/>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6D4298"/>
                    </a:solidFill>
                    <a:effectLst/>
                    <a:uLnTx/>
                    <a:uFillTx/>
                    <a:latin typeface="等线" panose="02010600030101010101" pitchFamily="2" charset="-122"/>
                  </a:rPr>
                  <a:t>属性特征</a:t>
                </a:r>
                <a:r>
                  <a:rPr kumimoji="0" lang="en-US" altLang="zh-CN" sz="1200" b="1" i="0" u="none" strike="noStrike" kern="0" cap="none" spc="0" normalizeH="0" baseline="0" noProof="0" dirty="0">
                    <a:ln>
                      <a:noFill/>
                    </a:ln>
                    <a:solidFill>
                      <a:srgbClr val="6D4298"/>
                    </a:solidFill>
                    <a:effectLst/>
                    <a:uLnTx/>
                    <a:uFillTx/>
                    <a:latin typeface="等线" panose="02010600030101010101" pitchFamily="2" charset="-122"/>
                  </a:rPr>
                  <a:t> </a:t>
                </a:r>
                <a14:m>
                  <m:oMath xmlns:m="http://schemas.openxmlformats.org/officeDocument/2006/math">
                    <m:sSub>
                      <m:sSubPr>
                        <m:ctrlPr>
                          <a:rPr kumimoji="0" lang="en-US" altLang="zh-CN" sz="1200" b="1" i="1" u="none" strike="noStrike" kern="0" cap="none" spc="0" normalizeH="0" baseline="0" noProof="0" smtClean="0">
                            <a:ln>
                              <a:noFill/>
                            </a:ln>
                            <a:solidFill>
                              <a:srgbClr val="6D4298"/>
                            </a:solidFill>
                            <a:effectLst/>
                            <a:uLnTx/>
                            <a:uFillTx/>
                            <a:latin typeface="Cambria Math" panose="02040503050406030204" pitchFamily="18" charset="0"/>
                          </a:rPr>
                        </m:ctrlPr>
                      </m:sSubPr>
                      <m:e>
                        <m:r>
                          <a:rPr kumimoji="0" lang="en-US" altLang="zh-CN" sz="1200" b="1" i="1" u="none" strike="noStrike" kern="0" cap="none" spc="0" normalizeH="0" baseline="0" noProof="0" smtClean="0">
                            <a:ln>
                              <a:noFill/>
                            </a:ln>
                            <a:solidFill>
                              <a:srgbClr val="6D4298"/>
                            </a:solidFill>
                            <a:effectLst/>
                            <a:uLnTx/>
                            <a:uFillTx/>
                            <a:latin typeface="Cambria Math" panose="02040503050406030204" pitchFamily="18" charset="0"/>
                          </a:rPr>
                          <m:t>𝑺</m:t>
                        </m:r>
                      </m:e>
                      <m:sub>
                        <m:r>
                          <a:rPr kumimoji="0" lang="en-US" altLang="zh-CN" sz="1200" b="1" i="1" u="none" strike="noStrike" kern="0" cap="none" spc="0" normalizeH="0" baseline="0" noProof="0" smtClean="0">
                            <a:ln>
                              <a:noFill/>
                            </a:ln>
                            <a:solidFill>
                              <a:srgbClr val="6D4298"/>
                            </a:solidFill>
                            <a:effectLst/>
                            <a:uLnTx/>
                            <a:uFillTx/>
                            <a:latin typeface="Cambria Math" panose="02040503050406030204" pitchFamily="18" charset="0"/>
                          </a:rPr>
                          <m:t>𝒅</m:t>
                        </m:r>
                      </m:sub>
                    </m:sSub>
                  </m:oMath>
                </a14:m>
                <a:endParaRPr kumimoji="0" lang="zh-CN" altLang="en-US" sz="1200" b="1" i="0" u="none" strike="noStrike" kern="0" cap="none" spc="0" normalizeH="0" baseline="0" noProof="0" dirty="0">
                  <a:ln>
                    <a:noFill/>
                  </a:ln>
                  <a:solidFill>
                    <a:srgbClr val="6D4298"/>
                  </a:solidFill>
                  <a:effectLst/>
                  <a:uLnTx/>
                  <a:uFillTx/>
                  <a:latin typeface="等线" panose="02010600030101010101" pitchFamily="2" charset="-122"/>
                </a:endParaRPr>
              </a:p>
            </p:txBody>
          </p:sp>
        </mc:Choice>
        <mc:Fallback xmlns="">
          <p:sp>
            <p:nvSpPr>
              <p:cNvPr id="148" name="文本框 147">
                <a:extLst>
                  <a:ext uri="{FF2B5EF4-FFF2-40B4-BE49-F238E27FC236}">
                    <a16:creationId xmlns:a16="http://schemas.microsoft.com/office/drawing/2014/main" id="{9353C55C-8925-D52C-35A3-D046F4E69A04}"/>
                  </a:ext>
                </a:extLst>
              </p:cNvPr>
              <p:cNvSpPr txBox="1">
                <a:spLocks noRot="1" noChangeAspect="1" noMove="1" noResize="1" noEditPoints="1" noAdjustHandles="1" noChangeArrowheads="1" noChangeShapeType="1" noTextEdit="1"/>
              </p:cNvSpPr>
              <p:nvPr/>
            </p:nvSpPr>
            <p:spPr>
              <a:xfrm>
                <a:off x="7319366" y="4784071"/>
                <a:ext cx="2914239" cy="306467"/>
              </a:xfrm>
              <a:prstGeom prst="roundRect">
                <a:avLst/>
              </a:prstGeom>
              <a:blipFill>
                <a:blip r:embed="rId7"/>
                <a:stretch>
                  <a:fillRect b="-7692"/>
                </a:stretch>
              </a:blipFill>
              <a:ln w="9525">
                <a:solidFill>
                  <a:sysClr val="windowText" lastClr="000000"/>
                </a:solidFill>
                <a:prstDash val="dash"/>
              </a:ln>
            </p:spPr>
            <p:txBody>
              <a:bodyPr/>
              <a:lstStyle/>
              <a:p>
                <a:r>
                  <a:rPr lang="zh-CN" altLang="en-US">
                    <a:noFill/>
                  </a:rPr>
                  <a:t> </a:t>
                </a:r>
              </a:p>
            </p:txBody>
          </p:sp>
        </mc:Fallback>
      </mc:AlternateContent>
      <p:cxnSp>
        <p:nvCxnSpPr>
          <p:cNvPr id="149" name="连接符: 肘形 148">
            <a:extLst>
              <a:ext uri="{FF2B5EF4-FFF2-40B4-BE49-F238E27FC236}">
                <a16:creationId xmlns:a16="http://schemas.microsoft.com/office/drawing/2014/main" id="{26D547AF-476B-CAEC-9A6D-2D84428DB348}"/>
              </a:ext>
            </a:extLst>
          </p:cNvPr>
          <p:cNvCxnSpPr>
            <a:cxnSpLocks/>
            <a:stCxn id="148" idx="3"/>
            <a:endCxn id="144" idx="1"/>
          </p:cNvCxnSpPr>
          <p:nvPr/>
        </p:nvCxnSpPr>
        <p:spPr>
          <a:xfrm flipV="1">
            <a:off x="10233605" y="4524772"/>
            <a:ext cx="801569" cy="412533"/>
          </a:xfrm>
          <a:prstGeom prst="bentConnector3">
            <a:avLst>
              <a:gd name="adj1" fmla="val 50000"/>
            </a:avLst>
          </a:prstGeom>
          <a:noFill/>
          <a:ln w="9525" cap="flat" cmpd="sng" algn="ctr">
            <a:solidFill>
              <a:sysClr val="windowText" lastClr="000000"/>
            </a:solidFill>
            <a:prstDash val="solid"/>
            <a:miter lim="800000"/>
            <a:tailEnd type="triangle"/>
          </a:ln>
          <a:effectLst/>
        </p:spPr>
      </p:cxnSp>
      <p:cxnSp>
        <p:nvCxnSpPr>
          <p:cNvPr id="150" name="连接符: 肘形 149">
            <a:extLst>
              <a:ext uri="{FF2B5EF4-FFF2-40B4-BE49-F238E27FC236}">
                <a16:creationId xmlns:a16="http://schemas.microsoft.com/office/drawing/2014/main" id="{7B5E9164-8139-90AC-6F16-3A58EB2FB668}"/>
              </a:ext>
            </a:extLst>
          </p:cNvPr>
          <p:cNvCxnSpPr>
            <a:cxnSpLocks/>
            <a:stCxn id="146" idx="3"/>
            <a:endCxn id="144" idx="1"/>
          </p:cNvCxnSpPr>
          <p:nvPr/>
        </p:nvCxnSpPr>
        <p:spPr>
          <a:xfrm>
            <a:off x="10220070" y="4098006"/>
            <a:ext cx="815104" cy="426766"/>
          </a:xfrm>
          <a:prstGeom prst="bentConnector3">
            <a:avLst>
              <a:gd name="adj1" fmla="val 50000"/>
            </a:avLst>
          </a:prstGeom>
          <a:noFill/>
          <a:ln w="9525" cap="flat" cmpd="sng" algn="ctr">
            <a:solidFill>
              <a:sysClr val="windowText" lastClr="000000"/>
            </a:solidFill>
            <a:prstDash val="solid"/>
            <a:miter lim="800000"/>
            <a:tailEnd type="triangle"/>
          </a:ln>
          <a:effectLst/>
        </p:spPr>
      </p:cxnSp>
      <p:cxnSp>
        <p:nvCxnSpPr>
          <p:cNvPr id="151" name="直接箭头连接符 150">
            <a:extLst>
              <a:ext uri="{FF2B5EF4-FFF2-40B4-BE49-F238E27FC236}">
                <a16:creationId xmlns:a16="http://schemas.microsoft.com/office/drawing/2014/main" id="{908BBA8B-3E01-3C22-CDA6-7FA0E84B3AD5}"/>
              </a:ext>
            </a:extLst>
          </p:cNvPr>
          <p:cNvCxnSpPr>
            <a:cxnSpLocks/>
            <a:stCxn id="147" idx="3"/>
            <a:endCxn id="144" idx="1"/>
          </p:cNvCxnSpPr>
          <p:nvPr/>
        </p:nvCxnSpPr>
        <p:spPr>
          <a:xfrm>
            <a:off x="10220070" y="4521753"/>
            <a:ext cx="815104" cy="3019"/>
          </a:xfrm>
          <a:prstGeom prst="straightConnector1">
            <a:avLst/>
          </a:prstGeom>
          <a:noFill/>
          <a:ln w="9525" cap="flat" cmpd="sng" algn="ctr">
            <a:solidFill>
              <a:sysClr val="windowText" lastClr="000000"/>
            </a:solidFill>
            <a:prstDash val="solid"/>
            <a:miter lim="800000"/>
            <a:headEnd w="med" len="sm"/>
            <a:tailEnd type="triangle" w="sm" len="med"/>
          </a:ln>
          <a:effectLst/>
        </p:spPr>
      </p:cxnSp>
      <mc:AlternateContent xmlns:mc="http://schemas.openxmlformats.org/markup-compatibility/2006" xmlns:a14="http://schemas.microsoft.com/office/drawing/2010/main">
        <mc:Choice Requires="a14">
          <p:sp>
            <p:nvSpPr>
              <p:cNvPr id="163" name="文本框 162">
                <a:extLst>
                  <a:ext uri="{FF2B5EF4-FFF2-40B4-BE49-F238E27FC236}">
                    <a16:creationId xmlns:a16="http://schemas.microsoft.com/office/drawing/2014/main" id="{68481ADF-DBD7-5CC2-226A-5DD906EEF30F}"/>
                  </a:ext>
                </a:extLst>
              </p:cNvPr>
              <p:cNvSpPr txBox="1"/>
              <p:nvPr/>
            </p:nvSpPr>
            <p:spPr>
              <a:xfrm>
                <a:off x="3188352" y="2060255"/>
                <a:ext cx="2186363" cy="523220"/>
              </a:xfrm>
              <a:prstGeom prst="rect">
                <a:avLst/>
              </a:prstGeom>
              <a:noFill/>
            </p:spPr>
            <p:txBody>
              <a:bodyPr wrap="square">
                <a:spAutoFit/>
              </a:bodyPr>
              <a:lstStyle/>
              <a:p>
                <a:pPr algn="ctr"/>
                <a:r>
                  <a:rPr lang="en-US" altLang="zh-CN" sz="1400" i="1" dirty="0">
                    <a:solidFill>
                      <a:schemeClr val="accent1"/>
                    </a:solidFill>
                    <a:latin typeface="Cambria Math" panose="02040503050406030204" pitchFamily="18" charset="0"/>
                  </a:rPr>
                  <a:t>ith CE</a:t>
                </a:r>
              </a:p>
              <a:p>
                <a:pPr algn="ctr"/>
                <a14:m>
                  <m:oMathPara xmlns:m="http://schemas.openxmlformats.org/officeDocument/2006/math">
                    <m:oMathParaPr>
                      <m:jc m:val="centerGroup"/>
                    </m:oMathParaPr>
                    <m:oMath xmlns:m="http://schemas.openxmlformats.org/officeDocument/2006/math">
                      <m:sSub>
                        <m:sSubPr>
                          <m:ctrlPr>
                            <a:rPr lang="en-US" altLang="zh-CN" sz="1400" i="1" dirty="0" smtClean="0">
                              <a:solidFill>
                                <a:schemeClr val="accent1"/>
                              </a:solidFill>
                              <a:latin typeface="Cambria Math" panose="02040503050406030204" pitchFamily="18" charset="0"/>
                            </a:rPr>
                          </m:ctrlPr>
                        </m:sSubPr>
                        <m:e>
                          <m:r>
                            <a:rPr lang="en-US" altLang="zh-CN" sz="1400" i="1" dirty="0" smtClean="0">
                              <a:solidFill>
                                <a:schemeClr val="accent1"/>
                              </a:solidFill>
                              <a:latin typeface="Cambria Math" panose="02040503050406030204" pitchFamily="18" charset="0"/>
                            </a:rPr>
                            <m:t>𝑡</m:t>
                          </m:r>
                        </m:e>
                        <m:sub>
                          <m:r>
                            <a:rPr lang="en-US" altLang="zh-CN" sz="1400" i="1" dirty="0" smtClean="0">
                              <a:solidFill>
                                <a:schemeClr val="accent1"/>
                              </a:solidFill>
                              <a:latin typeface="Cambria Math" panose="02040503050406030204" pitchFamily="18" charset="0"/>
                            </a:rPr>
                            <m:t>𝑖</m:t>
                          </m:r>
                        </m:sub>
                      </m:sSub>
                    </m:oMath>
                  </m:oMathPara>
                </a14:m>
                <a:endParaRPr lang="zh-CN" altLang="en-US" sz="1400" i="1" dirty="0">
                  <a:solidFill>
                    <a:schemeClr val="accent1"/>
                  </a:solidFill>
                </a:endParaRPr>
              </a:p>
            </p:txBody>
          </p:sp>
        </mc:Choice>
        <mc:Fallback xmlns="">
          <p:sp>
            <p:nvSpPr>
              <p:cNvPr id="163" name="文本框 162">
                <a:extLst>
                  <a:ext uri="{FF2B5EF4-FFF2-40B4-BE49-F238E27FC236}">
                    <a16:creationId xmlns:a16="http://schemas.microsoft.com/office/drawing/2014/main" id="{68481ADF-DBD7-5CC2-226A-5DD906EEF30F}"/>
                  </a:ext>
                </a:extLst>
              </p:cNvPr>
              <p:cNvSpPr txBox="1">
                <a:spLocks noRot="1" noChangeAspect="1" noMove="1" noResize="1" noEditPoints="1" noAdjustHandles="1" noChangeArrowheads="1" noChangeShapeType="1" noTextEdit="1"/>
              </p:cNvSpPr>
              <p:nvPr/>
            </p:nvSpPr>
            <p:spPr>
              <a:xfrm>
                <a:off x="3188352" y="2060255"/>
                <a:ext cx="2186363" cy="523220"/>
              </a:xfrm>
              <a:prstGeom prst="rect">
                <a:avLst/>
              </a:prstGeom>
              <a:blipFill>
                <a:blip r:embed="rId8"/>
                <a:stretch>
                  <a:fillRect t="-3488"/>
                </a:stretch>
              </a:blipFill>
            </p:spPr>
            <p:txBody>
              <a:bodyPr/>
              <a:lstStyle/>
              <a:p>
                <a:r>
                  <a:rPr lang="zh-CN" altLang="en-US">
                    <a:noFill/>
                  </a:rPr>
                  <a:t> </a:t>
                </a:r>
              </a:p>
            </p:txBody>
          </p:sp>
        </mc:Fallback>
      </mc:AlternateContent>
      <p:cxnSp>
        <p:nvCxnSpPr>
          <p:cNvPr id="164" name="直接箭头连接符 163">
            <a:extLst>
              <a:ext uri="{FF2B5EF4-FFF2-40B4-BE49-F238E27FC236}">
                <a16:creationId xmlns:a16="http://schemas.microsoft.com/office/drawing/2014/main" id="{C58FA752-8F0B-6FD3-E5EB-6B63D48415B2}"/>
              </a:ext>
            </a:extLst>
          </p:cNvPr>
          <p:cNvCxnSpPr/>
          <p:nvPr/>
        </p:nvCxnSpPr>
        <p:spPr>
          <a:xfrm>
            <a:off x="1494578" y="2841621"/>
            <a:ext cx="1000664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67AB6A4D-565F-E3B4-B53E-A1DF34FA2B28}"/>
              </a:ext>
            </a:extLst>
          </p:cNvPr>
          <p:cNvCxnSpPr>
            <a:cxnSpLocks/>
          </p:cNvCxnSpPr>
          <p:nvPr/>
        </p:nvCxnSpPr>
        <p:spPr>
          <a:xfrm>
            <a:off x="4694978" y="2047991"/>
            <a:ext cx="0" cy="7936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6" name="文本框 165">
            <a:extLst>
              <a:ext uri="{FF2B5EF4-FFF2-40B4-BE49-F238E27FC236}">
                <a16:creationId xmlns:a16="http://schemas.microsoft.com/office/drawing/2014/main" id="{37F6D9DF-0486-0A1E-5F33-5665A77C30A8}"/>
              </a:ext>
            </a:extLst>
          </p:cNvPr>
          <p:cNvSpPr txBox="1"/>
          <p:nvPr/>
        </p:nvSpPr>
        <p:spPr>
          <a:xfrm>
            <a:off x="4136418" y="1644159"/>
            <a:ext cx="1117120" cy="369332"/>
          </a:xfrm>
          <a:prstGeom prst="rect">
            <a:avLst/>
          </a:prstGeom>
          <a:noFill/>
        </p:spPr>
        <p:txBody>
          <a:bodyPr wrap="square">
            <a:spAutoFit/>
          </a:bodyPr>
          <a:lstStyle/>
          <a:p>
            <a:pPr algn="ctr"/>
            <a:r>
              <a:rPr lang="en-US" altLang="zh-CN" sz="1800" dirty="0">
                <a:latin typeface="+mn-ea"/>
              </a:rPr>
              <a:t>Present</a:t>
            </a:r>
            <a:endParaRPr lang="zh-CN" altLang="en-US" dirty="0"/>
          </a:p>
        </p:txBody>
      </p:sp>
      <p:sp>
        <p:nvSpPr>
          <p:cNvPr id="167" name="文本框 166">
            <a:extLst>
              <a:ext uri="{FF2B5EF4-FFF2-40B4-BE49-F238E27FC236}">
                <a16:creationId xmlns:a16="http://schemas.microsoft.com/office/drawing/2014/main" id="{9DBA1C92-A17F-679C-EBF0-06748E643E73}"/>
              </a:ext>
            </a:extLst>
          </p:cNvPr>
          <p:cNvSpPr txBox="1"/>
          <p:nvPr/>
        </p:nvSpPr>
        <p:spPr>
          <a:xfrm>
            <a:off x="2452788" y="1644159"/>
            <a:ext cx="1117120" cy="369332"/>
          </a:xfrm>
          <a:prstGeom prst="rect">
            <a:avLst/>
          </a:prstGeom>
          <a:noFill/>
        </p:spPr>
        <p:txBody>
          <a:bodyPr wrap="square">
            <a:spAutoFit/>
          </a:bodyPr>
          <a:lstStyle/>
          <a:p>
            <a:pPr algn="ctr"/>
            <a:r>
              <a:rPr lang="en-US" altLang="zh-CN" sz="1800" dirty="0">
                <a:latin typeface="+mn-ea"/>
              </a:rPr>
              <a:t>Past</a:t>
            </a:r>
            <a:endParaRPr lang="zh-CN" altLang="en-US" dirty="0"/>
          </a:p>
        </p:txBody>
      </p:sp>
      <p:sp>
        <p:nvSpPr>
          <p:cNvPr id="168" name="文本框 167">
            <a:extLst>
              <a:ext uri="{FF2B5EF4-FFF2-40B4-BE49-F238E27FC236}">
                <a16:creationId xmlns:a16="http://schemas.microsoft.com/office/drawing/2014/main" id="{009CD8F7-E5BF-E875-C970-2EA2CB7FAE14}"/>
              </a:ext>
            </a:extLst>
          </p:cNvPr>
          <p:cNvSpPr txBox="1"/>
          <p:nvPr/>
        </p:nvSpPr>
        <p:spPr>
          <a:xfrm>
            <a:off x="7282827" y="1644159"/>
            <a:ext cx="1117120" cy="369332"/>
          </a:xfrm>
          <a:prstGeom prst="rect">
            <a:avLst/>
          </a:prstGeom>
          <a:noFill/>
        </p:spPr>
        <p:txBody>
          <a:bodyPr wrap="square">
            <a:spAutoFit/>
          </a:bodyPr>
          <a:lstStyle/>
          <a:p>
            <a:pPr algn="ctr"/>
            <a:r>
              <a:rPr lang="en-US" altLang="zh-CN" sz="1800" dirty="0">
                <a:latin typeface="+mn-ea"/>
              </a:rPr>
              <a:t>Future</a:t>
            </a:r>
            <a:endParaRPr lang="zh-CN" altLang="en-US" dirty="0"/>
          </a:p>
        </p:txBody>
      </p:sp>
      <p:grpSp>
        <p:nvGrpSpPr>
          <p:cNvPr id="169" name="组合 168">
            <a:extLst>
              <a:ext uri="{FF2B5EF4-FFF2-40B4-BE49-F238E27FC236}">
                <a16:creationId xmlns:a16="http://schemas.microsoft.com/office/drawing/2014/main" id="{F7330BAA-48A9-8608-C81C-2D6051FB93EB}"/>
              </a:ext>
            </a:extLst>
          </p:cNvPr>
          <p:cNvGrpSpPr/>
          <p:nvPr/>
        </p:nvGrpSpPr>
        <p:grpSpPr>
          <a:xfrm>
            <a:off x="2429930" y="2384426"/>
            <a:ext cx="8310927" cy="457195"/>
            <a:chOff x="1867005" y="1811547"/>
            <a:chExt cx="8310927" cy="457195"/>
          </a:xfrm>
        </p:grpSpPr>
        <p:cxnSp>
          <p:nvCxnSpPr>
            <p:cNvPr id="170" name="直接连接符 169">
              <a:extLst>
                <a:ext uri="{FF2B5EF4-FFF2-40B4-BE49-F238E27FC236}">
                  <a16:creationId xmlns:a16="http://schemas.microsoft.com/office/drawing/2014/main" id="{BE0717A1-0EDC-70A7-0C83-CD55E6271B89}"/>
                </a:ext>
              </a:extLst>
            </p:cNvPr>
            <p:cNvCxnSpPr>
              <a:cxnSpLocks/>
            </p:cNvCxnSpPr>
            <p:nvPr/>
          </p:nvCxnSpPr>
          <p:spPr>
            <a:xfrm>
              <a:off x="5644700"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接连接符 170">
              <a:extLst>
                <a:ext uri="{FF2B5EF4-FFF2-40B4-BE49-F238E27FC236}">
                  <a16:creationId xmlns:a16="http://schemas.microsoft.com/office/drawing/2014/main" id="{8CDD0D43-14AC-D741-49B6-5C3A9CF1ADB6}"/>
                </a:ext>
              </a:extLst>
            </p:cNvPr>
            <p:cNvCxnSpPr>
              <a:cxnSpLocks/>
            </p:cNvCxnSpPr>
            <p:nvPr/>
          </p:nvCxnSpPr>
          <p:spPr>
            <a:xfrm>
              <a:off x="6400239"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3E5BA29B-94E6-04E0-9FF4-AF7C37B88EE0}"/>
                </a:ext>
              </a:extLst>
            </p:cNvPr>
            <p:cNvCxnSpPr>
              <a:cxnSpLocks/>
            </p:cNvCxnSpPr>
            <p:nvPr/>
          </p:nvCxnSpPr>
          <p:spPr>
            <a:xfrm>
              <a:off x="7155778"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A44CB342-2EC3-6C99-D8AD-2F78F3C37669}"/>
                </a:ext>
              </a:extLst>
            </p:cNvPr>
            <p:cNvCxnSpPr>
              <a:cxnSpLocks/>
            </p:cNvCxnSpPr>
            <p:nvPr/>
          </p:nvCxnSpPr>
          <p:spPr>
            <a:xfrm>
              <a:off x="7911317"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7E174115-1642-986C-E3AB-4EE3BE917B2E}"/>
                </a:ext>
              </a:extLst>
            </p:cNvPr>
            <p:cNvCxnSpPr>
              <a:cxnSpLocks/>
            </p:cNvCxnSpPr>
            <p:nvPr/>
          </p:nvCxnSpPr>
          <p:spPr>
            <a:xfrm>
              <a:off x="8666856"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2E7C3696-7FB3-EE67-ADC5-E97BFCEC2EEB}"/>
                </a:ext>
              </a:extLst>
            </p:cNvPr>
            <p:cNvCxnSpPr>
              <a:cxnSpLocks/>
            </p:cNvCxnSpPr>
            <p:nvPr/>
          </p:nvCxnSpPr>
          <p:spPr>
            <a:xfrm>
              <a:off x="9422395"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4B6F408B-A6C3-1AB0-0529-64A9C609FD80}"/>
                </a:ext>
              </a:extLst>
            </p:cNvPr>
            <p:cNvCxnSpPr>
              <a:cxnSpLocks/>
            </p:cNvCxnSpPr>
            <p:nvPr/>
          </p:nvCxnSpPr>
          <p:spPr>
            <a:xfrm>
              <a:off x="4133622"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4AF5387E-7045-DDA8-04CA-69BE2554677C}"/>
                </a:ext>
              </a:extLst>
            </p:cNvPr>
            <p:cNvCxnSpPr>
              <a:cxnSpLocks/>
            </p:cNvCxnSpPr>
            <p:nvPr/>
          </p:nvCxnSpPr>
          <p:spPr>
            <a:xfrm>
              <a:off x="4889161"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D9CC8D89-86B5-0322-284F-372927B8E1F4}"/>
                </a:ext>
              </a:extLst>
            </p:cNvPr>
            <p:cNvCxnSpPr>
              <a:cxnSpLocks/>
            </p:cNvCxnSpPr>
            <p:nvPr/>
          </p:nvCxnSpPr>
          <p:spPr>
            <a:xfrm>
              <a:off x="3378083"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28C04B56-80FC-7E1C-E32A-62D95067E8D9}"/>
                </a:ext>
              </a:extLst>
            </p:cNvPr>
            <p:cNvCxnSpPr>
              <a:cxnSpLocks/>
            </p:cNvCxnSpPr>
            <p:nvPr/>
          </p:nvCxnSpPr>
          <p:spPr>
            <a:xfrm>
              <a:off x="2622544"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8244F1FE-8815-3AB3-301B-25DB3808B425}"/>
                </a:ext>
              </a:extLst>
            </p:cNvPr>
            <p:cNvCxnSpPr>
              <a:cxnSpLocks/>
            </p:cNvCxnSpPr>
            <p:nvPr/>
          </p:nvCxnSpPr>
          <p:spPr>
            <a:xfrm>
              <a:off x="1867005"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6BEC8A0D-B87A-7E2C-1094-D6E222272988}"/>
                </a:ext>
              </a:extLst>
            </p:cNvPr>
            <p:cNvCxnSpPr>
              <a:cxnSpLocks/>
            </p:cNvCxnSpPr>
            <p:nvPr/>
          </p:nvCxnSpPr>
          <p:spPr>
            <a:xfrm>
              <a:off x="10177932" y="1811547"/>
              <a:ext cx="0" cy="45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2" name="直接箭头连接符 181">
            <a:extLst>
              <a:ext uri="{FF2B5EF4-FFF2-40B4-BE49-F238E27FC236}">
                <a16:creationId xmlns:a16="http://schemas.microsoft.com/office/drawing/2014/main" id="{5230B22B-EEC8-F4A1-7BA0-5784BE420A0F}"/>
              </a:ext>
            </a:extLst>
          </p:cNvPr>
          <p:cNvCxnSpPr>
            <a:cxnSpLocks/>
          </p:cNvCxnSpPr>
          <p:nvPr/>
        </p:nvCxnSpPr>
        <p:spPr>
          <a:xfrm>
            <a:off x="9985320" y="2315414"/>
            <a:ext cx="755537"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3" name="文本框 182">
                <a:extLst>
                  <a:ext uri="{FF2B5EF4-FFF2-40B4-BE49-F238E27FC236}">
                    <a16:creationId xmlns:a16="http://schemas.microsoft.com/office/drawing/2014/main" id="{1B6CEAB5-1147-365B-65E8-C1361211CD71}"/>
                  </a:ext>
                </a:extLst>
              </p:cNvPr>
              <p:cNvSpPr txBox="1"/>
              <p:nvPr/>
            </p:nvSpPr>
            <p:spPr>
              <a:xfrm>
                <a:off x="9269906" y="1768776"/>
                <a:ext cx="2186363" cy="539828"/>
              </a:xfrm>
              <a:prstGeom prst="rect">
                <a:avLst/>
              </a:prstGeom>
              <a:noFill/>
            </p:spPr>
            <p:txBody>
              <a:bodyPr wrap="square">
                <a:spAutoFit/>
              </a:bodyPr>
              <a:lstStyle/>
              <a:p>
                <a:pPr algn="ctr"/>
                <a:r>
                  <a:rPr lang="en-US" altLang="zh-CN" sz="1400" i="1" dirty="0">
                    <a:latin typeface="Cambria Math" panose="02040503050406030204" pitchFamily="18" charset="0"/>
                  </a:rPr>
                  <a:t>Prediction interval</a:t>
                </a:r>
              </a:p>
              <a:p>
                <a:pPr algn="ctr"/>
                <a14:m>
                  <m:oMathPara xmlns:m="http://schemas.openxmlformats.org/officeDocument/2006/math">
                    <m:oMathParaPr>
                      <m:jc m:val="centerGroup"/>
                    </m:oMathParaPr>
                    <m:oMath xmlns:m="http://schemas.openxmlformats.org/officeDocument/2006/math">
                      <m:r>
                        <a:rPr lang="en-US" altLang="zh-CN" sz="1400" i="1" dirty="0" smtClean="0">
                          <a:latin typeface="Cambria Math" panose="02040503050406030204" pitchFamily="18" charset="0"/>
                        </a:rPr>
                        <m:t>𝛥</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𝑡</m:t>
                          </m:r>
                        </m:e>
                        <m:sub>
                          <m:r>
                            <a:rPr lang="en-US" altLang="zh-CN" sz="1400" b="0" i="1" dirty="0" smtClean="0">
                              <a:latin typeface="Cambria Math" panose="02040503050406030204" pitchFamily="18" charset="0"/>
                            </a:rPr>
                            <m:t>𝑝𝑟𝑒𝑑</m:t>
                          </m:r>
                          <m:r>
                            <a:rPr lang="en-US" altLang="zh-CN" sz="1400" b="0" i="1" dirty="0" smtClean="0">
                              <a:latin typeface="Cambria Math" panose="02040503050406030204" pitchFamily="18" charset="0"/>
                            </a:rPr>
                            <m:t>_</m:t>
                          </m:r>
                          <m:r>
                            <a:rPr lang="en-US" altLang="zh-CN" sz="1400" b="0" i="1" dirty="0" smtClean="0">
                              <a:latin typeface="Cambria Math" panose="02040503050406030204" pitchFamily="18" charset="0"/>
                            </a:rPr>
                            <m:t>𝑖𝑛𝑡</m:t>
                          </m:r>
                        </m:sub>
                      </m:sSub>
                    </m:oMath>
                  </m:oMathPara>
                </a14:m>
                <a:endParaRPr lang="zh-CN" altLang="en-US" sz="1400" i="1" dirty="0"/>
              </a:p>
            </p:txBody>
          </p:sp>
        </mc:Choice>
        <mc:Fallback xmlns="">
          <p:sp>
            <p:nvSpPr>
              <p:cNvPr id="183" name="文本框 182">
                <a:extLst>
                  <a:ext uri="{FF2B5EF4-FFF2-40B4-BE49-F238E27FC236}">
                    <a16:creationId xmlns:a16="http://schemas.microsoft.com/office/drawing/2014/main" id="{1B6CEAB5-1147-365B-65E8-C1361211CD71}"/>
                  </a:ext>
                </a:extLst>
              </p:cNvPr>
              <p:cNvSpPr txBox="1">
                <a:spLocks noRot="1" noChangeAspect="1" noMove="1" noResize="1" noEditPoints="1" noAdjustHandles="1" noChangeArrowheads="1" noChangeShapeType="1" noTextEdit="1"/>
              </p:cNvSpPr>
              <p:nvPr/>
            </p:nvSpPr>
            <p:spPr>
              <a:xfrm>
                <a:off x="9269906" y="1768776"/>
                <a:ext cx="2186363" cy="539828"/>
              </a:xfrm>
              <a:prstGeom prst="rect">
                <a:avLst/>
              </a:prstGeom>
              <a:blipFill>
                <a:blip r:embed="rId9"/>
                <a:stretch>
                  <a:fillRect t="-3371" b="-1124"/>
                </a:stretch>
              </a:blipFill>
            </p:spPr>
            <p:txBody>
              <a:bodyPr/>
              <a:lstStyle/>
              <a:p>
                <a:r>
                  <a:rPr lang="zh-CN" altLang="en-US">
                    <a:noFill/>
                  </a:rPr>
                  <a:t> </a:t>
                </a:r>
              </a:p>
            </p:txBody>
          </p:sp>
        </mc:Fallback>
      </mc:AlternateContent>
      <p:sp>
        <p:nvSpPr>
          <p:cNvPr id="184" name="文本框 183">
            <a:extLst>
              <a:ext uri="{FF2B5EF4-FFF2-40B4-BE49-F238E27FC236}">
                <a16:creationId xmlns:a16="http://schemas.microsoft.com/office/drawing/2014/main" id="{A6424B39-7FBD-D1EC-8512-AFD4B29E9C9B}"/>
              </a:ext>
            </a:extLst>
          </p:cNvPr>
          <p:cNvSpPr txBox="1"/>
          <p:nvPr/>
        </p:nvSpPr>
        <p:spPr>
          <a:xfrm>
            <a:off x="322371" y="2607121"/>
            <a:ext cx="1117120" cy="369332"/>
          </a:xfrm>
          <a:prstGeom prst="rect">
            <a:avLst/>
          </a:prstGeom>
          <a:noFill/>
        </p:spPr>
        <p:txBody>
          <a:bodyPr wrap="square">
            <a:spAutoFit/>
          </a:bodyPr>
          <a:lstStyle/>
          <a:p>
            <a:pPr algn="ctr"/>
            <a:r>
              <a:rPr lang="en-US" altLang="zh-CN" sz="1800" dirty="0">
                <a:latin typeface="+mn-ea"/>
              </a:rPr>
              <a:t>SN_s</a:t>
            </a:r>
          </a:p>
        </p:txBody>
      </p:sp>
      <p:grpSp>
        <p:nvGrpSpPr>
          <p:cNvPr id="185" name="组合 184">
            <a:extLst>
              <a:ext uri="{FF2B5EF4-FFF2-40B4-BE49-F238E27FC236}">
                <a16:creationId xmlns:a16="http://schemas.microsoft.com/office/drawing/2014/main" id="{EF1D1D58-7724-8226-126F-75C575787AC9}"/>
              </a:ext>
            </a:extLst>
          </p:cNvPr>
          <p:cNvGrpSpPr/>
          <p:nvPr/>
        </p:nvGrpSpPr>
        <p:grpSpPr>
          <a:xfrm>
            <a:off x="1890405" y="2640653"/>
            <a:ext cx="7954388" cy="200968"/>
            <a:chOff x="1663909" y="2067774"/>
            <a:chExt cx="7954388" cy="200968"/>
          </a:xfrm>
        </p:grpSpPr>
        <p:sp>
          <p:nvSpPr>
            <p:cNvPr id="186" name="等腰三角形 185">
              <a:extLst>
                <a:ext uri="{FF2B5EF4-FFF2-40B4-BE49-F238E27FC236}">
                  <a16:creationId xmlns:a16="http://schemas.microsoft.com/office/drawing/2014/main" id="{4551BA9B-CF06-5C4E-748D-6EA929432B23}"/>
                </a:ext>
              </a:extLst>
            </p:cNvPr>
            <p:cNvSpPr/>
            <p:nvPr/>
          </p:nvSpPr>
          <p:spPr>
            <a:xfrm>
              <a:off x="1663909"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87" name="等腰三角形 186">
              <a:extLst>
                <a:ext uri="{FF2B5EF4-FFF2-40B4-BE49-F238E27FC236}">
                  <a16:creationId xmlns:a16="http://schemas.microsoft.com/office/drawing/2014/main" id="{4AD85904-0A0A-A04B-6B52-D8A9DCD056A4}"/>
                </a:ext>
              </a:extLst>
            </p:cNvPr>
            <p:cNvSpPr/>
            <p:nvPr/>
          </p:nvSpPr>
          <p:spPr>
            <a:xfrm>
              <a:off x="1974685"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88" name="等腰三角形 187">
              <a:extLst>
                <a:ext uri="{FF2B5EF4-FFF2-40B4-BE49-F238E27FC236}">
                  <a16:creationId xmlns:a16="http://schemas.microsoft.com/office/drawing/2014/main" id="{4DF37760-8E41-D0D4-C3FD-036ED7AF995F}"/>
                </a:ext>
              </a:extLst>
            </p:cNvPr>
            <p:cNvSpPr/>
            <p:nvPr/>
          </p:nvSpPr>
          <p:spPr>
            <a:xfrm>
              <a:off x="2452370"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89" name="等腰三角形 188">
              <a:extLst>
                <a:ext uri="{FF2B5EF4-FFF2-40B4-BE49-F238E27FC236}">
                  <a16:creationId xmlns:a16="http://schemas.microsoft.com/office/drawing/2014/main" id="{F8C07C28-F0CF-BFF0-732B-20F05D79EAEB}"/>
                </a:ext>
              </a:extLst>
            </p:cNvPr>
            <p:cNvSpPr/>
            <p:nvPr/>
          </p:nvSpPr>
          <p:spPr>
            <a:xfrm>
              <a:off x="3418838"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0" name="等腰三角形 189">
              <a:extLst>
                <a:ext uri="{FF2B5EF4-FFF2-40B4-BE49-F238E27FC236}">
                  <a16:creationId xmlns:a16="http://schemas.microsoft.com/office/drawing/2014/main" id="{D3014999-02BD-16AA-0A14-FC6D8244ADFD}"/>
                </a:ext>
              </a:extLst>
            </p:cNvPr>
            <p:cNvSpPr/>
            <p:nvPr/>
          </p:nvSpPr>
          <p:spPr>
            <a:xfrm>
              <a:off x="4011906" y="2070339"/>
              <a:ext cx="86263" cy="198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191" name="等腰三角形 190">
              <a:extLst>
                <a:ext uri="{FF2B5EF4-FFF2-40B4-BE49-F238E27FC236}">
                  <a16:creationId xmlns:a16="http://schemas.microsoft.com/office/drawing/2014/main" id="{1462D741-7723-DD91-8B2F-85886EF8BC08}"/>
                </a:ext>
              </a:extLst>
            </p:cNvPr>
            <p:cNvSpPr/>
            <p:nvPr/>
          </p:nvSpPr>
          <p:spPr>
            <a:xfrm>
              <a:off x="4755024"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2" name="等腰三角形 191">
              <a:extLst>
                <a:ext uri="{FF2B5EF4-FFF2-40B4-BE49-F238E27FC236}">
                  <a16:creationId xmlns:a16="http://schemas.microsoft.com/office/drawing/2014/main" id="{98C2B296-3417-E65E-6A09-397FE980A378}"/>
                </a:ext>
              </a:extLst>
            </p:cNvPr>
            <p:cNvSpPr/>
            <p:nvPr/>
          </p:nvSpPr>
          <p:spPr>
            <a:xfrm>
              <a:off x="5709776"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3" name="等腰三角形 192">
              <a:extLst>
                <a:ext uri="{FF2B5EF4-FFF2-40B4-BE49-F238E27FC236}">
                  <a16:creationId xmlns:a16="http://schemas.microsoft.com/office/drawing/2014/main" id="{F531CF4A-2A0F-0DDF-F2C2-F705B4E36084}"/>
                </a:ext>
              </a:extLst>
            </p:cNvPr>
            <p:cNvSpPr/>
            <p:nvPr/>
          </p:nvSpPr>
          <p:spPr>
            <a:xfrm>
              <a:off x="6970068"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sp>
          <p:nvSpPr>
            <p:cNvPr id="194" name="等腰三角形 193">
              <a:extLst>
                <a:ext uri="{FF2B5EF4-FFF2-40B4-BE49-F238E27FC236}">
                  <a16:creationId xmlns:a16="http://schemas.microsoft.com/office/drawing/2014/main" id="{85C93A0D-D124-212A-77AD-1260585BC9BA}"/>
                </a:ext>
              </a:extLst>
            </p:cNvPr>
            <p:cNvSpPr/>
            <p:nvPr/>
          </p:nvSpPr>
          <p:spPr>
            <a:xfrm>
              <a:off x="3303758"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5" name="等腰三角形 194">
              <a:extLst>
                <a:ext uri="{FF2B5EF4-FFF2-40B4-BE49-F238E27FC236}">
                  <a16:creationId xmlns:a16="http://schemas.microsoft.com/office/drawing/2014/main" id="{147F0FD0-4272-54DA-2785-C59DE9D2C3F0}"/>
                </a:ext>
              </a:extLst>
            </p:cNvPr>
            <p:cNvSpPr/>
            <p:nvPr/>
          </p:nvSpPr>
          <p:spPr>
            <a:xfrm>
              <a:off x="8074169"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6" name="等腰三角形 195">
              <a:extLst>
                <a:ext uri="{FF2B5EF4-FFF2-40B4-BE49-F238E27FC236}">
                  <a16:creationId xmlns:a16="http://schemas.microsoft.com/office/drawing/2014/main" id="{5FDE5027-AA93-58F2-0D29-27F958176D5E}"/>
                </a:ext>
              </a:extLst>
            </p:cNvPr>
            <p:cNvSpPr/>
            <p:nvPr/>
          </p:nvSpPr>
          <p:spPr>
            <a:xfrm>
              <a:off x="9532034"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7" name="等腰三角形 196">
              <a:extLst>
                <a:ext uri="{FF2B5EF4-FFF2-40B4-BE49-F238E27FC236}">
                  <a16:creationId xmlns:a16="http://schemas.microsoft.com/office/drawing/2014/main" id="{A3AB2CA6-7E33-2416-09DF-0FD8647D9D48}"/>
                </a:ext>
              </a:extLst>
            </p:cNvPr>
            <p:cNvSpPr/>
            <p:nvPr/>
          </p:nvSpPr>
          <p:spPr>
            <a:xfrm>
              <a:off x="5335763" y="2070339"/>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8" name="等腰三角形 197">
              <a:extLst>
                <a:ext uri="{FF2B5EF4-FFF2-40B4-BE49-F238E27FC236}">
                  <a16:creationId xmlns:a16="http://schemas.microsoft.com/office/drawing/2014/main" id="{8C3A8279-837C-D471-BC5D-BB35DF30079F}"/>
                </a:ext>
              </a:extLst>
            </p:cNvPr>
            <p:cNvSpPr/>
            <p:nvPr/>
          </p:nvSpPr>
          <p:spPr>
            <a:xfrm>
              <a:off x="6561488" y="2067774"/>
              <a:ext cx="86263" cy="19840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sp>
        <p:nvSpPr>
          <p:cNvPr id="199" name="左大括号 198">
            <a:extLst>
              <a:ext uri="{FF2B5EF4-FFF2-40B4-BE49-F238E27FC236}">
                <a16:creationId xmlns:a16="http://schemas.microsoft.com/office/drawing/2014/main" id="{2FAF0EEF-5880-E730-927B-FA6A6D7A3F97}"/>
              </a:ext>
            </a:extLst>
          </p:cNvPr>
          <p:cNvSpPr/>
          <p:nvPr/>
        </p:nvSpPr>
        <p:spPr>
          <a:xfrm rot="16200000">
            <a:off x="2812568" y="1621752"/>
            <a:ext cx="160024" cy="279600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0" name="文本框 199">
                <a:extLst>
                  <a:ext uri="{FF2B5EF4-FFF2-40B4-BE49-F238E27FC236}">
                    <a16:creationId xmlns:a16="http://schemas.microsoft.com/office/drawing/2014/main" id="{DEB0D9E3-C576-7C87-FE11-20E3EF98C323}"/>
                  </a:ext>
                </a:extLst>
              </p:cNvPr>
              <p:cNvSpPr txBox="1"/>
              <p:nvPr/>
            </p:nvSpPr>
            <p:spPr>
              <a:xfrm>
                <a:off x="1401657" y="3109357"/>
                <a:ext cx="2981845" cy="307777"/>
              </a:xfrm>
              <a:prstGeom prst="rect">
                <a:avLst/>
              </a:prstGeom>
              <a:noFill/>
            </p:spPr>
            <p:txBody>
              <a:bodyPr wrap="square">
                <a:spAutoFit/>
              </a:bodyPr>
              <a:lstStyle/>
              <a:p>
                <a:pPr algn="ctr"/>
                <a:r>
                  <a:rPr lang="en-US" altLang="zh-CN" sz="1400" i="1" dirty="0">
                    <a:latin typeface="Cambria Math" panose="02040503050406030204" pitchFamily="18" charset="0"/>
                  </a:rPr>
                  <a:t>Observation Window  </a:t>
                </a:r>
                <a14:m>
                  <m:oMath xmlns:m="http://schemas.openxmlformats.org/officeDocument/2006/math">
                    <m:r>
                      <a:rPr lang="en-US" altLang="zh-CN" sz="1400" i="1" dirty="0" smtClean="0">
                        <a:latin typeface="Cambria Math" panose="02040503050406030204" pitchFamily="18" charset="0"/>
                      </a:rPr>
                      <m:t>𝛥</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𝑡</m:t>
                        </m:r>
                      </m:e>
                      <m:sub>
                        <m:r>
                          <a:rPr lang="en-US" altLang="zh-CN" sz="1400" b="0" i="1" dirty="0" smtClean="0">
                            <a:latin typeface="Cambria Math" panose="02040503050406030204" pitchFamily="18" charset="0"/>
                          </a:rPr>
                          <m:t>𝑜𝑏𝑠</m:t>
                        </m:r>
                      </m:sub>
                    </m:sSub>
                  </m:oMath>
                </a14:m>
                <a:endParaRPr lang="zh-CN" altLang="en-US" sz="1400" i="1" dirty="0"/>
              </a:p>
            </p:txBody>
          </p:sp>
        </mc:Choice>
        <mc:Fallback xmlns="">
          <p:sp>
            <p:nvSpPr>
              <p:cNvPr id="200" name="文本框 199">
                <a:extLst>
                  <a:ext uri="{FF2B5EF4-FFF2-40B4-BE49-F238E27FC236}">
                    <a16:creationId xmlns:a16="http://schemas.microsoft.com/office/drawing/2014/main" id="{DEB0D9E3-C576-7C87-FE11-20E3EF98C323}"/>
                  </a:ext>
                </a:extLst>
              </p:cNvPr>
              <p:cNvSpPr txBox="1">
                <a:spLocks noRot="1" noChangeAspect="1" noMove="1" noResize="1" noEditPoints="1" noAdjustHandles="1" noChangeArrowheads="1" noChangeShapeType="1" noTextEdit="1"/>
              </p:cNvSpPr>
              <p:nvPr/>
            </p:nvSpPr>
            <p:spPr>
              <a:xfrm>
                <a:off x="1401657" y="3109357"/>
                <a:ext cx="2981845" cy="307777"/>
              </a:xfrm>
              <a:prstGeom prst="rect">
                <a:avLst/>
              </a:prstGeom>
              <a:blipFill>
                <a:blip r:embed="rId10"/>
                <a:stretch>
                  <a:fillRect t="-5882" b="-176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17856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A620A8C-8690-0EEA-C7CE-66F729B0CAD2}"/>
              </a:ext>
            </a:extLst>
          </p:cNvPr>
          <p:cNvSpPr txBox="1"/>
          <p:nvPr/>
        </p:nvSpPr>
        <p:spPr>
          <a:xfrm>
            <a:off x="790215" y="365302"/>
            <a:ext cx="7836200" cy="461665"/>
          </a:xfrm>
          <a:prstGeom prst="rect">
            <a:avLst/>
          </a:prstGeom>
          <a:noFill/>
        </p:spPr>
        <p:txBody>
          <a:bodyPr wrap="square" rtlCol="0">
            <a:spAutoFit/>
          </a:bodyPr>
          <a:lstStyle/>
          <a:p>
            <a:r>
              <a:rPr lang="en-US" altLang="zh-CN" sz="2400" b="1" dirty="0">
                <a:solidFill>
                  <a:schemeClr val="accent5">
                    <a:lumMod val="75000"/>
                  </a:schemeClr>
                </a:solidFill>
                <a:latin typeface="-apple-system"/>
              </a:rPr>
              <a:t>2.3 Time-point scale model</a:t>
            </a:r>
            <a:endParaRPr lang="en-US" altLang="zh-CN" sz="2400" b="1" dirty="0">
              <a:solidFill>
                <a:schemeClr val="accent5">
                  <a:lumMod val="75000"/>
                </a:schemeClr>
              </a:solidFill>
              <a:latin typeface="+mn-ea"/>
            </a:endParaRPr>
          </a:p>
        </p:txBody>
      </p:sp>
      <mc:AlternateContent xmlns:mc="http://schemas.openxmlformats.org/markup-compatibility/2006" xmlns:a14="http://schemas.microsoft.com/office/drawing/2010/main">
        <mc:Choice Requires="a14">
          <p:graphicFrame>
            <p:nvGraphicFramePr>
              <p:cNvPr id="55" name="表格 54">
                <a:extLst>
                  <a:ext uri="{FF2B5EF4-FFF2-40B4-BE49-F238E27FC236}">
                    <a16:creationId xmlns:a16="http://schemas.microsoft.com/office/drawing/2014/main" id="{F4D1A343-7182-C684-95F3-24C41C26FE88}"/>
                  </a:ext>
                </a:extLst>
              </p:cNvPr>
              <p:cNvGraphicFramePr>
                <a:graphicFrameLocks noGrp="1"/>
              </p:cNvGraphicFramePr>
              <p:nvPr/>
            </p:nvGraphicFramePr>
            <p:xfrm>
              <a:off x="790215" y="1106914"/>
              <a:ext cx="5388079" cy="2080855"/>
            </p:xfrm>
            <a:graphic>
              <a:graphicData uri="http://schemas.openxmlformats.org/drawingml/2006/table">
                <a:tbl>
                  <a:tblPr firstRow="1" bandRow="1">
                    <a:tableStyleId>{72833802-FEF1-4C79-8D5D-14CF1EAF98D9}</a:tableStyleId>
                  </a:tblPr>
                  <a:tblGrid>
                    <a:gridCol w="1347020">
                      <a:extLst>
                        <a:ext uri="{9D8B030D-6E8A-4147-A177-3AD203B41FA5}">
                          <a16:colId xmlns:a16="http://schemas.microsoft.com/office/drawing/2014/main" val="3353027716"/>
                        </a:ext>
                      </a:extLst>
                    </a:gridCol>
                    <a:gridCol w="946876">
                      <a:extLst>
                        <a:ext uri="{9D8B030D-6E8A-4147-A177-3AD203B41FA5}">
                          <a16:colId xmlns:a16="http://schemas.microsoft.com/office/drawing/2014/main" val="1532452230"/>
                        </a:ext>
                      </a:extLst>
                    </a:gridCol>
                    <a:gridCol w="1921164">
                      <a:extLst>
                        <a:ext uri="{9D8B030D-6E8A-4147-A177-3AD203B41FA5}">
                          <a16:colId xmlns:a16="http://schemas.microsoft.com/office/drawing/2014/main" val="821234722"/>
                        </a:ext>
                      </a:extLst>
                    </a:gridCol>
                    <a:gridCol w="1173019">
                      <a:extLst>
                        <a:ext uri="{9D8B030D-6E8A-4147-A177-3AD203B41FA5}">
                          <a16:colId xmlns:a16="http://schemas.microsoft.com/office/drawing/2014/main" val="656622694"/>
                        </a:ext>
                      </a:extLst>
                    </a:gridCol>
                  </a:tblGrid>
                  <a:tr h="408445">
                    <a:tc>
                      <a:txBody>
                        <a:bodyPr/>
                        <a:lstStyle/>
                        <a:p>
                          <a:pPr algn="ctr">
                            <a:lnSpc>
                              <a:spcPct val="100000"/>
                            </a:lnSpc>
                          </a:pPr>
                          <a:r>
                            <a:rPr lang="en-US" altLang="zh-CN" sz="1400" b="0" i="1" kern="1200" dirty="0">
                              <a:solidFill>
                                <a:schemeClr val="tx1"/>
                              </a:solidFill>
                              <a:latin typeface="Cambria Math" panose="02040503050406030204" pitchFamily="18" charset="0"/>
                              <a:ea typeface="+mn-ea"/>
                              <a:cs typeface="+mn-cs"/>
                            </a:rPr>
                            <a:t>Index</a:t>
                          </a:r>
                          <a:endParaRPr lang="zh-CN" altLang="en-US" sz="1400" b="0" i="1" kern="1200" dirty="0">
                            <a:solidFill>
                              <a:schemeClr val="tx1"/>
                            </a:solidFill>
                            <a:latin typeface="Cambria Math" panose="02040503050406030204" pitchFamily="18" charset="0"/>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tx2"/>
                        </a:solidFill>
                      </a:tcPr>
                    </a:tc>
                    <a:tc>
                      <a:txBody>
                        <a:bodyPr/>
                        <a:lstStyle/>
                        <a:p>
                          <a:pPr algn="ctr">
                            <a:lnSpc>
                              <a:spcPct val="100000"/>
                            </a:lnSpc>
                          </a:pPr>
                          <a:r>
                            <a:rPr lang="en-US" altLang="zh-CN" sz="1400" b="0" i="1" kern="1200" dirty="0">
                              <a:solidFill>
                                <a:schemeClr val="tx1"/>
                              </a:solidFill>
                              <a:latin typeface="Cambria Math" panose="02040503050406030204" pitchFamily="18" charset="0"/>
                              <a:ea typeface="+mn-ea"/>
                              <a:cs typeface="+mn-cs"/>
                            </a:rPr>
                            <a:t>CE type</a:t>
                          </a:r>
                          <a:endParaRPr lang="zh-CN" altLang="en-US" sz="1400" b="0" i="1" kern="1200" dirty="0">
                            <a:solidFill>
                              <a:schemeClr val="tx1"/>
                            </a:solidFill>
                            <a:latin typeface="Cambria Math" panose="02040503050406030204" pitchFamily="18" charset="0"/>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tx2"/>
                        </a:solidFill>
                      </a:tcPr>
                    </a:tc>
                    <a:tc>
                      <a:txBody>
                        <a:bodyPr/>
                        <a:lstStyle/>
                        <a:p>
                          <a:pPr algn="ctr">
                            <a:lnSpc>
                              <a:spcPct val="100000"/>
                            </a:lnSpc>
                          </a:pPr>
                          <a:r>
                            <a:rPr lang="en-US" altLang="zh-CN" sz="1400" b="0" i="1" kern="1200" dirty="0" err="1">
                              <a:solidFill>
                                <a:schemeClr val="tx1"/>
                              </a:solidFill>
                              <a:latin typeface="Cambria Math" panose="02040503050406030204" pitchFamily="18" charset="0"/>
                              <a:ea typeface="+mn-ea"/>
                              <a:cs typeface="+mn-cs"/>
                            </a:rPr>
                            <a:t>RetryRdErrLog</a:t>
                          </a:r>
                          <a:endParaRPr lang="zh-CN" altLang="en-US" sz="1400" b="0" i="1" kern="1200" dirty="0">
                            <a:solidFill>
                              <a:schemeClr val="tx1"/>
                            </a:solidFill>
                            <a:latin typeface="Cambria Math" panose="02040503050406030204" pitchFamily="18" charset="0"/>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tx2"/>
                        </a:solidFill>
                      </a:tcPr>
                    </a:tc>
                    <a:tc>
                      <a:txBody>
                        <a:bodyPr/>
                        <a:lstStyle/>
                        <a:p>
                          <a:pPr algn="ctr">
                            <a:lnSpc>
                              <a:spcPct val="100000"/>
                            </a:lnSpc>
                          </a:pPr>
                          <a:r>
                            <a:rPr lang="en-US" altLang="zh-CN" sz="1400" b="0" i="1" kern="1200" dirty="0">
                              <a:solidFill>
                                <a:schemeClr val="tx1"/>
                              </a:solidFill>
                              <a:latin typeface="Cambria Math" panose="02040503050406030204" pitchFamily="18" charset="0"/>
                              <a:ea typeface="+mn-ea"/>
                              <a:cs typeface="+mn-cs"/>
                            </a:rPr>
                            <a:t>DQ-Beat info</a:t>
                          </a:r>
                          <a:endParaRPr lang="zh-CN" altLang="en-US" sz="1400" b="0" i="1" kern="1200" dirty="0">
                            <a:solidFill>
                              <a:schemeClr val="tx1"/>
                            </a:solidFill>
                            <a:latin typeface="Cambria Math" panose="02040503050406030204" pitchFamily="18" charset="0"/>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tx2"/>
                        </a:solidFill>
                      </a:tcPr>
                    </a:tc>
                    <a:extLst>
                      <a:ext uri="{0D108BD9-81ED-4DB2-BD59-A6C34878D82A}">
                        <a16:rowId xmlns:a16="http://schemas.microsoft.com/office/drawing/2014/main" val="932133577"/>
                      </a:ext>
                    </a:extLst>
                  </a:tr>
                  <a:tr h="334482">
                    <a:tc>
                      <a:txBody>
                        <a:bodyPr/>
                        <a:lstStyle/>
                        <a:p>
                          <a:pPr algn="ctr" fontAlgn="ctr">
                            <a:lnSpc>
                              <a:spcPct val="100000"/>
                            </a:lnSpc>
                          </a:pPr>
                          <a:r>
                            <a:rPr lang="en-US" altLang="zh-CN" sz="1200" b="0" i="0" kern="1200" dirty="0">
                              <a:solidFill>
                                <a:schemeClr val="tx1"/>
                              </a:solidFill>
                              <a:latin typeface="Cambria Math" panose="02040503050406030204" pitchFamily="18" charset="0"/>
                              <a:ea typeface="+mn-ea"/>
                              <a:cs typeface="+mn-cs"/>
                            </a:rPr>
                            <a:t>1</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fontAlgn="ctr"/>
                          <a:r>
                            <a:rPr lang="en-US" sz="1200" b="0" i="0" kern="1200" dirty="0">
                              <a:solidFill>
                                <a:schemeClr val="tx1"/>
                              </a:solidFill>
                              <a:latin typeface="Cambria Math" panose="02040503050406030204" pitchFamily="18" charset="0"/>
                              <a:ea typeface="+mn-ea"/>
                              <a:cs typeface="+mn-cs"/>
                            </a:rPr>
                            <a:t>CE.READ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fontAlgn="ctr">
                            <a:lnSpc>
                              <a:spcPct val="100000"/>
                            </a:lnSpc>
                          </a:pPr>
                          <a:r>
                            <a:rPr lang="en-US" altLang="zh-CN" sz="1200" b="0" i="0" kern="1200" dirty="0">
                              <a:solidFill>
                                <a:schemeClr val="tx1"/>
                              </a:solidFill>
                              <a:latin typeface="Cambria Math" panose="02040503050406030204" pitchFamily="18" charset="0"/>
                              <a:ea typeface="+mn-ea"/>
                              <a:cs typeface="+mn-cs"/>
                            </a:rPr>
                            <a:t>47119</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lang="en-US" altLang="zh-CN" sz="1200" b="0" i="0" kern="1200" noProof="0" dirty="0">
                              <a:solidFill>
                                <a:schemeClr val="tx1"/>
                              </a:solidFill>
                              <a:latin typeface="Cambria Math" panose="02040503050406030204" pitchFamily="18" charset="0"/>
                              <a:ea typeface="+mn-ea"/>
                              <a:cs typeface="+mn-cs"/>
                            </a:rPr>
                            <a:t>0X00020004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39929064"/>
                      </a:ext>
                    </a:extLst>
                  </a:tr>
                  <a:tr h="334482">
                    <a:tc>
                      <a:txBody>
                        <a:bodyPr/>
                        <a:lstStyle/>
                        <a:p>
                          <a:pPr algn="ctr" fontAlgn="ctr">
                            <a:lnSpc>
                              <a:spcPct val="100000"/>
                            </a:lnSpc>
                          </a:pPr>
                          <a:r>
                            <a:rPr lang="en-US" altLang="zh-CN" sz="1200" b="0" i="0" kern="1200" dirty="0">
                              <a:solidFill>
                                <a:schemeClr val="tx1"/>
                              </a:solidFill>
                              <a:latin typeface="Cambria Math" panose="02040503050406030204" pitchFamily="18" charset="0"/>
                              <a:ea typeface="+mn-ea"/>
                              <a:cs typeface="+mn-cs"/>
                            </a:rPr>
                            <a:t>2</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D1D1A"/>
                              </a:solidFill>
                              <a:effectLst/>
                              <a:uLnTx/>
                              <a:uFillTx/>
                              <a:latin typeface="Cambria Math" panose="02040503050406030204" pitchFamily="18" charset="0"/>
                              <a:ea typeface="等线" panose="02010600030101010101" pitchFamily="2" charset="-122"/>
                              <a:cs typeface="+mn-cs"/>
                            </a:rPr>
                            <a:t>xxx</a:t>
                          </a:r>
                          <a:endPar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95003023"/>
                      </a:ext>
                    </a:extLst>
                  </a:tr>
                  <a:tr h="334482">
                    <a:tc>
                      <a:txBody>
                        <a:bodyPr/>
                        <a:lstStyle/>
                        <a:p>
                          <a:pPr algn="ctr" fontAlgn="ctr">
                            <a:lnSpc>
                              <a:spcPct val="100000"/>
                            </a:lnSpc>
                          </a:pPr>
                          <a:r>
                            <a:rPr lang="en-US" altLang="zh-CN" sz="1200" b="0" i="0" kern="1200" dirty="0">
                              <a:solidFill>
                                <a:schemeClr val="tx1"/>
                              </a:solidFill>
                              <a:latin typeface="Cambria Math" panose="02040503050406030204" pitchFamily="18" charset="0"/>
                              <a:ea typeface="+mn-ea"/>
                              <a:cs typeface="+mn-cs"/>
                            </a:rPr>
                            <a:t>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D1D1A"/>
                              </a:solidFill>
                              <a:effectLst/>
                              <a:uLnTx/>
                              <a:uFillTx/>
                              <a:latin typeface="Cambria Math" panose="02040503050406030204" pitchFamily="18" charset="0"/>
                              <a:ea typeface="等线" panose="02010600030101010101" pitchFamily="2" charset="-122"/>
                              <a:cs typeface="+mn-cs"/>
                            </a:rPr>
                            <a:t>xxx</a:t>
                          </a:r>
                          <a:endPar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D1D1A"/>
                              </a:solidFill>
                              <a:effectLst/>
                              <a:uLnTx/>
                              <a:uFillTx/>
                              <a:latin typeface="Cambria Math" panose="02040503050406030204" pitchFamily="18" charset="0"/>
                              <a:ea typeface="等线" panose="02010600030101010101" pitchFamily="2" charset="-122"/>
                              <a:cs typeface="+mn-cs"/>
                            </a:rPr>
                            <a:t>xxx</a:t>
                          </a:r>
                          <a:endPar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08641854"/>
                      </a:ext>
                    </a:extLst>
                  </a:tr>
                  <a:tr h="334482">
                    <a:tc>
                      <a:txBody>
                        <a:bodyPr/>
                        <a:lstStyle/>
                        <a:p>
                          <a:pPr algn="ctr" fontAlgn="ctr">
                            <a:lnSpc>
                              <a:spcPct val="100000"/>
                            </a:lnSpc>
                          </a:pPr>
                          <a:r>
                            <a:rPr lang="en-US" altLang="zh-CN" sz="1200" b="0" i="0" kern="1200" dirty="0">
                              <a:solidFill>
                                <a:schemeClr val="tx1"/>
                              </a:solidFill>
                              <a:latin typeface="Cambria Math" panose="02040503050406030204" pitchFamily="18" charset="0"/>
                              <a:ea typeface="+mn-ea"/>
                              <a:cs typeface="+mn-cs"/>
                            </a:rPr>
                            <a:t>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D1D1A"/>
                              </a:solidFill>
                              <a:effectLst/>
                              <a:uLnTx/>
                              <a:uFillTx/>
                              <a:latin typeface="Cambria Math" panose="02040503050406030204" pitchFamily="18" charset="0"/>
                              <a:ea typeface="等线" panose="02010600030101010101" pitchFamily="2" charset="-122"/>
                              <a:cs typeface="+mn-cs"/>
                            </a:rPr>
                            <a:t>xxx</a:t>
                          </a:r>
                          <a:endPar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596656563"/>
                      </a:ext>
                    </a:extLst>
                  </a:tr>
                  <a:tr h="334482">
                    <a:tc gridSpan="4">
                      <a:txBody>
                        <a:bodyPr/>
                        <a:lstStyle/>
                        <a:p>
                          <a:pPr algn="ctr" fontAlgn="ctr">
                            <a:lnSpc>
                              <a:spcPct val="100000"/>
                            </a:lnSpc>
                          </a:pPr>
                          <a14:m>
                            <m:oMath xmlns:m="http://schemas.openxmlformats.org/officeDocument/2006/math">
                              <m:r>
                                <a:rPr lang="en-US" altLang="zh-CN" sz="1400" b="0" i="1" kern="1200" dirty="0" smtClean="0">
                                  <a:solidFill>
                                    <a:schemeClr val="accent1"/>
                                  </a:solidFill>
                                  <a:latin typeface="Cambria Math" panose="02040503050406030204" pitchFamily="18" charset="0"/>
                                  <a:ea typeface="+mn-ea"/>
                                  <a:cs typeface="+mn-cs"/>
                                </a:rPr>
                                <m:t>𝑆𝑁</m:t>
                              </m:r>
                              <m:r>
                                <a:rPr lang="en-US" altLang="zh-CN" sz="1400" b="0" i="1" kern="1200" dirty="0" smtClean="0">
                                  <a:solidFill>
                                    <a:schemeClr val="accent1"/>
                                  </a:solidFill>
                                  <a:latin typeface="Cambria Math" panose="02040503050406030204" pitchFamily="18" charset="0"/>
                                  <a:ea typeface="+mn-ea"/>
                                  <a:cs typeface="+mn-cs"/>
                                </a:rPr>
                                <m:t> </m:t>
                              </m:r>
                              <m:r>
                                <a:rPr lang="en-US" altLang="zh-CN" sz="1400" b="0" i="1" kern="1200" dirty="0" smtClean="0">
                                  <a:solidFill>
                                    <a:schemeClr val="accent1"/>
                                  </a:solidFill>
                                  <a:latin typeface="Cambria Math" panose="02040503050406030204" pitchFamily="18" charset="0"/>
                                  <a:ea typeface="+mn-ea"/>
                                  <a:cs typeface="+mn-cs"/>
                                </a:rPr>
                                <m:t>𝐴</m:t>
                              </m:r>
                            </m:oMath>
                          </a14:m>
                          <a:r>
                            <a:rPr lang="zh-CN" altLang="en-US" sz="1400" b="0" i="0" kern="1200" dirty="0">
                              <a:solidFill>
                                <a:schemeClr val="accent1"/>
                              </a:solidFill>
                              <a:latin typeface="Cambria Math" panose="02040503050406030204" pitchFamily="18" charset="0"/>
                              <a:ea typeface="+mn-ea"/>
                              <a:cs typeface="+mn-cs"/>
                            </a:rPr>
                            <a:t>：</a:t>
                          </a:r>
                          <a:r>
                            <a:rPr lang="en-US" altLang="zh-CN" sz="1400" b="0" i="0" kern="1200" dirty="0">
                              <a:solidFill>
                                <a:schemeClr val="accent1"/>
                              </a:solidFill>
                              <a:latin typeface="Cambria Math" panose="02040503050406030204" pitchFamily="18" charset="0"/>
                              <a:ea typeface="+mn-ea"/>
                              <a:cs typeface="+mn-cs"/>
                            </a:rPr>
                            <a:t>Label = 1</a:t>
                          </a:r>
                          <a:endParaRPr kumimoji="0" lang="en-US" altLang="zh-CN" sz="1400" b="0" i="0" u="none" strike="noStrike" kern="1200" cap="none" spc="0" normalizeH="0" baseline="0" noProof="0" dirty="0">
                            <a:ln>
                              <a:noFill/>
                            </a:ln>
                            <a:solidFill>
                              <a:schemeClr val="accent1"/>
                            </a:solidFill>
                            <a:effectLst/>
                            <a:uLnTx/>
                            <a:uFillTx/>
                            <a:latin typeface="Cambria Math" panose="02040503050406030204" pitchFamily="18" charset="0"/>
                            <a:ea typeface="等线" panose="02010600030101010101" pitchFamily="2" charset="-122"/>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hMerge="1">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hMerge="1">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hMerge="1">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766002149"/>
                      </a:ext>
                    </a:extLst>
                  </a:tr>
                </a:tbl>
              </a:graphicData>
            </a:graphic>
          </p:graphicFrame>
        </mc:Choice>
        <mc:Fallback xmlns="">
          <p:graphicFrame>
            <p:nvGraphicFramePr>
              <p:cNvPr id="55" name="表格 54">
                <a:extLst>
                  <a:ext uri="{FF2B5EF4-FFF2-40B4-BE49-F238E27FC236}">
                    <a16:creationId xmlns:a16="http://schemas.microsoft.com/office/drawing/2014/main" id="{F4D1A343-7182-C684-95F3-24C41C26FE88}"/>
                  </a:ext>
                </a:extLst>
              </p:cNvPr>
              <p:cNvGraphicFramePr>
                <a:graphicFrameLocks noGrp="1"/>
              </p:cNvGraphicFramePr>
              <p:nvPr>
                <p:extLst>
                  <p:ext uri="{D42A27DB-BD31-4B8C-83A1-F6EECF244321}">
                    <p14:modId xmlns:p14="http://schemas.microsoft.com/office/powerpoint/2010/main" val="1921933896"/>
                  </p:ext>
                </p:extLst>
              </p:nvPr>
            </p:nvGraphicFramePr>
            <p:xfrm>
              <a:off x="790215" y="1106914"/>
              <a:ext cx="5388079" cy="2080855"/>
            </p:xfrm>
            <a:graphic>
              <a:graphicData uri="http://schemas.openxmlformats.org/drawingml/2006/table">
                <a:tbl>
                  <a:tblPr firstRow="1" bandRow="1">
                    <a:tableStyleId>{72833802-FEF1-4C79-8D5D-14CF1EAF98D9}</a:tableStyleId>
                  </a:tblPr>
                  <a:tblGrid>
                    <a:gridCol w="1347020">
                      <a:extLst>
                        <a:ext uri="{9D8B030D-6E8A-4147-A177-3AD203B41FA5}">
                          <a16:colId xmlns:a16="http://schemas.microsoft.com/office/drawing/2014/main" val="3353027716"/>
                        </a:ext>
                      </a:extLst>
                    </a:gridCol>
                    <a:gridCol w="946876">
                      <a:extLst>
                        <a:ext uri="{9D8B030D-6E8A-4147-A177-3AD203B41FA5}">
                          <a16:colId xmlns:a16="http://schemas.microsoft.com/office/drawing/2014/main" val="1532452230"/>
                        </a:ext>
                      </a:extLst>
                    </a:gridCol>
                    <a:gridCol w="1921164">
                      <a:extLst>
                        <a:ext uri="{9D8B030D-6E8A-4147-A177-3AD203B41FA5}">
                          <a16:colId xmlns:a16="http://schemas.microsoft.com/office/drawing/2014/main" val="821234722"/>
                        </a:ext>
                      </a:extLst>
                    </a:gridCol>
                    <a:gridCol w="1173019">
                      <a:extLst>
                        <a:ext uri="{9D8B030D-6E8A-4147-A177-3AD203B41FA5}">
                          <a16:colId xmlns:a16="http://schemas.microsoft.com/office/drawing/2014/main" val="656622694"/>
                        </a:ext>
                      </a:extLst>
                    </a:gridCol>
                  </a:tblGrid>
                  <a:tr h="408445">
                    <a:tc>
                      <a:txBody>
                        <a:bodyPr/>
                        <a:lstStyle/>
                        <a:p>
                          <a:pPr algn="ctr">
                            <a:lnSpc>
                              <a:spcPct val="100000"/>
                            </a:lnSpc>
                          </a:pPr>
                          <a:r>
                            <a:rPr lang="en-US" altLang="zh-CN" sz="1400" b="0" i="1" kern="1200" dirty="0">
                              <a:solidFill>
                                <a:schemeClr val="tx1"/>
                              </a:solidFill>
                              <a:latin typeface="Cambria Math" panose="02040503050406030204" pitchFamily="18" charset="0"/>
                              <a:ea typeface="+mn-ea"/>
                              <a:cs typeface="+mn-cs"/>
                            </a:rPr>
                            <a:t>Index</a:t>
                          </a:r>
                          <a:endParaRPr lang="zh-CN" altLang="en-US" sz="1400" b="0" i="1" kern="1200" dirty="0">
                            <a:solidFill>
                              <a:schemeClr val="tx1"/>
                            </a:solidFill>
                            <a:latin typeface="Cambria Math" panose="02040503050406030204" pitchFamily="18" charset="0"/>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tx2"/>
                        </a:solidFill>
                      </a:tcPr>
                    </a:tc>
                    <a:tc>
                      <a:txBody>
                        <a:bodyPr/>
                        <a:lstStyle/>
                        <a:p>
                          <a:pPr algn="ctr">
                            <a:lnSpc>
                              <a:spcPct val="100000"/>
                            </a:lnSpc>
                          </a:pPr>
                          <a:r>
                            <a:rPr lang="en-US" altLang="zh-CN" sz="1400" b="0" i="1" kern="1200" dirty="0">
                              <a:solidFill>
                                <a:schemeClr val="tx1"/>
                              </a:solidFill>
                              <a:latin typeface="Cambria Math" panose="02040503050406030204" pitchFamily="18" charset="0"/>
                              <a:ea typeface="+mn-ea"/>
                              <a:cs typeface="+mn-cs"/>
                            </a:rPr>
                            <a:t>CE type</a:t>
                          </a:r>
                          <a:endParaRPr lang="zh-CN" altLang="en-US" sz="1400" b="0" i="1" kern="1200" dirty="0">
                            <a:solidFill>
                              <a:schemeClr val="tx1"/>
                            </a:solidFill>
                            <a:latin typeface="Cambria Math" panose="02040503050406030204" pitchFamily="18" charset="0"/>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tx2"/>
                        </a:solidFill>
                      </a:tcPr>
                    </a:tc>
                    <a:tc>
                      <a:txBody>
                        <a:bodyPr/>
                        <a:lstStyle/>
                        <a:p>
                          <a:pPr algn="ctr">
                            <a:lnSpc>
                              <a:spcPct val="100000"/>
                            </a:lnSpc>
                          </a:pPr>
                          <a:r>
                            <a:rPr lang="en-US" altLang="zh-CN" sz="1400" b="0" i="1" kern="1200" dirty="0" err="1">
                              <a:solidFill>
                                <a:schemeClr val="tx1"/>
                              </a:solidFill>
                              <a:latin typeface="Cambria Math" panose="02040503050406030204" pitchFamily="18" charset="0"/>
                              <a:ea typeface="+mn-ea"/>
                              <a:cs typeface="+mn-cs"/>
                            </a:rPr>
                            <a:t>RetryRdErrLog</a:t>
                          </a:r>
                          <a:endParaRPr lang="zh-CN" altLang="en-US" sz="1400" b="0" i="1" kern="1200" dirty="0">
                            <a:solidFill>
                              <a:schemeClr val="tx1"/>
                            </a:solidFill>
                            <a:latin typeface="Cambria Math" panose="02040503050406030204" pitchFamily="18" charset="0"/>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tx2"/>
                        </a:solidFill>
                      </a:tcPr>
                    </a:tc>
                    <a:tc>
                      <a:txBody>
                        <a:bodyPr/>
                        <a:lstStyle/>
                        <a:p>
                          <a:pPr algn="ctr">
                            <a:lnSpc>
                              <a:spcPct val="100000"/>
                            </a:lnSpc>
                          </a:pPr>
                          <a:r>
                            <a:rPr lang="en-US" altLang="zh-CN" sz="1400" b="0" i="1" kern="1200" dirty="0">
                              <a:solidFill>
                                <a:schemeClr val="tx1"/>
                              </a:solidFill>
                              <a:latin typeface="Cambria Math" panose="02040503050406030204" pitchFamily="18" charset="0"/>
                              <a:ea typeface="+mn-ea"/>
                              <a:cs typeface="+mn-cs"/>
                            </a:rPr>
                            <a:t>DQ-Beat info</a:t>
                          </a:r>
                          <a:endParaRPr lang="zh-CN" altLang="en-US" sz="1400" b="0" i="1" kern="1200" dirty="0">
                            <a:solidFill>
                              <a:schemeClr val="tx1"/>
                            </a:solidFill>
                            <a:latin typeface="Cambria Math" panose="02040503050406030204" pitchFamily="18" charset="0"/>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tx2"/>
                        </a:solidFill>
                      </a:tcPr>
                    </a:tc>
                    <a:extLst>
                      <a:ext uri="{0D108BD9-81ED-4DB2-BD59-A6C34878D82A}">
                        <a16:rowId xmlns:a16="http://schemas.microsoft.com/office/drawing/2014/main" val="932133577"/>
                      </a:ext>
                    </a:extLst>
                  </a:tr>
                  <a:tr h="334482">
                    <a:tc>
                      <a:txBody>
                        <a:bodyPr/>
                        <a:lstStyle/>
                        <a:p>
                          <a:pPr algn="ctr" fontAlgn="ctr">
                            <a:lnSpc>
                              <a:spcPct val="100000"/>
                            </a:lnSpc>
                          </a:pPr>
                          <a:r>
                            <a:rPr lang="en-US" altLang="zh-CN" sz="1200" b="0" i="0" kern="1200" dirty="0">
                              <a:solidFill>
                                <a:schemeClr val="tx1"/>
                              </a:solidFill>
                              <a:latin typeface="Cambria Math" panose="02040503050406030204" pitchFamily="18" charset="0"/>
                              <a:ea typeface="+mn-ea"/>
                              <a:cs typeface="+mn-cs"/>
                            </a:rPr>
                            <a:t>1</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fontAlgn="ctr"/>
                          <a:r>
                            <a:rPr lang="en-US" sz="1200" b="0" i="0" kern="1200" dirty="0">
                              <a:solidFill>
                                <a:schemeClr val="tx1"/>
                              </a:solidFill>
                              <a:latin typeface="Cambria Math" panose="02040503050406030204" pitchFamily="18" charset="0"/>
                              <a:ea typeface="+mn-ea"/>
                              <a:cs typeface="+mn-cs"/>
                            </a:rPr>
                            <a:t>CE.READ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fontAlgn="ctr">
                            <a:lnSpc>
                              <a:spcPct val="100000"/>
                            </a:lnSpc>
                          </a:pPr>
                          <a:r>
                            <a:rPr lang="en-US" altLang="zh-CN" sz="1200" b="0" i="0" kern="1200" dirty="0">
                              <a:solidFill>
                                <a:schemeClr val="tx1"/>
                              </a:solidFill>
                              <a:latin typeface="Cambria Math" panose="02040503050406030204" pitchFamily="18" charset="0"/>
                              <a:ea typeface="+mn-ea"/>
                              <a:cs typeface="+mn-cs"/>
                            </a:rPr>
                            <a:t>47119</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lang="en-US" altLang="zh-CN" sz="1200" b="0" i="0" kern="1200" noProof="0" dirty="0">
                              <a:solidFill>
                                <a:schemeClr val="tx1"/>
                              </a:solidFill>
                              <a:latin typeface="Cambria Math" panose="02040503050406030204" pitchFamily="18" charset="0"/>
                              <a:ea typeface="+mn-ea"/>
                              <a:cs typeface="+mn-cs"/>
                            </a:rPr>
                            <a:t>0X00020004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39929064"/>
                      </a:ext>
                    </a:extLst>
                  </a:tr>
                  <a:tr h="334482">
                    <a:tc>
                      <a:txBody>
                        <a:bodyPr/>
                        <a:lstStyle/>
                        <a:p>
                          <a:pPr algn="ctr" fontAlgn="ctr">
                            <a:lnSpc>
                              <a:spcPct val="100000"/>
                            </a:lnSpc>
                          </a:pPr>
                          <a:r>
                            <a:rPr lang="en-US" altLang="zh-CN" sz="1200" b="0" i="0" kern="1200" dirty="0">
                              <a:solidFill>
                                <a:schemeClr val="tx1"/>
                              </a:solidFill>
                              <a:latin typeface="Cambria Math" panose="02040503050406030204" pitchFamily="18" charset="0"/>
                              <a:ea typeface="+mn-ea"/>
                              <a:cs typeface="+mn-cs"/>
                            </a:rPr>
                            <a:t>2</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D1D1A"/>
                              </a:solidFill>
                              <a:effectLst/>
                              <a:uLnTx/>
                              <a:uFillTx/>
                              <a:latin typeface="Cambria Math" panose="02040503050406030204" pitchFamily="18" charset="0"/>
                              <a:ea typeface="等线" panose="02010600030101010101" pitchFamily="2" charset="-122"/>
                              <a:cs typeface="+mn-cs"/>
                            </a:rPr>
                            <a:t>xxx</a:t>
                          </a:r>
                          <a:endPar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95003023"/>
                      </a:ext>
                    </a:extLst>
                  </a:tr>
                  <a:tr h="334482">
                    <a:tc>
                      <a:txBody>
                        <a:bodyPr/>
                        <a:lstStyle/>
                        <a:p>
                          <a:pPr algn="ctr" fontAlgn="ctr">
                            <a:lnSpc>
                              <a:spcPct val="100000"/>
                            </a:lnSpc>
                          </a:pPr>
                          <a:r>
                            <a:rPr lang="en-US" altLang="zh-CN" sz="1200" b="0" i="0" kern="1200" dirty="0">
                              <a:solidFill>
                                <a:schemeClr val="tx1"/>
                              </a:solidFill>
                              <a:latin typeface="Cambria Math" panose="02040503050406030204" pitchFamily="18" charset="0"/>
                              <a:ea typeface="+mn-ea"/>
                              <a:cs typeface="+mn-cs"/>
                            </a:rPr>
                            <a:t>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D1D1A"/>
                              </a:solidFill>
                              <a:effectLst/>
                              <a:uLnTx/>
                              <a:uFillTx/>
                              <a:latin typeface="Cambria Math" panose="02040503050406030204" pitchFamily="18" charset="0"/>
                              <a:ea typeface="等线" panose="02010600030101010101" pitchFamily="2" charset="-122"/>
                              <a:cs typeface="+mn-cs"/>
                            </a:rPr>
                            <a:t>xxx</a:t>
                          </a:r>
                          <a:endPar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D1D1A"/>
                              </a:solidFill>
                              <a:effectLst/>
                              <a:uLnTx/>
                              <a:uFillTx/>
                              <a:latin typeface="Cambria Math" panose="02040503050406030204" pitchFamily="18" charset="0"/>
                              <a:ea typeface="等线" panose="02010600030101010101" pitchFamily="2" charset="-122"/>
                              <a:cs typeface="+mn-cs"/>
                            </a:rPr>
                            <a:t>xxx</a:t>
                          </a:r>
                          <a:endPar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08641854"/>
                      </a:ext>
                    </a:extLst>
                  </a:tr>
                  <a:tr h="334482">
                    <a:tc>
                      <a:txBody>
                        <a:bodyPr/>
                        <a:lstStyle/>
                        <a:p>
                          <a:pPr algn="ctr" fontAlgn="ctr">
                            <a:lnSpc>
                              <a:spcPct val="100000"/>
                            </a:lnSpc>
                          </a:pPr>
                          <a:r>
                            <a:rPr lang="en-US" altLang="zh-CN" sz="1200" b="0" i="0" kern="1200" dirty="0">
                              <a:solidFill>
                                <a:schemeClr val="tx1"/>
                              </a:solidFill>
                              <a:latin typeface="Cambria Math" panose="02040503050406030204" pitchFamily="18" charset="0"/>
                              <a:ea typeface="+mn-ea"/>
                              <a:cs typeface="+mn-cs"/>
                            </a:rPr>
                            <a:t>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D1D1A"/>
                              </a:solidFill>
                              <a:effectLst/>
                              <a:uLnTx/>
                              <a:uFillTx/>
                              <a:latin typeface="Cambria Math" panose="02040503050406030204" pitchFamily="18" charset="0"/>
                              <a:ea typeface="等线" panose="02010600030101010101" pitchFamily="2" charset="-122"/>
                              <a:cs typeface="+mn-cs"/>
                            </a:rPr>
                            <a:t>xxx</a:t>
                          </a:r>
                          <a:endPar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596656563"/>
                      </a:ext>
                    </a:extLst>
                  </a:tr>
                  <a:tr h="334482">
                    <a:tc gridSpan="4">
                      <a:txBody>
                        <a:bodyPr/>
                        <a:lstStyle/>
                        <a:p>
                          <a:endParaRPr lang="zh-CN"/>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blipFill>
                          <a:blip r:embed="rId3"/>
                          <a:stretch>
                            <a:fillRect t="-521818" r="-113" b="-16364"/>
                          </a:stretch>
                        </a:blipFill>
                      </a:tcPr>
                    </a:tc>
                    <a:tc hMerge="1">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hMerge="1">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hMerge="1">
                      <a:txBody>
                        <a:bodyPr/>
                        <a:lstStyle/>
                        <a:p>
                          <a:pPr marL="0" marR="0" lvl="0" indent="0" algn="ctr" defTabSz="1187798"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Cambria Math" panose="02040503050406030204" pitchFamily="18" charset="0"/>
                              <a:ea typeface="等线" panose="02010600030101010101" pitchFamily="2" charset="-122"/>
                              <a:cs typeface="+mn-cs"/>
                            </a:rPr>
                            <a:t>xxx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766002149"/>
                      </a:ext>
                    </a:extLst>
                  </a:tr>
                </a:tbl>
              </a:graphicData>
            </a:graphic>
          </p:graphicFrame>
        </mc:Fallback>
      </mc:AlternateContent>
      <mc:AlternateContent xmlns:mc="http://schemas.openxmlformats.org/markup-compatibility/2006" xmlns:a14="http://schemas.microsoft.com/office/drawing/2010/main">
        <mc:Choice Requires="a14">
          <p:sp>
            <p:nvSpPr>
              <p:cNvPr id="59" name="矩形 58">
                <a:extLst>
                  <a:ext uri="{FF2B5EF4-FFF2-40B4-BE49-F238E27FC236}">
                    <a16:creationId xmlns:a16="http://schemas.microsoft.com/office/drawing/2014/main" id="{29A7D76F-3736-9EE6-687A-8BFAB3DEA6A8}"/>
                  </a:ext>
                </a:extLst>
              </p:cNvPr>
              <p:cNvSpPr/>
              <p:nvPr/>
            </p:nvSpPr>
            <p:spPr>
              <a:xfrm>
                <a:off x="467869" y="3902801"/>
                <a:ext cx="1800000" cy="90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rgbClr val="ED6D00"/>
                    </a:solidFill>
                    <a:latin typeface="+mn-ea"/>
                  </a:rPr>
                  <a:t>Event Spatial Features</a:t>
                </a:r>
                <a:endParaRPr lang="en-US" altLang="zh-CN" i="1" dirty="0">
                  <a:solidFill>
                    <a:srgbClr val="ED6D00"/>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Sup>
                        <m:sSubSupPr>
                          <m:ctrlPr>
                            <a:rPr lang="en-US" altLang="zh-CN" sz="1800" i="1" dirty="0">
                              <a:solidFill>
                                <a:srgbClr val="ED6D00"/>
                              </a:solidFill>
                              <a:latin typeface="Cambria Math" panose="02040503050406030204" pitchFamily="18" charset="0"/>
                            </a:rPr>
                          </m:ctrlPr>
                        </m:sSubSupPr>
                        <m:e>
                          <m:r>
                            <a:rPr lang="en-US" altLang="zh-CN" sz="1800" i="1" dirty="0">
                              <a:solidFill>
                                <a:srgbClr val="ED6D00"/>
                              </a:solidFill>
                              <a:latin typeface="Cambria Math" panose="02040503050406030204" pitchFamily="18" charset="0"/>
                            </a:rPr>
                            <m:t>𝐹𝑏</m:t>
                          </m:r>
                        </m:e>
                        <m:sub>
                          <m:r>
                            <a:rPr lang="en-US" altLang="zh-CN" sz="1800" i="1" dirty="0">
                              <a:solidFill>
                                <a:srgbClr val="ED6D00"/>
                              </a:solidFill>
                              <a:latin typeface="Cambria Math" panose="02040503050406030204" pitchFamily="18" charset="0"/>
                            </a:rPr>
                            <m:t>𝑑</m:t>
                          </m:r>
                        </m:sub>
                        <m:sup>
                          <m:r>
                            <a:rPr lang="en-US" altLang="zh-CN" sz="1800" i="1" dirty="0">
                              <a:solidFill>
                                <a:srgbClr val="ED6D00"/>
                              </a:solidFill>
                              <a:latin typeface="Cambria Math" panose="02040503050406030204" pitchFamily="18" charset="0"/>
                            </a:rPr>
                            <m:t>𝑇</m:t>
                          </m:r>
                        </m:sup>
                      </m:sSubSup>
                      <m:r>
                        <a:rPr lang="en-US" altLang="zh-CN" sz="1800" i="1" dirty="0">
                          <a:solidFill>
                            <a:srgbClr val="ED6D00"/>
                          </a:solidFill>
                          <a:latin typeface="Cambria Math" panose="02040503050406030204" pitchFamily="18" charset="0"/>
                        </a:rPr>
                        <m:t>∈</m:t>
                      </m:r>
                      <m:sSup>
                        <m:sSupPr>
                          <m:ctrlPr>
                            <a:rPr lang="en-US" altLang="zh-CN" sz="1800" i="1" dirty="0">
                              <a:solidFill>
                                <a:srgbClr val="ED6D00"/>
                              </a:solidFill>
                              <a:latin typeface="Cambria Math" panose="02040503050406030204" pitchFamily="18" charset="0"/>
                            </a:rPr>
                          </m:ctrlPr>
                        </m:sSupPr>
                        <m:e>
                          <m:r>
                            <a:rPr lang="en-US" altLang="zh-CN" sz="1800" i="1" dirty="0">
                              <a:solidFill>
                                <a:srgbClr val="ED6D00"/>
                              </a:solidFill>
                              <a:latin typeface="Cambria Math" panose="02040503050406030204" pitchFamily="18" charset="0"/>
                            </a:rPr>
                            <m:t>ℝ</m:t>
                          </m:r>
                        </m:e>
                        <m:sup>
                          <m:r>
                            <a:rPr lang="en-US" altLang="zh-CN" sz="1800" i="1" dirty="0">
                              <a:solidFill>
                                <a:srgbClr val="ED6D00"/>
                              </a:solidFill>
                              <a:latin typeface="Cambria Math" panose="02040503050406030204" pitchFamily="18" charset="0"/>
                            </a:rPr>
                            <m:t>𝐿</m:t>
                          </m:r>
                          <m:r>
                            <a:rPr lang="en-US" altLang="zh-CN" sz="1800" i="1" dirty="0">
                              <a:solidFill>
                                <a:srgbClr val="ED6D00"/>
                              </a:solidFill>
                              <a:latin typeface="Cambria Math" panose="02040503050406030204" pitchFamily="18" charset="0"/>
                            </a:rPr>
                            <m:t>×</m:t>
                          </m:r>
                          <m:sSub>
                            <m:sSubPr>
                              <m:ctrlPr>
                                <a:rPr lang="en-US" altLang="zh-CN" sz="1800" i="1" dirty="0">
                                  <a:solidFill>
                                    <a:srgbClr val="ED6D00"/>
                                  </a:solidFill>
                                  <a:latin typeface="Cambria Math" panose="02040503050406030204" pitchFamily="18" charset="0"/>
                                </a:rPr>
                              </m:ctrlPr>
                            </m:sSubPr>
                            <m:e>
                              <m:r>
                                <a:rPr lang="en-US" altLang="zh-CN" sz="1800" i="1" dirty="0">
                                  <a:solidFill>
                                    <a:srgbClr val="ED6D00"/>
                                  </a:solidFill>
                                  <a:latin typeface="Cambria Math" panose="02040503050406030204" pitchFamily="18" charset="0"/>
                                </a:rPr>
                                <m:t>𝑑</m:t>
                              </m:r>
                            </m:e>
                            <m:sub>
                              <m:r>
                                <a:rPr lang="en-US" altLang="zh-CN" sz="1800" i="1" dirty="0">
                                  <a:solidFill>
                                    <a:srgbClr val="ED6D00"/>
                                  </a:solidFill>
                                  <a:latin typeface="Cambria Math" panose="02040503050406030204" pitchFamily="18" charset="0"/>
                                </a:rPr>
                                <m:t>𝑏</m:t>
                              </m:r>
                            </m:sub>
                          </m:sSub>
                        </m:sup>
                      </m:sSup>
                    </m:oMath>
                  </m:oMathPara>
                </a14:m>
                <a:endParaRPr lang="zh-CN" altLang="en-US" sz="1800" dirty="0">
                  <a:solidFill>
                    <a:srgbClr val="ED6D00"/>
                  </a:solidFill>
                  <a:latin typeface="+mn-ea"/>
                </a:endParaRPr>
              </a:p>
            </p:txBody>
          </p:sp>
        </mc:Choice>
        <mc:Fallback xmlns="">
          <p:sp>
            <p:nvSpPr>
              <p:cNvPr id="59" name="矩形 58">
                <a:extLst>
                  <a:ext uri="{FF2B5EF4-FFF2-40B4-BE49-F238E27FC236}">
                    <a16:creationId xmlns:a16="http://schemas.microsoft.com/office/drawing/2014/main" id="{29A7D76F-3736-9EE6-687A-8BFAB3DEA6A8}"/>
                  </a:ext>
                </a:extLst>
              </p:cNvPr>
              <p:cNvSpPr>
                <a:spLocks noRot="1" noChangeAspect="1" noMove="1" noResize="1" noEditPoints="1" noAdjustHandles="1" noChangeArrowheads="1" noChangeShapeType="1" noTextEdit="1"/>
              </p:cNvSpPr>
              <p:nvPr/>
            </p:nvSpPr>
            <p:spPr>
              <a:xfrm>
                <a:off x="467869" y="3902801"/>
                <a:ext cx="1800000" cy="900000"/>
              </a:xfrm>
              <a:prstGeom prst="rect">
                <a:avLst/>
              </a:prstGeom>
              <a:blipFill>
                <a:blip r:embed="rId4"/>
                <a:stretch>
                  <a:fillRect t="-4000" b="-2000"/>
                </a:stretch>
              </a:blipFill>
              <a:ln>
                <a:solidFill>
                  <a:schemeClr val="tx1"/>
                </a:solidFill>
              </a:ln>
            </p:spPr>
            <p:txBody>
              <a:bodyPr/>
              <a:lstStyle/>
              <a:p>
                <a:r>
                  <a:rPr lang="zh-CN" altLang="en-US">
                    <a:noFill/>
                  </a:rPr>
                  <a:t> </a:t>
                </a:r>
              </a:p>
            </p:txBody>
          </p:sp>
        </mc:Fallback>
      </mc:AlternateContent>
      <p:sp>
        <p:nvSpPr>
          <p:cNvPr id="60" name="流程图: 手动操作 59">
            <a:extLst>
              <a:ext uri="{FF2B5EF4-FFF2-40B4-BE49-F238E27FC236}">
                <a16:creationId xmlns:a16="http://schemas.microsoft.com/office/drawing/2014/main" id="{D79EF442-E9A0-7B28-FB61-45C69CE7C5A0}"/>
              </a:ext>
            </a:extLst>
          </p:cNvPr>
          <p:cNvSpPr/>
          <p:nvPr/>
        </p:nvSpPr>
        <p:spPr>
          <a:xfrm rot="16200000">
            <a:off x="2880902" y="3902801"/>
            <a:ext cx="1240528" cy="900000"/>
          </a:xfrm>
          <a:prstGeom prst="flowChartManualOperation">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latin typeface="+mn-ea"/>
              </a:rPr>
              <a:t>Rules</a:t>
            </a:r>
            <a:endParaRPr lang="zh-CN" altLang="en-US" dirty="0">
              <a:solidFill>
                <a:schemeClr val="tx1"/>
              </a:solidFill>
              <a:latin typeface="+mn-ea"/>
            </a:endParaRPr>
          </a:p>
        </p:txBody>
      </p:sp>
      <p:cxnSp>
        <p:nvCxnSpPr>
          <p:cNvPr id="61" name="直接箭头连接符 60">
            <a:extLst>
              <a:ext uri="{FF2B5EF4-FFF2-40B4-BE49-F238E27FC236}">
                <a16:creationId xmlns:a16="http://schemas.microsoft.com/office/drawing/2014/main" id="{3DAC8299-3033-C6FF-0763-8CD2C1E2DFE2}"/>
              </a:ext>
            </a:extLst>
          </p:cNvPr>
          <p:cNvCxnSpPr>
            <a:cxnSpLocks/>
            <a:stCxn id="59" idx="3"/>
            <a:endCxn id="60" idx="0"/>
          </p:cNvCxnSpPr>
          <p:nvPr/>
        </p:nvCxnSpPr>
        <p:spPr>
          <a:xfrm>
            <a:off x="2267869" y="4352801"/>
            <a:ext cx="7832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矩形 61">
            <a:extLst>
              <a:ext uri="{FF2B5EF4-FFF2-40B4-BE49-F238E27FC236}">
                <a16:creationId xmlns:a16="http://schemas.microsoft.com/office/drawing/2014/main" id="{224E1452-D726-2067-7948-45CE2916D01A}"/>
              </a:ext>
            </a:extLst>
          </p:cNvPr>
          <p:cNvSpPr/>
          <p:nvPr/>
        </p:nvSpPr>
        <p:spPr>
          <a:xfrm>
            <a:off x="4695943" y="3902801"/>
            <a:ext cx="1105889" cy="90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latin typeface="+mn-ea"/>
              </a:rPr>
              <a:t>Results</a:t>
            </a:r>
          </a:p>
        </p:txBody>
      </p:sp>
      <p:cxnSp>
        <p:nvCxnSpPr>
          <p:cNvPr id="63" name="直接箭头连接符 62">
            <a:extLst>
              <a:ext uri="{FF2B5EF4-FFF2-40B4-BE49-F238E27FC236}">
                <a16:creationId xmlns:a16="http://schemas.microsoft.com/office/drawing/2014/main" id="{BD4F23CD-07AA-7B0D-851C-81E9BF0C5156}"/>
              </a:ext>
            </a:extLst>
          </p:cNvPr>
          <p:cNvCxnSpPr>
            <a:cxnSpLocks/>
            <a:stCxn id="60" idx="2"/>
            <a:endCxn id="62" idx="1"/>
          </p:cNvCxnSpPr>
          <p:nvPr/>
        </p:nvCxnSpPr>
        <p:spPr>
          <a:xfrm>
            <a:off x="3951166" y="4352801"/>
            <a:ext cx="7447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CA9D235E-2FCB-5D15-A41A-F88EC4B14BAD}"/>
              </a:ext>
            </a:extLst>
          </p:cNvPr>
          <p:cNvSpPr txBox="1"/>
          <p:nvPr/>
        </p:nvSpPr>
        <p:spPr>
          <a:xfrm>
            <a:off x="743630" y="5304191"/>
            <a:ext cx="10665380" cy="1352165"/>
          </a:xfrm>
          <a:prstGeom prst="rect">
            <a:avLst/>
          </a:prstGeom>
          <a:noFill/>
        </p:spPr>
        <p:txBody>
          <a:bodyPr wrap="square">
            <a:spAutoFit/>
          </a:bodyPr>
          <a:lstStyle/>
          <a:p>
            <a:pPr marL="285750" indent="-285750">
              <a:lnSpc>
                <a:spcPct val="150000"/>
              </a:lnSpc>
              <a:buClr>
                <a:srgbClr val="C7000B"/>
              </a:buClr>
              <a:buFont typeface="Wingdings" panose="05000000000000000000" pitchFamily="2" charset="2"/>
              <a:buChar char="Ø"/>
            </a:pPr>
            <a:r>
              <a:rPr lang="en-US" altLang="zh-CN" sz="1400" dirty="0">
                <a:latin typeface="等线" panose="02010600030101010101" pitchFamily="2" charset="-122"/>
                <a:ea typeface="等线" panose="02010600030101010101" pitchFamily="2" charset="-122"/>
              </a:rPr>
              <a:t>Existing research and experiments on our dataset demonstrate that proposing high-precision rules for time fine-grained features helps improve the overall performance of memory fault prediction.</a:t>
            </a:r>
          </a:p>
          <a:p>
            <a:pPr marL="285750" indent="-285750">
              <a:lnSpc>
                <a:spcPct val="150000"/>
              </a:lnSpc>
              <a:buClr>
                <a:srgbClr val="C7000B"/>
              </a:buClr>
              <a:buFont typeface="Wingdings" panose="05000000000000000000" pitchFamily="2" charset="2"/>
              <a:buChar char="Ø"/>
            </a:pPr>
            <a:r>
              <a:rPr lang="en-US" altLang="zh-CN" sz="1400" dirty="0">
                <a:latin typeface="等线" panose="02010600030101010101" pitchFamily="2" charset="-122"/>
                <a:ea typeface="等线" panose="02010600030101010101" pitchFamily="2" charset="-122"/>
              </a:rPr>
              <a:t>The recall ability of manually designed rules is limited. How to use data-driven methods to design learnable rules has become an important direction for memory fault prediction.</a:t>
            </a:r>
            <a:endParaRPr lang="zh-CN" altLang="en-US" sz="1400" dirty="0">
              <a:latin typeface="等线" panose="02010600030101010101" pitchFamily="2" charset="-122"/>
              <a:ea typeface="等线" panose="02010600030101010101" pitchFamily="2" charset="-122"/>
            </a:endParaRPr>
          </a:p>
        </p:txBody>
      </p:sp>
      <p:pic>
        <p:nvPicPr>
          <p:cNvPr id="70" name="图片 69">
            <a:extLst>
              <a:ext uri="{FF2B5EF4-FFF2-40B4-BE49-F238E27FC236}">
                <a16:creationId xmlns:a16="http://schemas.microsoft.com/office/drawing/2014/main" id="{12AE3695-95A6-7A92-6353-C54DAD96989B}"/>
              </a:ext>
            </a:extLst>
          </p:cNvPr>
          <p:cNvPicPr>
            <a:picLocks noChangeAspect="1"/>
          </p:cNvPicPr>
          <p:nvPr/>
        </p:nvPicPr>
        <p:blipFill>
          <a:blip r:embed="rId5"/>
          <a:stretch>
            <a:fillRect/>
          </a:stretch>
        </p:blipFill>
        <p:spPr>
          <a:xfrm>
            <a:off x="7632934" y="1156903"/>
            <a:ext cx="3438252" cy="2135001"/>
          </a:xfrm>
          <a:prstGeom prst="rect">
            <a:avLst/>
          </a:prstGeom>
        </p:spPr>
      </p:pic>
      <p:sp>
        <p:nvSpPr>
          <p:cNvPr id="72" name="箭头: 下 71">
            <a:extLst>
              <a:ext uri="{FF2B5EF4-FFF2-40B4-BE49-F238E27FC236}">
                <a16:creationId xmlns:a16="http://schemas.microsoft.com/office/drawing/2014/main" id="{25E93CAD-3827-675A-9EC5-E18B96002851}"/>
              </a:ext>
            </a:extLst>
          </p:cNvPr>
          <p:cNvSpPr/>
          <p:nvPr/>
        </p:nvSpPr>
        <p:spPr>
          <a:xfrm rot="16200000">
            <a:off x="6833740" y="1762878"/>
            <a:ext cx="329004" cy="830983"/>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73" name="组合 72">
            <a:extLst>
              <a:ext uri="{FF2B5EF4-FFF2-40B4-BE49-F238E27FC236}">
                <a16:creationId xmlns:a16="http://schemas.microsoft.com/office/drawing/2014/main" id="{9DB32F1C-F54A-4913-40A9-9FF50C406904}"/>
              </a:ext>
            </a:extLst>
          </p:cNvPr>
          <p:cNvGrpSpPr/>
          <p:nvPr/>
        </p:nvGrpSpPr>
        <p:grpSpPr>
          <a:xfrm>
            <a:off x="6076320" y="3385893"/>
            <a:ext cx="2084659" cy="1923132"/>
            <a:chOff x="491469" y="1098809"/>
            <a:chExt cx="11052474" cy="1163831"/>
          </a:xfrm>
          <a:effectLst>
            <a:outerShdw blurRad="50800" dist="38100" dir="2700000" algn="tl" rotWithShape="0">
              <a:prstClr val="black">
                <a:alpha val="40000"/>
              </a:prstClr>
            </a:outerShdw>
          </a:effectLst>
        </p:grpSpPr>
        <p:sp>
          <p:nvSpPr>
            <p:cNvPr id="74" name="矩形: 圆角 73">
              <a:extLst>
                <a:ext uri="{FF2B5EF4-FFF2-40B4-BE49-F238E27FC236}">
                  <a16:creationId xmlns:a16="http://schemas.microsoft.com/office/drawing/2014/main" id="{6F4232B6-5CBB-75DE-6044-95F573A1A608}"/>
                </a:ext>
              </a:extLst>
            </p:cNvPr>
            <p:cNvSpPr/>
            <p:nvPr/>
          </p:nvSpPr>
          <p:spPr>
            <a:xfrm>
              <a:off x="494077" y="1340231"/>
              <a:ext cx="11049866" cy="922409"/>
            </a:xfrm>
            <a:prstGeom prst="roundRect">
              <a:avLst>
                <a:gd name="adj" fmla="val 3173"/>
              </a:avLst>
            </a:prstGeom>
            <a:solidFill>
              <a:srgbClr val="FFFFFF"/>
            </a:solidFill>
            <a:ln w="12700" cap="flat" cmpd="sng" algn="ctr">
              <a:solidFill>
                <a:srgbClr val="666666">
                  <a:lumMod val="40000"/>
                  <a:lumOff val="60000"/>
                </a:srgbClr>
              </a:solidFill>
              <a:prstDash val="solid"/>
              <a:miter lim="800000"/>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defTabSz="914387">
                <a:defRPr/>
              </a:pPr>
              <a:r>
                <a:rPr lang="en-US" altLang="zh-CN" sz="1400" dirty="0">
                  <a:latin typeface="Arial"/>
                  <a:ea typeface="微软雅黑"/>
                </a:rPr>
                <a:t>A: Burst max </a:t>
              </a:r>
              <a:r>
                <a:rPr lang="en-US" altLang="zh-CN" sz="1400" dirty="0" err="1">
                  <a:latin typeface="Arial"/>
                  <a:ea typeface="微软雅黑"/>
                </a:rPr>
                <a:t>dist</a:t>
              </a:r>
              <a:r>
                <a:rPr lang="en-US" altLang="zh-CN" sz="1400" dirty="0">
                  <a:latin typeface="Arial"/>
                  <a:ea typeface="微软雅黑"/>
                </a:rPr>
                <a:t>=4</a:t>
              </a:r>
            </a:p>
            <a:p>
              <a:pPr defTabSz="914387">
                <a:defRPr/>
              </a:pPr>
              <a:r>
                <a:rPr lang="en-US" altLang="zh-CN" sz="1400" dirty="0">
                  <a:latin typeface="Arial"/>
                  <a:ea typeface="微软雅黑"/>
                </a:rPr>
                <a:t>B: Burst min </a:t>
              </a:r>
              <a:r>
                <a:rPr lang="en-US" altLang="zh-CN" sz="1400" dirty="0" err="1">
                  <a:latin typeface="Arial"/>
                  <a:ea typeface="微软雅黑"/>
                </a:rPr>
                <a:t>dist</a:t>
              </a:r>
              <a:r>
                <a:rPr lang="en-US" altLang="zh-CN" sz="1400" dirty="0">
                  <a:latin typeface="Arial"/>
                  <a:ea typeface="微软雅黑"/>
                </a:rPr>
                <a:t>=4</a:t>
              </a:r>
            </a:p>
            <a:p>
              <a:pPr defTabSz="914387">
                <a:defRPr/>
              </a:pPr>
              <a:r>
                <a:rPr lang="en-US" altLang="zh-CN" sz="1400" dirty="0">
                  <a:latin typeface="Arial"/>
                  <a:ea typeface="微软雅黑"/>
                </a:rPr>
                <a:t>C: </a:t>
              </a:r>
              <a:r>
                <a:rPr lang="en-US" altLang="zh-CN" sz="1400" dirty="0" err="1">
                  <a:latin typeface="Arial"/>
                  <a:ea typeface="微软雅黑"/>
                </a:rPr>
                <a:t>RetryRdErrlog</a:t>
              </a:r>
              <a:r>
                <a:rPr lang="en-US" altLang="zh-CN" sz="1400" dirty="0">
                  <a:latin typeface="Arial"/>
                  <a:ea typeface="微软雅黑"/>
                </a:rPr>
                <a:t> = UE</a:t>
              </a:r>
            </a:p>
            <a:p>
              <a:pPr algn="ctr" defTabSz="914387">
                <a:defRPr/>
              </a:pPr>
              <a:endParaRPr lang="en-US" altLang="zh-CN" sz="1400" dirty="0">
                <a:latin typeface="Arial"/>
                <a:ea typeface="微软雅黑"/>
              </a:endParaRPr>
            </a:p>
            <a:p>
              <a:pPr algn="ctr" defTabSz="914387">
                <a:defRPr/>
              </a:pPr>
              <a:r>
                <a:rPr lang="en-US" altLang="zh-CN" dirty="0">
                  <a:latin typeface="Arial"/>
                  <a:ea typeface="微软雅黑"/>
                </a:rPr>
                <a:t>Rule</a:t>
              </a:r>
              <a:r>
                <a:rPr lang="zh-CN" altLang="en-US" dirty="0">
                  <a:latin typeface="Arial"/>
                  <a:ea typeface="微软雅黑"/>
                </a:rPr>
                <a:t>：</a:t>
              </a:r>
              <a:r>
                <a:rPr lang="en-US" altLang="zh-CN" dirty="0">
                  <a:latin typeface="Arial"/>
                  <a:ea typeface="微软雅黑"/>
                </a:rPr>
                <a:t>A &amp; B &amp; C</a:t>
              </a:r>
              <a:endParaRPr lang="zh-CN" altLang="en-US" dirty="0">
                <a:latin typeface="Arial"/>
                <a:ea typeface="微软雅黑"/>
              </a:endParaRPr>
            </a:p>
          </p:txBody>
        </p:sp>
        <p:sp>
          <p:nvSpPr>
            <p:cNvPr id="75" name="矩形 74">
              <a:extLst>
                <a:ext uri="{FF2B5EF4-FFF2-40B4-BE49-F238E27FC236}">
                  <a16:creationId xmlns:a16="http://schemas.microsoft.com/office/drawing/2014/main" id="{2481D3E1-1A9F-C47D-8126-71CB689227AD}"/>
                </a:ext>
              </a:extLst>
            </p:cNvPr>
            <p:cNvSpPr/>
            <p:nvPr/>
          </p:nvSpPr>
          <p:spPr>
            <a:xfrm>
              <a:off x="491469" y="1568978"/>
              <a:ext cx="11049865" cy="334194"/>
            </a:xfrm>
            <a:prstGeom prst="rect">
              <a:avLst/>
            </a:prstGeom>
          </p:spPr>
          <p:txBody>
            <a:bodyPr wrap="square">
              <a:spAutoFit/>
            </a:bodyPr>
            <a:lstStyle/>
            <a:p>
              <a:pPr marL="432000" indent="-342866" defTabSz="914387">
                <a:lnSpc>
                  <a:spcPct val="120000"/>
                </a:lnSpc>
                <a:spcBef>
                  <a:spcPts val="500"/>
                </a:spcBef>
                <a:buFont typeface="+mj-lt"/>
                <a:buAutoNum type="arabicPeriod"/>
                <a:defRPr/>
              </a:pPr>
              <a:endParaRPr lang="zh-CN" altLang="en-US" sz="1400" dirty="0">
                <a:solidFill>
                  <a:srgbClr val="1D1D1A"/>
                </a:solidFill>
                <a:latin typeface="等线" panose="02010600030101010101" pitchFamily="2" charset="-122"/>
              </a:endParaRPr>
            </a:p>
          </p:txBody>
        </p:sp>
        <p:sp>
          <p:nvSpPr>
            <p:cNvPr id="76" name="矩形: 圆角 75">
              <a:extLst>
                <a:ext uri="{FF2B5EF4-FFF2-40B4-BE49-F238E27FC236}">
                  <a16:creationId xmlns:a16="http://schemas.microsoft.com/office/drawing/2014/main" id="{F54E55AE-6484-23FC-43A3-A8C46AEB2931}"/>
                </a:ext>
              </a:extLst>
            </p:cNvPr>
            <p:cNvSpPr/>
            <p:nvPr/>
          </p:nvSpPr>
          <p:spPr>
            <a:xfrm>
              <a:off x="491469" y="1098809"/>
              <a:ext cx="11052474" cy="209780"/>
            </a:xfrm>
            <a:prstGeom prst="roundRect">
              <a:avLst>
                <a:gd name="adj" fmla="val 5095"/>
              </a:avLst>
            </a:prstGeom>
            <a:solidFill>
              <a:srgbClr val="C7000B"/>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algn="ctr" defTabSz="914387">
                <a:defRPr/>
              </a:pPr>
              <a:r>
                <a:rPr kumimoji="1" lang="en-US" altLang="zh-CN" sz="1600" b="1" dirty="0">
                  <a:solidFill>
                    <a:srgbClr val="FFFFFF"/>
                  </a:solidFill>
                  <a:latin typeface="等线" panose="02010600030101010101" pitchFamily="2" charset="-122"/>
                  <a:ea typeface="等线" panose="02010600030101010101" pitchFamily="2" charset="-122"/>
                </a:rPr>
                <a:t>4 Burst Rule</a:t>
              </a:r>
              <a:endParaRPr kumimoji="1" lang="zh-CN" altLang="en-US" sz="1600" b="1" dirty="0">
                <a:solidFill>
                  <a:srgbClr val="FFFFFF"/>
                </a:solidFill>
                <a:latin typeface="等线" panose="02010600030101010101" pitchFamily="2" charset="-122"/>
                <a:ea typeface="等线" panose="02010600030101010101" pitchFamily="2" charset="-122"/>
              </a:endParaRPr>
            </a:p>
          </p:txBody>
        </p:sp>
      </p:grpSp>
      <p:grpSp>
        <p:nvGrpSpPr>
          <p:cNvPr id="77" name="组合 76">
            <a:extLst>
              <a:ext uri="{FF2B5EF4-FFF2-40B4-BE49-F238E27FC236}">
                <a16:creationId xmlns:a16="http://schemas.microsoft.com/office/drawing/2014/main" id="{BDBA36E4-C022-A5D4-F956-CE6DAA95C8C2}"/>
              </a:ext>
            </a:extLst>
          </p:cNvPr>
          <p:cNvGrpSpPr/>
          <p:nvPr/>
        </p:nvGrpSpPr>
        <p:grpSpPr>
          <a:xfrm>
            <a:off x="8311520" y="3385893"/>
            <a:ext cx="2084659" cy="1923132"/>
            <a:chOff x="491469" y="1098809"/>
            <a:chExt cx="11052474" cy="1163831"/>
          </a:xfrm>
          <a:effectLst>
            <a:outerShdw blurRad="50800" dist="38100" dir="2700000" algn="tl" rotWithShape="0">
              <a:prstClr val="black">
                <a:alpha val="40000"/>
              </a:prstClr>
            </a:outerShdw>
          </a:effectLst>
        </p:grpSpPr>
        <p:sp>
          <p:nvSpPr>
            <p:cNvPr id="78" name="矩形: 圆角 77">
              <a:extLst>
                <a:ext uri="{FF2B5EF4-FFF2-40B4-BE49-F238E27FC236}">
                  <a16:creationId xmlns:a16="http://schemas.microsoft.com/office/drawing/2014/main" id="{7DD18F06-B967-4497-B820-6E69947826A1}"/>
                </a:ext>
              </a:extLst>
            </p:cNvPr>
            <p:cNvSpPr/>
            <p:nvPr/>
          </p:nvSpPr>
          <p:spPr>
            <a:xfrm>
              <a:off x="491469" y="1340231"/>
              <a:ext cx="11049866" cy="922409"/>
            </a:xfrm>
            <a:prstGeom prst="roundRect">
              <a:avLst>
                <a:gd name="adj" fmla="val 3173"/>
              </a:avLst>
            </a:prstGeom>
            <a:solidFill>
              <a:srgbClr val="FFFFFF"/>
            </a:solidFill>
            <a:ln w="12700" cap="flat" cmpd="sng" algn="ctr">
              <a:solidFill>
                <a:srgbClr val="666666">
                  <a:lumMod val="40000"/>
                  <a:lumOff val="60000"/>
                </a:srgbClr>
              </a:solidFill>
              <a:prstDash val="solid"/>
              <a:miter lim="800000"/>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defTabSz="914387">
                <a:defRPr/>
              </a:pPr>
              <a:r>
                <a:rPr lang="en-US" altLang="zh-CN" sz="1400" dirty="0">
                  <a:latin typeface="Arial"/>
                  <a:ea typeface="微软雅黑"/>
                </a:rPr>
                <a:t>A: </a:t>
              </a:r>
              <a:r>
                <a:rPr lang="en-US" altLang="zh-CN" sz="1400" dirty="0" err="1">
                  <a:latin typeface="Arial"/>
                  <a:ea typeface="微软雅黑"/>
                </a:rPr>
                <a:t>dq</a:t>
              </a:r>
              <a:r>
                <a:rPr lang="en-US" altLang="zh-CN" sz="1400" dirty="0">
                  <a:latin typeface="Arial"/>
                  <a:ea typeface="微软雅黑"/>
                </a:rPr>
                <a:t>[0,1] exist error</a:t>
              </a:r>
            </a:p>
            <a:p>
              <a:pPr defTabSz="914387">
                <a:defRPr/>
              </a:pPr>
              <a:r>
                <a:rPr lang="en-US" altLang="zh-CN" sz="1400" dirty="0">
                  <a:latin typeface="Arial"/>
                  <a:ea typeface="微软雅黑"/>
                </a:rPr>
                <a:t>B: </a:t>
              </a:r>
              <a:r>
                <a:rPr lang="en-US" altLang="zh-CN" sz="1400" dirty="0" err="1">
                  <a:latin typeface="Arial"/>
                  <a:ea typeface="微软雅黑"/>
                </a:rPr>
                <a:t>dq</a:t>
              </a:r>
              <a:r>
                <a:rPr lang="en-US" altLang="zh-CN" sz="1400" dirty="0">
                  <a:latin typeface="Arial"/>
                  <a:ea typeface="微软雅黑"/>
                </a:rPr>
                <a:t>[2,3] exist error</a:t>
              </a:r>
            </a:p>
            <a:p>
              <a:pPr defTabSz="914387">
                <a:defRPr/>
              </a:pPr>
              <a:endParaRPr lang="en-US" altLang="zh-CN" sz="1400" dirty="0">
                <a:latin typeface="Arial"/>
                <a:ea typeface="微软雅黑"/>
              </a:endParaRPr>
            </a:p>
            <a:p>
              <a:pPr algn="ctr" defTabSz="914387">
                <a:defRPr/>
              </a:pPr>
              <a:endParaRPr lang="en-US" altLang="zh-CN" sz="1400" dirty="0">
                <a:latin typeface="Arial"/>
                <a:ea typeface="微软雅黑"/>
              </a:endParaRPr>
            </a:p>
            <a:p>
              <a:pPr algn="ctr" defTabSz="914387">
                <a:defRPr/>
              </a:pPr>
              <a:r>
                <a:rPr lang="en-US" altLang="zh-CN" dirty="0">
                  <a:latin typeface="Arial"/>
                  <a:ea typeface="微软雅黑"/>
                </a:rPr>
                <a:t>Rule</a:t>
              </a:r>
              <a:r>
                <a:rPr lang="zh-CN" altLang="en-US" dirty="0">
                  <a:latin typeface="Arial"/>
                  <a:ea typeface="微软雅黑"/>
                </a:rPr>
                <a:t>：</a:t>
              </a:r>
              <a:r>
                <a:rPr lang="en-US" altLang="zh-CN" dirty="0">
                  <a:latin typeface="Arial"/>
                  <a:ea typeface="微软雅黑"/>
                </a:rPr>
                <a:t>A &amp; B</a:t>
              </a:r>
              <a:endParaRPr lang="zh-CN" altLang="en-US" dirty="0">
                <a:latin typeface="Arial"/>
                <a:ea typeface="微软雅黑"/>
              </a:endParaRPr>
            </a:p>
          </p:txBody>
        </p:sp>
        <p:sp>
          <p:nvSpPr>
            <p:cNvPr id="79" name="矩形 78">
              <a:extLst>
                <a:ext uri="{FF2B5EF4-FFF2-40B4-BE49-F238E27FC236}">
                  <a16:creationId xmlns:a16="http://schemas.microsoft.com/office/drawing/2014/main" id="{964C54FC-D80C-3F36-C9C8-035F7B7AD6AD}"/>
                </a:ext>
              </a:extLst>
            </p:cNvPr>
            <p:cNvSpPr/>
            <p:nvPr/>
          </p:nvSpPr>
          <p:spPr>
            <a:xfrm>
              <a:off x="491469" y="1568978"/>
              <a:ext cx="11049865" cy="334194"/>
            </a:xfrm>
            <a:prstGeom prst="rect">
              <a:avLst/>
            </a:prstGeom>
          </p:spPr>
          <p:txBody>
            <a:bodyPr wrap="square">
              <a:spAutoFit/>
            </a:bodyPr>
            <a:lstStyle/>
            <a:p>
              <a:pPr marL="432000" indent="-342866" defTabSz="914387">
                <a:lnSpc>
                  <a:spcPct val="120000"/>
                </a:lnSpc>
                <a:spcBef>
                  <a:spcPts val="500"/>
                </a:spcBef>
                <a:buFont typeface="+mj-lt"/>
                <a:buAutoNum type="arabicPeriod"/>
                <a:defRPr/>
              </a:pPr>
              <a:endParaRPr lang="zh-CN" altLang="en-US" sz="1400" dirty="0">
                <a:solidFill>
                  <a:srgbClr val="1D1D1A"/>
                </a:solidFill>
                <a:latin typeface="等线" panose="02010600030101010101" pitchFamily="2" charset="-122"/>
              </a:endParaRPr>
            </a:p>
          </p:txBody>
        </p:sp>
        <p:sp>
          <p:nvSpPr>
            <p:cNvPr id="80" name="矩形: 圆角 79">
              <a:extLst>
                <a:ext uri="{FF2B5EF4-FFF2-40B4-BE49-F238E27FC236}">
                  <a16:creationId xmlns:a16="http://schemas.microsoft.com/office/drawing/2014/main" id="{1BDFC973-2026-B657-C24E-63C7C4D193F4}"/>
                </a:ext>
              </a:extLst>
            </p:cNvPr>
            <p:cNvSpPr/>
            <p:nvPr/>
          </p:nvSpPr>
          <p:spPr>
            <a:xfrm>
              <a:off x="491469" y="1098809"/>
              <a:ext cx="11052474" cy="209780"/>
            </a:xfrm>
            <a:prstGeom prst="roundRect">
              <a:avLst>
                <a:gd name="adj" fmla="val 5095"/>
              </a:avLst>
            </a:prstGeom>
            <a:solidFill>
              <a:srgbClr val="C7000B"/>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algn="ctr" defTabSz="914387">
                <a:defRPr/>
              </a:pPr>
              <a:r>
                <a:rPr kumimoji="1" lang="en-US" altLang="zh-CN" sz="1600" b="1" dirty="0">
                  <a:solidFill>
                    <a:srgbClr val="FFFFFF"/>
                  </a:solidFill>
                  <a:latin typeface="等线" panose="02010600030101010101" pitchFamily="2" charset="-122"/>
                  <a:ea typeface="等线" panose="02010600030101010101" pitchFamily="2" charset="-122"/>
                </a:rPr>
                <a:t>Risky CE Rule</a:t>
              </a:r>
              <a:endParaRPr kumimoji="1" lang="zh-CN" altLang="en-US" sz="1600" b="1" dirty="0">
                <a:solidFill>
                  <a:srgbClr val="FFFFFF"/>
                </a:solidFill>
                <a:latin typeface="等线" panose="02010600030101010101" pitchFamily="2" charset="-122"/>
                <a:ea typeface="等线" panose="02010600030101010101" pitchFamily="2" charset="-122"/>
              </a:endParaRPr>
            </a:p>
          </p:txBody>
        </p:sp>
      </p:grpSp>
      <p:grpSp>
        <p:nvGrpSpPr>
          <p:cNvPr id="81" name="组合 80">
            <a:extLst>
              <a:ext uri="{FF2B5EF4-FFF2-40B4-BE49-F238E27FC236}">
                <a16:creationId xmlns:a16="http://schemas.microsoft.com/office/drawing/2014/main" id="{553A3249-750C-0675-D28E-1F6A62E4D802}"/>
              </a:ext>
            </a:extLst>
          </p:cNvPr>
          <p:cNvGrpSpPr/>
          <p:nvPr/>
        </p:nvGrpSpPr>
        <p:grpSpPr>
          <a:xfrm>
            <a:off x="10546227" y="3380329"/>
            <a:ext cx="1537411" cy="1923132"/>
            <a:chOff x="491469" y="1098809"/>
            <a:chExt cx="11052474" cy="1163831"/>
          </a:xfrm>
          <a:effectLst>
            <a:outerShdw blurRad="50800" dist="38100" dir="2700000" algn="tl" rotWithShape="0">
              <a:prstClr val="black">
                <a:alpha val="40000"/>
              </a:prstClr>
            </a:outerShdw>
          </a:effectLst>
        </p:grpSpPr>
        <mc:AlternateContent xmlns:mc="http://schemas.openxmlformats.org/markup-compatibility/2006" xmlns:a14="http://schemas.microsoft.com/office/drawing/2010/main">
          <mc:Choice Requires="a14">
            <p:sp>
              <p:nvSpPr>
                <p:cNvPr id="82" name="矩形: 圆角 81">
                  <a:extLst>
                    <a:ext uri="{FF2B5EF4-FFF2-40B4-BE49-F238E27FC236}">
                      <a16:creationId xmlns:a16="http://schemas.microsoft.com/office/drawing/2014/main" id="{7136FEB7-F4D7-5AB8-C6AB-432079A43302}"/>
                    </a:ext>
                  </a:extLst>
                </p:cNvPr>
                <p:cNvSpPr/>
                <p:nvPr/>
              </p:nvSpPr>
              <p:spPr>
                <a:xfrm>
                  <a:off x="491469" y="1340231"/>
                  <a:ext cx="11049866" cy="922409"/>
                </a:xfrm>
                <a:prstGeom prst="roundRect">
                  <a:avLst>
                    <a:gd name="adj" fmla="val 3173"/>
                  </a:avLst>
                </a:prstGeom>
                <a:solidFill>
                  <a:srgbClr val="FFFFFF"/>
                </a:solidFill>
                <a:ln w="12700" cap="flat" cmpd="sng" algn="ctr">
                  <a:solidFill>
                    <a:srgbClr val="666666">
                      <a:lumMod val="40000"/>
                      <a:lumOff val="60000"/>
                    </a:srgbClr>
                  </a:solidFill>
                  <a:prstDash val="solid"/>
                  <a:miter lim="800000"/>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defTabSz="914387">
                    <a:defRPr/>
                  </a:pPr>
                  <a:r>
                    <a:rPr lang="en-US" altLang="zh-CN" sz="1400" b="0" dirty="0">
                      <a:latin typeface="Arial"/>
                      <a:ea typeface="微软雅黑"/>
                    </a:rPr>
                    <a:t>A: XXX</a:t>
                  </a:r>
                </a:p>
                <a:p>
                  <a:pPr defTabSz="914387">
                    <a:defRPr/>
                  </a:pPr>
                  <a:r>
                    <a:rPr lang="en-US" altLang="zh-CN" sz="1400" dirty="0">
                      <a:latin typeface="Arial"/>
                      <a:ea typeface="微软雅黑"/>
                    </a:rPr>
                    <a:t>B: XXX</a:t>
                  </a:r>
                </a:p>
                <a:p>
                  <a:pPr defTabSz="914387">
                    <a:defRPr/>
                  </a:pPr>
                  <a14:m>
                    <m:oMathPara xmlns:m="http://schemas.openxmlformats.org/officeDocument/2006/math">
                      <m:oMathParaPr>
                        <m:jc m:val="left"/>
                      </m:oMathParaPr>
                      <m:oMath xmlns:m="http://schemas.openxmlformats.org/officeDocument/2006/math">
                        <m:r>
                          <a:rPr lang="en-US" altLang="zh-CN" sz="1400" b="0" i="1" smtClean="0">
                            <a:latin typeface="Cambria Math" panose="02040503050406030204" pitchFamily="18" charset="0"/>
                            <a:ea typeface="微软雅黑"/>
                          </a:rPr>
                          <m:t>⋯</m:t>
                        </m:r>
                      </m:oMath>
                    </m:oMathPara>
                  </a14:m>
                  <a:endParaRPr lang="en-US" altLang="zh-CN" sz="1400" dirty="0">
                    <a:latin typeface="Arial"/>
                    <a:ea typeface="微软雅黑"/>
                  </a:endParaRPr>
                </a:p>
                <a:p>
                  <a:pPr defTabSz="914387">
                    <a:defRPr/>
                  </a:pPr>
                  <a:endParaRPr lang="en-US" altLang="zh-CN" sz="1400" dirty="0">
                    <a:latin typeface="Arial"/>
                    <a:ea typeface="微软雅黑"/>
                  </a:endParaRPr>
                </a:p>
                <a:p>
                  <a:pPr algn="ctr" defTabSz="914387">
                    <a:defRPr/>
                  </a:pPr>
                  <a:r>
                    <a:rPr lang="en-US" altLang="zh-CN" dirty="0">
                      <a:latin typeface="Arial"/>
                      <a:ea typeface="微软雅黑"/>
                    </a:rPr>
                    <a:t>Rule</a:t>
                  </a:r>
                  <a:r>
                    <a:rPr lang="zh-CN" altLang="en-US" dirty="0">
                      <a:latin typeface="Arial"/>
                      <a:ea typeface="微软雅黑"/>
                    </a:rPr>
                    <a:t>：</a:t>
                  </a:r>
                  <a14:m>
                    <m:oMath xmlns:m="http://schemas.openxmlformats.org/officeDocument/2006/math">
                      <m:r>
                        <a:rPr lang="en-US" altLang="zh-CN" sz="1600" b="0" i="1" smtClean="0">
                          <a:latin typeface="Cambria Math" panose="02040503050406030204" pitchFamily="18" charset="0"/>
                          <a:ea typeface="微软雅黑"/>
                        </a:rPr>
                        <m:t>∩(⋯)</m:t>
                      </m:r>
                    </m:oMath>
                  </a14:m>
                  <a:endParaRPr lang="en-US" altLang="zh-CN" b="0" dirty="0">
                    <a:latin typeface="Arial"/>
                    <a:ea typeface="微软雅黑"/>
                  </a:endParaRPr>
                </a:p>
              </p:txBody>
            </p:sp>
          </mc:Choice>
          <mc:Fallback xmlns="">
            <p:sp>
              <p:nvSpPr>
                <p:cNvPr id="82" name="矩形: 圆角 81">
                  <a:extLst>
                    <a:ext uri="{FF2B5EF4-FFF2-40B4-BE49-F238E27FC236}">
                      <a16:creationId xmlns:a16="http://schemas.microsoft.com/office/drawing/2014/main" id="{7136FEB7-F4D7-5AB8-C6AB-432079A43302}"/>
                    </a:ext>
                  </a:extLst>
                </p:cNvPr>
                <p:cNvSpPr>
                  <a:spLocks noRot="1" noChangeAspect="1" noMove="1" noResize="1" noEditPoints="1" noAdjustHandles="1" noChangeArrowheads="1" noChangeShapeType="1" noTextEdit="1"/>
                </p:cNvSpPr>
                <p:nvPr/>
              </p:nvSpPr>
              <p:spPr>
                <a:xfrm>
                  <a:off x="491469" y="1340231"/>
                  <a:ext cx="11049866" cy="922409"/>
                </a:xfrm>
                <a:prstGeom prst="roundRect">
                  <a:avLst>
                    <a:gd name="adj" fmla="val 3173"/>
                  </a:avLst>
                </a:prstGeom>
                <a:blipFill>
                  <a:blip r:embed="rId6"/>
                  <a:stretch>
                    <a:fillRect/>
                  </a:stretch>
                </a:blipFill>
                <a:ln w="12700" cap="flat" cmpd="sng" algn="ctr">
                  <a:solidFill>
                    <a:srgbClr val="666666">
                      <a:lumMod val="40000"/>
                      <a:lumOff val="60000"/>
                    </a:srgbClr>
                  </a:solidFill>
                  <a:prstDash val="solid"/>
                  <a:miter lim="800000"/>
                </a:ln>
                <a:effectLst/>
              </p:spPr>
              <p:txBody>
                <a:bodyPr/>
                <a:lstStyle/>
                <a:p>
                  <a:r>
                    <a:rPr lang="zh-CN" altLang="en-US">
                      <a:noFill/>
                    </a:rPr>
                    <a:t> </a:t>
                  </a:r>
                </a:p>
              </p:txBody>
            </p:sp>
          </mc:Fallback>
        </mc:AlternateContent>
        <p:sp>
          <p:nvSpPr>
            <p:cNvPr id="83" name="矩形 82">
              <a:extLst>
                <a:ext uri="{FF2B5EF4-FFF2-40B4-BE49-F238E27FC236}">
                  <a16:creationId xmlns:a16="http://schemas.microsoft.com/office/drawing/2014/main" id="{07695752-8873-F270-357C-FB46C1278E0D}"/>
                </a:ext>
              </a:extLst>
            </p:cNvPr>
            <p:cNvSpPr/>
            <p:nvPr/>
          </p:nvSpPr>
          <p:spPr>
            <a:xfrm>
              <a:off x="491469" y="1568978"/>
              <a:ext cx="11049865" cy="334194"/>
            </a:xfrm>
            <a:prstGeom prst="rect">
              <a:avLst/>
            </a:prstGeom>
          </p:spPr>
          <p:txBody>
            <a:bodyPr wrap="square">
              <a:spAutoFit/>
            </a:bodyPr>
            <a:lstStyle/>
            <a:p>
              <a:pPr marL="432000" indent="-342866" defTabSz="914387">
                <a:lnSpc>
                  <a:spcPct val="120000"/>
                </a:lnSpc>
                <a:spcBef>
                  <a:spcPts val="500"/>
                </a:spcBef>
                <a:buFont typeface="+mj-lt"/>
                <a:buAutoNum type="arabicPeriod"/>
                <a:defRPr/>
              </a:pPr>
              <a:endParaRPr lang="zh-CN" altLang="en-US" sz="1400" dirty="0">
                <a:solidFill>
                  <a:srgbClr val="1D1D1A"/>
                </a:solidFill>
                <a:latin typeface="等线" panose="02010600030101010101" pitchFamily="2" charset="-122"/>
              </a:endParaRPr>
            </a:p>
          </p:txBody>
        </p:sp>
        <p:sp>
          <p:nvSpPr>
            <p:cNvPr id="84" name="矩形: 圆角 83">
              <a:extLst>
                <a:ext uri="{FF2B5EF4-FFF2-40B4-BE49-F238E27FC236}">
                  <a16:creationId xmlns:a16="http://schemas.microsoft.com/office/drawing/2014/main" id="{82F7D5B6-A42B-9E64-DD34-FCD9CCAB2B9E}"/>
                </a:ext>
              </a:extLst>
            </p:cNvPr>
            <p:cNvSpPr/>
            <p:nvPr/>
          </p:nvSpPr>
          <p:spPr>
            <a:xfrm>
              <a:off x="491469" y="1098809"/>
              <a:ext cx="11052474" cy="209780"/>
            </a:xfrm>
            <a:prstGeom prst="roundRect">
              <a:avLst>
                <a:gd name="adj" fmla="val 5095"/>
              </a:avLst>
            </a:prstGeom>
            <a:solidFill>
              <a:srgbClr val="C7000B"/>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algn="ctr" defTabSz="914387">
                <a:defRPr/>
              </a:pPr>
              <a:r>
                <a:rPr kumimoji="1" lang="en-US" altLang="zh-CN" sz="1600" b="1" dirty="0">
                  <a:solidFill>
                    <a:srgbClr val="FFFFFF"/>
                  </a:solidFill>
                  <a:latin typeface="等线" panose="02010600030101010101" pitchFamily="2" charset="-122"/>
                  <a:ea typeface="等线" panose="02010600030101010101" pitchFamily="2" charset="-122"/>
                </a:rPr>
                <a:t>Others</a:t>
              </a:r>
              <a:endParaRPr kumimoji="1" lang="zh-CN" altLang="en-US" sz="1600" b="1" dirty="0">
                <a:solidFill>
                  <a:srgbClr val="FFFFFF"/>
                </a:solidFill>
                <a:latin typeface="等线" panose="02010600030101010101" pitchFamily="2" charset="-122"/>
                <a:ea typeface="等线" panose="02010600030101010101" pitchFamily="2" charset="-122"/>
              </a:endParaRPr>
            </a:p>
          </p:txBody>
        </p:sp>
      </p:grpSp>
    </p:spTree>
    <p:extLst>
      <p:ext uri="{BB962C8B-B14F-4D97-AF65-F5344CB8AC3E}">
        <p14:creationId xmlns:p14="http://schemas.microsoft.com/office/powerpoint/2010/main" val="2192346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A620A8C-8690-0EEA-C7CE-66F729B0CAD2}"/>
              </a:ext>
            </a:extLst>
          </p:cNvPr>
          <p:cNvSpPr txBox="1"/>
          <p:nvPr/>
        </p:nvSpPr>
        <p:spPr>
          <a:xfrm>
            <a:off x="790215" y="365302"/>
            <a:ext cx="7836200" cy="461665"/>
          </a:xfrm>
          <a:prstGeom prst="rect">
            <a:avLst/>
          </a:prstGeom>
          <a:noFill/>
        </p:spPr>
        <p:txBody>
          <a:bodyPr wrap="square" rtlCol="0">
            <a:spAutoFit/>
          </a:bodyPr>
          <a:lstStyle/>
          <a:p>
            <a:r>
              <a:rPr lang="en-US" altLang="zh-CN" sz="2400" b="1" dirty="0">
                <a:solidFill>
                  <a:schemeClr val="accent5">
                    <a:lumMod val="75000"/>
                  </a:schemeClr>
                </a:solidFill>
                <a:latin typeface="-apple-system"/>
              </a:rPr>
              <a:t>2.3 Time-point scale model</a:t>
            </a:r>
            <a:endParaRPr lang="en-US" altLang="zh-CN" sz="2400" b="1" dirty="0">
              <a:solidFill>
                <a:schemeClr val="accent5">
                  <a:lumMod val="75000"/>
                </a:schemeClr>
              </a:solidFill>
              <a:latin typeface="+mn-ea"/>
            </a:endParaRPr>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A6BDBCB9-A9D4-32FE-ACC4-51EE8C8958D6}"/>
                  </a:ext>
                </a:extLst>
              </p:cNvPr>
              <p:cNvGraphicFramePr>
                <a:graphicFrameLocks noGrp="1"/>
              </p:cNvGraphicFramePr>
              <p:nvPr/>
            </p:nvGraphicFramePr>
            <p:xfrm>
              <a:off x="1080158" y="1041278"/>
              <a:ext cx="5039995" cy="5349039"/>
            </p:xfrm>
            <a:graphic>
              <a:graphicData uri="http://schemas.openxmlformats.org/drawingml/2006/table">
                <a:tbl>
                  <a:tblPr firstRow="1" firstCol="1" bandRow="1">
                    <a:tableStyleId>{72833802-FEF1-4C79-8D5D-14CF1EAF98D9}</a:tableStyleId>
                  </a:tblPr>
                  <a:tblGrid>
                    <a:gridCol w="5039995">
                      <a:extLst>
                        <a:ext uri="{9D8B030D-6E8A-4147-A177-3AD203B41FA5}">
                          <a16:colId xmlns:a16="http://schemas.microsoft.com/office/drawing/2014/main" val="361976532"/>
                        </a:ext>
                      </a:extLst>
                    </a:gridCol>
                  </a:tblGrid>
                  <a:tr h="297994">
                    <a:tc>
                      <a:txBody>
                        <a:bodyPr/>
                        <a:lstStyle/>
                        <a:p>
                          <a:pPr algn="ctr">
                            <a:lnSpc>
                              <a:spcPct val="120000"/>
                            </a:lnSpc>
                          </a:pPr>
                          <a:r>
                            <a:rPr lang="en-US" sz="1200" kern="100" dirty="0">
                              <a:solidFill>
                                <a:schemeClr val="tx2"/>
                              </a:solidFill>
                              <a:effectLst/>
                            </a:rPr>
                            <a:t>Algorithm 1 DIMM-Centric Decision Tree</a:t>
                          </a:r>
                          <a:endParaRPr lang="zh-CN" sz="1200" kern="100" dirty="0">
                            <a:solidFill>
                              <a:schemeClr val="tx2"/>
                            </a:solidFill>
                            <a:effectLst/>
                            <a:latin typeface="Times New Roman" panose="02020603050405020304" pitchFamily="18" charset="0"/>
                            <a:ea typeface="宋体" panose="02010600030101010101" pitchFamily="2" charset="-122"/>
                          </a:endParaRPr>
                        </a:p>
                      </a:txBody>
                      <a:tcPr marL="68580" marR="68580" marT="0" marB="0" anchor="ctr">
                        <a:solidFill>
                          <a:srgbClr val="C00000"/>
                        </a:solidFill>
                      </a:tcPr>
                    </a:tc>
                    <a:extLst>
                      <a:ext uri="{0D108BD9-81ED-4DB2-BD59-A6C34878D82A}">
                        <a16:rowId xmlns:a16="http://schemas.microsoft.com/office/drawing/2014/main" val="1843028271"/>
                      </a:ext>
                    </a:extLst>
                  </a:tr>
                  <a:tr h="318406">
                    <a:tc>
                      <a:txBody>
                        <a:bodyPr/>
                        <a:lstStyle/>
                        <a:p>
                          <a:pPr algn="just">
                            <a:lnSpc>
                              <a:spcPct val="150000"/>
                            </a:lnSpc>
                          </a:pPr>
                          <a:r>
                            <a:rPr lang="en-US" sz="1200" kern="100" dirty="0">
                              <a:effectLst/>
                            </a:rPr>
                            <a:t>Require: Training data </a:t>
                          </a:r>
                          <a14:m>
                            <m:oMath xmlns:m="http://schemas.openxmlformats.org/officeDocument/2006/math">
                              <m:r>
                                <a:rPr lang="en-US" sz="1200" kern="100">
                                  <a:effectLst/>
                                  <a:latin typeface="Cambria Math" panose="02040503050406030204" pitchFamily="18" charset="0"/>
                                </a:rPr>
                                <m:t>𝐷</m:t>
                              </m:r>
                            </m:oMath>
                          </a14:m>
                          <a:r>
                            <a:rPr lang="en-US" sz="1200" kern="100" dirty="0">
                              <a:effectLst/>
                            </a:rPr>
                            <a:t> with DIMM IDs and features </a:t>
                          </a:r>
                          <a14:m>
                            <m:oMath xmlns:m="http://schemas.openxmlformats.org/officeDocument/2006/math">
                              <m:r>
                                <a:rPr lang="en-US" sz="1200" kern="100">
                                  <a:effectLst/>
                                  <a:latin typeface="Cambria Math" panose="02040503050406030204" pitchFamily="18" charset="0"/>
                                </a:rPr>
                                <m:t>𝐹</m:t>
                              </m:r>
                            </m:oMath>
                          </a14:m>
                          <a:endParaRPr lang="zh-CN" sz="1200" kern="100" dirty="0">
                            <a:effectLst/>
                          </a:endParaRPr>
                        </a:p>
                        <a:p>
                          <a:pPr algn="just">
                            <a:lnSpc>
                              <a:spcPct val="150000"/>
                            </a:lnSpc>
                          </a:pPr>
                          <a:r>
                            <a:rPr lang="en-US" sz="1200" kern="100" dirty="0">
                              <a:effectLst/>
                            </a:rPr>
                            <a:t>Ensure: Decision tree for time-point predictions</a:t>
                          </a:r>
                          <a:endParaRPr lang="zh-CN" sz="1200" kern="100" dirty="0">
                            <a:effectLst/>
                            <a:latin typeface="Times New Roman" panose="02020603050405020304" pitchFamily="18" charset="0"/>
                            <a:ea typeface="宋体" panose="02010600030101010101" pitchFamily="2" charset="-122"/>
                          </a:endParaRPr>
                        </a:p>
                      </a:txBody>
                      <a:tcPr marL="68580" marR="68580" marT="0" marB="0">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31728280"/>
                      </a:ext>
                    </a:extLst>
                  </a:tr>
                  <a:tr h="215900">
                    <a:tc>
                      <a:txBody>
                        <a:bodyPr/>
                        <a:lstStyle/>
                        <a:p>
                          <a:pPr marL="342900" lvl="0" indent="-342900" algn="just">
                            <a:lnSpc>
                              <a:spcPct val="120000"/>
                            </a:lnSpc>
                            <a:buSzPts val="800"/>
                            <a:buFont typeface="Times New Roman" panose="02020603050405020304" pitchFamily="18" charset="0"/>
                            <a:buAutoNum type="arabicPeriod"/>
                          </a:pPr>
                          <a14:m>
                            <m:oMath xmlns:m="http://schemas.openxmlformats.org/officeDocument/2006/math">
                              <m:r>
                                <m:rPr>
                                  <m:nor/>
                                </m:rPr>
                                <a:rPr lang="en-US" sz="1200" kern="100">
                                  <a:effectLst/>
                                </a:rPr>
                                <m:t>DIMM</m:t>
                              </m:r>
                              <m:r>
                                <m:rPr>
                                  <m:nor/>
                                </m:rPr>
                                <a:rPr lang="en-US" sz="1200" kern="100">
                                  <a:effectLst/>
                                </a:rPr>
                                <m:t> </m:t>
                              </m:r>
                              <m:r>
                                <m:rPr>
                                  <m:nor/>
                                </m:rPr>
                                <a:rPr lang="en-US" sz="1200" kern="100">
                                  <a:effectLst/>
                                </a:rPr>
                                <m:t>Gini</m:t>
                              </m:r>
                              <m:r>
                                <m:rPr>
                                  <m:nor/>
                                </m:rPr>
                                <a:rPr lang="en-US" sz="1200" kern="100">
                                  <a:effectLst/>
                                </a:rPr>
                                <m:t>:</m:t>
                              </m:r>
                            </m:oMath>
                          </a14:m>
                          <a:endParaRPr lang="zh-CN" sz="1200" kern="100" dirty="0">
                            <a:effectLst/>
                          </a:endParaRPr>
                        </a:p>
                        <a:p>
                          <a:pPr marL="279400" indent="266700" algn="just">
                            <a:lnSpc>
                              <a:spcPct val="120000"/>
                            </a:lnSpc>
                          </a:pPr>
                          <a14:m>
                            <m:oMathPara xmlns:m="http://schemas.openxmlformats.org/officeDocument/2006/math">
                              <m:oMathParaPr>
                                <m:jc m:val="centerGroup"/>
                              </m:oMathParaPr>
                              <m:oMath xmlns:m="http://schemas.openxmlformats.org/officeDocument/2006/math">
                                <m:r>
                                  <a:rPr lang="en-US" sz="1200" kern="100">
                                    <a:effectLst/>
                                    <a:latin typeface="Cambria Math" panose="02040503050406030204" pitchFamily="18" charset="0"/>
                                  </a:rPr>
                                  <m:t>𝒢</m:t>
                                </m:r>
                                <m:r>
                                  <a:rPr lang="en-US" sz="1200" kern="100">
                                    <a:effectLst/>
                                    <a:latin typeface="Cambria Math" panose="02040503050406030204" pitchFamily="18" charset="0"/>
                                  </a:rPr>
                                  <m:t>(</m:t>
                                </m:r>
                                <m:r>
                                  <a:rPr lang="en-US" sz="1200" kern="100">
                                    <a:effectLst/>
                                    <a:latin typeface="Cambria Math" panose="02040503050406030204" pitchFamily="18" charset="0"/>
                                  </a:rPr>
                                  <m:t>𝒟</m:t>
                                </m:r>
                                <m:r>
                                  <a:rPr lang="en-US" sz="1200" kern="100">
                                    <a:effectLst/>
                                    <a:latin typeface="Cambria Math" panose="02040503050406030204" pitchFamily="18" charset="0"/>
                                  </a:rPr>
                                  <m:t>)=1−</m:t>
                                </m:r>
                                <m:sSup>
                                  <m:sSupPr>
                                    <m:ctrlPr>
                                      <a:rPr lang="zh-CN" sz="1200" i="1" kern="100">
                                        <a:effectLst/>
                                        <a:latin typeface="Cambria Math" panose="02040503050406030204" pitchFamily="18" charset="0"/>
                                      </a:rPr>
                                    </m:ctrlPr>
                                  </m:sSupPr>
                                  <m:e>
                                    <m:d>
                                      <m:dPr>
                                        <m:ctrlPr>
                                          <a:rPr lang="zh-CN" sz="1200" i="1" kern="100">
                                            <a:effectLst/>
                                            <a:latin typeface="Cambria Math" panose="02040503050406030204" pitchFamily="18" charset="0"/>
                                          </a:rPr>
                                        </m:ctrlPr>
                                      </m:dPr>
                                      <m:e>
                                        <m:f>
                                          <m:fPr>
                                            <m:ctrlPr>
                                              <a:rPr lang="zh-CN" sz="1200" i="1" kern="100">
                                                <a:effectLst/>
                                                <a:latin typeface="Cambria Math" panose="02040503050406030204" pitchFamily="18" charset="0"/>
                                              </a:rPr>
                                            </m:ctrlPr>
                                          </m:fPr>
                                          <m:num>
                                            <m:d>
                                              <m:dPr>
                                                <m:begChr m:val="|"/>
                                                <m:endChr m:val="|"/>
                                                <m:ctrlPr>
                                                  <a:rPr lang="zh-CN" sz="1200" i="1" kern="100">
                                                    <a:effectLst/>
                                                    <a:latin typeface="Cambria Math" panose="02040503050406030204" pitchFamily="18" charset="0"/>
                                                  </a:rPr>
                                                </m:ctrlPr>
                                              </m:dPr>
                                              <m:e>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𝒟</m:t>
                                                    </m:r>
                                                  </m:e>
                                                  <m:sup>
                                                    <m:r>
                                                      <a:rPr lang="en-US" sz="1200" kern="100">
                                                        <a:effectLst/>
                                                        <a:latin typeface="Cambria Math" panose="02040503050406030204" pitchFamily="18" charset="0"/>
                                                      </a:rPr>
                                                      <m:t>+</m:t>
                                                    </m:r>
                                                  </m:sup>
                                                </m:sSup>
                                              </m:e>
                                            </m:d>
                                          </m:num>
                                          <m:den>
                                            <m:r>
                                              <a:rPr lang="en-US" sz="1200" kern="100">
                                                <a:effectLst/>
                                                <a:latin typeface="Cambria Math" panose="02040503050406030204" pitchFamily="18" charset="0"/>
                                              </a:rPr>
                                              <m:t>|</m:t>
                                            </m:r>
                                            <m:r>
                                              <a:rPr lang="en-US" sz="1200" kern="100">
                                                <a:effectLst/>
                                                <a:latin typeface="Cambria Math" panose="02040503050406030204" pitchFamily="18" charset="0"/>
                                              </a:rPr>
                                              <m:t>𝒟</m:t>
                                            </m:r>
                                            <m:r>
                                              <a:rPr lang="en-US" sz="1200" kern="100">
                                                <a:effectLst/>
                                                <a:latin typeface="Cambria Math" panose="02040503050406030204" pitchFamily="18" charset="0"/>
                                              </a:rPr>
                                              <m:t>|</m:t>
                                            </m:r>
                                          </m:den>
                                        </m:f>
                                      </m:e>
                                    </m:d>
                                  </m:e>
                                  <m:sup>
                                    <m:r>
                                      <a:rPr lang="en-US" sz="1200" kern="100">
                                        <a:effectLst/>
                                        <a:latin typeface="Cambria Math" panose="02040503050406030204" pitchFamily="18" charset="0"/>
                                      </a:rPr>
                                      <m:t>2</m:t>
                                    </m:r>
                                  </m:sup>
                                </m:sSup>
                                <m:r>
                                  <a:rPr lang="en-US" sz="1200" kern="100">
                                    <a:effectLst/>
                                    <a:latin typeface="Cambria Math" panose="02040503050406030204" pitchFamily="18" charset="0"/>
                                  </a:rPr>
                                  <m:t>−</m:t>
                                </m:r>
                                <m:sSup>
                                  <m:sSupPr>
                                    <m:ctrlPr>
                                      <a:rPr lang="zh-CN" sz="1200" i="1" kern="100">
                                        <a:effectLst/>
                                        <a:latin typeface="Cambria Math" panose="02040503050406030204" pitchFamily="18" charset="0"/>
                                      </a:rPr>
                                    </m:ctrlPr>
                                  </m:sSupPr>
                                  <m:e>
                                    <m:d>
                                      <m:dPr>
                                        <m:ctrlPr>
                                          <a:rPr lang="zh-CN" sz="1200" i="1" kern="100">
                                            <a:effectLst/>
                                            <a:latin typeface="Cambria Math" panose="02040503050406030204" pitchFamily="18" charset="0"/>
                                          </a:rPr>
                                        </m:ctrlPr>
                                      </m:dPr>
                                      <m:e>
                                        <m:f>
                                          <m:fPr>
                                            <m:ctrlPr>
                                              <a:rPr lang="zh-CN" sz="1200" i="1" kern="100">
                                                <a:effectLst/>
                                                <a:latin typeface="Cambria Math" panose="02040503050406030204" pitchFamily="18" charset="0"/>
                                              </a:rPr>
                                            </m:ctrlPr>
                                          </m:fPr>
                                          <m:num>
                                            <m:d>
                                              <m:dPr>
                                                <m:begChr m:val="|"/>
                                                <m:endChr m:val="|"/>
                                                <m:ctrlPr>
                                                  <a:rPr lang="zh-CN" sz="1200" i="1" kern="100">
                                                    <a:effectLst/>
                                                    <a:latin typeface="Cambria Math" panose="02040503050406030204" pitchFamily="18" charset="0"/>
                                                  </a:rPr>
                                                </m:ctrlPr>
                                              </m:dPr>
                                              <m:e>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𝒟</m:t>
                                                    </m:r>
                                                  </m:e>
                                                  <m:sup>
                                                    <m:r>
                                                      <a:rPr lang="en-US" sz="1200" kern="100">
                                                        <a:effectLst/>
                                                        <a:latin typeface="Cambria Math" panose="02040503050406030204" pitchFamily="18" charset="0"/>
                                                      </a:rPr>
                                                      <m:t>−</m:t>
                                                    </m:r>
                                                  </m:sup>
                                                </m:sSup>
                                              </m:e>
                                            </m:d>
                                          </m:num>
                                          <m:den>
                                            <m:r>
                                              <a:rPr lang="en-US" sz="1200" kern="100">
                                                <a:effectLst/>
                                                <a:latin typeface="Cambria Math" panose="02040503050406030204" pitchFamily="18" charset="0"/>
                                              </a:rPr>
                                              <m:t>|</m:t>
                                            </m:r>
                                            <m:r>
                                              <a:rPr lang="en-US" sz="1200" kern="100">
                                                <a:effectLst/>
                                                <a:latin typeface="Cambria Math" panose="02040503050406030204" pitchFamily="18" charset="0"/>
                                              </a:rPr>
                                              <m:t>𝒟</m:t>
                                            </m:r>
                                            <m:r>
                                              <a:rPr lang="en-US" sz="1200" kern="100">
                                                <a:effectLst/>
                                                <a:latin typeface="Cambria Math" panose="02040503050406030204" pitchFamily="18" charset="0"/>
                                              </a:rPr>
                                              <m:t>|</m:t>
                                            </m:r>
                                          </m:den>
                                        </m:f>
                                      </m:e>
                                    </m:d>
                                  </m:e>
                                  <m:sup>
                                    <m:r>
                                      <a:rPr lang="en-US" sz="1200" kern="100">
                                        <a:effectLst/>
                                        <a:latin typeface="Cambria Math" panose="02040503050406030204" pitchFamily="18" charset="0"/>
                                      </a:rPr>
                                      <m:t>2</m:t>
                                    </m:r>
                                  </m:sup>
                                </m:sSup>
                              </m:oMath>
                            </m:oMathPara>
                          </a14:m>
                          <a:endParaRPr lang="zh-CN" sz="1200" kern="100" dirty="0">
                            <a:effectLst/>
                          </a:endParaRPr>
                        </a:p>
                        <a:p>
                          <a:pPr marL="279400" indent="266700" algn="just">
                            <a:lnSpc>
                              <a:spcPct val="120000"/>
                            </a:lnSpc>
                          </a:pPr>
                          <a14:m>
                            <m:oMathPara xmlns:m="http://schemas.openxmlformats.org/officeDocument/2006/math">
                              <m:oMathParaPr>
                                <m:jc m:val="centerGroup"/>
                              </m:oMathParaPr>
                              <m:oMath xmlns:m="http://schemas.openxmlformats.org/officeDocument/2006/math">
                                <m:r>
                                  <m:rPr>
                                    <m:nor/>
                                  </m:rPr>
                                  <a:rPr lang="en-US" sz="1200" kern="100">
                                    <a:effectLst/>
                                  </a:rPr>
                                  <m:t>where</m:t>
                                </m:r>
                                <m:r>
                                  <m:rPr>
                                    <m:nor/>
                                  </m:rPr>
                                  <a:rPr lang="en-US" sz="1200" kern="100">
                                    <a:effectLst/>
                                  </a:rPr>
                                  <m:t> </m:t>
                                </m:r>
                                <m:r>
                                  <a:rPr lang="en-US" sz="1200" kern="100">
                                    <a:effectLst/>
                                    <a:latin typeface="Cambria Math" panose="02040503050406030204" pitchFamily="18" charset="0"/>
                                  </a:rPr>
                                  <m:t>𝒟</m:t>
                                </m:r>
                                <m:r>
                                  <m:rPr>
                                    <m:nor/>
                                  </m:rPr>
                                  <a:rPr lang="en-US" sz="1200" kern="100">
                                    <a:effectLst/>
                                  </a:rPr>
                                  <m:t> : </m:t>
                                </m:r>
                                <m:r>
                                  <m:rPr>
                                    <m:nor/>
                                  </m:rPr>
                                  <a:rPr lang="en-US" sz="1200" kern="100">
                                    <a:effectLst/>
                                  </a:rPr>
                                  <m:t>DIMM</m:t>
                                </m:r>
                                <m:r>
                                  <m:rPr>
                                    <m:nor/>
                                  </m:rPr>
                                  <a:rPr lang="en-US" sz="1200" kern="100">
                                    <a:effectLst/>
                                  </a:rPr>
                                  <m:t> </m:t>
                                </m:r>
                                <m:r>
                                  <m:rPr>
                                    <m:nor/>
                                  </m:rPr>
                                  <a:rPr lang="en-US" sz="1200" kern="100">
                                    <a:effectLst/>
                                  </a:rPr>
                                  <m:t>set</m:t>
                                </m:r>
                                <m:r>
                                  <m:rPr>
                                    <m:nor/>
                                  </m:rPr>
                                  <a:rPr lang="en-US" sz="1200" kern="100">
                                    <a:effectLst/>
                                  </a:rPr>
                                  <m:t>, </m:t>
                                </m:r>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𝒟</m:t>
                                    </m:r>
                                  </m:e>
                                  <m:sup>
                                    <m:r>
                                      <a:rPr lang="en-US" sz="1200" kern="100">
                                        <a:effectLst/>
                                        <a:latin typeface="Cambria Math" panose="02040503050406030204" pitchFamily="18" charset="0"/>
                                      </a:rPr>
                                      <m:t>+</m:t>
                                    </m:r>
                                  </m:sup>
                                </m:sSup>
                                <m:r>
                                  <a:rPr lang="en-US" sz="1200" kern="100">
                                    <a:effectLst/>
                                    <a:latin typeface="Cambria Math" panose="02040503050406030204" pitchFamily="18" charset="0"/>
                                  </a:rPr>
                                  <m:t>/</m:t>
                                </m:r>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𝒟</m:t>
                                    </m:r>
                                  </m:e>
                                  <m:sup>
                                    <m:r>
                                      <a:rPr lang="en-US" sz="1200" kern="100">
                                        <a:effectLst/>
                                        <a:latin typeface="Cambria Math" panose="02040503050406030204" pitchFamily="18" charset="0"/>
                                      </a:rPr>
                                      <m:t>−</m:t>
                                    </m:r>
                                  </m:sup>
                                </m:sSup>
                                <m:r>
                                  <m:rPr>
                                    <m:nor/>
                                  </m:rPr>
                                  <a:rPr lang="en-US" sz="1200" kern="100">
                                    <a:effectLst/>
                                  </a:rPr>
                                  <m:t>: </m:t>
                                </m:r>
                                <m:r>
                                  <m:rPr>
                                    <m:nor/>
                                  </m:rPr>
                                  <a:rPr lang="en-US" sz="1200" kern="100">
                                    <a:effectLst/>
                                  </a:rPr>
                                  <m:t>faulty</m:t>
                                </m:r>
                                <m:r>
                                  <m:rPr>
                                    <m:nor/>
                                  </m:rPr>
                                  <a:rPr lang="en-US" sz="1200" kern="100">
                                    <a:effectLst/>
                                  </a:rPr>
                                  <m:t>/</m:t>
                                </m:r>
                                <m:r>
                                  <m:rPr>
                                    <m:nor/>
                                  </m:rPr>
                                  <a:rPr lang="en-US" sz="1200" kern="100">
                                    <a:effectLst/>
                                  </a:rPr>
                                  <m:t>normal</m:t>
                                </m:r>
                                <m:r>
                                  <m:rPr>
                                    <m:nor/>
                                  </m:rPr>
                                  <a:rPr lang="en-US" sz="1200" kern="100">
                                    <a:effectLst/>
                                  </a:rPr>
                                  <m:t> </m:t>
                                </m:r>
                                <m:r>
                                  <m:rPr>
                                    <m:nor/>
                                  </m:rPr>
                                  <a:rPr lang="en-US" sz="1200" kern="100">
                                    <a:effectLst/>
                                  </a:rPr>
                                  <m:t>DIMMs</m:t>
                                </m:r>
                              </m:oMath>
                            </m:oMathPara>
                          </a14:m>
                          <a:endParaRPr lang="zh-CN" sz="1200" kern="100" dirty="0">
                            <a:effectLst/>
                          </a:endParaRPr>
                        </a:p>
                        <a:p>
                          <a:pPr marL="342900" lvl="0" indent="-342900" algn="just">
                            <a:lnSpc>
                              <a:spcPct val="120000"/>
                            </a:lnSpc>
                            <a:buSzPts val="800"/>
                            <a:buFont typeface="Times New Roman" panose="02020603050405020304" pitchFamily="18" charset="0"/>
                            <a:buAutoNum type="arabicPeriod"/>
                          </a:pPr>
                          <a14:m>
                            <m:oMath xmlns:m="http://schemas.openxmlformats.org/officeDocument/2006/math">
                              <m:r>
                                <m:rPr>
                                  <m:nor/>
                                </m:rPr>
                                <a:rPr lang="en-US" sz="1200" kern="100">
                                  <a:effectLst/>
                                </a:rPr>
                                <m:t>procedure</m:t>
                              </m:r>
                              <m:r>
                                <m:rPr>
                                  <m:nor/>
                                </m:rPr>
                                <a:rPr lang="en-US" sz="1200" kern="100">
                                  <a:effectLst/>
                                </a:rPr>
                                <m:t> </m:t>
                              </m:r>
                              <m:r>
                                <m:rPr>
                                  <m:nor/>
                                </m:rPr>
                                <a:rPr lang="en-US" sz="1200" kern="100">
                                  <a:effectLst/>
                                </a:rPr>
                                <m:t>BuildTree</m:t>
                              </m:r>
                              <m:d>
                                <m:dPr>
                                  <m:ctrlPr>
                                    <a:rPr lang="zh-CN" sz="1200" i="1" kern="100">
                                      <a:effectLst/>
                                      <a:latin typeface="Cambria Math" panose="02040503050406030204" pitchFamily="18" charset="0"/>
                                    </a:rPr>
                                  </m:ctrlPr>
                                </m:dPr>
                                <m:e>
                                  <m:r>
                                    <a:rPr lang="en-US" sz="1200" kern="100">
                                      <a:effectLst/>
                                      <a:latin typeface="Cambria Math" panose="02040503050406030204" pitchFamily="18" charset="0"/>
                                    </a:rPr>
                                    <m:t>𝐷</m:t>
                                  </m:r>
                                  <m:r>
                                    <a:rPr lang="en-US" sz="1200" kern="100">
                                      <a:effectLst/>
                                      <a:latin typeface="Cambria Math" panose="02040503050406030204" pitchFamily="18" charset="0"/>
                                    </a:rPr>
                                    <m:t>,</m:t>
                                  </m:r>
                                  <m:r>
                                    <a:rPr lang="en-US" sz="1200" kern="100">
                                      <a:effectLst/>
                                      <a:latin typeface="Cambria Math" panose="02040503050406030204" pitchFamily="18" charset="0"/>
                                    </a:rPr>
                                    <m:t>𝐹</m:t>
                                  </m:r>
                                </m:e>
                              </m:d>
                            </m:oMath>
                          </a14:m>
                          <a:endParaRPr lang="zh-CN" sz="1200" kern="100" dirty="0">
                            <a:effectLst/>
                          </a:endParaRPr>
                        </a:p>
                        <a:p>
                          <a:pPr marL="342900" lvl="0" indent="-342900" algn="just">
                            <a:lnSpc>
                              <a:spcPct val="120000"/>
                            </a:lnSpc>
                            <a:buSzPts val="800"/>
                            <a:buFont typeface="Times New Roman" panose="02020603050405020304" pitchFamily="18" charset="0"/>
                            <a:buAutoNum type="arabicPeriod"/>
                          </a:pPr>
                          <a:r>
                            <a:rPr lang="en-US" sz="1200" kern="100" dirty="0">
                              <a:effectLst/>
                            </a:rPr>
                            <a:t>    </a:t>
                          </a:r>
                          <a14:m>
                            <m:oMath xmlns:m="http://schemas.openxmlformats.org/officeDocument/2006/math">
                              <m:r>
                                <a:rPr lang="en-US" sz="1200" kern="100">
                                  <a:effectLst/>
                                  <a:latin typeface="Cambria Math" panose="02040503050406030204" pitchFamily="18" charset="0"/>
                                </a:rPr>
                                <m:t>𝒟</m:t>
                              </m:r>
                              <m:r>
                                <a:rPr lang="en-US" sz="1200" kern="100">
                                  <a:effectLst/>
                                  <a:latin typeface="Cambria Math" panose="02040503050406030204" pitchFamily="18" charset="0"/>
                                </a:rPr>
                                <m:t>←</m:t>
                              </m:r>
                              <m:r>
                                <m:rPr>
                                  <m:nor/>
                                </m:rPr>
                                <a:rPr lang="en-US" sz="1200" kern="100">
                                  <a:effectLst/>
                                </a:rPr>
                                <m:t> </m:t>
                              </m:r>
                              <m:r>
                                <m:rPr>
                                  <m:nor/>
                                </m:rPr>
                                <a:rPr lang="en-US" sz="1200" kern="100">
                                  <a:effectLst/>
                                </a:rPr>
                                <m:t>unique</m:t>
                              </m:r>
                              <m:r>
                                <m:rPr>
                                  <m:nor/>
                                </m:rPr>
                                <a:rPr lang="en-US" sz="1200" kern="100">
                                  <a:effectLst/>
                                </a:rPr>
                                <m:t> </m:t>
                              </m:r>
                              <m:r>
                                <m:rPr>
                                  <m:nor/>
                                </m:rPr>
                                <a:rPr lang="en-US" sz="1200" kern="100">
                                  <a:effectLst/>
                                </a:rPr>
                                <m:t>DIMMs</m:t>
                              </m:r>
                              <m:r>
                                <m:rPr>
                                  <m:nor/>
                                </m:rPr>
                                <a:rPr lang="en-US" sz="1200" kern="100">
                                  <a:effectLst/>
                                </a:rPr>
                                <m:t> </m:t>
                              </m:r>
                              <m:r>
                                <m:rPr>
                                  <m:nor/>
                                </m:rPr>
                                <a:rPr lang="en-US" sz="1200" kern="100">
                                  <a:effectLst/>
                                </a:rPr>
                                <m:t>in</m:t>
                              </m:r>
                              <m:r>
                                <m:rPr>
                                  <m:nor/>
                                </m:rPr>
                                <a:rPr lang="en-US" sz="1200" kern="100">
                                  <a:effectLst/>
                                </a:rPr>
                                <m:t> </m:t>
                              </m:r>
                              <m:r>
                                <a:rPr lang="en-US" sz="1200" kern="100">
                                  <a:effectLst/>
                                  <a:latin typeface="Cambria Math" panose="02040503050406030204" pitchFamily="18" charset="0"/>
                                </a:rPr>
                                <m:t>𝐷</m:t>
                              </m:r>
                              <m:r>
                                <a:rPr lang="en-US" sz="1200" kern="100">
                                  <a:effectLst/>
                                  <a:latin typeface="Cambria Math" panose="02040503050406030204" pitchFamily="18" charset="0"/>
                                </a:rPr>
                                <m:t>,</m:t>
                              </m:r>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𝒟</m:t>
                                  </m:r>
                                </m:e>
                                <m:sup>
                                  <m:r>
                                    <a:rPr lang="en-US" sz="1200" kern="100">
                                      <a:effectLst/>
                                      <a:latin typeface="Cambria Math" panose="02040503050406030204" pitchFamily="18" charset="0"/>
                                    </a:rPr>
                                    <m:t>+</m:t>
                                  </m:r>
                                </m:sup>
                              </m:sSup>
                              <m:r>
                                <a:rPr lang="en-US" sz="1200" kern="100">
                                  <a:effectLst/>
                                  <a:latin typeface="Cambria Math" panose="02040503050406030204" pitchFamily="18" charset="0"/>
                                </a:rPr>
                                <m:t>←</m:t>
                              </m:r>
                              <m:r>
                                <m:rPr>
                                  <m:nor/>
                                </m:rPr>
                                <a:rPr lang="en-US" sz="1200" kern="100">
                                  <a:effectLst/>
                                </a:rPr>
                                <m:t> </m:t>
                              </m:r>
                              <m:r>
                                <m:rPr>
                                  <m:nor/>
                                </m:rPr>
                                <a:rPr lang="en-US" sz="1200" kern="100">
                                  <a:effectLst/>
                                </a:rPr>
                                <m:t>faulty</m:t>
                              </m:r>
                              <m:r>
                                <m:rPr>
                                  <m:nor/>
                                </m:rPr>
                                <a:rPr lang="en-US" sz="1200" kern="100">
                                  <a:effectLst/>
                                </a:rPr>
                                <m:t> </m:t>
                              </m:r>
                              <m:r>
                                <m:rPr>
                                  <m:nor/>
                                </m:rPr>
                                <a:rPr lang="en-US" sz="1200" kern="100">
                                  <a:effectLst/>
                                </a:rPr>
                                <m:t>DIMMs</m:t>
                              </m:r>
                            </m:oMath>
                          </a14:m>
                          <a:endParaRPr lang="zh-CN" sz="1200" kern="100" dirty="0">
                            <a:effectLst/>
                          </a:endParaRPr>
                        </a:p>
                        <a:p>
                          <a:pPr marL="342900" lvl="0" indent="-342900" algn="just">
                            <a:lnSpc>
                              <a:spcPct val="120000"/>
                            </a:lnSpc>
                            <a:buSzPts val="800"/>
                            <a:buFont typeface="Times New Roman" panose="02020603050405020304" pitchFamily="18" charset="0"/>
                            <a:buAutoNum type="arabicPeriod"/>
                          </a:pPr>
                          <a:r>
                            <a:rPr lang="en-US" sz="1200" kern="100" dirty="0">
                              <a:effectLst/>
                            </a:rPr>
                            <a:t>    </a:t>
                          </a:r>
                          <a:r>
                            <a:rPr lang="en-US" sz="1200" kern="100" dirty="0" err="1">
                              <a:effectLst/>
                            </a:rPr>
                            <a:t>i</a:t>
                          </a:r>
                          <a14:m>
                            <m:oMath xmlns:m="http://schemas.openxmlformats.org/officeDocument/2006/math">
                              <m:r>
                                <m:rPr>
                                  <m:nor/>
                                </m:rPr>
                                <a:rPr lang="en-US" sz="1200" kern="100">
                                  <a:effectLst/>
                                </a:rPr>
                                <m:t>f</m:t>
                              </m:r>
                              <m:r>
                                <m:rPr>
                                  <m:nor/>
                                </m:rPr>
                                <a:rPr lang="en-US" sz="1200" kern="100">
                                  <a:effectLst/>
                                </a:rPr>
                                <m:t> </m:t>
                              </m:r>
                              <m:d>
                                <m:dPr>
                                  <m:ctrlPr>
                                    <a:rPr lang="zh-CN" sz="1200" i="1" kern="100">
                                      <a:effectLst/>
                                      <a:latin typeface="Cambria Math" panose="02040503050406030204" pitchFamily="18" charset="0"/>
                                    </a:rPr>
                                  </m:ctrlPr>
                                </m:dPr>
                                <m:e>
                                  <m:f>
                                    <m:fPr>
                                      <m:ctrlPr>
                                        <a:rPr lang="zh-CN" sz="1200" i="1" kern="100">
                                          <a:effectLst/>
                                          <a:latin typeface="Cambria Math" panose="02040503050406030204" pitchFamily="18" charset="0"/>
                                        </a:rPr>
                                      </m:ctrlPr>
                                    </m:fPr>
                                    <m:num>
                                      <m:d>
                                        <m:dPr>
                                          <m:begChr m:val="|"/>
                                          <m:endChr m:val="|"/>
                                          <m:ctrlPr>
                                            <a:rPr lang="zh-CN" sz="1200" i="1" kern="100">
                                              <a:effectLst/>
                                              <a:latin typeface="Cambria Math" panose="02040503050406030204" pitchFamily="18" charset="0"/>
                                            </a:rPr>
                                          </m:ctrlPr>
                                        </m:dPr>
                                        <m:e>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𝒟</m:t>
                                              </m:r>
                                            </m:e>
                                            <m:sup>
                                              <m:r>
                                                <a:rPr lang="en-US" sz="1200" kern="100">
                                                  <a:effectLst/>
                                                  <a:latin typeface="Cambria Math" panose="02040503050406030204" pitchFamily="18" charset="0"/>
                                                </a:rPr>
                                                <m:t>+</m:t>
                                              </m:r>
                                            </m:sup>
                                          </m:sSup>
                                        </m:e>
                                      </m:d>
                                    </m:num>
                                    <m:den>
                                      <m:d>
                                        <m:dPr>
                                          <m:begChr m:val="|"/>
                                          <m:endChr m:val="|"/>
                                          <m:ctrlPr>
                                            <a:rPr lang="zh-CN" sz="1200" i="1" kern="100">
                                              <a:effectLst/>
                                              <a:latin typeface="Cambria Math" panose="02040503050406030204" pitchFamily="18" charset="0"/>
                                            </a:rPr>
                                          </m:ctrlPr>
                                        </m:dPr>
                                        <m:e>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𝒟</m:t>
                                              </m:r>
                                            </m:e>
                                            <m:sup>
                                              <m:r>
                                                <a:rPr lang="en-US" sz="1200" kern="100">
                                                  <a:effectLst/>
                                                  <a:latin typeface="Cambria Math" panose="02040503050406030204" pitchFamily="18" charset="0"/>
                                                </a:rPr>
                                                <m:t>−</m:t>
                                              </m:r>
                                            </m:sup>
                                          </m:sSup>
                                        </m:e>
                                      </m:d>
                                    </m:den>
                                  </m:f>
                                  <m:r>
                                    <a:rPr lang="en-US" sz="1200" kern="100">
                                      <a:effectLst/>
                                      <a:latin typeface="Cambria Math" panose="02040503050406030204" pitchFamily="18" charset="0"/>
                                    </a:rPr>
                                    <m:t>&gt;</m:t>
                                  </m:r>
                                  <m:r>
                                    <a:rPr lang="en-US" sz="1200" kern="100">
                                      <a:effectLst/>
                                      <a:latin typeface="Cambria Math" panose="02040503050406030204" pitchFamily="18" charset="0"/>
                                    </a:rPr>
                                    <m:t>𝜃</m:t>
                                  </m:r>
                                  <m:r>
                                    <m:rPr>
                                      <m:nor/>
                                    </m:rPr>
                                    <a:rPr lang="en-US" sz="1200" kern="100">
                                      <a:effectLst/>
                                    </a:rPr>
                                    <m:t> </m:t>
                                  </m:r>
                                  <m:r>
                                    <m:rPr>
                                      <m:nor/>
                                    </m:rPr>
                                    <a:rPr lang="en-US" sz="1200" kern="100">
                                      <a:effectLst/>
                                    </a:rPr>
                                    <m:t>or</m:t>
                                  </m:r>
                                  <m:r>
                                    <m:rPr>
                                      <m:nor/>
                                    </m:rPr>
                                    <a:rPr lang="en-US" sz="1200" kern="100">
                                      <a:effectLst/>
                                    </a:rPr>
                                    <m:t> </m:t>
                                  </m:r>
                                  <m:f>
                                    <m:fPr>
                                      <m:ctrlPr>
                                        <a:rPr lang="zh-CN" sz="1200" i="1" kern="100">
                                          <a:effectLst/>
                                          <a:latin typeface="Cambria Math" panose="02040503050406030204" pitchFamily="18" charset="0"/>
                                        </a:rPr>
                                      </m:ctrlPr>
                                    </m:fPr>
                                    <m:num>
                                      <m:d>
                                        <m:dPr>
                                          <m:begChr m:val="|"/>
                                          <m:endChr m:val="|"/>
                                          <m:ctrlPr>
                                            <a:rPr lang="zh-CN" sz="1200" i="1" kern="100">
                                              <a:effectLst/>
                                              <a:latin typeface="Cambria Math" panose="02040503050406030204" pitchFamily="18" charset="0"/>
                                            </a:rPr>
                                          </m:ctrlPr>
                                        </m:dPr>
                                        <m:e>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𝒟</m:t>
                                              </m:r>
                                            </m:e>
                                            <m:sup>
                                              <m:r>
                                                <a:rPr lang="en-US" sz="1200" kern="100">
                                                  <a:effectLst/>
                                                  <a:latin typeface="Cambria Math" panose="02040503050406030204" pitchFamily="18" charset="0"/>
                                                </a:rPr>
                                                <m:t>−</m:t>
                                              </m:r>
                                            </m:sup>
                                          </m:sSup>
                                        </m:e>
                                      </m:d>
                                    </m:num>
                                    <m:den>
                                      <m:d>
                                        <m:dPr>
                                          <m:begChr m:val="|"/>
                                          <m:endChr m:val="|"/>
                                          <m:ctrlPr>
                                            <a:rPr lang="zh-CN" sz="1200" i="1" kern="100">
                                              <a:effectLst/>
                                              <a:latin typeface="Cambria Math" panose="02040503050406030204" pitchFamily="18" charset="0"/>
                                            </a:rPr>
                                          </m:ctrlPr>
                                        </m:dPr>
                                        <m:e>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𝒟</m:t>
                                              </m:r>
                                            </m:e>
                                            <m:sup>
                                              <m:r>
                                                <a:rPr lang="en-US" sz="1200" kern="100">
                                                  <a:effectLst/>
                                                  <a:latin typeface="Cambria Math" panose="02040503050406030204" pitchFamily="18" charset="0"/>
                                                </a:rPr>
                                                <m:t>+</m:t>
                                              </m:r>
                                            </m:sup>
                                          </m:sSup>
                                        </m:e>
                                      </m:d>
                                    </m:den>
                                  </m:f>
                                  <m:r>
                                    <a:rPr lang="en-US" sz="1200" kern="100">
                                      <a:effectLst/>
                                      <a:latin typeface="Cambria Math" panose="02040503050406030204" pitchFamily="18" charset="0"/>
                                    </a:rPr>
                                    <m:t>&gt;</m:t>
                                  </m:r>
                                  <m:r>
                                    <a:rPr lang="en-US" sz="1200" kern="100">
                                      <a:effectLst/>
                                      <a:latin typeface="Cambria Math" panose="02040503050406030204" pitchFamily="18" charset="0"/>
                                    </a:rPr>
                                    <m:t>𝜃</m:t>
                                  </m:r>
                                </m:e>
                              </m:d>
                              <m:r>
                                <m:rPr>
                                  <m:nor/>
                                </m:rPr>
                                <a:rPr lang="en-US" sz="1200" kern="100">
                                  <a:effectLst/>
                                </a:rPr>
                                <m:t> </m:t>
                              </m:r>
                              <m:r>
                                <m:rPr>
                                  <m:nor/>
                                </m:rPr>
                                <a:rPr lang="en-US" sz="1200" kern="100">
                                  <a:effectLst/>
                                </a:rPr>
                                <m:t>or</m:t>
                              </m:r>
                              <m:r>
                                <m:rPr>
                                  <m:nor/>
                                </m:rPr>
                                <a:rPr lang="en-US" sz="1200" kern="100">
                                  <a:effectLst/>
                                </a:rPr>
                                <m:t> </m:t>
                              </m:r>
                              <m:d>
                                <m:dPr>
                                  <m:ctrlPr>
                                    <a:rPr lang="zh-CN" sz="1200" i="1" kern="100">
                                      <a:effectLst/>
                                      <a:latin typeface="Cambria Math" panose="02040503050406030204" pitchFamily="18" charset="0"/>
                                    </a:rPr>
                                  </m:ctrlPr>
                                </m:dPr>
                                <m:e>
                                  <m:r>
                                    <m:rPr>
                                      <m:nor/>
                                    </m:rPr>
                                    <a:rPr lang="en-US" sz="1200" kern="100">
                                      <a:effectLst/>
                                    </a:rPr>
                                    <m:t>Max</m:t>
                                  </m:r>
                                  <m:r>
                                    <m:rPr>
                                      <m:nor/>
                                    </m:rPr>
                                    <a:rPr lang="en-US" sz="1200" kern="100">
                                      <a:effectLst/>
                                    </a:rPr>
                                    <m:t> </m:t>
                                  </m:r>
                                  <m:r>
                                    <m:rPr>
                                      <m:nor/>
                                    </m:rPr>
                                    <a:rPr lang="en-US" sz="1200" kern="100">
                                      <a:effectLst/>
                                    </a:rPr>
                                    <m:t>depth</m:t>
                                  </m:r>
                                  <m:r>
                                    <m:rPr>
                                      <m:nor/>
                                    </m:rPr>
                                    <a:rPr lang="en-US" sz="1200" kern="100">
                                      <a:effectLst/>
                                    </a:rPr>
                                    <m:t> </m:t>
                                  </m:r>
                                  <m:r>
                                    <m:rPr>
                                      <m:nor/>
                                    </m:rPr>
                                    <a:rPr lang="en-US" sz="1200" kern="100">
                                      <a:effectLst/>
                                    </a:rPr>
                                    <m:t>reached</m:t>
                                  </m:r>
                                  <m:r>
                                    <m:rPr>
                                      <m:nor/>
                                    </m:rPr>
                                    <a:rPr lang="en-US" sz="1200" kern="100">
                                      <a:effectLst/>
                                    </a:rPr>
                                    <m:t> </m:t>
                                  </m:r>
                                  <m:r>
                                    <m:rPr>
                                      <m:nor/>
                                    </m:rPr>
                                    <a:rPr lang="en-US" sz="1200" kern="100">
                                      <a:effectLst/>
                                    </a:rPr>
                                    <m:t>or</m:t>
                                  </m:r>
                                  <m:r>
                                    <m:rPr>
                                      <m:nor/>
                                    </m:rPr>
                                    <a:rPr lang="en-US" sz="1200" kern="100">
                                      <a:effectLst/>
                                    </a:rPr>
                                    <m:t> </m:t>
                                  </m:r>
                                  <m:r>
                                    <a:rPr lang="en-US" sz="1200" kern="100">
                                      <a:effectLst/>
                                      <a:latin typeface="Cambria Math" panose="02040503050406030204" pitchFamily="18" charset="0"/>
                                    </a:rPr>
                                    <m:t>|</m:t>
                                  </m:r>
                                  <m:r>
                                    <a:rPr lang="en-US" sz="1200" kern="100">
                                      <a:effectLst/>
                                      <a:latin typeface="Cambria Math" panose="02040503050406030204" pitchFamily="18" charset="0"/>
                                    </a:rPr>
                                    <m:t>𝒟</m:t>
                                  </m:r>
                                  <m:r>
                                    <a:rPr lang="en-US" sz="1200" kern="100">
                                      <a:effectLst/>
                                      <a:latin typeface="Cambria Math" panose="02040503050406030204" pitchFamily="18" charset="0"/>
                                    </a:rPr>
                                    <m:t>|≤1</m:t>
                                  </m:r>
                                </m:e>
                              </m:d>
                              <m:r>
                                <m:rPr>
                                  <m:nor/>
                                </m:rPr>
                                <a:rPr lang="en-US" sz="1200" kern="100">
                                  <a:effectLst/>
                                </a:rPr>
                                <m:t> </m:t>
                              </m:r>
                              <m:r>
                                <m:rPr>
                                  <m:nor/>
                                </m:rPr>
                                <a:rPr lang="en-US" sz="1200" kern="100">
                                  <a:effectLst/>
                                </a:rPr>
                                <m:t>then</m:t>
                              </m:r>
                            </m:oMath>
                          </a14:m>
                          <a:endParaRPr lang="zh-CN" sz="1200" kern="100" dirty="0">
                            <a:effectLst/>
                          </a:endParaRPr>
                        </a:p>
                        <a:p>
                          <a:pPr marL="342900" lvl="0" indent="-342900" algn="just">
                            <a:lnSpc>
                              <a:spcPct val="120000"/>
                            </a:lnSpc>
                            <a:buSzPts val="800"/>
                            <a:buFont typeface="Times New Roman" panose="02020603050405020304" pitchFamily="18" charset="0"/>
                            <a:buAutoNum type="arabicPeriod"/>
                          </a:pPr>
                          <a:r>
                            <a:rPr lang="en-US" sz="1200" kern="100" dirty="0">
                              <a:effectLst/>
                            </a:rPr>
                            <a:t>        r</a:t>
                          </a:r>
                          <a14:m>
                            <m:oMath xmlns:m="http://schemas.openxmlformats.org/officeDocument/2006/math">
                              <m:r>
                                <m:rPr>
                                  <m:nor/>
                                </m:rPr>
                                <a:rPr lang="en-US" sz="1200" kern="100">
                                  <a:effectLst/>
                                </a:rPr>
                                <m:t>eturn</m:t>
                              </m:r>
                              <m:r>
                                <m:rPr>
                                  <m:nor/>
                                </m:rPr>
                                <a:rPr lang="en-US" sz="1200" kern="100">
                                  <a:effectLst/>
                                </a:rPr>
                                <m:t> </m:t>
                              </m:r>
                              <m:r>
                                <m:rPr>
                                  <m:nor/>
                                </m:rPr>
                                <a:rPr lang="en-US" sz="1200" kern="100">
                                  <a:effectLst/>
                                </a:rPr>
                                <m:t>Leaf</m:t>
                              </m:r>
                              <m:r>
                                <m:rPr>
                                  <m:nor/>
                                </m:rPr>
                                <a:rPr lang="en-US" sz="1200" kern="100">
                                  <a:effectLst/>
                                </a:rPr>
                                <m:t>: </m:t>
                              </m:r>
                              <m:r>
                                <a:rPr lang="en-US" sz="1200" kern="100">
                                  <a:effectLst/>
                                  <a:latin typeface="Cambria Math" panose="02040503050406030204" pitchFamily="18" charset="0"/>
                                </a:rPr>
                                <m:t>𝕀</m:t>
                              </m:r>
                              <m:d>
                                <m:dPr>
                                  <m:ctrlPr>
                                    <a:rPr lang="zh-CN" sz="1200" i="1" kern="100">
                                      <a:effectLst/>
                                      <a:latin typeface="Cambria Math" panose="02040503050406030204" pitchFamily="18" charset="0"/>
                                    </a:rPr>
                                  </m:ctrlPr>
                                </m:dPr>
                                <m:e>
                                  <m:d>
                                    <m:dPr>
                                      <m:begChr m:val="|"/>
                                      <m:endChr m:val="|"/>
                                      <m:ctrlPr>
                                        <a:rPr lang="zh-CN" sz="1200" i="1" kern="100">
                                          <a:effectLst/>
                                          <a:latin typeface="Cambria Math" panose="02040503050406030204" pitchFamily="18" charset="0"/>
                                        </a:rPr>
                                      </m:ctrlPr>
                                    </m:dPr>
                                    <m:e>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𝒟</m:t>
                                          </m:r>
                                        </m:e>
                                        <m:sup>
                                          <m:r>
                                            <a:rPr lang="en-US" sz="1200" kern="100">
                                              <a:effectLst/>
                                              <a:latin typeface="Cambria Math" panose="02040503050406030204" pitchFamily="18" charset="0"/>
                                            </a:rPr>
                                            <m:t>+</m:t>
                                          </m:r>
                                        </m:sup>
                                      </m:sSup>
                                    </m:e>
                                  </m:d>
                                  <m:r>
                                    <a:rPr lang="en-US" sz="1200" kern="100">
                                      <a:effectLst/>
                                      <a:latin typeface="Cambria Math" panose="02040503050406030204" pitchFamily="18" charset="0"/>
                                    </a:rPr>
                                    <m:t>≥</m:t>
                                  </m:r>
                                  <m:d>
                                    <m:dPr>
                                      <m:begChr m:val="|"/>
                                      <m:endChr m:val="|"/>
                                      <m:ctrlPr>
                                        <a:rPr lang="zh-CN" sz="1200" i="1" kern="100">
                                          <a:effectLst/>
                                          <a:latin typeface="Cambria Math" panose="02040503050406030204" pitchFamily="18" charset="0"/>
                                        </a:rPr>
                                      </m:ctrlPr>
                                    </m:dPr>
                                    <m:e>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𝒟</m:t>
                                          </m:r>
                                        </m:e>
                                        <m:sup>
                                          <m:r>
                                            <a:rPr lang="en-US" sz="1200" kern="100">
                                              <a:effectLst/>
                                              <a:latin typeface="Cambria Math" panose="02040503050406030204" pitchFamily="18" charset="0"/>
                                            </a:rPr>
                                            <m:t>−</m:t>
                                          </m:r>
                                        </m:sup>
                                      </m:sSup>
                                    </m:e>
                                  </m:d>
                                </m:e>
                              </m:d>
                            </m:oMath>
                          </a14:m>
                          <a:endParaRPr lang="zh-CN" sz="1200" kern="100" dirty="0">
                            <a:effectLst/>
                          </a:endParaRPr>
                        </a:p>
                        <a:p>
                          <a:pPr marL="342900" lvl="0" indent="-342900" algn="just">
                            <a:lnSpc>
                              <a:spcPct val="120000"/>
                            </a:lnSpc>
                            <a:buSzPts val="800"/>
                            <a:buFont typeface="Times New Roman" panose="02020603050405020304" pitchFamily="18" charset="0"/>
                            <a:buAutoNum type="arabicPeriod"/>
                          </a:pPr>
                          <a:r>
                            <a:rPr lang="en-US" sz="1200" kern="100" dirty="0">
                              <a:effectLst/>
                            </a:rPr>
                            <a:t>    </a:t>
                          </a:r>
                          <a14:m>
                            <m:oMath xmlns:m="http://schemas.openxmlformats.org/officeDocument/2006/math">
                              <m:r>
                                <m:rPr>
                                  <m:nor/>
                                </m:rPr>
                                <a:rPr lang="en-US" sz="1200" kern="100">
                                  <a:effectLst/>
                                </a:rPr>
                                <m:t>end</m:t>
                              </m:r>
                              <m:r>
                                <m:rPr>
                                  <m:nor/>
                                </m:rPr>
                                <a:rPr lang="en-US" sz="1200" kern="100">
                                  <a:effectLst/>
                                </a:rPr>
                                <m:t> </m:t>
                              </m:r>
                              <m:r>
                                <m:rPr>
                                  <m:nor/>
                                </m:rPr>
                                <a:rPr lang="en-US" sz="1200" kern="100">
                                  <a:effectLst/>
                                </a:rPr>
                                <m:t>if</m:t>
                              </m:r>
                              <m:r>
                                <m:rPr>
                                  <m:nor/>
                                </m:rPr>
                                <a:rPr lang="en-US" sz="1200" kern="100">
                                  <a:effectLst/>
                                </a:rPr>
                                <m:t> </m:t>
                              </m:r>
                            </m:oMath>
                          </a14:m>
                          <a:endParaRPr lang="zh-CN" sz="1200" kern="100" dirty="0">
                            <a:effectLst/>
                          </a:endParaRPr>
                        </a:p>
                        <a:p>
                          <a:pPr marL="342900" lvl="0" indent="-342900" algn="just">
                            <a:lnSpc>
                              <a:spcPct val="120000"/>
                            </a:lnSpc>
                            <a:buSzPts val="800"/>
                            <a:buFont typeface="Times New Roman" panose="02020603050405020304" pitchFamily="18" charset="0"/>
                            <a:buAutoNum type="arabicPeriod"/>
                          </a:pPr>
                          <a:r>
                            <a:rPr lang="en-US" sz="1200" kern="100" dirty="0">
                              <a:effectLst/>
                            </a:rPr>
                            <a:t>    </a:t>
                          </a:r>
                          <a14:m>
                            <m:oMath xmlns:m="http://schemas.openxmlformats.org/officeDocument/2006/math">
                              <m:r>
                                <m:rPr>
                                  <m:nor/>
                                </m:rPr>
                                <a:rPr lang="en-US" sz="1200" kern="100">
                                  <a:effectLst/>
                                </a:rPr>
                                <m:t>Find</m:t>
                              </m:r>
                              <m:r>
                                <m:rPr>
                                  <m:nor/>
                                </m:rPr>
                                <a:rPr lang="en-US" sz="1200" kern="100">
                                  <a:effectLst/>
                                </a:rPr>
                                <m:t> </m:t>
                              </m:r>
                              <m:r>
                                <m:rPr>
                                  <m:nor/>
                                </m:rPr>
                                <a:rPr lang="en-US" sz="1200" kern="100">
                                  <a:effectLst/>
                                </a:rPr>
                                <m:t>optimal</m:t>
                              </m:r>
                              <m:r>
                                <m:rPr>
                                  <m:nor/>
                                </m:rPr>
                                <a:rPr lang="en-US" sz="1200" kern="100">
                                  <a:effectLst/>
                                </a:rPr>
                                <m:t> </m:t>
                              </m:r>
                              <m:r>
                                <m:rPr>
                                  <m:nor/>
                                </m:rPr>
                                <a:rPr lang="en-US" sz="1200" kern="100">
                                  <a:effectLst/>
                                </a:rPr>
                                <m:t>split</m:t>
                              </m:r>
                              <m:r>
                                <m:rPr>
                                  <m:nor/>
                                </m:rPr>
                                <a:rPr lang="en-US" sz="1200" kern="100">
                                  <a:effectLst/>
                                </a:rPr>
                                <m:t> </m:t>
                              </m:r>
                              <m:d>
                                <m:dPr>
                                  <m:ctrlPr>
                                    <a:rPr lang="zh-CN" sz="1200" i="1" kern="100">
                                      <a:effectLst/>
                                      <a:latin typeface="Cambria Math" panose="02040503050406030204" pitchFamily="18" charset="0"/>
                                    </a:rPr>
                                  </m:ctrlPr>
                                </m:dPr>
                                <m:e>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𝑓</m:t>
                                      </m:r>
                                    </m:e>
                                    <m:sup>
                                      <m:r>
                                        <a:rPr lang="en-US" sz="1200" kern="100">
                                          <a:effectLst/>
                                          <a:latin typeface="Cambria Math" panose="02040503050406030204" pitchFamily="18" charset="0"/>
                                        </a:rPr>
                                        <m:t>∗</m:t>
                                      </m:r>
                                    </m:sup>
                                  </m:sSup>
                                  <m:r>
                                    <a:rPr lang="en-US" sz="1200" kern="100">
                                      <a:effectLst/>
                                      <a:latin typeface="Cambria Math" panose="02040503050406030204" pitchFamily="18" charset="0"/>
                                    </a:rPr>
                                    <m:t>,</m:t>
                                  </m:r>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𝑣</m:t>
                                      </m:r>
                                    </m:e>
                                    <m:sup>
                                      <m:r>
                                        <a:rPr lang="en-US" sz="1200" kern="100">
                                          <a:effectLst/>
                                          <a:latin typeface="Cambria Math" panose="02040503050406030204" pitchFamily="18" charset="0"/>
                                        </a:rPr>
                                        <m:t>∗</m:t>
                                      </m:r>
                                    </m:sup>
                                  </m:sSup>
                                </m:e>
                              </m:d>
                              <m:r>
                                <m:rPr>
                                  <m:nor/>
                                </m:rPr>
                                <a:rPr lang="en-US" sz="1200" kern="100">
                                  <a:effectLst/>
                                </a:rPr>
                                <m:t> </m:t>
                              </m:r>
                              <m:r>
                                <m:rPr>
                                  <m:nor/>
                                </m:rPr>
                                <a:rPr lang="en-US" sz="1200" kern="100">
                                  <a:effectLst/>
                                </a:rPr>
                                <m:t>minimizing</m:t>
                              </m:r>
                              <m:r>
                                <m:rPr>
                                  <m:nor/>
                                </m:rPr>
                                <a:rPr lang="en-US" sz="1200" kern="100">
                                  <a:effectLst/>
                                </a:rPr>
                                <m:t>: </m:t>
                              </m:r>
                            </m:oMath>
                          </a14:m>
                          <a:endParaRPr lang="zh-CN" sz="1200" kern="100" dirty="0">
                            <a:effectLst/>
                          </a:endParaRPr>
                        </a:p>
                        <a:p>
                          <a:pPr marL="279400" indent="266700" algn="ctr">
                            <a:lnSpc>
                              <a:spcPct val="120000"/>
                            </a:lnSpc>
                          </a:pPr>
                          <a14:m>
                            <m:oMathPara xmlns:m="http://schemas.openxmlformats.org/officeDocument/2006/math">
                              <m:oMathParaPr>
                                <m:jc m:val="centerGroup"/>
                              </m:oMathParaPr>
                              <m:oMath xmlns:m="http://schemas.openxmlformats.org/officeDocument/2006/math">
                                <m:limLow>
                                  <m:limLowPr>
                                    <m:ctrlPr>
                                      <a:rPr lang="zh-CN" sz="1200" i="1" kern="100">
                                        <a:effectLst/>
                                        <a:latin typeface="Cambria Math" panose="02040503050406030204" pitchFamily="18" charset="0"/>
                                      </a:rPr>
                                    </m:ctrlPr>
                                  </m:limLowPr>
                                  <m:e>
                                    <m:r>
                                      <a:rPr lang="en-US" sz="1200" kern="100">
                                        <a:effectLst/>
                                        <a:latin typeface="Cambria Math" panose="02040503050406030204" pitchFamily="18" charset="0"/>
                                      </a:rPr>
                                      <m:t>𝑚𝑖𝑛</m:t>
                                    </m:r>
                                  </m:e>
                                  <m:lim>
                                    <m:r>
                                      <a:rPr lang="en-US" sz="1200" kern="100">
                                        <a:effectLst/>
                                        <a:latin typeface="Cambria Math" panose="02040503050406030204" pitchFamily="18" charset="0"/>
                                      </a:rPr>
                                      <m:t>𝑓</m:t>
                                    </m:r>
                                    <m:r>
                                      <a:rPr lang="en-US" sz="1200" kern="100">
                                        <a:effectLst/>
                                        <a:latin typeface="Cambria Math" panose="02040503050406030204" pitchFamily="18" charset="0"/>
                                      </a:rPr>
                                      <m:t>,</m:t>
                                    </m:r>
                                    <m:r>
                                      <a:rPr lang="en-US" sz="1200" kern="100">
                                        <a:effectLst/>
                                        <a:latin typeface="Cambria Math" panose="02040503050406030204" pitchFamily="18" charset="0"/>
                                      </a:rPr>
                                      <m:t>𝑣</m:t>
                                    </m:r>
                                  </m:lim>
                                </m:limLow>
                                <m:r>
                                  <a:rPr lang="en-US" sz="1200" kern="100">
                                    <a:effectLst/>
                                    <a:latin typeface="Cambria Math" panose="02040503050406030204" pitchFamily="18" charset="0"/>
                                  </a:rPr>
                                  <m:t> </m:t>
                                </m:r>
                                <m:d>
                                  <m:dPr>
                                    <m:begChr m:val="["/>
                                    <m:endChr m:val="]"/>
                                    <m:ctrlPr>
                                      <a:rPr lang="zh-CN" sz="1200" i="1" kern="100">
                                        <a:effectLst/>
                                        <a:latin typeface="Cambria Math" panose="02040503050406030204" pitchFamily="18" charset="0"/>
                                      </a:rPr>
                                    </m:ctrlPr>
                                  </m:dPr>
                                  <m:e>
                                    <m:f>
                                      <m:fPr>
                                        <m:ctrlPr>
                                          <a:rPr lang="zh-CN" sz="1200" i="1" kern="100">
                                            <a:effectLst/>
                                            <a:latin typeface="Cambria Math" panose="02040503050406030204" pitchFamily="18" charset="0"/>
                                          </a:rPr>
                                        </m:ctrlPr>
                                      </m:fPr>
                                      <m:num>
                                        <m:d>
                                          <m:dPr>
                                            <m:begChr m:val="|"/>
                                            <m:endChr m:val="|"/>
                                            <m:ctrlPr>
                                              <a:rPr lang="zh-CN" sz="1200" i="1" kern="100">
                                                <a:effectLst/>
                                                <a:latin typeface="Cambria Math" panose="02040503050406030204" pitchFamily="18" charset="0"/>
                                              </a:rPr>
                                            </m:ctrlPr>
                                          </m:dPr>
                                          <m:e>
                                            <m:sSub>
                                              <m:sSubPr>
                                                <m:ctrlPr>
                                                  <a:rPr lang="zh-CN" sz="1200" i="1" kern="100">
                                                    <a:effectLst/>
                                                    <a:latin typeface="Cambria Math" panose="02040503050406030204" pitchFamily="18" charset="0"/>
                                                  </a:rPr>
                                                </m:ctrlPr>
                                              </m:sSubPr>
                                              <m:e>
                                                <m:r>
                                                  <a:rPr lang="en-US" sz="1200" kern="100">
                                                    <a:effectLst/>
                                                    <a:latin typeface="Cambria Math" panose="02040503050406030204" pitchFamily="18" charset="0"/>
                                                  </a:rPr>
                                                  <m:t>𝒟</m:t>
                                                </m:r>
                                              </m:e>
                                              <m:sub>
                                                <m:r>
                                                  <a:rPr lang="en-US" sz="1200" kern="100">
                                                    <a:effectLst/>
                                                    <a:latin typeface="Cambria Math" panose="02040503050406030204" pitchFamily="18" charset="0"/>
                                                  </a:rPr>
                                                  <m:t>𝐿</m:t>
                                                </m:r>
                                              </m:sub>
                                            </m:sSub>
                                          </m:e>
                                        </m:d>
                                      </m:num>
                                      <m:den>
                                        <m:r>
                                          <a:rPr lang="en-US" sz="1200" kern="100">
                                            <a:effectLst/>
                                            <a:latin typeface="Cambria Math" panose="02040503050406030204" pitchFamily="18" charset="0"/>
                                          </a:rPr>
                                          <m:t>|</m:t>
                                        </m:r>
                                        <m:r>
                                          <a:rPr lang="en-US" sz="1200" kern="100">
                                            <a:effectLst/>
                                            <a:latin typeface="Cambria Math" panose="02040503050406030204" pitchFamily="18" charset="0"/>
                                          </a:rPr>
                                          <m:t>𝒟</m:t>
                                        </m:r>
                                        <m:r>
                                          <a:rPr lang="en-US" sz="1200" kern="100">
                                            <a:effectLst/>
                                            <a:latin typeface="Cambria Math" panose="02040503050406030204" pitchFamily="18" charset="0"/>
                                          </a:rPr>
                                          <m:t>|</m:t>
                                        </m:r>
                                      </m:den>
                                    </m:f>
                                    <m:r>
                                      <a:rPr lang="en-US" sz="1200" kern="100">
                                        <a:effectLst/>
                                        <a:latin typeface="Cambria Math" panose="02040503050406030204" pitchFamily="18" charset="0"/>
                                      </a:rPr>
                                      <m:t>𝒢</m:t>
                                    </m:r>
                                    <m:d>
                                      <m:dPr>
                                        <m:ctrlPr>
                                          <a:rPr lang="zh-CN" sz="1200" i="1" kern="100">
                                            <a:effectLst/>
                                            <a:latin typeface="Cambria Math" panose="02040503050406030204" pitchFamily="18" charset="0"/>
                                          </a:rPr>
                                        </m:ctrlPr>
                                      </m:dPr>
                                      <m:e>
                                        <m:sSub>
                                          <m:sSubPr>
                                            <m:ctrlPr>
                                              <a:rPr lang="zh-CN" sz="1200" i="1" kern="100">
                                                <a:effectLst/>
                                                <a:latin typeface="Cambria Math" panose="02040503050406030204" pitchFamily="18" charset="0"/>
                                              </a:rPr>
                                            </m:ctrlPr>
                                          </m:sSubPr>
                                          <m:e>
                                            <m:r>
                                              <a:rPr lang="en-US" sz="1200" kern="100">
                                                <a:effectLst/>
                                                <a:latin typeface="Cambria Math" panose="02040503050406030204" pitchFamily="18" charset="0"/>
                                              </a:rPr>
                                              <m:t>𝒟</m:t>
                                            </m:r>
                                          </m:e>
                                          <m:sub>
                                            <m:r>
                                              <a:rPr lang="en-US" sz="1200" kern="100">
                                                <a:effectLst/>
                                                <a:latin typeface="Cambria Math" panose="02040503050406030204" pitchFamily="18" charset="0"/>
                                              </a:rPr>
                                              <m:t>𝐿</m:t>
                                            </m:r>
                                          </m:sub>
                                        </m:sSub>
                                      </m:e>
                                    </m:d>
                                    <m:r>
                                      <a:rPr lang="en-US" sz="1200" kern="100">
                                        <a:effectLst/>
                                        <a:latin typeface="Cambria Math" panose="02040503050406030204" pitchFamily="18" charset="0"/>
                                      </a:rPr>
                                      <m:t>+</m:t>
                                    </m:r>
                                    <m:f>
                                      <m:fPr>
                                        <m:ctrlPr>
                                          <a:rPr lang="zh-CN" sz="1200" i="1" kern="100">
                                            <a:effectLst/>
                                            <a:latin typeface="Cambria Math" panose="02040503050406030204" pitchFamily="18" charset="0"/>
                                          </a:rPr>
                                        </m:ctrlPr>
                                      </m:fPr>
                                      <m:num>
                                        <m:d>
                                          <m:dPr>
                                            <m:begChr m:val="|"/>
                                            <m:endChr m:val="|"/>
                                            <m:ctrlPr>
                                              <a:rPr lang="zh-CN" sz="1200" i="1" kern="100">
                                                <a:effectLst/>
                                                <a:latin typeface="Cambria Math" panose="02040503050406030204" pitchFamily="18" charset="0"/>
                                              </a:rPr>
                                            </m:ctrlPr>
                                          </m:dPr>
                                          <m:e>
                                            <m:sSub>
                                              <m:sSubPr>
                                                <m:ctrlPr>
                                                  <a:rPr lang="zh-CN" sz="1200" i="1" kern="100">
                                                    <a:effectLst/>
                                                    <a:latin typeface="Cambria Math" panose="02040503050406030204" pitchFamily="18" charset="0"/>
                                                  </a:rPr>
                                                </m:ctrlPr>
                                              </m:sSubPr>
                                              <m:e>
                                                <m:r>
                                                  <a:rPr lang="en-US" sz="1200" kern="100">
                                                    <a:effectLst/>
                                                    <a:latin typeface="Cambria Math" panose="02040503050406030204" pitchFamily="18" charset="0"/>
                                                  </a:rPr>
                                                  <m:t>𝒟</m:t>
                                                </m:r>
                                              </m:e>
                                              <m:sub>
                                                <m:r>
                                                  <a:rPr lang="en-US" sz="1200" kern="100">
                                                    <a:effectLst/>
                                                    <a:latin typeface="Cambria Math" panose="02040503050406030204" pitchFamily="18" charset="0"/>
                                                  </a:rPr>
                                                  <m:t>𝑅</m:t>
                                                </m:r>
                                              </m:sub>
                                            </m:sSub>
                                          </m:e>
                                        </m:d>
                                      </m:num>
                                      <m:den>
                                        <m:r>
                                          <a:rPr lang="en-US" sz="1200" kern="100">
                                            <a:effectLst/>
                                            <a:latin typeface="Cambria Math" panose="02040503050406030204" pitchFamily="18" charset="0"/>
                                          </a:rPr>
                                          <m:t>|</m:t>
                                        </m:r>
                                        <m:r>
                                          <a:rPr lang="en-US" sz="1200" kern="100">
                                            <a:effectLst/>
                                            <a:latin typeface="Cambria Math" panose="02040503050406030204" pitchFamily="18" charset="0"/>
                                          </a:rPr>
                                          <m:t>𝒟</m:t>
                                        </m:r>
                                        <m:r>
                                          <a:rPr lang="en-US" sz="1200" kern="100">
                                            <a:effectLst/>
                                            <a:latin typeface="Cambria Math" panose="02040503050406030204" pitchFamily="18" charset="0"/>
                                          </a:rPr>
                                          <m:t>|</m:t>
                                        </m:r>
                                      </m:den>
                                    </m:f>
                                    <m:r>
                                      <a:rPr lang="en-US" sz="1200" kern="100">
                                        <a:effectLst/>
                                        <a:latin typeface="Cambria Math" panose="02040503050406030204" pitchFamily="18" charset="0"/>
                                      </a:rPr>
                                      <m:t>𝒢</m:t>
                                    </m:r>
                                    <m:d>
                                      <m:dPr>
                                        <m:ctrlPr>
                                          <a:rPr lang="zh-CN" sz="1200" i="1" kern="100">
                                            <a:effectLst/>
                                            <a:latin typeface="Cambria Math" panose="02040503050406030204" pitchFamily="18" charset="0"/>
                                          </a:rPr>
                                        </m:ctrlPr>
                                      </m:dPr>
                                      <m:e>
                                        <m:sSub>
                                          <m:sSubPr>
                                            <m:ctrlPr>
                                              <a:rPr lang="zh-CN" sz="1200" i="1" kern="100">
                                                <a:effectLst/>
                                                <a:latin typeface="Cambria Math" panose="02040503050406030204" pitchFamily="18" charset="0"/>
                                              </a:rPr>
                                            </m:ctrlPr>
                                          </m:sSubPr>
                                          <m:e>
                                            <m:r>
                                              <a:rPr lang="en-US" sz="1200" kern="100">
                                                <a:effectLst/>
                                                <a:latin typeface="Cambria Math" panose="02040503050406030204" pitchFamily="18" charset="0"/>
                                              </a:rPr>
                                              <m:t>𝒟</m:t>
                                            </m:r>
                                          </m:e>
                                          <m:sub>
                                            <m:r>
                                              <a:rPr lang="en-US" sz="1200" kern="100">
                                                <a:effectLst/>
                                                <a:latin typeface="Cambria Math" panose="02040503050406030204" pitchFamily="18" charset="0"/>
                                              </a:rPr>
                                              <m:t>𝑅</m:t>
                                            </m:r>
                                          </m:sub>
                                        </m:sSub>
                                      </m:e>
                                    </m:d>
                                  </m:e>
                                </m:d>
                              </m:oMath>
                            </m:oMathPara>
                          </a14:m>
                          <a:endParaRPr lang="zh-CN" sz="1200" kern="100" dirty="0">
                            <a:effectLst/>
                          </a:endParaRPr>
                        </a:p>
                        <a:p>
                          <a:pPr marL="342900" lvl="0" indent="-342900" algn="just">
                            <a:lnSpc>
                              <a:spcPct val="120000"/>
                            </a:lnSpc>
                            <a:buSzPts val="800"/>
                            <a:buFont typeface="Times New Roman" panose="02020603050405020304" pitchFamily="18" charset="0"/>
                            <a:buAutoNum type="arabicPeriod"/>
                          </a:pPr>
                          <a:r>
                            <a:rPr lang="en-US" sz="1200" kern="100" dirty="0">
                              <a:effectLst/>
                            </a:rPr>
                            <a:t>    w</a:t>
                          </a:r>
                          <a14:m>
                            <m:oMath xmlns:m="http://schemas.openxmlformats.org/officeDocument/2006/math">
                              <m:r>
                                <m:rPr>
                                  <m:nor/>
                                </m:rPr>
                                <a:rPr lang="en-US" sz="1200" kern="100">
                                  <a:effectLst/>
                                </a:rPr>
                                <m:t>here</m:t>
                              </m:r>
                              <m:r>
                                <m:rPr>
                                  <m:nor/>
                                </m:rPr>
                                <a:rPr lang="en-US" sz="1200" kern="100">
                                  <a:effectLst/>
                                </a:rPr>
                                <m:t> </m:t>
                              </m:r>
                              <m:sSub>
                                <m:sSubPr>
                                  <m:ctrlPr>
                                    <a:rPr lang="zh-CN" sz="1200" i="1" kern="100">
                                      <a:effectLst/>
                                      <a:latin typeface="Cambria Math" panose="02040503050406030204" pitchFamily="18" charset="0"/>
                                    </a:rPr>
                                  </m:ctrlPr>
                                </m:sSubPr>
                                <m:e>
                                  <m:r>
                                    <a:rPr lang="en-US" sz="1200" kern="100">
                                      <a:effectLst/>
                                      <a:latin typeface="Cambria Math" panose="02040503050406030204" pitchFamily="18" charset="0"/>
                                    </a:rPr>
                                    <m:t>𝒟</m:t>
                                  </m:r>
                                </m:e>
                                <m:sub>
                                  <m:r>
                                    <a:rPr lang="en-US" sz="1200" kern="100">
                                      <a:effectLst/>
                                      <a:latin typeface="Cambria Math" panose="02040503050406030204" pitchFamily="18" charset="0"/>
                                    </a:rPr>
                                    <m:t>𝐿</m:t>
                                  </m:r>
                                </m:sub>
                              </m:sSub>
                              <m:r>
                                <a:rPr lang="en-US" sz="1200" kern="100">
                                  <a:effectLst/>
                                  <a:latin typeface="Cambria Math" panose="02040503050406030204" pitchFamily="18" charset="0"/>
                                </a:rPr>
                                <m:t>=</m:t>
                              </m:r>
                              <m:d>
                                <m:dPr>
                                  <m:begChr m:val="{"/>
                                  <m:endChr m:val="}"/>
                                  <m:ctrlPr>
                                    <a:rPr lang="zh-CN" sz="1200" i="1" kern="100">
                                      <a:effectLst/>
                                      <a:latin typeface="Cambria Math" panose="02040503050406030204" pitchFamily="18" charset="0"/>
                                    </a:rPr>
                                  </m:ctrlPr>
                                </m:dPr>
                                <m:e>
                                  <m:r>
                                    <a:rPr lang="en-US" sz="1200" kern="100">
                                      <a:effectLst/>
                                      <a:latin typeface="Cambria Math" panose="02040503050406030204" pitchFamily="18" charset="0"/>
                                    </a:rPr>
                                    <m:t>𝑑</m:t>
                                  </m:r>
                                  <m:r>
                                    <a:rPr lang="en-US" sz="1200" kern="100">
                                      <a:effectLst/>
                                      <a:latin typeface="Cambria Math" panose="02040503050406030204" pitchFamily="18" charset="0"/>
                                    </a:rPr>
                                    <m:t>∈</m:t>
                                  </m:r>
                                  <m:r>
                                    <a:rPr lang="en-US" sz="1200" kern="100">
                                      <a:effectLst/>
                                      <a:latin typeface="Cambria Math" panose="02040503050406030204" pitchFamily="18" charset="0"/>
                                    </a:rPr>
                                    <m:t>𝒟</m:t>
                                  </m:r>
                                  <m:r>
                                    <a:rPr lang="en-US" sz="1200" kern="100">
                                      <a:effectLst/>
                                      <a:latin typeface="Cambria Math" panose="02040503050406030204" pitchFamily="18" charset="0"/>
                                    </a:rPr>
                                    <m:t>∣∃</m:t>
                                  </m:r>
                                  <m:r>
                                    <a:rPr lang="en-US" sz="1200" kern="100">
                                      <a:effectLst/>
                                      <a:latin typeface="Cambria Math" panose="02040503050406030204" pitchFamily="18" charset="0"/>
                                    </a:rPr>
                                    <m:t>𝑥</m:t>
                                  </m:r>
                                  <m:r>
                                    <a:rPr lang="en-US" sz="1200" kern="100">
                                      <a:effectLst/>
                                      <a:latin typeface="Cambria Math" panose="02040503050406030204" pitchFamily="18" charset="0"/>
                                    </a:rPr>
                                    <m:t>∈</m:t>
                                  </m:r>
                                  <m:r>
                                    <a:rPr lang="en-US" sz="1200" kern="100">
                                      <a:effectLst/>
                                      <a:latin typeface="Cambria Math" panose="02040503050406030204" pitchFamily="18" charset="0"/>
                                    </a:rPr>
                                    <m:t>𝑑</m:t>
                                  </m:r>
                                  <m:r>
                                    <a:rPr lang="en-US" sz="1200" kern="100">
                                      <a:effectLst/>
                                      <a:latin typeface="Cambria Math" panose="02040503050406030204" pitchFamily="18" charset="0"/>
                                    </a:rPr>
                                    <m:t>:</m:t>
                                  </m:r>
                                  <m:sSub>
                                    <m:sSubPr>
                                      <m:ctrlPr>
                                        <a:rPr lang="zh-CN" sz="1200" i="1" kern="100">
                                          <a:effectLst/>
                                          <a:latin typeface="Cambria Math" panose="02040503050406030204" pitchFamily="18" charset="0"/>
                                        </a:rPr>
                                      </m:ctrlPr>
                                    </m:sSubPr>
                                    <m:e>
                                      <m:r>
                                        <a:rPr lang="en-US" sz="1200" kern="100">
                                          <a:effectLst/>
                                          <a:latin typeface="Cambria Math" panose="02040503050406030204" pitchFamily="18" charset="0"/>
                                        </a:rPr>
                                        <m:t>𝑥</m:t>
                                      </m:r>
                                    </m:e>
                                    <m:sub>
                                      <m:r>
                                        <a:rPr lang="en-US" sz="1200" kern="100">
                                          <a:effectLst/>
                                          <a:latin typeface="Cambria Math" panose="02040503050406030204" pitchFamily="18" charset="0"/>
                                        </a:rPr>
                                        <m:t>𝑓</m:t>
                                      </m:r>
                                    </m:sub>
                                  </m:sSub>
                                  <m:r>
                                    <a:rPr lang="en-US" sz="1200" kern="100">
                                      <a:effectLst/>
                                      <a:latin typeface="Cambria Math" panose="02040503050406030204" pitchFamily="18" charset="0"/>
                                    </a:rPr>
                                    <m:t>=</m:t>
                                  </m:r>
                                  <m:r>
                                    <a:rPr lang="en-US" sz="1200" kern="100">
                                      <a:effectLst/>
                                      <a:latin typeface="Cambria Math" panose="02040503050406030204" pitchFamily="18" charset="0"/>
                                    </a:rPr>
                                    <m:t>𝑣</m:t>
                                  </m:r>
                                </m:e>
                              </m:d>
                              <m:r>
                                <a:rPr lang="en-US" sz="1200" kern="100">
                                  <a:effectLst/>
                                  <a:latin typeface="Cambria Math" panose="02040503050406030204" pitchFamily="18" charset="0"/>
                                </a:rPr>
                                <m:t>,</m:t>
                              </m:r>
                              <m:sSub>
                                <m:sSubPr>
                                  <m:ctrlPr>
                                    <a:rPr lang="zh-CN" sz="1200" i="1" kern="100">
                                      <a:effectLst/>
                                      <a:latin typeface="Cambria Math" panose="02040503050406030204" pitchFamily="18" charset="0"/>
                                    </a:rPr>
                                  </m:ctrlPr>
                                </m:sSubPr>
                                <m:e>
                                  <m:r>
                                    <a:rPr lang="en-US" sz="1200" kern="100">
                                      <a:effectLst/>
                                      <a:latin typeface="Cambria Math" panose="02040503050406030204" pitchFamily="18" charset="0"/>
                                    </a:rPr>
                                    <m:t>𝒟</m:t>
                                  </m:r>
                                </m:e>
                                <m:sub>
                                  <m:r>
                                    <a:rPr lang="en-US" sz="1200" kern="100">
                                      <a:effectLst/>
                                      <a:latin typeface="Cambria Math" panose="02040503050406030204" pitchFamily="18" charset="0"/>
                                    </a:rPr>
                                    <m:t>𝑅</m:t>
                                  </m:r>
                                </m:sub>
                              </m:sSub>
                              <m:r>
                                <a:rPr lang="en-US" sz="1200" kern="100">
                                  <a:effectLst/>
                                  <a:latin typeface="Cambria Math" panose="02040503050406030204" pitchFamily="18" charset="0"/>
                                </a:rPr>
                                <m:t>=</m:t>
                              </m:r>
                              <m:r>
                                <a:rPr lang="en-US" sz="1200" kern="100">
                                  <a:effectLst/>
                                  <a:latin typeface="Cambria Math" panose="02040503050406030204" pitchFamily="18" charset="0"/>
                                </a:rPr>
                                <m:t>𝒟</m:t>
                              </m:r>
                              <m:r>
                                <a:rPr lang="en-US" sz="1200" kern="100">
                                  <a:effectLst/>
                                  <a:latin typeface="Cambria Math" panose="02040503050406030204" pitchFamily="18" charset="0"/>
                                </a:rPr>
                                <m:t>∖</m:t>
                              </m:r>
                              <m:sSub>
                                <m:sSubPr>
                                  <m:ctrlPr>
                                    <a:rPr lang="zh-CN" sz="1200" i="1" kern="100">
                                      <a:effectLst/>
                                      <a:latin typeface="Cambria Math" panose="02040503050406030204" pitchFamily="18" charset="0"/>
                                    </a:rPr>
                                  </m:ctrlPr>
                                </m:sSubPr>
                                <m:e>
                                  <m:r>
                                    <a:rPr lang="en-US" sz="1200" kern="100">
                                      <a:effectLst/>
                                      <a:latin typeface="Cambria Math" panose="02040503050406030204" pitchFamily="18" charset="0"/>
                                    </a:rPr>
                                    <m:t>𝒟</m:t>
                                  </m:r>
                                </m:e>
                                <m:sub>
                                  <m:r>
                                    <a:rPr lang="en-US" sz="1200" kern="100">
                                      <a:effectLst/>
                                      <a:latin typeface="Cambria Math" panose="02040503050406030204" pitchFamily="18" charset="0"/>
                                    </a:rPr>
                                    <m:t>𝐿</m:t>
                                  </m:r>
                                </m:sub>
                              </m:sSub>
                            </m:oMath>
                          </a14:m>
                          <a:endParaRPr lang="zh-CN" sz="1200" kern="100" dirty="0">
                            <a:effectLst/>
                          </a:endParaRPr>
                        </a:p>
                        <a:p>
                          <a:pPr marL="342900" lvl="0" indent="-342900" algn="just">
                            <a:lnSpc>
                              <a:spcPct val="120000"/>
                            </a:lnSpc>
                            <a:buSzPts val="800"/>
                            <a:buFont typeface="Times New Roman" panose="02020603050405020304" pitchFamily="18" charset="0"/>
                            <a:buAutoNum type="arabicPeriod"/>
                          </a:pPr>
                          <a:r>
                            <a:rPr lang="en-US" sz="1200" kern="100" dirty="0">
                              <a:effectLst/>
                            </a:rPr>
                            <a:t>    </a:t>
                          </a:r>
                          <a:r>
                            <a:rPr lang="en-US" sz="1200" kern="100" dirty="0" err="1">
                              <a:effectLst/>
                            </a:rPr>
                            <a:t>i</a:t>
                          </a:r>
                          <a14:m>
                            <m:oMath xmlns:m="http://schemas.openxmlformats.org/officeDocument/2006/math">
                              <m:r>
                                <m:rPr>
                                  <m:nor/>
                                </m:rPr>
                                <a:rPr lang="en-US" sz="1200" kern="100">
                                  <a:effectLst/>
                                </a:rPr>
                                <m:t>f</m:t>
                              </m:r>
                              <m:r>
                                <m:rPr>
                                  <m:nor/>
                                </m:rPr>
                                <a:rPr lang="en-US" sz="1200" kern="100">
                                  <a:effectLst/>
                                </a:rPr>
                                <m:t> </m:t>
                              </m:r>
                              <m:r>
                                <m:rPr>
                                  <m:nor/>
                                </m:rPr>
                                <a:rPr lang="en-US" sz="1200" kern="100">
                                  <a:effectLst/>
                                </a:rPr>
                                <m:t>No</m:t>
                              </m:r>
                              <m:r>
                                <m:rPr>
                                  <m:nor/>
                                </m:rPr>
                                <a:rPr lang="en-US" sz="1200" kern="100">
                                  <a:effectLst/>
                                </a:rPr>
                                <m:t> </m:t>
                              </m:r>
                              <m:r>
                                <m:rPr>
                                  <m:nor/>
                                </m:rPr>
                                <a:rPr lang="en-US" sz="1200" kern="100">
                                  <a:effectLst/>
                                </a:rPr>
                                <m:t>valid</m:t>
                              </m:r>
                              <m:r>
                                <m:rPr>
                                  <m:nor/>
                                </m:rPr>
                                <a:rPr lang="en-US" sz="1200" kern="100">
                                  <a:effectLst/>
                                </a:rPr>
                                <m:t> </m:t>
                              </m:r>
                              <m:r>
                                <m:rPr>
                                  <m:nor/>
                                </m:rPr>
                                <a:rPr lang="en-US" sz="1200" kern="100">
                                  <a:effectLst/>
                                </a:rPr>
                                <m:t>split</m:t>
                              </m:r>
                              <m:r>
                                <m:rPr>
                                  <m:nor/>
                                </m:rPr>
                                <a:rPr lang="en-US" sz="1200" kern="100">
                                  <a:effectLst/>
                                </a:rPr>
                                <m:t> </m:t>
                              </m:r>
                              <m:r>
                                <m:rPr>
                                  <m:nor/>
                                </m:rPr>
                                <a:rPr lang="en-US" sz="1200" kern="100">
                                  <a:effectLst/>
                                </a:rPr>
                                <m:t>then</m:t>
                              </m:r>
                              <m:r>
                                <m:rPr>
                                  <m:nor/>
                                </m:rPr>
                                <a:rPr lang="en-US" sz="1200" kern="100">
                                  <a:effectLst/>
                                </a:rPr>
                                <m:t> </m:t>
                              </m:r>
                            </m:oMath>
                          </a14:m>
                          <a:endParaRPr lang="zh-CN" sz="1200" kern="100" dirty="0">
                            <a:effectLst/>
                          </a:endParaRPr>
                        </a:p>
                        <a:p>
                          <a:pPr marL="342900" lvl="0" indent="-342900" algn="just">
                            <a:lnSpc>
                              <a:spcPct val="120000"/>
                            </a:lnSpc>
                            <a:buSzPts val="800"/>
                            <a:buFont typeface="Times New Roman" panose="02020603050405020304" pitchFamily="18" charset="0"/>
                            <a:buAutoNum type="arabicPeriod"/>
                          </a:pPr>
                          <a:r>
                            <a:rPr lang="en-US" sz="1200" kern="100" dirty="0">
                              <a:effectLst/>
                            </a:rPr>
                            <a:t>        </a:t>
                          </a:r>
                          <a14:m>
                            <m:oMath xmlns:m="http://schemas.openxmlformats.org/officeDocument/2006/math">
                              <m:r>
                                <m:rPr>
                                  <m:nor/>
                                </m:rPr>
                                <a:rPr lang="en-US" sz="1200" kern="100">
                                  <a:effectLst/>
                                </a:rPr>
                                <m:t>return</m:t>
                              </m:r>
                              <m:r>
                                <m:rPr>
                                  <m:nor/>
                                </m:rPr>
                                <a:rPr lang="en-US" sz="1200" kern="100">
                                  <a:effectLst/>
                                </a:rPr>
                                <m:t> </m:t>
                              </m:r>
                              <m:r>
                                <m:rPr>
                                  <m:nor/>
                                </m:rPr>
                                <a:rPr lang="en-US" sz="1200" kern="100">
                                  <a:effectLst/>
                                </a:rPr>
                                <m:t>Leaf</m:t>
                              </m:r>
                              <m:r>
                                <m:rPr>
                                  <m:nor/>
                                </m:rPr>
                                <a:rPr lang="en-US" sz="1200" kern="100">
                                  <a:effectLst/>
                                </a:rPr>
                                <m:t> </m:t>
                              </m:r>
                            </m:oMath>
                          </a14:m>
                          <a:endParaRPr lang="zh-CN" sz="1200" kern="100" dirty="0">
                            <a:effectLst/>
                          </a:endParaRPr>
                        </a:p>
                        <a:p>
                          <a:pPr marL="342900" lvl="0" indent="-342900" algn="just">
                            <a:lnSpc>
                              <a:spcPct val="120000"/>
                            </a:lnSpc>
                            <a:buSzPts val="800"/>
                            <a:buFont typeface="Times New Roman" panose="02020603050405020304" pitchFamily="18" charset="0"/>
                            <a:buAutoNum type="arabicPeriod"/>
                          </a:pPr>
                          <a:r>
                            <a:rPr lang="en-US" sz="1200" kern="100" dirty="0">
                              <a:effectLst/>
                            </a:rPr>
                            <a:t>    </a:t>
                          </a:r>
                          <a14:m>
                            <m:oMath xmlns:m="http://schemas.openxmlformats.org/officeDocument/2006/math">
                              <m:r>
                                <m:rPr>
                                  <m:nor/>
                                </m:rPr>
                                <a:rPr lang="en-US" sz="1200" kern="100">
                                  <a:effectLst/>
                                </a:rPr>
                                <m:t>end</m:t>
                              </m:r>
                              <m:r>
                                <m:rPr>
                                  <m:nor/>
                                </m:rPr>
                                <a:rPr lang="en-US" sz="1200" kern="100">
                                  <a:effectLst/>
                                </a:rPr>
                                <m:t> </m:t>
                              </m:r>
                              <m:r>
                                <m:rPr>
                                  <m:nor/>
                                </m:rPr>
                                <a:rPr lang="en-US" sz="1200" kern="100">
                                  <a:effectLst/>
                                </a:rPr>
                                <m:t>if</m:t>
                              </m:r>
                              <m:r>
                                <m:rPr>
                                  <m:nor/>
                                </m:rPr>
                                <a:rPr lang="en-US" sz="1200" kern="100">
                                  <a:effectLst/>
                                </a:rPr>
                                <m:t> </m:t>
                              </m:r>
                            </m:oMath>
                          </a14:m>
                          <a:endParaRPr lang="zh-CN" sz="1200" kern="100" dirty="0">
                            <a:effectLst/>
                          </a:endParaRPr>
                        </a:p>
                        <a:p>
                          <a:pPr marL="342900" lvl="0" indent="-342900" algn="just">
                            <a:lnSpc>
                              <a:spcPct val="120000"/>
                            </a:lnSpc>
                            <a:buSzPts val="800"/>
                            <a:buFont typeface="Times New Roman" panose="02020603050405020304" pitchFamily="18" charset="0"/>
                            <a:buAutoNum type="arabicPeriod"/>
                          </a:pPr>
                          <a:r>
                            <a:rPr lang="en-US" sz="1200" kern="100" dirty="0">
                              <a:effectLst/>
                            </a:rPr>
                            <a:t>    </a:t>
                          </a:r>
                          <a14:m>
                            <m:oMath xmlns:m="http://schemas.openxmlformats.org/officeDocument/2006/math">
                              <m:r>
                                <m:rPr>
                                  <m:nor/>
                                </m:rPr>
                                <a:rPr lang="en-US" sz="1200" kern="100">
                                  <a:effectLst/>
                                </a:rPr>
                                <m:t>Partition</m:t>
                              </m:r>
                              <m:r>
                                <m:rPr>
                                  <m:nor/>
                                </m:rPr>
                                <a:rPr lang="en-US" sz="1200" kern="100">
                                  <a:effectLst/>
                                </a:rPr>
                                <m:t> </m:t>
                              </m:r>
                              <m:r>
                                <a:rPr lang="en-US" sz="1200" kern="100">
                                  <a:effectLst/>
                                  <a:latin typeface="Cambria Math" panose="02040503050406030204" pitchFamily="18" charset="0"/>
                                </a:rPr>
                                <m:t>𝐷</m:t>
                              </m:r>
                              <m:r>
                                <m:rPr>
                                  <m:nor/>
                                </m:rPr>
                                <a:rPr lang="en-US" sz="1200" kern="100">
                                  <a:effectLst/>
                                </a:rPr>
                                <m:t> </m:t>
                              </m:r>
                              <m:r>
                                <m:rPr>
                                  <m:nor/>
                                </m:rPr>
                                <a:rPr lang="en-US" sz="1200" kern="100">
                                  <a:effectLst/>
                                </a:rPr>
                                <m:t>into</m:t>
                              </m:r>
                              <m:r>
                                <m:rPr>
                                  <m:nor/>
                                </m:rPr>
                                <a:rPr lang="en-US" sz="1200" kern="100">
                                  <a:effectLst/>
                                </a:rPr>
                                <m:t> </m:t>
                              </m:r>
                              <m:sSub>
                                <m:sSubPr>
                                  <m:ctrlPr>
                                    <a:rPr lang="zh-CN" sz="1200" i="1" kern="100">
                                      <a:effectLst/>
                                      <a:latin typeface="Cambria Math" panose="02040503050406030204" pitchFamily="18" charset="0"/>
                                    </a:rPr>
                                  </m:ctrlPr>
                                </m:sSubPr>
                                <m:e>
                                  <m:r>
                                    <a:rPr lang="en-US" sz="1200" kern="100">
                                      <a:effectLst/>
                                      <a:latin typeface="Cambria Math" panose="02040503050406030204" pitchFamily="18" charset="0"/>
                                    </a:rPr>
                                    <m:t>𝐷</m:t>
                                  </m:r>
                                </m:e>
                                <m:sub>
                                  <m:r>
                                    <a:rPr lang="en-US" sz="1200" kern="100">
                                      <a:effectLst/>
                                      <a:latin typeface="Cambria Math" panose="02040503050406030204" pitchFamily="18" charset="0"/>
                                    </a:rPr>
                                    <m:t>𝐿</m:t>
                                  </m:r>
                                </m:sub>
                              </m:sSub>
                              <m:d>
                                <m:dPr>
                                  <m:ctrlPr>
                                    <a:rPr lang="zh-CN" sz="1200" i="1" kern="100">
                                      <a:effectLst/>
                                      <a:latin typeface="Cambria Math" panose="02040503050406030204" pitchFamily="18" charset="0"/>
                                    </a:rPr>
                                  </m:ctrlPr>
                                </m:dPr>
                                <m:e>
                                  <m:r>
                                    <m:rPr>
                                      <m:nor/>
                                    </m:rPr>
                                    <a:rPr lang="en-US" sz="1200" kern="100">
                                      <a:effectLst/>
                                    </a:rPr>
                                    <m:t> </m:t>
                                  </m:r>
                                  <m:r>
                                    <m:rPr>
                                      <m:nor/>
                                    </m:rPr>
                                    <a:rPr lang="en-US" sz="1200" kern="100">
                                      <a:effectLst/>
                                    </a:rPr>
                                    <m:t>DIMMs</m:t>
                                  </m:r>
                                  <m:r>
                                    <m:rPr>
                                      <m:nor/>
                                    </m:rPr>
                                    <a:rPr lang="en-US" sz="1200" kern="100">
                                      <a:effectLst/>
                                    </a:rPr>
                                    <m:t> </m:t>
                                  </m:r>
                                  <m:r>
                                    <a:rPr lang="en-US" sz="1200" kern="100">
                                      <a:effectLst/>
                                      <a:latin typeface="Cambria Math" panose="02040503050406030204" pitchFamily="18" charset="0"/>
                                    </a:rPr>
                                    <m:t>∈</m:t>
                                  </m:r>
                                  <m:sSub>
                                    <m:sSubPr>
                                      <m:ctrlPr>
                                        <a:rPr lang="zh-CN" sz="1200" i="1" kern="100">
                                          <a:effectLst/>
                                          <a:latin typeface="Cambria Math" panose="02040503050406030204" pitchFamily="18" charset="0"/>
                                        </a:rPr>
                                      </m:ctrlPr>
                                    </m:sSubPr>
                                    <m:e>
                                      <m:r>
                                        <a:rPr lang="en-US" sz="1200" kern="100">
                                          <a:effectLst/>
                                          <a:latin typeface="Cambria Math" panose="02040503050406030204" pitchFamily="18" charset="0"/>
                                        </a:rPr>
                                        <m:t>𝒟</m:t>
                                      </m:r>
                                    </m:e>
                                    <m:sub>
                                      <m:r>
                                        <a:rPr lang="en-US" sz="1200" kern="100">
                                          <a:effectLst/>
                                          <a:latin typeface="Cambria Math" panose="02040503050406030204" pitchFamily="18" charset="0"/>
                                        </a:rPr>
                                        <m:t>𝐿</m:t>
                                      </m:r>
                                    </m:sub>
                                  </m:sSub>
                                </m:e>
                              </m:d>
                              <m:r>
                                <m:rPr>
                                  <m:nor/>
                                </m:rPr>
                                <a:rPr lang="en-US" sz="1200" kern="100">
                                  <a:effectLst/>
                                </a:rPr>
                                <m:t> </m:t>
                              </m:r>
                              <m:r>
                                <m:rPr>
                                  <m:nor/>
                                </m:rPr>
                                <a:rPr lang="en-US" sz="1200" kern="100">
                                  <a:effectLst/>
                                </a:rPr>
                                <m:t>and</m:t>
                              </m:r>
                              <m:r>
                                <m:rPr>
                                  <m:nor/>
                                </m:rPr>
                                <a:rPr lang="en-US" sz="1200" kern="100">
                                  <a:effectLst/>
                                </a:rPr>
                                <m:t> </m:t>
                              </m:r>
                              <m:sSub>
                                <m:sSubPr>
                                  <m:ctrlPr>
                                    <a:rPr lang="zh-CN" sz="1200" i="1" kern="100">
                                      <a:effectLst/>
                                      <a:latin typeface="Cambria Math" panose="02040503050406030204" pitchFamily="18" charset="0"/>
                                    </a:rPr>
                                  </m:ctrlPr>
                                </m:sSubPr>
                                <m:e>
                                  <m:r>
                                    <a:rPr lang="en-US" sz="1200" kern="100">
                                      <a:effectLst/>
                                      <a:latin typeface="Cambria Math" panose="02040503050406030204" pitchFamily="18" charset="0"/>
                                    </a:rPr>
                                    <m:t>𝐷</m:t>
                                  </m:r>
                                </m:e>
                                <m:sub>
                                  <m:r>
                                    <a:rPr lang="en-US" sz="1200" kern="100">
                                      <a:effectLst/>
                                      <a:latin typeface="Cambria Math" panose="02040503050406030204" pitchFamily="18" charset="0"/>
                                    </a:rPr>
                                    <m:t>𝑅</m:t>
                                  </m:r>
                                </m:sub>
                              </m:sSub>
                            </m:oMath>
                          </a14:m>
                          <a:endParaRPr lang="zh-CN" sz="1200" kern="100" dirty="0">
                            <a:effectLst/>
                          </a:endParaRPr>
                        </a:p>
                        <a:p>
                          <a:pPr marL="342900" lvl="0" indent="-342900" algn="just">
                            <a:lnSpc>
                              <a:spcPct val="120000"/>
                            </a:lnSpc>
                            <a:buSzPts val="800"/>
                            <a:buFont typeface="Times New Roman" panose="02020603050405020304" pitchFamily="18" charset="0"/>
                            <a:buAutoNum type="arabicPeriod"/>
                          </a:pPr>
                          <a:r>
                            <a:rPr lang="en-US" sz="1200" kern="100" dirty="0">
                              <a:effectLst/>
                            </a:rPr>
                            <a:t>    r</a:t>
                          </a:r>
                          <a14:m>
                            <m:oMath xmlns:m="http://schemas.openxmlformats.org/officeDocument/2006/math">
                              <m:r>
                                <m:rPr>
                                  <m:nor/>
                                </m:rPr>
                                <a:rPr lang="en-US" sz="1200" kern="100">
                                  <a:effectLst/>
                                </a:rPr>
                                <m:t>eturn</m:t>
                              </m:r>
                              <m:r>
                                <m:rPr>
                                  <m:nor/>
                                </m:rPr>
                                <a:rPr lang="en-US" sz="1200" kern="100">
                                  <a:effectLst/>
                                </a:rPr>
                                <m:t> </m:t>
                              </m:r>
                              <m:r>
                                <m:rPr>
                                  <m:nor/>
                                </m:rPr>
                                <a:rPr lang="en-US" sz="1200" kern="100">
                                  <a:effectLst/>
                                </a:rPr>
                                <m:t>Node</m:t>
                              </m:r>
                              <m:r>
                                <m:rPr>
                                  <m:nor/>
                                </m:rPr>
                                <a:rPr lang="en-US" sz="1200" kern="100">
                                  <a:effectLst/>
                                </a:rPr>
                                <m:t> </m:t>
                              </m:r>
                              <m:d>
                                <m:dPr>
                                  <m:ctrlPr>
                                    <a:rPr lang="zh-CN" sz="1200" i="1" kern="100">
                                      <a:effectLst/>
                                      <a:latin typeface="Cambria Math" panose="02040503050406030204" pitchFamily="18" charset="0"/>
                                    </a:rPr>
                                  </m:ctrlPr>
                                </m:dPr>
                                <m:e>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𝑓</m:t>
                                      </m:r>
                                    </m:e>
                                    <m:sup>
                                      <m:r>
                                        <a:rPr lang="en-US" sz="1200" kern="100">
                                          <a:effectLst/>
                                          <a:latin typeface="Cambria Math" panose="02040503050406030204" pitchFamily="18" charset="0"/>
                                        </a:rPr>
                                        <m:t>∗</m:t>
                                      </m:r>
                                    </m:sup>
                                  </m:sSup>
                                  <m:r>
                                    <a:rPr lang="en-US" sz="1200" kern="100">
                                      <a:effectLst/>
                                      <a:latin typeface="Cambria Math" panose="02040503050406030204" pitchFamily="18" charset="0"/>
                                    </a:rPr>
                                    <m:t>,</m:t>
                                  </m:r>
                                  <m:sSup>
                                    <m:sSupPr>
                                      <m:ctrlPr>
                                        <a:rPr lang="zh-CN" sz="1200" i="1" kern="100">
                                          <a:effectLst/>
                                          <a:latin typeface="Cambria Math" panose="02040503050406030204" pitchFamily="18" charset="0"/>
                                        </a:rPr>
                                      </m:ctrlPr>
                                    </m:sSupPr>
                                    <m:e>
                                      <m:r>
                                        <a:rPr lang="en-US" sz="1200" kern="100">
                                          <a:effectLst/>
                                          <a:latin typeface="Cambria Math" panose="02040503050406030204" pitchFamily="18" charset="0"/>
                                        </a:rPr>
                                        <m:t>𝑣</m:t>
                                      </m:r>
                                    </m:e>
                                    <m:sup>
                                      <m:r>
                                        <a:rPr lang="en-US" sz="1200" kern="100">
                                          <a:effectLst/>
                                          <a:latin typeface="Cambria Math" panose="02040503050406030204" pitchFamily="18" charset="0"/>
                                        </a:rPr>
                                        <m:t>∗</m:t>
                                      </m:r>
                                    </m:sup>
                                  </m:sSup>
                                  <m:r>
                                    <m:rPr>
                                      <m:nor/>
                                    </m:rPr>
                                    <a:rPr lang="en-US" sz="1200" kern="100">
                                      <a:effectLst/>
                                    </a:rPr>
                                    <m:t>, </m:t>
                                  </m:r>
                                  <m:r>
                                    <m:rPr>
                                      <m:nor/>
                                    </m:rPr>
                                    <a:rPr lang="en-US" sz="1200" kern="100">
                                      <a:effectLst/>
                                    </a:rPr>
                                    <m:t>BuildTree</m:t>
                                  </m:r>
                                  <m:r>
                                    <m:rPr>
                                      <m:nor/>
                                    </m:rPr>
                                    <a:rPr lang="en-US" sz="1200" kern="100">
                                      <a:effectLst/>
                                    </a:rPr>
                                    <m:t> </m:t>
                                  </m:r>
                                  <m:d>
                                    <m:dPr>
                                      <m:ctrlPr>
                                        <a:rPr lang="zh-CN" sz="1200" i="1" kern="100">
                                          <a:effectLst/>
                                          <a:latin typeface="Cambria Math" panose="02040503050406030204" pitchFamily="18" charset="0"/>
                                        </a:rPr>
                                      </m:ctrlPr>
                                    </m:dPr>
                                    <m:e>
                                      <m:sSub>
                                        <m:sSubPr>
                                          <m:ctrlPr>
                                            <a:rPr lang="zh-CN" sz="1200" i="1" kern="100">
                                              <a:effectLst/>
                                              <a:latin typeface="Cambria Math" panose="02040503050406030204" pitchFamily="18" charset="0"/>
                                            </a:rPr>
                                          </m:ctrlPr>
                                        </m:sSubPr>
                                        <m:e>
                                          <m:r>
                                            <a:rPr lang="en-US" sz="1200" kern="100">
                                              <a:effectLst/>
                                              <a:latin typeface="Cambria Math" panose="02040503050406030204" pitchFamily="18" charset="0"/>
                                            </a:rPr>
                                            <m:t>𝐷</m:t>
                                          </m:r>
                                        </m:e>
                                        <m:sub>
                                          <m:r>
                                            <a:rPr lang="en-US" sz="1200" kern="100">
                                              <a:effectLst/>
                                              <a:latin typeface="Cambria Math" panose="02040503050406030204" pitchFamily="18" charset="0"/>
                                            </a:rPr>
                                            <m:t>𝐿</m:t>
                                          </m:r>
                                        </m:sub>
                                      </m:sSub>
                                    </m:e>
                                  </m:d>
                                  <m:r>
                                    <m:rPr>
                                      <m:nor/>
                                    </m:rPr>
                                    <a:rPr lang="en-US" sz="1200" kern="100">
                                      <a:effectLst/>
                                    </a:rPr>
                                    <m:t>, </m:t>
                                  </m:r>
                                  <m:r>
                                    <m:rPr>
                                      <m:nor/>
                                    </m:rPr>
                                    <a:rPr lang="en-US" sz="1200" kern="100">
                                      <a:effectLst/>
                                    </a:rPr>
                                    <m:t>BuildTree</m:t>
                                  </m:r>
                                  <m:r>
                                    <m:rPr>
                                      <m:nor/>
                                    </m:rPr>
                                    <a:rPr lang="en-US" sz="1200" kern="100">
                                      <a:effectLst/>
                                    </a:rPr>
                                    <m:t> </m:t>
                                  </m:r>
                                  <m:d>
                                    <m:dPr>
                                      <m:ctrlPr>
                                        <a:rPr lang="zh-CN" sz="1200" i="1" kern="100">
                                          <a:effectLst/>
                                          <a:latin typeface="Cambria Math" panose="02040503050406030204" pitchFamily="18" charset="0"/>
                                        </a:rPr>
                                      </m:ctrlPr>
                                    </m:dPr>
                                    <m:e>
                                      <m:sSub>
                                        <m:sSubPr>
                                          <m:ctrlPr>
                                            <a:rPr lang="zh-CN" sz="1200" i="1" kern="100">
                                              <a:effectLst/>
                                              <a:latin typeface="Cambria Math" panose="02040503050406030204" pitchFamily="18" charset="0"/>
                                            </a:rPr>
                                          </m:ctrlPr>
                                        </m:sSubPr>
                                        <m:e>
                                          <m:r>
                                            <a:rPr lang="en-US" sz="1200" kern="100">
                                              <a:effectLst/>
                                              <a:latin typeface="Cambria Math" panose="02040503050406030204" pitchFamily="18" charset="0"/>
                                            </a:rPr>
                                            <m:t>𝐷</m:t>
                                          </m:r>
                                        </m:e>
                                        <m:sub>
                                          <m:r>
                                            <a:rPr lang="en-US" sz="1200" kern="100">
                                              <a:effectLst/>
                                              <a:latin typeface="Cambria Math" panose="02040503050406030204" pitchFamily="18" charset="0"/>
                                            </a:rPr>
                                            <m:t>𝑅</m:t>
                                          </m:r>
                                        </m:sub>
                                      </m:sSub>
                                    </m:e>
                                  </m:d>
                                </m:e>
                              </m:d>
                            </m:oMath>
                          </a14:m>
                          <a:endParaRPr lang="zh-CN" sz="1200" kern="100" dirty="0">
                            <a:effectLst/>
                          </a:endParaRPr>
                        </a:p>
                        <a:p>
                          <a:pPr marL="342900" lvl="0" indent="-342900" algn="just">
                            <a:lnSpc>
                              <a:spcPct val="120000"/>
                            </a:lnSpc>
                            <a:buSzPts val="800"/>
                            <a:buFont typeface="Times New Roman" panose="02020603050405020304" pitchFamily="18" charset="0"/>
                            <a:buAutoNum type="arabicPeriod"/>
                          </a:pPr>
                          <a14:m>
                            <m:oMath xmlns:m="http://schemas.openxmlformats.org/officeDocument/2006/math">
                              <m:r>
                                <m:rPr>
                                  <m:nor/>
                                </m:rPr>
                                <a:rPr lang="en-US" sz="1200" kern="100">
                                  <a:effectLst/>
                                </a:rPr>
                                <m:t>end</m:t>
                              </m:r>
                              <m:r>
                                <m:rPr>
                                  <m:nor/>
                                </m:rPr>
                                <a:rPr lang="en-US" sz="1200" kern="100">
                                  <a:effectLst/>
                                </a:rPr>
                                <m:t> </m:t>
                              </m:r>
                              <m:r>
                                <m:rPr>
                                  <m:nor/>
                                </m:rPr>
                                <a:rPr lang="en-US" sz="1200" kern="100">
                                  <a:effectLst/>
                                </a:rPr>
                                <m:t>procedure</m:t>
                              </m:r>
                              <m:r>
                                <m:rPr>
                                  <m:nor/>
                                </m:rPr>
                                <a:rPr lang="en-US" sz="1200" kern="100">
                                  <a:effectLst/>
                                </a:rPr>
                                <m:t> </m:t>
                              </m:r>
                            </m:oMath>
                          </a14:m>
                          <a:endParaRPr lang="zh-CN" sz="1200" kern="100" dirty="0">
                            <a:effectLst/>
                            <a:latin typeface="等线" panose="02010600030101010101" pitchFamily="2" charset="-122"/>
                            <a:ea typeface="宋体" panose="02010600030101010101" pitchFamily="2" charset="-122"/>
                          </a:endParaRPr>
                        </a:p>
                      </a:txBody>
                      <a:tcPr marL="68580" marR="68580" marT="0" marB="0">
                        <a:lnT w="9525"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3602960264"/>
                      </a:ext>
                    </a:extLst>
                  </a:tr>
                </a:tbl>
              </a:graphicData>
            </a:graphic>
          </p:graphicFrame>
        </mc:Choice>
        <mc:Fallback xmlns="">
          <p:graphicFrame>
            <p:nvGraphicFramePr>
              <p:cNvPr id="3" name="表格 2">
                <a:extLst>
                  <a:ext uri="{FF2B5EF4-FFF2-40B4-BE49-F238E27FC236}">
                    <a16:creationId xmlns:a16="http://schemas.microsoft.com/office/drawing/2014/main" id="{A6BDBCB9-A9D4-32FE-ACC4-51EE8C8958D6}"/>
                  </a:ext>
                </a:extLst>
              </p:cNvPr>
              <p:cNvGraphicFramePr>
                <a:graphicFrameLocks noGrp="1"/>
              </p:cNvGraphicFramePr>
              <p:nvPr>
                <p:extLst>
                  <p:ext uri="{D42A27DB-BD31-4B8C-83A1-F6EECF244321}">
                    <p14:modId xmlns:p14="http://schemas.microsoft.com/office/powerpoint/2010/main" val="736265243"/>
                  </p:ext>
                </p:extLst>
              </p:nvPr>
            </p:nvGraphicFramePr>
            <p:xfrm>
              <a:off x="1080158" y="1041278"/>
              <a:ext cx="5039995" cy="5357929"/>
            </p:xfrm>
            <a:graphic>
              <a:graphicData uri="http://schemas.openxmlformats.org/drawingml/2006/table">
                <a:tbl>
                  <a:tblPr firstRow="1" firstCol="1" bandRow="1">
                    <a:tableStyleId>{72833802-FEF1-4C79-8D5D-14CF1EAF98D9}</a:tableStyleId>
                  </a:tblPr>
                  <a:tblGrid>
                    <a:gridCol w="5039995">
                      <a:extLst>
                        <a:ext uri="{9D8B030D-6E8A-4147-A177-3AD203B41FA5}">
                          <a16:colId xmlns:a16="http://schemas.microsoft.com/office/drawing/2014/main" val="361976532"/>
                        </a:ext>
                      </a:extLst>
                    </a:gridCol>
                  </a:tblGrid>
                  <a:tr h="297994">
                    <a:tc>
                      <a:txBody>
                        <a:bodyPr/>
                        <a:lstStyle/>
                        <a:p>
                          <a:pPr algn="ctr">
                            <a:lnSpc>
                              <a:spcPct val="120000"/>
                            </a:lnSpc>
                          </a:pPr>
                          <a:r>
                            <a:rPr lang="en-US" sz="1200" kern="100" dirty="0">
                              <a:solidFill>
                                <a:schemeClr val="tx2"/>
                              </a:solidFill>
                              <a:effectLst/>
                            </a:rPr>
                            <a:t>Algorithm 1 DIMM-Centric Decision Tree</a:t>
                          </a:r>
                          <a:endParaRPr lang="zh-CN" sz="1200" kern="100" dirty="0">
                            <a:solidFill>
                              <a:schemeClr val="tx2"/>
                            </a:solidFill>
                            <a:effectLst/>
                            <a:latin typeface="Times New Roman" panose="02020603050405020304" pitchFamily="18" charset="0"/>
                            <a:ea typeface="宋体" panose="02010600030101010101" pitchFamily="2" charset="-122"/>
                          </a:endParaRPr>
                        </a:p>
                      </a:txBody>
                      <a:tcPr marL="68580" marR="68580" marT="0" marB="0" anchor="ctr">
                        <a:solidFill>
                          <a:srgbClr val="C00000"/>
                        </a:solidFill>
                      </a:tcPr>
                    </a:tc>
                    <a:extLst>
                      <a:ext uri="{0D108BD9-81ED-4DB2-BD59-A6C34878D82A}">
                        <a16:rowId xmlns:a16="http://schemas.microsoft.com/office/drawing/2014/main" val="1843028271"/>
                      </a:ext>
                    </a:extLst>
                  </a:tr>
                  <a:tr h="519367">
                    <a:tc>
                      <a:txBody>
                        <a:bodyPr/>
                        <a:lstStyle/>
                        <a:p>
                          <a:endParaRPr lang="zh-CN"/>
                        </a:p>
                      </a:txBody>
                      <a:tcPr marL="68580" marR="68580" marT="0" marB="0">
                        <a:lnB w="9525" cap="flat" cmpd="sng" algn="ctr">
                          <a:solidFill>
                            <a:schemeClr val="bg1"/>
                          </a:solidFill>
                          <a:prstDash val="solid"/>
                          <a:round/>
                          <a:headEnd type="none" w="med" len="med"/>
                          <a:tailEnd type="none" w="med" len="med"/>
                        </a:lnB>
                        <a:blipFill>
                          <a:blip r:embed="rId3"/>
                          <a:stretch>
                            <a:fillRect l="-121" t="-57647" r="-242" b="-888235"/>
                          </a:stretch>
                        </a:blipFill>
                      </a:tcPr>
                    </a:tc>
                    <a:extLst>
                      <a:ext uri="{0D108BD9-81ED-4DB2-BD59-A6C34878D82A}">
                        <a16:rowId xmlns:a16="http://schemas.microsoft.com/office/drawing/2014/main" val="1531728280"/>
                      </a:ext>
                    </a:extLst>
                  </a:tr>
                  <a:tr h="4540568">
                    <a:tc>
                      <a:txBody>
                        <a:bodyPr/>
                        <a:lstStyle/>
                        <a:p>
                          <a:endParaRPr lang="zh-CN"/>
                        </a:p>
                      </a:txBody>
                      <a:tcPr marL="68580" marR="68580" marT="0" marB="0">
                        <a:lnT w="9525" cap="flat" cmpd="sng" algn="ctr">
                          <a:solidFill>
                            <a:schemeClr val="bg1"/>
                          </a:solidFill>
                          <a:prstDash val="solid"/>
                          <a:round/>
                          <a:headEnd type="none" w="med" len="med"/>
                          <a:tailEnd type="none" w="med" len="med"/>
                        </a:lnT>
                        <a:blipFill>
                          <a:blip r:embed="rId3"/>
                          <a:stretch>
                            <a:fillRect l="-121" t="-17962" r="-242" b="-1206"/>
                          </a:stretch>
                        </a:blipFill>
                      </a:tcPr>
                    </a:tc>
                    <a:extLst>
                      <a:ext uri="{0D108BD9-81ED-4DB2-BD59-A6C34878D82A}">
                        <a16:rowId xmlns:a16="http://schemas.microsoft.com/office/drawing/2014/main" val="3602960264"/>
                      </a:ext>
                    </a:extLst>
                  </a:tr>
                </a:tbl>
              </a:graphicData>
            </a:graphic>
          </p:graphicFrame>
        </mc:Fallback>
      </mc:AlternateContent>
      <p:sp>
        <p:nvSpPr>
          <p:cNvPr id="23" name="矩形 22">
            <a:extLst>
              <a:ext uri="{FF2B5EF4-FFF2-40B4-BE49-F238E27FC236}">
                <a16:creationId xmlns:a16="http://schemas.microsoft.com/office/drawing/2014/main" id="{4AD6FF94-3D5A-C267-C099-E306CD222B3D}"/>
              </a:ext>
            </a:extLst>
          </p:cNvPr>
          <p:cNvSpPr/>
          <p:nvPr/>
        </p:nvSpPr>
        <p:spPr>
          <a:xfrm>
            <a:off x="6438289" y="4730986"/>
            <a:ext cx="4475192" cy="1548000"/>
          </a:xfrm>
          <a:prstGeom prst="rect">
            <a:avLst/>
          </a:prstGeom>
          <a:noFill/>
          <a:ln w="12700" cap="flat" cmpd="sng" algn="ctr">
            <a:solidFill>
              <a:srgbClr val="4874CB">
                <a:shade val="15000"/>
              </a:srgbClr>
            </a:solid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E54C5E">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rPr>
              <a:t>Time-point Scale Prediction Module</a:t>
            </a:r>
            <a:endParaRPr kumimoji="0" lang="zh-CN" altLang="en-US" sz="1200" b="1" i="0" u="none" strike="noStrike" kern="0" cap="none" spc="0" normalizeH="0" baseline="0" noProof="0" dirty="0">
              <a:ln>
                <a:noFill/>
              </a:ln>
              <a:solidFill>
                <a:srgbClr val="E54C5E">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BA984A11-56E6-78CF-3AC0-96B1D00122C8}"/>
              </a:ext>
            </a:extLst>
          </p:cNvPr>
          <p:cNvSpPr/>
          <p:nvPr/>
        </p:nvSpPr>
        <p:spPr>
          <a:xfrm>
            <a:off x="6655162" y="5880414"/>
            <a:ext cx="1807715" cy="224136"/>
          </a:xfrm>
          <a:prstGeom prst="rect">
            <a:avLst/>
          </a:prstGeom>
          <a:noFill/>
          <a:ln w="12700" cap="flat" cmpd="sng" algn="ctr">
            <a:no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DIMM-level Decision Tree</a:t>
            </a:r>
            <a:endParaRPr kumimoji="0" lang="zh-CN" altLang="en-US" sz="10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5" name="椭圆 24">
                <a:extLst>
                  <a:ext uri="{FF2B5EF4-FFF2-40B4-BE49-F238E27FC236}">
                    <a16:creationId xmlns:a16="http://schemas.microsoft.com/office/drawing/2014/main" id="{EC7E6F82-96F2-560B-1770-DE2F2CC2F5EF}"/>
                  </a:ext>
                </a:extLst>
              </p:cNvPr>
              <p:cNvSpPr/>
              <p:nvPr/>
            </p:nvSpPr>
            <p:spPr>
              <a:xfrm>
                <a:off x="7451020" y="4781992"/>
                <a:ext cx="216000" cy="216000"/>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𝟏</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mc:Choice>
        <mc:Fallback xmlns="">
          <p:sp>
            <p:nvSpPr>
              <p:cNvPr id="25" name="椭圆 24">
                <a:extLst>
                  <a:ext uri="{FF2B5EF4-FFF2-40B4-BE49-F238E27FC236}">
                    <a16:creationId xmlns:a16="http://schemas.microsoft.com/office/drawing/2014/main" id="{EC7E6F82-96F2-560B-1770-DE2F2CC2F5EF}"/>
                  </a:ext>
                </a:extLst>
              </p:cNvPr>
              <p:cNvSpPr>
                <a:spLocks noRot="1" noChangeAspect="1" noMove="1" noResize="1" noEditPoints="1" noAdjustHandles="1" noChangeArrowheads="1" noChangeShapeType="1" noTextEdit="1"/>
              </p:cNvSpPr>
              <p:nvPr/>
            </p:nvSpPr>
            <p:spPr>
              <a:xfrm>
                <a:off x="7451020" y="4781992"/>
                <a:ext cx="216000" cy="216000"/>
              </a:xfrm>
              <a:prstGeom prst="ellipse">
                <a:avLst/>
              </a:prstGeom>
              <a:blipFill>
                <a:blip r:embed="rId4"/>
                <a:stretch>
                  <a:fillRect l="-5263" b="-2632"/>
                </a:stretch>
              </a:blipFill>
              <a:ln w="12700" cap="flat" cmpd="sng" algn="ctr">
                <a:solidFill>
                  <a:srgbClr val="0070C0"/>
                </a:solid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椭圆 25">
                <a:extLst>
                  <a:ext uri="{FF2B5EF4-FFF2-40B4-BE49-F238E27FC236}">
                    <a16:creationId xmlns:a16="http://schemas.microsoft.com/office/drawing/2014/main" id="{90A0618B-D62C-4824-85D4-E4FC02D5681F}"/>
                  </a:ext>
                </a:extLst>
              </p:cNvPr>
              <p:cNvSpPr/>
              <p:nvPr/>
            </p:nvSpPr>
            <p:spPr>
              <a:xfrm>
                <a:off x="7245602" y="5190987"/>
                <a:ext cx="216000" cy="216000"/>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𝟐</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mc:Choice>
        <mc:Fallback xmlns="">
          <p:sp>
            <p:nvSpPr>
              <p:cNvPr id="26" name="椭圆 25">
                <a:extLst>
                  <a:ext uri="{FF2B5EF4-FFF2-40B4-BE49-F238E27FC236}">
                    <a16:creationId xmlns:a16="http://schemas.microsoft.com/office/drawing/2014/main" id="{90A0618B-D62C-4824-85D4-E4FC02D5681F}"/>
                  </a:ext>
                </a:extLst>
              </p:cNvPr>
              <p:cNvSpPr>
                <a:spLocks noRot="1" noChangeAspect="1" noMove="1" noResize="1" noEditPoints="1" noAdjustHandles="1" noChangeArrowheads="1" noChangeShapeType="1" noTextEdit="1"/>
              </p:cNvSpPr>
              <p:nvPr/>
            </p:nvSpPr>
            <p:spPr>
              <a:xfrm>
                <a:off x="7245602" y="5190987"/>
                <a:ext cx="216000" cy="216000"/>
              </a:xfrm>
              <a:prstGeom prst="ellipse">
                <a:avLst/>
              </a:prstGeom>
              <a:blipFill>
                <a:blip r:embed="rId5"/>
                <a:stretch>
                  <a:fillRect l="-8108" b="-2703"/>
                </a:stretch>
              </a:blipFill>
              <a:ln w="12700" cap="flat" cmpd="sng" algn="ctr">
                <a:solidFill>
                  <a:srgbClr val="0070C0"/>
                </a:solid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椭圆 26">
                <a:extLst>
                  <a:ext uri="{FF2B5EF4-FFF2-40B4-BE49-F238E27FC236}">
                    <a16:creationId xmlns:a16="http://schemas.microsoft.com/office/drawing/2014/main" id="{A5A98BA3-50C1-45A9-AE1D-29D55D28D182}"/>
                  </a:ext>
                </a:extLst>
              </p:cNvPr>
              <p:cNvSpPr/>
              <p:nvPr/>
            </p:nvSpPr>
            <p:spPr>
              <a:xfrm>
                <a:off x="7656439" y="5190987"/>
                <a:ext cx="216000" cy="216000"/>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𝟑</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mc:Choice>
        <mc:Fallback xmlns="">
          <p:sp>
            <p:nvSpPr>
              <p:cNvPr id="27" name="椭圆 26">
                <a:extLst>
                  <a:ext uri="{FF2B5EF4-FFF2-40B4-BE49-F238E27FC236}">
                    <a16:creationId xmlns:a16="http://schemas.microsoft.com/office/drawing/2014/main" id="{A5A98BA3-50C1-45A9-AE1D-29D55D28D182}"/>
                  </a:ext>
                </a:extLst>
              </p:cNvPr>
              <p:cNvSpPr>
                <a:spLocks noRot="1" noChangeAspect="1" noMove="1" noResize="1" noEditPoints="1" noAdjustHandles="1" noChangeArrowheads="1" noChangeShapeType="1" noTextEdit="1"/>
              </p:cNvSpPr>
              <p:nvPr/>
            </p:nvSpPr>
            <p:spPr>
              <a:xfrm>
                <a:off x="7656439" y="5190987"/>
                <a:ext cx="216000" cy="216000"/>
              </a:xfrm>
              <a:prstGeom prst="ellipse">
                <a:avLst/>
              </a:prstGeom>
              <a:blipFill>
                <a:blip r:embed="rId6"/>
                <a:stretch>
                  <a:fillRect l="-5405" b="-2703"/>
                </a:stretch>
              </a:blipFill>
              <a:ln w="12700" cap="flat" cmpd="sng" algn="ctr">
                <a:solidFill>
                  <a:srgbClr val="0070C0"/>
                </a:solid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椭圆 27">
                <a:extLst>
                  <a:ext uri="{FF2B5EF4-FFF2-40B4-BE49-F238E27FC236}">
                    <a16:creationId xmlns:a16="http://schemas.microsoft.com/office/drawing/2014/main" id="{5445F1D2-F22B-2232-4F75-62B0470DFC57}"/>
                  </a:ext>
                </a:extLst>
              </p:cNvPr>
              <p:cNvSpPr/>
              <p:nvPr/>
            </p:nvSpPr>
            <p:spPr>
              <a:xfrm>
                <a:off x="7025407" y="5634591"/>
                <a:ext cx="216000" cy="216000"/>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𝟒</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mc:Choice>
        <mc:Fallback xmlns="">
          <p:sp>
            <p:nvSpPr>
              <p:cNvPr id="28" name="椭圆 27">
                <a:extLst>
                  <a:ext uri="{FF2B5EF4-FFF2-40B4-BE49-F238E27FC236}">
                    <a16:creationId xmlns:a16="http://schemas.microsoft.com/office/drawing/2014/main" id="{5445F1D2-F22B-2232-4F75-62B0470DFC57}"/>
                  </a:ext>
                </a:extLst>
              </p:cNvPr>
              <p:cNvSpPr>
                <a:spLocks noRot="1" noChangeAspect="1" noMove="1" noResize="1" noEditPoints="1" noAdjustHandles="1" noChangeArrowheads="1" noChangeShapeType="1" noTextEdit="1"/>
              </p:cNvSpPr>
              <p:nvPr/>
            </p:nvSpPr>
            <p:spPr>
              <a:xfrm>
                <a:off x="7025407" y="5634591"/>
                <a:ext cx="216000" cy="216000"/>
              </a:xfrm>
              <a:prstGeom prst="ellipse">
                <a:avLst/>
              </a:prstGeom>
              <a:blipFill>
                <a:blip r:embed="rId7"/>
                <a:stretch>
                  <a:fillRect l="-5263" b="-2632"/>
                </a:stretch>
              </a:blipFill>
              <a:ln w="12700" cap="flat" cmpd="sng" algn="ctr">
                <a:solidFill>
                  <a:srgbClr val="0070C0"/>
                </a:solid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椭圆 28">
                <a:extLst>
                  <a:ext uri="{FF2B5EF4-FFF2-40B4-BE49-F238E27FC236}">
                    <a16:creationId xmlns:a16="http://schemas.microsoft.com/office/drawing/2014/main" id="{EAF5C358-12C7-7012-7210-B7EF8D60097B}"/>
                  </a:ext>
                </a:extLst>
              </p:cNvPr>
              <p:cNvSpPr/>
              <p:nvPr/>
            </p:nvSpPr>
            <p:spPr>
              <a:xfrm>
                <a:off x="7465798" y="5634591"/>
                <a:ext cx="216000" cy="216000"/>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𝟓</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mc:Choice>
        <mc:Fallback xmlns="">
          <p:sp>
            <p:nvSpPr>
              <p:cNvPr id="29" name="椭圆 28">
                <a:extLst>
                  <a:ext uri="{FF2B5EF4-FFF2-40B4-BE49-F238E27FC236}">
                    <a16:creationId xmlns:a16="http://schemas.microsoft.com/office/drawing/2014/main" id="{EAF5C358-12C7-7012-7210-B7EF8D60097B}"/>
                  </a:ext>
                </a:extLst>
              </p:cNvPr>
              <p:cNvSpPr>
                <a:spLocks noRot="1" noChangeAspect="1" noMove="1" noResize="1" noEditPoints="1" noAdjustHandles="1" noChangeArrowheads="1" noChangeShapeType="1" noTextEdit="1"/>
              </p:cNvSpPr>
              <p:nvPr/>
            </p:nvSpPr>
            <p:spPr>
              <a:xfrm>
                <a:off x="7465798" y="5634591"/>
                <a:ext cx="216000" cy="216000"/>
              </a:xfrm>
              <a:prstGeom prst="ellipse">
                <a:avLst/>
              </a:prstGeom>
              <a:blipFill>
                <a:blip r:embed="rId8"/>
                <a:stretch>
                  <a:fillRect l="-5405" b="-2632"/>
                </a:stretch>
              </a:blipFill>
              <a:ln w="12700" cap="flat" cmpd="sng" algn="ctr">
                <a:solidFill>
                  <a:srgbClr val="0070C0"/>
                </a:solidFill>
                <a:prstDash val="solid"/>
                <a:miter lim="800000"/>
              </a:ln>
              <a:effectLst/>
            </p:spPr>
            <p:txBody>
              <a:bodyPr/>
              <a:lstStyle/>
              <a:p>
                <a:r>
                  <a:rPr lang="zh-CN" altLang="en-US">
                    <a:noFill/>
                  </a:rPr>
                  <a:t> </a:t>
                </a:r>
              </a:p>
            </p:txBody>
          </p:sp>
        </mc:Fallback>
      </mc:AlternateContent>
      <p:cxnSp>
        <p:nvCxnSpPr>
          <p:cNvPr id="30" name="直接连接符 29">
            <a:extLst>
              <a:ext uri="{FF2B5EF4-FFF2-40B4-BE49-F238E27FC236}">
                <a16:creationId xmlns:a16="http://schemas.microsoft.com/office/drawing/2014/main" id="{7716C798-25C6-772F-C022-9F27F10A8898}"/>
              </a:ext>
            </a:extLst>
          </p:cNvPr>
          <p:cNvCxnSpPr>
            <a:cxnSpLocks/>
            <a:stCxn id="25" idx="3"/>
            <a:endCxn id="26" idx="0"/>
          </p:cNvCxnSpPr>
          <p:nvPr/>
        </p:nvCxnSpPr>
        <p:spPr>
          <a:xfrm flipH="1">
            <a:off x="7353602" y="4966360"/>
            <a:ext cx="129050" cy="224627"/>
          </a:xfrm>
          <a:prstGeom prst="line">
            <a:avLst/>
          </a:prstGeom>
          <a:noFill/>
          <a:ln w="12700" cap="flat" cmpd="sng" algn="ctr">
            <a:solidFill>
              <a:srgbClr val="4874CB"/>
            </a:solidFill>
            <a:prstDash val="solid"/>
            <a:miter lim="800000"/>
          </a:ln>
          <a:effectLst/>
        </p:spPr>
      </p:cxnSp>
      <p:cxnSp>
        <p:nvCxnSpPr>
          <p:cNvPr id="31" name="直接连接符 30">
            <a:extLst>
              <a:ext uri="{FF2B5EF4-FFF2-40B4-BE49-F238E27FC236}">
                <a16:creationId xmlns:a16="http://schemas.microsoft.com/office/drawing/2014/main" id="{139CCE82-804E-CD44-E091-EB8937CD51D9}"/>
              </a:ext>
            </a:extLst>
          </p:cNvPr>
          <p:cNvCxnSpPr>
            <a:cxnSpLocks/>
            <a:stCxn id="25" idx="5"/>
            <a:endCxn id="27" idx="0"/>
          </p:cNvCxnSpPr>
          <p:nvPr/>
        </p:nvCxnSpPr>
        <p:spPr>
          <a:xfrm>
            <a:off x="7635388" y="4966360"/>
            <a:ext cx="129051" cy="224627"/>
          </a:xfrm>
          <a:prstGeom prst="line">
            <a:avLst/>
          </a:prstGeom>
          <a:noFill/>
          <a:ln w="12700" cap="flat" cmpd="sng" algn="ctr">
            <a:solidFill>
              <a:srgbClr val="4874CB"/>
            </a:solidFill>
            <a:prstDash val="solid"/>
            <a:miter lim="800000"/>
          </a:ln>
          <a:effectLst/>
        </p:spPr>
      </p:cxnSp>
      <p:cxnSp>
        <p:nvCxnSpPr>
          <p:cNvPr id="32" name="直接连接符 31">
            <a:extLst>
              <a:ext uri="{FF2B5EF4-FFF2-40B4-BE49-F238E27FC236}">
                <a16:creationId xmlns:a16="http://schemas.microsoft.com/office/drawing/2014/main" id="{B86833C9-136A-915D-AAE1-F043A4518938}"/>
              </a:ext>
            </a:extLst>
          </p:cNvPr>
          <p:cNvCxnSpPr>
            <a:cxnSpLocks/>
            <a:stCxn id="26" idx="3"/>
            <a:endCxn id="28" idx="0"/>
          </p:cNvCxnSpPr>
          <p:nvPr/>
        </p:nvCxnSpPr>
        <p:spPr>
          <a:xfrm flipH="1">
            <a:off x="7133407" y="5375355"/>
            <a:ext cx="143827" cy="259236"/>
          </a:xfrm>
          <a:prstGeom prst="line">
            <a:avLst/>
          </a:prstGeom>
          <a:noFill/>
          <a:ln w="12700" cap="flat" cmpd="sng" algn="ctr">
            <a:solidFill>
              <a:srgbClr val="4874CB"/>
            </a:solidFill>
            <a:prstDash val="solid"/>
            <a:miter lim="800000"/>
          </a:ln>
          <a:effectLst/>
        </p:spPr>
      </p:cxnSp>
      <p:cxnSp>
        <p:nvCxnSpPr>
          <p:cNvPr id="33" name="直接连接符 32">
            <a:extLst>
              <a:ext uri="{FF2B5EF4-FFF2-40B4-BE49-F238E27FC236}">
                <a16:creationId xmlns:a16="http://schemas.microsoft.com/office/drawing/2014/main" id="{A467933F-1874-63D6-B1EA-A4E3950E1789}"/>
              </a:ext>
            </a:extLst>
          </p:cNvPr>
          <p:cNvCxnSpPr>
            <a:cxnSpLocks/>
            <a:stCxn id="26" idx="5"/>
            <a:endCxn id="29" idx="0"/>
          </p:cNvCxnSpPr>
          <p:nvPr/>
        </p:nvCxnSpPr>
        <p:spPr>
          <a:xfrm>
            <a:off x="7429970" y="5375355"/>
            <a:ext cx="143828" cy="259236"/>
          </a:xfrm>
          <a:prstGeom prst="line">
            <a:avLst/>
          </a:prstGeom>
          <a:noFill/>
          <a:ln w="12700" cap="flat" cmpd="sng" algn="ctr">
            <a:solidFill>
              <a:srgbClr val="4874CB"/>
            </a:solidFill>
            <a:prstDash val="solid"/>
            <a:miter lim="800000"/>
          </a:ln>
          <a:effectLst/>
        </p:spPr>
      </p:cxn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7ED721E0-1203-6B48-4BC1-07F056B83063}"/>
                  </a:ext>
                </a:extLst>
              </p:cNvPr>
              <p:cNvSpPr txBox="1"/>
              <p:nvPr/>
            </p:nvSpPr>
            <p:spPr>
              <a:xfrm>
                <a:off x="6990510" y="4929387"/>
                <a:ext cx="549240" cy="230832"/>
              </a:xfrm>
              <a:prstGeom prst="rect">
                <a:avLst/>
              </a:prstGeom>
              <a:noFill/>
            </p:spPr>
            <p:txBody>
              <a:bodyPr wrap="square">
                <a:spAutoFit/>
              </a:bodyPr>
              <a:lstStyle/>
              <a:p>
                <a:pPr algn="ctr" defTabSz="914400"/>
                <a14:m>
                  <m:oMathPara xmlns:m="http://schemas.openxmlformats.org/officeDocument/2006/math">
                    <m:oMathParaPr>
                      <m:jc m:val="centerGroup"/>
                    </m:oMathParaPr>
                    <m:oMath xmlns:m="http://schemas.openxmlformats.org/officeDocument/2006/math">
                      <m:sSub>
                        <m:sSubPr>
                          <m:ctrlPr>
                            <a:rPr lang="en-US" altLang="zh-CN" sz="900" b="1" i="1" dirty="0" smtClean="0">
                              <a:solidFill>
                                <a:prstClr val="black"/>
                              </a:solidFill>
                              <a:latin typeface="Cambria Math" panose="02040503050406030204" pitchFamily="18" charset="0"/>
                            </a:rPr>
                          </m:ctrlPr>
                        </m:sSubPr>
                        <m:e>
                          <m:r>
                            <a:rPr lang="en-US" altLang="zh-CN" sz="900" b="1" i="1" dirty="0" smtClean="0">
                              <a:solidFill>
                                <a:prstClr val="black"/>
                              </a:solidFill>
                              <a:latin typeface="Cambria Math" panose="02040503050406030204" pitchFamily="18" charset="0"/>
                            </a:rPr>
                            <m:t>𝒇</m:t>
                          </m:r>
                        </m:e>
                        <m:sub>
                          <m:r>
                            <a:rPr lang="en-US" altLang="zh-CN" sz="900" b="1" i="1" dirty="0" smtClean="0">
                              <a:solidFill>
                                <a:prstClr val="black"/>
                              </a:solidFill>
                              <a:latin typeface="Cambria Math" panose="02040503050406030204" pitchFamily="18" charset="0"/>
                            </a:rPr>
                            <m:t>𝟏</m:t>
                          </m:r>
                        </m:sub>
                      </m:sSub>
                      <m:r>
                        <a:rPr lang="en-US" altLang="zh-CN" sz="900" b="1" i="1" dirty="0" smtClean="0">
                          <a:solidFill>
                            <a:prstClr val="black"/>
                          </a:solidFill>
                          <a:latin typeface="Cambria Math" panose="02040503050406030204" pitchFamily="18" charset="0"/>
                        </a:rPr>
                        <m:t>=</m:t>
                      </m:r>
                      <m:r>
                        <a:rPr lang="en-US" altLang="zh-CN" sz="900" b="1" i="1" dirty="0" smtClean="0">
                          <a:solidFill>
                            <a:prstClr val="black"/>
                          </a:solidFill>
                          <a:latin typeface="Cambria Math" panose="02040503050406030204" pitchFamily="18" charset="0"/>
                        </a:rPr>
                        <m:t>𝒂</m:t>
                      </m:r>
                    </m:oMath>
                  </m:oMathPara>
                </a14:m>
                <a:endParaRPr lang="zh-CN" altLang="en-US" sz="900" b="1" dirty="0">
                  <a:solidFill>
                    <a:prstClr val="black"/>
                  </a:solidFill>
                  <a:latin typeface="等线" panose="02010600030101010101" pitchFamily="2" charset="-122"/>
                </a:endParaRPr>
              </a:p>
            </p:txBody>
          </p:sp>
        </mc:Choice>
        <mc:Fallback xmlns="">
          <p:sp>
            <p:nvSpPr>
              <p:cNvPr id="34" name="文本框 33">
                <a:extLst>
                  <a:ext uri="{FF2B5EF4-FFF2-40B4-BE49-F238E27FC236}">
                    <a16:creationId xmlns:a16="http://schemas.microsoft.com/office/drawing/2014/main" id="{7ED721E0-1203-6B48-4BC1-07F056B83063}"/>
                  </a:ext>
                </a:extLst>
              </p:cNvPr>
              <p:cNvSpPr txBox="1">
                <a:spLocks noRot="1" noChangeAspect="1" noMove="1" noResize="1" noEditPoints="1" noAdjustHandles="1" noChangeArrowheads="1" noChangeShapeType="1" noTextEdit="1"/>
              </p:cNvSpPr>
              <p:nvPr/>
            </p:nvSpPr>
            <p:spPr>
              <a:xfrm>
                <a:off x="6990510" y="4929387"/>
                <a:ext cx="549240" cy="230832"/>
              </a:xfrm>
              <a:prstGeom prst="rect">
                <a:avLst/>
              </a:prstGeom>
              <a:blipFill>
                <a:blip r:embed="rId9"/>
                <a:stretch>
                  <a:fillRect b="-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323AD18A-E2CB-B7E9-ECC6-A405FC13DB63}"/>
                  </a:ext>
                </a:extLst>
              </p:cNvPr>
              <p:cNvSpPr txBox="1"/>
              <p:nvPr/>
            </p:nvSpPr>
            <p:spPr>
              <a:xfrm>
                <a:off x="7625315" y="4925983"/>
                <a:ext cx="549240" cy="230832"/>
              </a:xfrm>
              <a:prstGeom prst="rect">
                <a:avLst/>
              </a:prstGeom>
              <a:noFill/>
            </p:spPr>
            <p:txBody>
              <a:bodyPr wrap="square">
                <a:spAutoFit/>
              </a:bodyPr>
              <a:lstStyle/>
              <a:p>
                <a:pPr algn="ctr" defTabSz="914400"/>
                <a14:m>
                  <m:oMathPara xmlns:m="http://schemas.openxmlformats.org/officeDocument/2006/math">
                    <m:oMathParaPr>
                      <m:jc m:val="centerGroup"/>
                    </m:oMathParaPr>
                    <m:oMath xmlns:m="http://schemas.openxmlformats.org/officeDocument/2006/math">
                      <m:sSub>
                        <m:sSubPr>
                          <m:ctrlPr>
                            <a:rPr lang="en-US" altLang="zh-CN" sz="900" b="1" i="1" dirty="0" smtClean="0">
                              <a:solidFill>
                                <a:prstClr val="black"/>
                              </a:solidFill>
                              <a:latin typeface="Cambria Math" panose="02040503050406030204" pitchFamily="18" charset="0"/>
                            </a:rPr>
                          </m:ctrlPr>
                        </m:sSubPr>
                        <m:e>
                          <m:r>
                            <a:rPr lang="en-US" altLang="zh-CN" sz="900" b="1" i="1" dirty="0" smtClean="0">
                              <a:solidFill>
                                <a:prstClr val="black"/>
                              </a:solidFill>
                              <a:latin typeface="Cambria Math" panose="02040503050406030204" pitchFamily="18" charset="0"/>
                            </a:rPr>
                            <m:t>𝒇</m:t>
                          </m:r>
                        </m:e>
                        <m:sub>
                          <m:r>
                            <a:rPr lang="en-US" altLang="zh-CN" sz="900" b="1" i="1" dirty="0" smtClean="0">
                              <a:solidFill>
                                <a:prstClr val="black"/>
                              </a:solidFill>
                              <a:latin typeface="Cambria Math" panose="02040503050406030204" pitchFamily="18" charset="0"/>
                            </a:rPr>
                            <m:t>𝟏</m:t>
                          </m:r>
                        </m:sub>
                      </m:sSub>
                      <m:r>
                        <a:rPr lang="en-US" altLang="zh-CN" sz="900" b="1" i="1" dirty="0" smtClean="0">
                          <a:solidFill>
                            <a:prstClr val="black"/>
                          </a:solidFill>
                          <a:latin typeface="Cambria Math" panose="02040503050406030204" pitchFamily="18" charset="0"/>
                        </a:rPr>
                        <m:t>≠</m:t>
                      </m:r>
                      <m:r>
                        <a:rPr lang="en-US" altLang="zh-CN" sz="900" b="1" i="1" dirty="0" smtClean="0">
                          <a:solidFill>
                            <a:prstClr val="black"/>
                          </a:solidFill>
                          <a:latin typeface="Cambria Math" panose="02040503050406030204" pitchFamily="18" charset="0"/>
                        </a:rPr>
                        <m:t>𝒂</m:t>
                      </m:r>
                    </m:oMath>
                  </m:oMathPara>
                </a14:m>
                <a:endParaRPr lang="zh-CN" altLang="en-US" sz="900" b="1" dirty="0">
                  <a:solidFill>
                    <a:prstClr val="black"/>
                  </a:solidFill>
                  <a:latin typeface="等线" panose="02010600030101010101" pitchFamily="2" charset="-122"/>
                </a:endParaRPr>
              </a:p>
            </p:txBody>
          </p:sp>
        </mc:Choice>
        <mc:Fallback xmlns="">
          <p:sp>
            <p:nvSpPr>
              <p:cNvPr id="35" name="文本框 34">
                <a:extLst>
                  <a:ext uri="{FF2B5EF4-FFF2-40B4-BE49-F238E27FC236}">
                    <a16:creationId xmlns:a16="http://schemas.microsoft.com/office/drawing/2014/main" id="{323AD18A-E2CB-B7E9-ECC6-A405FC13DB63}"/>
                  </a:ext>
                </a:extLst>
              </p:cNvPr>
              <p:cNvSpPr txBox="1">
                <a:spLocks noRot="1" noChangeAspect="1" noMove="1" noResize="1" noEditPoints="1" noAdjustHandles="1" noChangeArrowheads="1" noChangeShapeType="1" noTextEdit="1"/>
              </p:cNvSpPr>
              <p:nvPr/>
            </p:nvSpPr>
            <p:spPr>
              <a:xfrm>
                <a:off x="7625315" y="4925983"/>
                <a:ext cx="549240" cy="230832"/>
              </a:xfrm>
              <a:prstGeom prst="rect">
                <a:avLst/>
              </a:prstGeom>
              <a:blipFill>
                <a:blip r:embed="rId10"/>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234761E3-138A-1605-F7F9-D96063D60910}"/>
                  </a:ext>
                </a:extLst>
              </p:cNvPr>
              <p:cNvSpPr txBox="1"/>
              <p:nvPr/>
            </p:nvSpPr>
            <p:spPr>
              <a:xfrm>
                <a:off x="6758885" y="5371792"/>
                <a:ext cx="549240" cy="230832"/>
              </a:xfrm>
              <a:prstGeom prst="rect">
                <a:avLst/>
              </a:prstGeom>
              <a:noFill/>
            </p:spPr>
            <p:txBody>
              <a:bodyPr wrap="square">
                <a:spAutoFit/>
              </a:bodyPr>
              <a:lstStyle/>
              <a:p>
                <a:pPr algn="ctr" defTabSz="914400"/>
                <a14:m>
                  <m:oMathPara xmlns:m="http://schemas.openxmlformats.org/officeDocument/2006/math">
                    <m:oMathParaPr>
                      <m:jc m:val="centerGroup"/>
                    </m:oMathParaPr>
                    <m:oMath xmlns:m="http://schemas.openxmlformats.org/officeDocument/2006/math">
                      <m:sSub>
                        <m:sSubPr>
                          <m:ctrlPr>
                            <a:rPr lang="en-US" altLang="zh-CN" sz="900" b="1" i="1" dirty="0" smtClean="0">
                              <a:solidFill>
                                <a:prstClr val="black"/>
                              </a:solidFill>
                              <a:latin typeface="Cambria Math" panose="02040503050406030204" pitchFamily="18" charset="0"/>
                            </a:rPr>
                          </m:ctrlPr>
                        </m:sSubPr>
                        <m:e>
                          <m:r>
                            <a:rPr lang="en-US" altLang="zh-CN" sz="900" b="1" i="1" dirty="0" smtClean="0">
                              <a:solidFill>
                                <a:prstClr val="black"/>
                              </a:solidFill>
                              <a:latin typeface="Cambria Math" panose="02040503050406030204" pitchFamily="18" charset="0"/>
                            </a:rPr>
                            <m:t>𝒇</m:t>
                          </m:r>
                        </m:e>
                        <m:sub>
                          <m:r>
                            <a:rPr lang="en-US" altLang="zh-CN" sz="900" b="1" i="1" dirty="0" smtClean="0">
                              <a:solidFill>
                                <a:prstClr val="black"/>
                              </a:solidFill>
                              <a:latin typeface="Cambria Math" panose="02040503050406030204" pitchFamily="18" charset="0"/>
                            </a:rPr>
                            <m:t>𝟐</m:t>
                          </m:r>
                        </m:sub>
                      </m:sSub>
                      <m:r>
                        <a:rPr lang="en-US" altLang="zh-CN" sz="900" b="1" i="1" dirty="0" smtClean="0">
                          <a:solidFill>
                            <a:prstClr val="black"/>
                          </a:solidFill>
                          <a:latin typeface="Cambria Math" panose="02040503050406030204" pitchFamily="18" charset="0"/>
                        </a:rPr>
                        <m:t>=</m:t>
                      </m:r>
                      <m:r>
                        <a:rPr lang="en-US" altLang="zh-CN" sz="900" b="1" i="1" dirty="0" smtClean="0">
                          <a:solidFill>
                            <a:prstClr val="black"/>
                          </a:solidFill>
                          <a:latin typeface="Cambria Math" panose="02040503050406030204" pitchFamily="18" charset="0"/>
                        </a:rPr>
                        <m:t>𝒃</m:t>
                      </m:r>
                    </m:oMath>
                  </m:oMathPara>
                </a14:m>
                <a:endParaRPr lang="zh-CN" altLang="en-US" sz="900" b="1" dirty="0">
                  <a:solidFill>
                    <a:prstClr val="black"/>
                  </a:solidFill>
                  <a:latin typeface="等线" panose="02010600030101010101" pitchFamily="2" charset="-122"/>
                </a:endParaRPr>
              </a:p>
            </p:txBody>
          </p:sp>
        </mc:Choice>
        <mc:Fallback xmlns="">
          <p:sp>
            <p:nvSpPr>
              <p:cNvPr id="36" name="文本框 35">
                <a:extLst>
                  <a:ext uri="{FF2B5EF4-FFF2-40B4-BE49-F238E27FC236}">
                    <a16:creationId xmlns:a16="http://schemas.microsoft.com/office/drawing/2014/main" id="{234761E3-138A-1605-F7F9-D96063D60910}"/>
                  </a:ext>
                </a:extLst>
              </p:cNvPr>
              <p:cNvSpPr txBox="1">
                <a:spLocks noRot="1" noChangeAspect="1" noMove="1" noResize="1" noEditPoints="1" noAdjustHandles="1" noChangeArrowheads="1" noChangeShapeType="1" noTextEdit="1"/>
              </p:cNvSpPr>
              <p:nvPr/>
            </p:nvSpPr>
            <p:spPr>
              <a:xfrm>
                <a:off x="6758885" y="5371792"/>
                <a:ext cx="549240" cy="230832"/>
              </a:xfrm>
              <a:prstGeom prst="rect">
                <a:avLst/>
              </a:prstGeom>
              <a:blipFill>
                <a:blip r:embed="rId11"/>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A6DAB453-D330-A171-0278-100F192095F7}"/>
                  </a:ext>
                </a:extLst>
              </p:cNvPr>
              <p:cNvSpPr txBox="1"/>
              <p:nvPr/>
            </p:nvSpPr>
            <p:spPr>
              <a:xfrm>
                <a:off x="7446637" y="5371370"/>
                <a:ext cx="556718" cy="230832"/>
              </a:xfrm>
              <a:prstGeom prst="rect">
                <a:avLst/>
              </a:prstGeom>
              <a:noFill/>
            </p:spPr>
            <p:txBody>
              <a:bodyPr wrap="square">
                <a:spAutoFit/>
              </a:bodyPr>
              <a:lstStyle/>
              <a:p>
                <a:pPr algn="ctr" defTabSz="914400"/>
                <a14:m>
                  <m:oMathPara xmlns:m="http://schemas.openxmlformats.org/officeDocument/2006/math">
                    <m:oMathParaPr>
                      <m:jc m:val="centerGroup"/>
                    </m:oMathParaPr>
                    <m:oMath xmlns:m="http://schemas.openxmlformats.org/officeDocument/2006/math">
                      <m:sSub>
                        <m:sSubPr>
                          <m:ctrlPr>
                            <a:rPr lang="en-US" altLang="zh-CN" sz="900" b="1" i="1" dirty="0" smtClean="0">
                              <a:solidFill>
                                <a:prstClr val="black"/>
                              </a:solidFill>
                              <a:latin typeface="Cambria Math" panose="02040503050406030204" pitchFamily="18" charset="0"/>
                            </a:rPr>
                          </m:ctrlPr>
                        </m:sSubPr>
                        <m:e>
                          <m:r>
                            <a:rPr lang="en-US" altLang="zh-CN" sz="900" b="1" i="1" dirty="0" smtClean="0">
                              <a:solidFill>
                                <a:prstClr val="black"/>
                              </a:solidFill>
                              <a:latin typeface="Cambria Math" panose="02040503050406030204" pitchFamily="18" charset="0"/>
                            </a:rPr>
                            <m:t>𝒇</m:t>
                          </m:r>
                        </m:e>
                        <m:sub>
                          <m:r>
                            <a:rPr lang="en-US" altLang="zh-CN" sz="900" b="1" i="1" dirty="0" smtClean="0">
                              <a:solidFill>
                                <a:prstClr val="black"/>
                              </a:solidFill>
                              <a:latin typeface="Cambria Math" panose="02040503050406030204" pitchFamily="18" charset="0"/>
                            </a:rPr>
                            <m:t>𝟐</m:t>
                          </m:r>
                        </m:sub>
                      </m:sSub>
                      <m:r>
                        <a:rPr lang="en-US" altLang="zh-CN" sz="900" b="1" i="1" dirty="0" smtClean="0">
                          <a:solidFill>
                            <a:prstClr val="black"/>
                          </a:solidFill>
                          <a:latin typeface="Cambria Math" panose="02040503050406030204" pitchFamily="18" charset="0"/>
                        </a:rPr>
                        <m:t>≠</m:t>
                      </m:r>
                      <m:r>
                        <a:rPr lang="en-US" altLang="zh-CN" sz="900" b="1" i="1" dirty="0" smtClean="0">
                          <a:solidFill>
                            <a:prstClr val="black"/>
                          </a:solidFill>
                          <a:latin typeface="Cambria Math" panose="02040503050406030204" pitchFamily="18" charset="0"/>
                        </a:rPr>
                        <m:t>𝒃</m:t>
                      </m:r>
                    </m:oMath>
                  </m:oMathPara>
                </a14:m>
                <a:endParaRPr lang="zh-CN" altLang="en-US" sz="900" b="1" dirty="0">
                  <a:solidFill>
                    <a:prstClr val="black"/>
                  </a:solidFill>
                  <a:latin typeface="等线" panose="02010600030101010101" pitchFamily="2" charset="-122"/>
                </a:endParaRPr>
              </a:p>
            </p:txBody>
          </p:sp>
        </mc:Choice>
        <mc:Fallback xmlns="">
          <p:sp>
            <p:nvSpPr>
              <p:cNvPr id="37" name="文本框 36">
                <a:extLst>
                  <a:ext uri="{FF2B5EF4-FFF2-40B4-BE49-F238E27FC236}">
                    <a16:creationId xmlns:a16="http://schemas.microsoft.com/office/drawing/2014/main" id="{A6DAB453-D330-A171-0278-100F192095F7}"/>
                  </a:ext>
                </a:extLst>
              </p:cNvPr>
              <p:cNvSpPr txBox="1">
                <a:spLocks noRot="1" noChangeAspect="1" noMove="1" noResize="1" noEditPoints="1" noAdjustHandles="1" noChangeArrowheads="1" noChangeShapeType="1" noTextEdit="1"/>
              </p:cNvSpPr>
              <p:nvPr/>
            </p:nvSpPr>
            <p:spPr>
              <a:xfrm>
                <a:off x="7446637" y="5371370"/>
                <a:ext cx="556718" cy="230832"/>
              </a:xfrm>
              <a:prstGeom prst="rect">
                <a:avLst/>
              </a:prstGeom>
              <a:blipFill>
                <a:blip r:embed="rId12"/>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89D31815-C079-2FE0-856E-49090034DC9D}"/>
                  </a:ext>
                </a:extLst>
              </p:cNvPr>
              <p:cNvSpPr txBox="1"/>
              <p:nvPr/>
            </p:nvSpPr>
            <p:spPr>
              <a:xfrm>
                <a:off x="7582412" y="5599252"/>
                <a:ext cx="728863" cy="276999"/>
              </a:xfrm>
              <a:prstGeom prst="rect">
                <a:avLst/>
              </a:prstGeom>
              <a:noFill/>
            </p:spPr>
            <p:txBody>
              <a:bodyPr wrap="square">
                <a:spAutoFit/>
              </a:bodyPr>
              <a:lstStyle/>
              <a:p>
                <a:pPr defTabSz="914400"/>
                <a14:m>
                  <m:oMathPara xmlns:m="http://schemas.openxmlformats.org/officeDocument/2006/math">
                    <m:oMathParaPr>
                      <m:jc m:val="centerGroup"/>
                    </m:oMathParaPr>
                    <m:oMath xmlns:m="http://schemas.openxmlformats.org/officeDocument/2006/math">
                      <m:r>
                        <a:rPr lang="en-US" altLang="zh-CN" sz="1200" b="1" i="1" dirty="0" smtClean="0">
                          <a:solidFill>
                            <a:srgbClr val="0070C0"/>
                          </a:solidFill>
                          <a:latin typeface="Cambria Math" panose="02040503050406030204" pitchFamily="18" charset="0"/>
                          <a:cs typeface="Times New Roman" panose="02020603050405020304" pitchFamily="18" charset="0"/>
                        </a:rPr>
                        <m:t>⋯</m:t>
                      </m:r>
                    </m:oMath>
                  </m:oMathPara>
                </a14:m>
                <a:endParaRPr lang="en-US" altLang="zh-CN" sz="1200" b="1" dirty="0">
                  <a:solidFill>
                    <a:srgbClr val="0070C0"/>
                  </a:solidFill>
                  <a:ea typeface="微软雅黑" panose="020B0503020204020204" pitchFamily="34" charset="-122"/>
                  <a:cs typeface="Times New Roman" panose="02020603050405020304" pitchFamily="18" charset="0"/>
                </a:endParaRPr>
              </a:p>
            </p:txBody>
          </p:sp>
        </mc:Choice>
        <mc:Fallback xmlns="">
          <p:sp>
            <p:nvSpPr>
              <p:cNvPr id="38" name="文本框 37">
                <a:extLst>
                  <a:ext uri="{FF2B5EF4-FFF2-40B4-BE49-F238E27FC236}">
                    <a16:creationId xmlns:a16="http://schemas.microsoft.com/office/drawing/2014/main" id="{89D31815-C079-2FE0-856E-49090034DC9D}"/>
                  </a:ext>
                </a:extLst>
              </p:cNvPr>
              <p:cNvSpPr txBox="1">
                <a:spLocks noRot="1" noChangeAspect="1" noMove="1" noResize="1" noEditPoints="1" noAdjustHandles="1" noChangeArrowheads="1" noChangeShapeType="1" noTextEdit="1"/>
              </p:cNvSpPr>
              <p:nvPr/>
            </p:nvSpPr>
            <p:spPr>
              <a:xfrm>
                <a:off x="7582412" y="5599252"/>
                <a:ext cx="728863" cy="27699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圆角 38">
                <a:extLst>
                  <a:ext uri="{FF2B5EF4-FFF2-40B4-BE49-F238E27FC236}">
                    <a16:creationId xmlns:a16="http://schemas.microsoft.com/office/drawing/2014/main" id="{324B77C4-F408-59F1-4FA7-D22D3522E46D}"/>
                  </a:ext>
                </a:extLst>
              </p:cNvPr>
              <p:cNvSpPr/>
              <p:nvPr/>
            </p:nvSpPr>
            <p:spPr>
              <a:xfrm>
                <a:off x="8775615" y="4881908"/>
                <a:ext cx="1903346" cy="961081"/>
              </a:xfrm>
              <a:prstGeom prst="roundRect">
                <a:avLst/>
              </a:prstGeom>
              <a:solidFill>
                <a:srgbClr val="FFF2F2"/>
              </a:solidFill>
              <a:ln w="12700" cap="flat" cmpd="sng" algn="ctr">
                <a:solidFill>
                  <a:srgbClr val="4874CB">
                    <a:shade val="15000"/>
                  </a:srgbClr>
                </a:solidFill>
                <a:prstDash val="solid"/>
                <a:miter lim="800000"/>
              </a:ln>
              <a:effectLst/>
            </p:spPr>
            <p:txBody>
              <a:bodyPr wrap="square" rtlCol="0" anchor="ctr">
                <a:noAutofit/>
              </a:bodyPr>
              <a:lstStyle/>
              <a:p>
                <a:pPr marL="0" marR="0" lvl="0" indent="0" defTabSz="914400" eaLnBrk="1" fontAlgn="auto" latinLnBrk="0" hangingPunct="1">
                  <a:lnSpc>
                    <a:spcPct val="150000"/>
                  </a:lnSpc>
                  <a:spcBef>
                    <a:spcPts val="0"/>
                  </a:spcBef>
                  <a:spcAft>
                    <a:spcPts val="0"/>
                  </a:spcAft>
                  <a:buClrTx/>
                  <a:buSzTx/>
                  <a:buFontTx/>
                  <a:buNone/>
                  <a:tabLst/>
                  <a:defRPr/>
                </a:pPr>
                <a14:m>
                  <m:oMath xmlns:m="http://schemas.openxmlformats.org/officeDocument/2006/math">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𝑅𝑢𝑙𝑒</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 1:(</m:t>
                    </m:r>
                    <m:sSub>
                      <m:sSubPr>
                        <m:ctrlP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𝑓</m:t>
                        </m:r>
                      </m:e>
                      <m:sub>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1</m:t>
                        </m:r>
                      </m:sub>
                    </m:sSub>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𝑎</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𝑓</m:t>
                        </m:r>
                      </m:e>
                      <m:sub>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2</m:t>
                        </m:r>
                      </m:sub>
                    </m:sSub>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𝑏</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oMath>
                </a14:m>
                <a:r>
                  <a:rPr kumimoji="0" lang="en-US" altLang="zh-CN" sz="1050" b="0" i="0" u="none" strike="noStrike" kern="0" cap="none" spc="0" normalizeH="0" baseline="0" noProof="0" dirty="0">
                    <a:ln>
                      <a:noFill/>
                    </a:ln>
                    <a:solidFill>
                      <a:prstClr val="black"/>
                    </a:solidFill>
                    <a:effectLst/>
                    <a:uLnTx/>
                    <a:uFillTx/>
                    <a:latin typeface="Calibri"/>
                    <a:ea typeface="微软雅黑" panose="020B0503020204020204" pitchFamily="34" charset="-122"/>
                    <a:cs typeface="+mn-cs"/>
                  </a:rPr>
                  <a:t> </a:t>
                </a:r>
                <a14:m>
                  <m:oMath xmlns:m="http://schemas.openxmlformats.org/officeDocument/2006/math">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𝑅𝑢𝑙𝑒</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 2: ⋯</m:t>
                    </m:r>
                  </m:oMath>
                </a14:m>
                <a:endParaRPr kumimoji="0" lang="en-US" altLang="zh-CN" sz="1050" b="0"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mn-cs"/>
                </a:endParaRPr>
              </a:p>
              <a:p>
                <a:pPr marL="0" marR="0" lvl="0" indent="0" defTabSz="91440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oMath>
                  </m:oMathPara>
                </a14:m>
                <a:endParaRPr kumimoji="0" lang="en-US" altLang="zh-CN" sz="1050" b="0"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mn-cs"/>
                </a:endParaRPr>
              </a:p>
            </p:txBody>
          </p:sp>
        </mc:Choice>
        <mc:Fallback xmlns="">
          <p:sp>
            <p:nvSpPr>
              <p:cNvPr id="39" name="矩形: 圆角 38">
                <a:extLst>
                  <a:ext uri="{FF2B5EF4-FFF2-40B4-BE49-F238E27FC236}">
                    <a16:creationId xmlns:a16="http://schemas.microsoft.com/office/drawing/2014/main" id="{324B77C4-F408-59F1-4FA7-D22D3522E46D}"/>
                  </a:ext>
                </a:extLst>
              </p:cNvPr>
              <p:cNvSpPr>
                <a:spLocks noRot="1" noChangeAspect="1" noMove="1" noResize="1" noEditPoints="1" noAdjustHandles="1" noChangeArrowheads="1" noChangeShapeType="1" noTextEdit="1"/>
              </p:cNvSpPr>
              <p:nvPr/>
            </p:nvSpPr>
            <p:spPr>
              <a:xfrm>
                <a:off x="8775615" y="4881908"/>
                <a:ext cx="1903346" cy="961081"/>
              </a:xfrm>
              <a:prstGeom prst="roundRect">
                <a:avLst/>
              </a:prstGeom>
              <a:blipFill>
                <a:blip r:embed="rId14"/>
                <a:stretch>
                  <a:fillRect/>
                </a:stretch>
              </a:blipFill>
              <a:ln w="12700" cap="flat" cmpd="sng" algn="ctr">
                <a:solidFill>
                  <a:srgbClr val="4874CB">
                    <a:shade val="15000"/>
                  </a:srgbClr>
                </a:solidFill>
                <a:prstDash val="solid"/>
                <a:miter lim="800000"/>
              </a:ln>
              <a:effectLst/>
            </p:spPr>
            <p:txBody>
              <a:bodyPr/>
              <a:lstStyle/>
              <a:p>
                <a:r>
                  <a:rPr lang="zh-CN" altLang="en-US">
                    <a:noFill/>
                  </a:rPr>
                  <a:t> </a:t>
                </a:r>
              </a:p>
            </p:txBody>
          </p:sp>
        </mc:Fallback>
      </mc:AlternateContent>
      <p:sp>
        <p:nvSpPr>
          <p:cNvPr id="40" name="矩形 39">
            <a:extLst>
              <a:ext uri="{FF2B5EF4-FFF2-40B4-BE49-F238E27FC236}">
                <a16:creationId xmlns:a16="http://schemas.microsoft.com/office/drawing/2014/main" id="{EC6FD9B7-EBE4-7BB3-B794-71B5D8267A13}"/>
              </a:ext>
            </a:extLst>
          </p:cNvPr>
          <p:cNvSpPr/>
          <p:nvPr/>
        </p:nvSpPr>
        <p:spPr>
          <a:xfrm>
            <a:off x="8797805" y="5866125"/>
            <a:ext cx="1881156" cy="224136"/>
          </a:xfrm>
          <a:prstGeom prst="rect">
            <a:avLst/>
          </a:prstGeom>
          <a:noFill/>
          <a:ln w="12700" cap="flat" cmpd="sng" algn="ctr">
            <a:no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Rule Set</a:t>
            </a:r>
            <a:endParaRPr kumimoji="0" lang="zh-CN" altLang="en-US" sz="10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41" name="箭头: 右 40">
            <a:extLst>
              <a:ext uri="{FF2B5EF4-FFF2-40B4-BE49-F238E27FC236}">
                <a16:creationId xmlns:a16="http://schemas.microsoft.com/office/drawing/2014/main" id="{39FB2B68-B33E-0C1B-9094-3E1E18610FC9}"/>
              </a:ext>
            </a:extLst>
          </p:cNvPr>
          <p:cNvSpPr/>
          <p:nvPr/>
        </p:nvSpPr>
        <p:spPr>
          <a:xfrm>
            <a:off x="8304329" y="5239123"/>
            <a:ext cx="359935" cy="133155"/>
          </a:xfrm>
          <a:prstGeom prst="rightArrow">
            <a:avLst/>
          </a:prstGeom>
          <a:solidFill>
            <a:srgbClr val="4874CB"/>
          </a:solidFill>
          <a:ln w="12700" cap="flat" cmpd="sng" algn="ctr">
            <a:noFill/>
            <a:prstDash val="solid"/>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42" name="表格 41">
            <a:extLst>
              <a:ext uri="{FF2B5EF4-FFF2-40B4-BE49-F238E27FC236}">
                <a16:creationId xmlns:a16="http://schemas.microsoft.com/office/drawing/2014/main" id="{33A97930-1F08-CD95-873D-2BE79975F975}"/>
              </a:ext>
            </a:extLst>
          </p:cNvPr>
          <p:cNvGraphicFramePr>
            <a:graphicFrameLocks noGrp="1"/>
          </p:cNvGraphicFramePr>
          <p:nvPr>
            <p:extLst>
              <p:ext uri="{D42A27DB-BD31-4B8C-83A1-F6EECF244321}">
                <p14:modId xmlns:p14="http://schemas.microsoft.com/office/powerpoint/2010/main" val="3572228087"/>
              </p:ext>
            </p:extLst>
          </p:nvPr>
        </p:nvGraphicFramePr>
        <p:xfrm>
          <a:off x="6438289" y="1143331"/>
          <a:ext cx="4475192" cy="3452544"/>
        </p:xfrm>
        <a:graphic>
          <a:graphicData uri="http://schemas.openxmlformats.org/drawingml/2006/table">
            <a:tbl>
              <a:tblPr firstRow="1" bandRow="1">
                <a:tableStyleId>{72833802-FEF1-4C79-8D5D-14CF1EAF98D9}</a:tableStyleId>
              </a:tblPr>
              <a:tblGrid>
                <a:gridCol w="614389">
                  <a:extLst>
                    <a:ext uri="{9D8B030D-6E8A-4147-A177-3AD203B41FA5}">
                      <a16:colId xmlns:a16="http://schemas.microsoft.com/office/drawing/2014/main" val="2997095216"/>
                    </a:ext>
                  </a:extLst>
                </a:gridCol>
                <a:gridCol w="614389">
                  <a:extLst>
                    <a:ext uri="{9D8B030D-6E8A-4147-A177-3AD203B41FA5}">
                      <a16:colId xmlns:a16="http://schemas.microsoft.com/office/drawing/2014/main" val="1274141016"/>
                    </a:ext>
                  </a:extLst>
                </a:gridCol>
                <a:gridCol w="947638">
                  <a:extLst>
                    <a:ext uri="{9D8B030D-6E8A-4147-A177-3AD203B41FA5}">
                      <a16:colId xmlns:a16="http://schemas.microsoft.com/office/drawing/2014/main" val="3565826067"/>
                    </a:ext>
                  </a:extLst>
                </a:gridCol>
                <a:gridCol w="1605216">
                  <a:extLst>
                    <a:ext uri="{9D8B030D-6E8A-4147-A177-3AD203B41FA5}">
                      <a16:colId xmlns:a16="http://schemas.microsoft.com/office/drawing/2014/main" val="1380055299"/>
                    </a:ext>
                  </a:extLst>
                </a:gridCol>
                <a:gridCol w="693560">
                  <a:extLst>
                    <a:ext uri="{9D8B030D-6E8A-4147-A177-3AD203B41FA5}">
                      <a16:colId xmlns:a16="http://schemas.microsoft.com/office/drawing/2014/main" val="2426276494"/>
                    </a:ext>
                  </a:extLst>
                </a:gridCol>
              </a:tblGrid>
              <a:tr h="366798">
                <a:tc>
                  <a:txBody>
                    <a:bodyPr/>
                    <a:lstStyle/>
                    <a:p>
                      <a:pPr algn="ctr"/>
                      <a:r>
                        <a:rPr lang="en-US" altLang="zh-CN" sz="1400" b="1" kern="1200" dirty="0">
                          <a:solidFill>
                            <a:schemeClr val="tx2"/>
                          </a:solidFill>
                          <a:latin typeface="+mn-lt"/>
                          <a:ea typeface="+mn-ea"/>
                          <a:cs typeface="+mn-cs"/>
                        </a:rPr>
                        <a:t>SN</a:t>
                      </a:r>
                      <a:endParaRPr lang="zh-CN" altLang="en-US" sz="1400" b="1" kern="1200" dirty="0">
                        <a:solidFill>
                          <a:schemeClr val="tx2"/>
                        </a:solidFill>
                        <a:latin typeface="+mn-lt"/>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C00000"/>
                    </a:solidFill>
                  </a:tcPr>
                </a:tc>
                <a:tc>
                  <a:txBody>
                    <a:bodyPr/>
                    <a:lstStyle/>
                    <a:p>
                      <a:pPr algn="ctr"/>
                      <a:r>
                        <a:rPr lang="en-US" altLang="zh-CN" sz="1400" b="1" kern="1200" dirty="0">
                          <a:solidFill>
                            <a:schemeClr val="tx2"/>
                          </a:solidFill>
                          <a:latin typeface="+mn-lt"/>
                          <a:ea typeface="+mn-ea"/>
                          <a:cs typeface="+mn-cs"/>
                        </a:rPr>
                        <a:t>id</a:t>
                      </a:r>
                      <a:endParaRPr lang="zh-CN" altLang="en-US" sz="1400" b="1" kern="1200" dirty="0">
                        <a:solidFill>
                          <a:schemeClr val="tx2"/>
                        </a:solidFill>
                        <a:latin typeface="+mn-lt"/>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C00000"/>
                    </a:solidFill>
                  </a:tcPr>
                </a:tc>
                <a:tc>
                  <a:txBody>
                    <a:bodyPr/>
                    <a:lstStyle/>
                    <a:p>
                      <a:pPr algn="ctr"/>
                      <a:r>
                        <a:rPr lang="en-US" altLang="zh-CN" sz="1400" b="1" kern="1200" dirty="0" err="1">
                          <a:solidFill>
                            <a:schemeClr val="tx2"/>
                          </a:solidFill>
                          <a:latin typeface="+mn-lt"/>
                          <a:ea typeface="+mn-ea"/>
                          <a:cs typeface="+mn-cs"/>
                        </a:rPr>
                        <a:t>Feature_X</a:t>
                      </a:r>
                      <a:endParaRPr lang="en-US" altLang="zh-CN" sz="1400" b="1" kern="1200" dirty="0">
                        <a:solidFill>
                          <a:schemeClr val="tx2"/>
                        </a:solidFill>
                        <a:latin typeface="+mn-lt"/>
                        <a:ea typeface="+mn-ea"/>
                        <a:cs typeface="+mn-cs"/>
                      </a:endParaRPr>
                    </a:p>
                    <a:p>
                      <a:pPr algn="ctr"/>
                      <a:r>
                        <a:rPr lang="en-US" altLang="zh-CN" sz="1400" b="1" kern="1200" dirty="0">
                          <a:solidFill>
                            <a:schemeClr val="tx2"/>
                          </a:solidFill>
                          <a:latin typeface="+mn-lt"/>
                          <a:ea typeface="+mn-ea"/>
                          <a:cs typeface="+mn-cs"/>
                        </a:rPr>
                        <a:t>Gini</a:t>
                      </a:r>
                      <a:endParaRPr lang="zh-CN" altLang="en-US" sz="1400" b="1" kern="1200" dirty="0">
                        <a:solidFill>
                          <a:schemeClr val="tx2"/>
                        </a:solidFill>
                        <a:latin typeface="+mn-lt"/>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C00000"/>
                    </a:solidFill>
                  </a:tcPr>
                </a:tc>
                <a:tc>
                  <a:txBody>
                    <a:bodyPr/>
                    <a:lstStyle/>
                    <a:p>
                      <a:pPr algn="ctr"/>
                      <a:r>
                        <a:rPr lang="en-US" altLang="zh-CN" sz="1400" b="1" kern="1200" dirty="0">
                          <a:solidFill>
                            <a:schemeClr val="tx2"/>
                          </a:solidFill>
                          <a:latin typeface="+mn-lt"/>
                          <a:ea typeface="+mn-ea"/>
                          <a:cs typeface="+mn-cs"/>
                        </a:rPr>
                        <a:t>DIMM-Centric</a:t>
                      </a:r>
                      <a:r>
                        <a:rPr lang="zh-CN" altLang="en-US" sz="1400" b="1" kern="1200" dirty="0">
                          <a:solidFill>
                            <a:schemeClr val="tx2"/>
                          </a:solidFill>
                          <a:latin typeface="+mn-lt"/>
                          <a:ea typeface="+mn-ea"/>
                          <a:cs typeface="+mn-cs"/>
                        </a:rPr>
                        <a:t> </a:t>
                      </a:r>
                      <a:r>
                        <a:rPr lang="en-US" altLang="zh-CN" sz="1400" b="1" kern="1200" dirty="0">
                          <a:solidFill>
                            <a:schemeClr val="tx2"/>
                          </a:solidFill>
                          <a:latin typeface="+mn-lt"/>
                          <a:ea typeface="+mn-ea"/>
                          <a:cs typeface="+mn-cs"/>
                        </a:rPr>
                        <a:t>Gini</a:t>
                      </a:r>
                      <a:endParaRPr lang="zh-CN" altLang="en-US" sz="1400" b="1" kern="1200" dirty="0">
                        <a:solidFill>
                          <a:schemeClr val="tx2"/>
                        </a:solidFill>
                        <a:latin typeface="+mn-lt"/>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C00000"/>
                    </a:solidFill>
                  </a:tcPr>
                </a:tc>
                <a:tc>
                  <a:txBody>
                    <a:bodyPr/>
                    <a:lstStyle/>
                    <a:p>
                      <a:pPr algn="ctr"/>
                      <a:r>
                        <a:rPr lang="en-US" altLang="zh-CN" sz="1400" b="1" kern="1200" dirty="0">
                          <a:solidFill>
                            <a:schemeClr val="tx2"/>
                          </a:solidFill>
                          <a:latin typeface="+mn-lt"/>
                          <a:ea typeface="+mn-ea"/>
                          <a:cs typeface="+mn-cs"/>
                        </a:rPr>
                        <a:t>Truth</a:t>
                      </a:r>
                      <a:endParaRPr lang="zh-CN" altLang="en-US" sz="1400" b="1" kern="1200" dirty="0">
                        <a:solidFill>
                          <a:schemeClr val="tx2"/>
                        </a:solidFill>
                        <a:latin typeface="+mn-lt"/>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C00000"/>
                    </a:solidFill>
                  </a:tcPr>
                </a:tc>
                <a:extLst>
                  <a:ext uri="{0D108BD9-81ED-4DB2-BD59-A6C34878D82A}">
                    <a16:rowId xmlns:a16="http://schemas.microsoft.com/office/drawing/2014/main" val="2092728665"/>
                  </a:ext>
                </a:extLst>
              </a:tr>
              <a:tr h="366798">
                <a:tc rowSpan="5">
                  <a:txBody>
                    <a:bodyPr/>
                    <a:lstStyle/>
                    <a:p>
                      <a:pPr algn="ctr"/>
                      <a:r>
                        <a:rPr lang="en-US" altLang="zh-CN" sz="1400" dirty="0">
                          <a:latin typeface="+mn-lt"/>
                        </a:rPr>
                        <a:t>A</a:t>
                      </a:r>
                      <a:endParaRPr lang="zh-CN" altLang="en-US" sz="1400" dirty="0">
                        <a:latin typeface="+mn-lt"/>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400" dirty="0">
                          <a:latin typeface="+mn-lt"/>
                        </a:rPr>
                        <a:t>0</a:t>
                      </a: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0</a:t>
                      </a: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rowSpan="5">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Max(0, 0, 1, 1, 1)</a:t>
                      </a:r>
                    </a:p>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 1</a:t>
                      </a: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rowSpan="5">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1</a:t>
                      </a: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940141026"/>
                  </a:ext>
                </a:extLst>
              </a:tr>
              <a:tr h="366798">
                <a:tc vMerge="1">
                  <a:txBody>
                    <a:bodyPr/>
                    <a:lstStyle/>
                    <a:p>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400" dirty="0">
                          <a:latin typeface="+mn-lt"/>
                        </a:rPr>
                        <a:t>1</a:t>
                      </a: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0</a:t>
                      </a: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vMerge="1">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vMerge="1">
                  <a:txBody>
                    <a:bodyPr/>
                    <a:lstStyle/>
                    <a:p>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242056402"/>
                  </a:ext>
                </a:extLst>
              </a:tr>
              <a:tr h="366798">
                <a:tc vMerge="1">
                  <a:txBody>
                    <a:bodyPr/>
                    <a:lstStyle/>
                    <a:p>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400" dirty="0">
                          <a:latin typeface="+mn-lt"/>
                        </a:rPr>
                        <a:t>2</a:t>
                      </a:r>
                      <a:endParaRPr lang="zh-CN" altLang="en-US" sz="1400" dirty="0">
                        <a:latin typeface="+mn-lt"/>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1</a:t>
                      </a: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vMerge="1">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vMerge="1">
                  <a:txBody>
                    <a:bodyPr/>
                    <a:lstStyle/>
                    <a:p>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718897833"/>
                  </a:ext>
                </a:extLst>
              </a:tr>
              <a:tr h="366798">
                <a:tc vMerge="1">
                  <a:txBody>
                    <a:bodyPr/>
                    <a:lstStyle/>
                    <a:p>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400" dirty="0">
                          <a:latin typeface="+mn-lt"/>
                        </a:rPr>
                        <a:t>3</a:t>
                      </a: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1</a:t>
                      </a: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vMerge="1">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vMerge="1">
                  <a:txBody>
                    <a:bodyPr/>
                    <a:lstStyle/>
                    <a:p>
                      <a:endParaRPr/>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92327019"/>
                  </a:ext>
                </a:extLst>
              </a:tr>
              <a:tr h="366798">
                <a:tc vMerge="1">
                  <a:txBody>
                    <a:bodyPr/>
                    <a:lstStyle/>
                    <a:p>
                      <a:endParaRPr dirty="0"/>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400" dirty="0">
                          <a:latin typeface="+mn-lt"/>
                        </a:rPr>
                        <a:t>4</a:t>
                      </a:r>
                      <a:endParaRPr lang="zh-CN" altLang="en-US" sz="1400" dirty="0">
                        <a:latin typeface="+mn-lt"/>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1</a:t>
                      </a: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vMerge="1">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vMerge="1">
                  <a:txBody>
                    <a:bodyPr/>
                    <a:lstStyle/>
                    <a:p>
                      <a:endParaRPr dirty="0"/>
                    </a:p>
                  </a:txBody>
                  <a:tcP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698039322"/>
                  </a:ext>
                </a:extLst>
              </a:tr>
              <a:tr h="366798">
                <a:tc rowSpan="3">
                  <a:txBody>
                    <a:bodyPr/>
                    <a:lstStyle/>
                    <a:p>
                      <a:pPr algn="ctr"/>
                      <a:r>
                        <a:rPr lang="en-US" altLang="zh-CN" sz="1400" dirty="0">
                          <a:latin typeface="+mn-lt"/>
                        </a:rPr>
                        <a:t>B</a:t>
                      </a:r>
                      <a:endParaRPr lang="zh-CN" altLang="en-US" sz="1400" dirty="0">
                        <a:latin typeface="+mn-lt"/>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400" dirty="0">
                          <a:latin typeface="+mn-lt"/>
                        </a:rPr>
                        <a:t>0</a:t>
                      </a:r>
                      <a:endParaRPr lang="zh-CN" altLang="en-US" sz="1400" dirty="0">
                        <a:latin typeface="+mn-lt"/>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0</a:t>
                      </a: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rowSpan="3">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mn-lt"/>
                          <a:ea typeface="+mn-ea"/>
                          <a:cs typeface="+mn-cs"/>
                        </a:rPr>
                        <a:t>Max(0, 0, 1)</a:t>
                      </a:r>
                    </a:p>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mn-lt"/>
                          <a:ea typeface="+mn-ea"/>
                          <a:cs typeface="+mn-cs"/>
                        </a:rPr>
                        <a:t>= 1</a:t>
                      </a:r>
                      <a:endParaRPr kumimoji="0" lang="zh-CN" altLang="en-US" sz="1400" b="0" i="0" u="none" strike="noStrike" kern="1200" cap="none" spc="0" normalizeH="0" baseline="0" noProof="0" dirty="0">
                        <a:ln>
                          <a:noFill/>
                        </a:ln>
                        <a:solidFill>
                          <a:srgbClr val="1D1D1A"/>
                        </a:solidFill>
                        <a:effectLst/>
                        <a:uLnTx/>
                        <a:uFillTx/>
                        <a:latin typeface="+mn-lt"/>
                        <a:ea typeface="+mn-ea"/>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rowSpan="3">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0</a:t>
                      </a: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8903909"/>
                  </a:ext>
                </a:extLst>
              </a:tr>
              <a:tr h="366798">
                <a:tc vMerge="1">
                  <a:txBody>
                    <a:bodyPr/>
                    <a:lstStyle/>
                    <a:p>
                      <a:pPr algn="ctr"/>
                      <a:endParaRPr lang="zh-CN" altLang="en-US" sz="1400" dirty="0">
                        <a:latin typeface="+mn-lt"/>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400" dirty="0">
                          <a:latin typeface="+mn-lt"/>
                        </a:rPr>
                        <a:t>1</a:t>
                      </a:r>
                      <a:endParaRPr lang="zh-CN" altLang="en-US" sz="1400" dirty="0">
                        <a:latin typeface="+mn-lt"/>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0</a:t>
                      </a: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vMerge="1">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vMerge="1">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557425016"/>
                  </a:ext>
                </a:extLst>
              </a:tr>
              <a:tr h="366798">
                <a:tc vMerge="1">
                  <a:txBody>
                    <a:bodyPr/>
                    <a:lstStyle/>
                    <a:p>
                      <a:pPr algn="ctr"/>
                      <a:endParaRPr lang="zh-CN" altLang="en-US" sz="1400" dirty="0">
                        <a:latin typeface="+mn-lt"/>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algn="ctr"/>
                      <a:r>
                        <a:rPr lang="en-US" altLang="zh-CN" sz="1400" dirty="0">
                          <a:latin typeface="+mn-lt"/>
                        </a:rPr>
                        <a:t>2</a:t>
                      </a:r>
                      <a:endParaRPr lang="zh-CN" altLang="en-US" sz="1400" dirty="0">
                        <a:latin typeface="+mn-lt"/>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rPr>
                        <a:t>1</a:t>
                      </a: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vMerge="1">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tc vMerge="1">
                  <a:txBody>
                    <a:bodyPr/>
                    <a:lstStyle/>
                    <a:p>
                      <a:pPr marL="0" marR="0" lvl="0" indent="0" algn="ctr" defTabSz="1187798"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947034248"/>
                  </a:ext>
                </a:extLst>
              </a:tr>
            </a:tbl>
          </a:graphicData>
        </a:graphic>
      </p:graphicFrame>
    </p:spTree>
    <p:extLst>
      <p:ext uri="{BB962C8B-B14F-4D97-AF65-F5344CB8AC3E}">
        <p14:creationId xmlns:p14="http://schemas.microsoft.com/office/powerpoint/2010/main" val="3055954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A620A8C-8690-0EEA-C7CE-66F729B0CAD2}"/>
              </a:ext>
            </a:extLst>
          </p:cNvPr>
          <p:cNvSpPr txBox="1"/>
          <p:nvPr/>
        </p:nvSpPr>
        <p:spPr>
          <a:xfrm>
            <a:off x="790215" y="365302"/>
            <a:ext cx="7836200" cy="461665"/>
          </a:xfrm>
          <a:prstGeom prst="rect">
            <a:avLst/>
          </a:prstGeom>
          <a:noFill/>
        </p:spPr>
        <p:txBody>
          <a:bodyPr wrap="square" rtlCol="0">
            <a:spAutoFit/>
          </a:bodyPr>
          <a:lstStyle/>
          <a:p>
            <a:r>
              <a:rPr lang="en-US" altLang="zh-CN" sz="2400" b="1" dirty="0">
                <a:solidFill>
                  <a:schemeClr val="accent5">
                    <a:lumMod val="75000"/>
                  </a:schemeClr>
                </a:solidFill>
                <a:latin typeface="-apple-system"/>
              </a:rPr>
              <a:t>Research Topic 2: Three Memory Fault Prediction Models</a:t>
            </a:r>
            <a:endParaRPr lang="en-US" altLang="zh-CN" sz="2400" b="1" dirty="0">
              <a:solidFill>
                <a:schemeClr val="accent5">
                  <a:lumMod val="75000"/>
                </a:schemeClr>
              </a:solidFill>
              <a:latin typeface="+mn-ea"/>
            </a:endParaRP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6CF4EF6F-E98D-9A40-56E2-704C2024583F}"/>
                  </a:ext>
                </a:extLst>
              </p:cNvPr>
              <p:cNvSpPr txBox="1"/>
              <p:nvPr/>
            </p:nvSpPr>
            <p:spPr>
              <a:xfrm>
                <a:off x="623582" y="1315816"/>
                <a:ext cx="1210773" cy="527166"/>
              </a:xfrm>
              <a:prstGeom prst="roundRect">
                <a:avLst/>
              </a:prstGeom>
              <a:noFill/>
              <a:ln w="12700">
                <a:solidFill>
                  <a:schemeClr val="tx1"/>
                </a:solidFill>
                <a:prstDash val="dash"/>
              </a:ln>
            </p:spPr>
            <p:txBody>
              <a:bodyPr wrap="square">
                <a:spAutoFit/>
              </a:bodyPr>
              <a:lstStyle/>
              <a:p>
                <a:pPr algn="ctr"/>
                <a:r>
                  <a:rPr lang="zh-CN" altLang="en-US" sz="1200" b="1" dirty="0">
                    <a:solidFill>
                      <a:srgbClr val="0070C0"/>
                    </a:solidFill>
                    <a:latin typeface="+mn-ea"/>
                  </a:rPr>
                  <a:t>时间戳表征 </a:t>
                </a:r>
                <a14:m>
                  <m:oMath xmlns:m="http://schemas.openxmlformats.org/officeDocument/2006/math">
                    <m:sSubSup>
                      <m:sSubSupPr>
                        <m:ctrlPr>
                          <a:rPr lang="en-US" altLang="zh-CN" sz="1200" b="1" i="1" smtClean="0">
                            <a:solidFill>
                              <a:srgbClr val="0070C0"/>
                            </a:solidFill>
                            <a:latin typeface="Cambria Math" panose="02040503050406030204" pitchFamily="18" charset="0"/>
                          </a:rPr>
                        </m:ctrlPr>
                      </m:sSubSupPr>
                      <m:e>
                        <m:r>
                          <a:rPr lang="en-US" altLang="zh-CN" sz="1200" b="1" i="1" smtClean="0">
                            <a:solidFill>
                              <a:srgbClr val="0070C0"/>
                            </a:solidFill>
                            <a:latin typeface="Cambria Math" panose="02040503050406030204" pitchFamily="18" charset="0"/>
                          </a:rPr>
                          <m:t>𝒁𝒂</m:t>
                        </m:r>
                      </m:e>
                      <m:sub>
                        <m:r>
                          <a:rPr lang="en-US" altLang="zh-CN" sz="1200" b="1" i="1" smtClean="0">
                            <a:solidFill>
                              <a:srgbClr val="0070C0"/>
                            </a:solidFill>
                            <a:latin typeface="Cambria Math" panose="02040503050406030204" pitchFamily="18" charset="0"/>
                          </a:rPr>
                          <m:t>𝒅</m:t>
                        </m:r>
                      </m:sub>
                      <m:sup>
                        <m:r>
                          <a:rPr lang="en-US" altLang="zh-CN" sz="1200" b="1" i="1" smtClean="0">
                            <a:solidFill>
                              <a:srgbClr val="0070C0"/>
                            </a:solidFill>
                            <a:latin typeface="Cambria Math" panose="02040503050406030204" pitchFamily="18" charset="0"/>
                          </a:rPr>
                          <m:t>𝑻</m:t>
                        </m:r>
                      </m:sup>
                    </m:sSubSup>
                  </m:oMath>
                </a14:m>
                <a:endParaRPr lang="zh-CN" altLang="en-US" sz="1200" b="1" dirty="0">
                  <a:latin typeface="+mn-ea"/>
                </a:endParaRPr>
              </a:p>
            </p:txBody>
          </p:sp>
        </mc:Choice>
        <mc:Fallback xmlns="">
          <p:sp>
            <p:nvSpPr>
              <p:cNvPr id="31" name="文本框 30">
                <a:extLst>
                  <a:ext uri="{FF2B5EF4-FFF2-40B4-BE49-F238E27FC236}">
                    <a16:creationId xmlns:a16="http://schemas.microsoft.com/office/drawing/2014/main" id="{6CF4EF6F-E98D-9A40-56E2-704C2024583F}"/>
                  </a:ext>
                </a:extLst>
              </p:cNvPr>
              <p:cNvSpPr txBox="1">
                <a:spLocks noRot="1" noChangeAspect="1" noMove="1" noResize="1" noEditPoints="1" noAdjustHandles="1" noChangeArrowheads="1" noChangeShapeType="1" noTextEdit="1"/>
              </p:cNvSpPr>
              <p:nvPr/>
            </p:nvSpPr>
            <p:spPr>
              <a:xfrm>
                <a:off x="623582" y="1315816"/>
                <a:ext cx="1210773" cy="527166"/>
              </a:xfrm>
              <a:prstGeom prst="roundRect">
                <a:avLst/>
              </a:prstGeom>
              <a:blipFill>
                <a:blip r:embed="rId3"/>
                <a:stretch>
                  <a:fillRect/>
                </a:stretch>
              </a:blipFill>
              <a:ln w="12700">
                <a:solidFill>
                  <a:schemeClr val="tx1"/>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E6F3EFEF-8804-AC81-A06B-3DA169211F20}"/>
                  </a:ext>
                </a:extLst>
              </p:cNvPr>
              <p:cNvSpPr txBox="1"/>
              <p:nvPr/>
            </p:nvSpPr>
            <p:spPr>
              <a:xfrm>
                <a:off x="2162146" y="1315816"/>
                <a:ext cx="1386899" cy="527166"/>
              </a:xfrm>
              <a:prstGeom prst="roundRect">
                <a:avLst/>
              </a:prstGeom>
              <a:noFill/>
              <a:ln w="12700">
                <a:solidFill>
                  <a:schemeClr val="tx1"/>
                </a:solidFill>
                <a:prstDash val="dash"/>
              </a:ln>
            </p:spPr>
            <p:txBody>
              <a:bodyPr wrap="square">
                <a:spAutoFit/>
              </a:bodyPr>
              <a:lstStyle/>
              <a:p>
                <a:pPr algn="ctr"/>
                <a:r>
                  <a:rPr lang="zh-CN" altLang="en-US" sz="1200" b="1" dirty="0">
                    <a:solidFill>
                      <a:srgbClr val="ED6D00"/>
                    </a:solidFill>
                    <a:latin typeface="+mn-ea"/>
                  </a:rPr>
                  <a:t>事件空间特征 </a:t>
                </a:r>
                <a14:m>
                  <m:oMath xmlns:m="http://schemas.openxmlformats.org/officeDocument/2006/math">
                    <m:sSubSup>
                      <m:sSubSupPr>
                        <m:ctrlPr>
                          <a:rPr lang="en-US" altLang="zh-CN" sz="1200" b="1" i="1" dirty="0">
                            <a:solidFill>
                              <a:srgbClr val="ED6D00"/>
                            </a:solidFill>
                            <a:latin typeface="Cambria Math" panose="02040503050406030204" pitchFamily="18" charset="0"/>
                          </a:rPr>
                        </m:ctrlPr>
                      </m:sSubSupPr>
                      <m:e>
                        <m:r>
                          <a:rPr lang="en-US" altLang="zh-CN" sz="1200" b="1" i="1" dirty="0">
                            <a:solidFill>
                              <a:srgbClr val="ED6D00"/>
                            </a:solidFill>
                            <a:latin typeface="Cambria Math" panose="02040503050406030204" pitchFamily="18" charset="0"/>
                          </a:rPr>
                          <m:t>𝑭𝒃</m:t>
                        </m:r>
                      </m:e>
                      <m:sub>
                        <m:r>
                          <a:rPr lang="en-US" altLang="zh-CN" sz="1200" b="1" i="1" dirty="0">
                            <a:solidFill>
                              <a:srgbClr val="ED6D00"/>
                            </a:solidFill>
                            <a:latin typeface="Cambria Math" panose="02040503050406030204" pitchFamily="18" charset="0"/>
                          </a:rPr>
                          <m:t>𝒅</m:t>
                        </m:r>
                      </m:sub>
                      <m:sup>
                        <m:r>
                          <a:rPr lang="en-US" altLang="zh-CN" sz="1200" b="1" i="1" dirty="0">
                            <a:solidFill>
                              <a:srgbClr val="ED6D00"/>
                            </a:solidFill>
                            <a:latin typeface="Cambria Math" panose="02040503050406030204" pitchFamily="18" charset="0"/>
                          </a:rPr>
                          <m:t>𝑻</m:t>
                        </m:r>
                      </m:sup>
                    </m:sSubSup>
                  </m:oMath>
                </a14:m>
                <a:endParaRPr lang="zh-CN" altLang="en-US" sz="1200" b="1" dirty="0">
                  <a:solidFill>
                    <a:srgbClr val="ED6D00"/>
                  </a:solidFill>
                  <a:latin typeface="+mn-ea"/>
                </a:endParaRPr>
              </a:p>
            </p:txBody>
          </p:sp>
        </mc:Choice>
        <mc:Fallback xmlns="">
          <p:sp>
            <p:nvSpPr>
              <p:cNvPr id="32" name="文本框 31">
                <a:extLst>
                  <a:ext uri="{FF2B5EF4-FFF2-40B4-BE49-F238E27FC236}">
                    <a16:creationId xmlns:a16="http://schemas.microsoft.com/office/drawing/2014/main" id="{E6F3EFEF-8804-AC81-A06B-3DA169211F20}"/>
                  </a:ext>
                </a:extLst>
              </p:cNvPr>
              <p:cNvSpPr txBox="1">
                <a:spLocks noRot="1" noChangeAspect="1" noMove="1" noResize="1" noEditPoints="1" noAdjustHandles="1" noChangeArrowheads="1" noChangeShapeType="1" noTextEdit="1"/>
              </p:cNvSpPr>
              <p:nvPr/>
            </p:nvSpPr>
            <p:spPr>
              <a:xfrm>
                <a:off x="2162146" y="1315816"/>
                <a:ext cx="1386899" cy="527166"/>
              </a:xfrm>
              <a:prstGeom prst="roundRect">
                <a:avLst/>
              </a:prstGeom>
              <a:blipFill>
                <a:blip r:embed="rId4"/>
                <a:stretch>
                  <a:fillRect/>
                </a:stretch>
              </a:blipFill>
              <a:ln w="12700">
                <a:solidFill>
                  <a:schemeClr val="tx1"/>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3021EE6B-B5A3-E8C3-5E7D-F6F8506BB0AA}"/>
                  </a:ext>
                </a:extLst>
              </p:cNvPr>
              <p:cNvSpPr txBox="1"/>
              <p:nvPr/>
            </p:nvSpPr>
            <p:spPr>
              <a:xfrm>
                <a:off x="623583" y="2275560"/>
                <a:ext cx="2750408" cy="322855"/>
              </a:xfrm>
              <a:prstGeom prst="roundRect">
                <a:avLst/>
              </a:prstGeom>
              <a:noFill/>
              <a:ln w="12700">
                <a:solidFill>
                  <a:schemeClr val="tx1"/>
                </a:solidFill>
                <a:prstDash val="dash"/>
              </a:ln>
            </p:spPr>
            <p:txBody>
              <a:bodyPr wrap="square">
                <a:spAutoFit/>
              </a:bodyPr>
              <a:lstStyle/>
              <a:p>
                <a:pPr algn="ctr"/>
                <a:r>
                  <a:rPr lang="zh-CN" altLang="en-US" sz="1200" b="1" dirty="0">
                    <a:solidFill>
                      <a:schemeClr val="accent4">
                        <a:lumMod val="50000"/>
                      </a:schemeClr>
                    </a:solidFill>
                    <a:latin typeface="+mn-ea"/>
                  </a:rPr>
                  <a:t>“时间</a:t>
                </a:r>
                <a:r>
                  <a:rPr lang="en-US" altLang="zh-CN" sz="1200" b="1" dirty="0">
                    <a:solidFill>
                      <a:schemeClr val="accent4">
                        <a:lumMod val="50000"/>
                      </a:schemeClr>
                    </a:solidFill>
                    <a:latin typeface="+mn-ea"/>
                  </a:rPr>
                  <a:t>+</a:t>
                </a:r>
                <a:r>
                  <a:rPr lang="zh-CN" altLang="en-US" sz="1200" b="1" dirty="0">
                    <a:solidFill>
                      <a:schemeClr val="accent4">
                        <a:lumMod val="50000"/>
                      </a:schemeClr>
                    </a:solidFill>
                    <a:latin typeface="+mn-ea"/>
                  </a:rPr>
                  <a:t>事件”表征 </a:t>
                </a:r>
                <a14:m>
                  <m:oMath xmlns:m="http://schemas.openxmlformats.org/officeDocument/2006/math">
                    <m:sSubSup>
                      <m:sSubSupPr>
                        <m:ctrlPr>
                          <a:rPr lang="en-US" altLang="zh-CN" sz="1200" b="1" i="1" smtClean="0">
                            <a:solidFill>
                              <a:schemeClr val="accent4">
                                <a:lumMod val="50000"/>
                              </a:schemeClr>
                            </a:solidFill>
                            <a:latin typeface="Cambria Math" panose="02040503050406030204" pitchFamily="18" charset="0"/>
                          </a:rPr>
                        </m:ctrlPr>
                      </m:sSubSupPr>
                      <m:e>
                        <m:r>
                          <a:rPr lang="en-US" altLang="zh-CN" sz="1200" b="1" i="1" smtClean="0">
                            <a:solidFill>
                              <a:schemeClr val="accent4">
                                <a:lumMod val="50000"/>
                              </a:schemeClr>
                            </a:solidFill>
                            <a:latin typeface="Cambria Math" panose="02040503050406030204" pitchFamily="18" charset="0"/>
                          </a:rPr>
                          <m:t>𝒁𝒃</m:t>
                        </m:r>
                      </m:e>
                      <m:sub>
                        <m:r>
                          <a:rPr lang="en-US" altLang="zh-CN" sz="1200" b="1" i="1" smtClean="0">
                            <a:solidFill>
                              <a:schemeClr val="accent4">
                                <a:lumMod val="50000"/>
                              </a:schemeClr>
                            </a:solidFill>
                            <a:latin typeface="Cambria Math" panose="02040503050406030204" pitchFamily="18" charset="0"/>
                          </a:rPr>
                          <m:t>𝒅</m:t>
                        </m:r>
                      </m:sub>
                      <m:sup>
                        <m:r>
                          <a:rPr lang="en-US" altLang="zh-CN" sz="1200" b="1" i="1" smtClean="0">
                            <a:solidFill>
                              <a:schemeClr val="accent4">
                                <a:lumMod val="50000"/>
                              </a:schemeClr>
                            </a:solidFill>
                            <a:latin typeface="Cambria Math" panose="02040503050406030204" pitchFamily="18" charset="0"/>
                          </a:rPr>
                          <m:t>𝑻</m:t>
                        </m:r>
                      </m:sup>
                    </m:sSubSup>
                  </m:oMath>
                </a14:m>
                <a:endParaRPr lang="zh-CN" altLang="en-US" sz="1200" b="1" dirty="0">
                  <a:solidFill>
                    <a:schemeClr val="accent4">
                      <a:lumMod val="50000"/>
                    </a:schemeClr>
                  </a:solidFill>
                  <a:latin typeface="+mn-ea"/>
                </a:endParaRPr>
              </a:p>
            </p:txBody>
          </p:sp>
        </mc:Choice>
        <mc:Fallback xmlns="">
          <p:sp>
            <p:nvSpPr>
              <p:cNvPr id="33" name="文本框 32">
                <a:extLst>
                  <a:ext uri="{FF2B5EF4-FFF2-40B4-BE49-F238E27FC236}">
                    <a16:creationId xmlns:a16="http://schemas.microsoft.com/office/drawing/2014/main" id="{3021EE6B-B5A3-E8C3-5E7D-F6F8506BB0AA}"/>
                  </a:ext>
                </a:extLst>
              </p:cNvPr>
              <p:cNvSpPr txBox="1">
                <a:spLocks noRot="1" noChangeAspect="1" noMove="1" noResize="1" noEditPoints="1" noAdjustHandles="1" noChangeArrowheads="1" noChangeShapeType="1" noTextEdit="1"/>
              </p:cNvSpPr>
              <p:nvPr/>
            </p:nvSpPr>
            <p:spPr>
              <a:xfrm>
                <a:off x="623583" y="2275560"/>
                <a:ext cx="2750408" cy="322855"/>
              </a:xfrm>
              <a:prstGeom prst="roundRect">
                <a:avLst/>
              </a:prstGeom>
              <a:blipFill>
                <a:blip r:embed="rId5"/>
                <a:stretch>
                  <a:fillRect b="-9091"/>
                </a:stretch>
              </a:blipFill>
              <a:ln w="12700">
                <a:solidFill>
                  <a:schemeClr val="tx1"/>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D7CCC16A-D3BA-2897-E766-7F4EE7666333}"/>
                  </a:ext>
                </a:extLst>
              </p:cNvPr>
              <p:cNvSpPr txBox="1"/>
              <p:nvPr/>
            </p:nvSpPr>
            <p:spPr>
              <a:xfrm>
                <a:off x="3587335" y="1321513"/>
                <a:ext cx="1939551" cy="306467"/>
              </a:xfrm>
              <a:prstGeom prst="roundRect">
                <a:avLst/>
              </a:prstGeom>
              <a:noFill/>
              <a:ln w="12700">
                <a:solidFill>
                  <a:schemeClr val="tx1"/>
                </a:solidFill>
                <a:prstDash val="dash"/>
              </a:ln>
            </p:spPr>
            <p:txBody>
              <a:bodyPr wrap="square">
                <a:spAutoFit/>
              </a:bodyPr>
              <a:lstStyle/>
              <a:p>
                <a:pPr algn="ctr"/>
                <a:r>
                  <a:rPr lang="zh-CN" altLang="en-US" sz="1200" b="1" dirty="0">
                    <a:solidFill>
                      <a:srgbClr val="6D4298"/>
                    </a:solidFill>
                    <a:latin typeface="+mn-ea"/>
                  </a:rPr>
                  <a:t>属性特征</a:t>
                </a:r>
                <a:r>
                  <a:rPr lang="en-US" altLang="zh-CN" sz="1200" b="1" dirty="0">
                    <a:solidFill>
                      <a:srgbClr val="6D4298"/>
                    </a:solidFill>
                    <a:latin typeface="+mn-ea"/>
                  </a:rPr>
                  <a:t> </a:t>
                </a:r>
                <a14:m>
                  <m:oMath xmlns:m="http://schemas.openxmlformats.org/officeDocument/2006/math">
                    <m:sSub>
                      <m:sSubPr>
                        <m:ctrlPr>
                          <a:rPr lang="en-US" altLang="zh-CN" sz="1200" b="1" i="1" smtClean="0">
                            <a:solidFill>
                              <a:srgbClr val="6D4298"/>
                            </a:solidFill>
                            <a:latin typeface="Cambria Math" panose="02040503050406030204" pitchFamily="18" charset="0"/>
                          </a:rPr>
                        </m:ctrlPr>
                      </m:sSubPr>
                      <m:e>
                        <m:r>
                          <a:rPr lang="en-US" altLang="zh-CN" sz="1200" b="1" i="1" smtClean="0">
                            <a:solidFill>
                              <a:srgbClr val="6D4298"/>
                            </a:solidFill>
                            <a:latin typeface="Cambria Math" panose="02040503050406030204" pitchFamily="18" charset="0"/>
                          </a:rPr>
                          <m:t>𝑺</m:t>
                        </m:r>
                      </m:e>
                      <m:sub>
                        <m:r>
                          <a:rPr lang="en-US" altLang="zh-CN" sz="1200" b="1" i="1" smtClean="0">
                            <a:solidFill>
                              <a:srgbClr val="6D4298"/>
                            </a:solidFill>
                            <a:latin typeface="Cambria Math" panose="02040503050406030204" pitchFamily="18" charset="0"/>
                          </a:rPr>
                          <m:t>𝒅</m:t>
                        </m:r>
                      </m:sub>
                    </m:sSub>
                  </m:oMath>
                </a14:m>
                <a:endParaRPr lang="zh-CN" altLang="en-US" sz="1200" b="1" dirty="0">
                  <a:solidFill>
                    <a:srgbClr val="6D4298"/>
                  </a:solidFill>
                  <a:latin typeface="+mn-ea"/>
                </a:endParaRPr>
              </a:p>
            </p:txBody>
          </p:sp>
        </mc:Choice>
        <mc:Fallback xmlns="">
          <p:sp>
            <p:nvSpPr>
              <p:cNvPr id="34" name="文本框 33">
                <a:extLst>
                  <a:ext uri="{FF2B5EF4-FFF2-40B4-BE49-F238E27FC236}">
                    <a16:creationId xmlns:a16="http://schemas.microsoft.com/office/drawing/2014/main" id="{D7CCC16A-D3BA-2897-E766-7F4EE7666333}"/>
                  </a:ext>
                </a:extLst>
              </p:cNvPr>
              <p:cNvSpPr txBox="1">
                <a:spLocks noRot="1" noChangeAspect="1" noMove="1" noResize="1" noEditPoints="1" noAdjustHandles="1" noChangeArrowheads="1" noChangeShapeType="1" noTextEdit="1"/>
              </p:cNvSpPr>
              <p:nvPr/>
            </p:nvSpPr>
            <p:spPr>
              <a:xfrm>
                <a:off x="3587335" y="1321513"/>
                <a:ext cx="1939551" cy="306467"/>
              </a:xfrm>
              <a:prstGeom prst="roundRect">
                <a:avLst/>
              </a:prstGeom>
              <a:blipFill>
                <a:blip r:embed="rId6"/>
                <a:stretch>
                  <a:fillRect b="-7692"/>
                </a:stretch>
              </a:blipFill>
              <a:ln w="12700">
                <a:solidFill>
                  <a:schemeClr val="tx1"/>
                </a:solidFill>
                <a:prstDash val="dash"/>
              </a:ln>
            </p:spPr>
            <p:txBody>
              <a:bodyPr/>
              <a:lstStyle/>
              <a:p>
                <a:r>
                  <a:rPr lang="zh-CN" altLang="en-US">
                    <a:noFill/>
                  </a:rPr>
                  <a:t> </a:t>
                </a:r>
              </a:p>
            </p:txBody>
          </p:sp>
        </mc:Fallback>
      </mc:AlternateContent>
      <p:sp>
        <p:nvSpPr>
          <p:cNvPr id="35" name="文本框 34">
            <a:extLst>
              <a:ext uri="{FF2B5EF4-FFF2-40B4-BE49-F238E27FC236}">
                <a16:creationId xmlns:a16="http://schemas.microsoft.com/office/drawing/2014/main" id="{3160F6ED-D09A-5635-CDFF-73F2636203E6}"/>
              </a:ext>
            </a:extLst>
          </p:cNvPr>
          <p:cNvSpPr txBox="1"/>
          <p:nvPr/>
        </p:nvSpPr>
        <p:spPr>
          <a:xfrm>
            <a:off x="1095196" y="2831356"/>
            <a:ext cx="1800000" cy="306467"/>
          </a:xfrm>
          <a:prstGeom prst="roundRect">
            <a:avLst/>
          </a:prstGeom>
          <a:noFill/>
          <a:ln w="12700">
            <a:solidFill>
              <a:schemeClr val="tx1"/>
            </a:solidFill>
            <a:prstDash val="solid"/>
          </a:ln>
        </p:spPr>
        <p:txBody>
          <a:bodyPr wrap="square">
            <a:spAutoFit/>
          </a:bodyPr>
          <a:lstStyle/>
          <a:p>
            <a:pPr algn="ctr"/>
            <a:r>
              <a:rPr lang="en-US" altLang="zh-CN" sz="1200" b="1" dirty="0">
                <a:solidFill>
                  <a:schemeClr val="tx1"/>
                </a:solidFill>
                <a:latin typeface="+mn-ea"/>
              </a:rPr>
              <a:t>Projection</a:t>
            </a:r>
            <a:endParaRPr lang="zh-CN" altLang="en-US" sz="1200" b="1" dirty="0">
              <a:solidFill>
                <a:schemeClr val="tx1"/>
              </a:solidFill>
              <a:latin typeface="+mn-ea"/>
            </a:endParaRPr>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955E4F1A-E8F9-0818-A5E2-C0BB86E166FF}"/>
                  </a:ext>
                </a:extLst>
              </p:cNvPr>
              <p:cNvSpPr txBox="1"/>
              <p:nvPr/>
            </p:nvSpPr>
            <p:spPr>
              <a:xfrm>
                <a:off x="3657110" y="2829405"/>
                <a:ext cx="1800000" cy="306467"/>
              </a:xfrm>
              <a:prstGeom prst="roundRect">
                <a:avLst/>
              </a:prstGeom>
              <a:noFill/>
              <a:ln w="12700">
                <a:solidFill>
                  <a:schemeClr val="tx1"/>
                </a:solidFill>
                <a:prstDash val="solid"/>
              </a:ln>
            </p:spPr>
            <p:txBody>
              <a:bodyPr wrap="square">
                <a:spAutoFit/>
              </a:bodyPr>
              <a:lstStyle/>
              <a:p>
                <a:pPr algn="ctr"/>
                <a14:m>
                  <m:oMathPara xmlns:m="http://schemas.openxmlformats.org/officeDocument/2006/math">
                    <m:oMathParaPr>
                      <m:jc m:val="centerGroup"/>
                    </m:oMathParaPr>
                    <m:oMath xmlns:m="http://schemas.openxmlformats.org/officeDocument/2006/math">
                      <m:r>
                        <m:rPr>
                          <m:nor/>
                        </m:rPr>
                        <a:rPr lang="en-US" altLang="zh-CN" sz="1200" b="1" dirty="0">
                          <a:latin typeface="+mn-ea"/>
                        </a:rPr>
                        <m:t>Projection</m:t>
                      </m:r>
                    </m:oMath>
                  </m:oMathPara>
                </a14:m>
                <a:endParaRPr lang="zh-CN" altLang="en-US" sz="1200" b="1" dirty="0">
                  <a:latin typeface="+mn-ea"/>
                </a:endParaRPr>
              </a:p>
            </p:txBody>
          </p:sp>
        </mc:Choice>
        <mc:Fallback xmlns="">
          <p:sp>
            <p:nvSpPr>
              <p:cNvPr id="36" name="文本框 35">
                <a:extLst>
                  <a:ext uri="{FF2B5EF4-FFF2-40B4-BE49-F238E27FC236}">
                    <a16:creationId xmlns:a16="http://schemas.microsoft.com/office/drawing/2014/main" id="{955E4F1A-E8F9-0818-A5E2-C0BB86E166FF}"/>
                  </a:ext>
                </a:extLst>
              </p:cNvPr>
              <p:cNvSpPr txBox="1">
                <a:spLocks noRot="1" noChangeAspect="1" noMove="1" noResize="1" noEditPoints="1" noAdjustHandles="1" noChangeArrowheads="1" noChangeShapeType="1" noTextEdit="1"/>
              </p:cNvSpPr>
              <p:nvPr/>
            </p:nvSpPr>
            <p:spPr>
              <a:xfrm>
                <a:off x="3657110" y="2829405"/>
                <a:ext cx="1800000" cy="306467"/>
              </a:xfrm>
              <a:prstGeom prst="roundRect">
                <a:avLst/>
              </a:prstGeom>
              <a:blipFill>
                <a:blip r:embed="rId7"/>
                <a:stretch>
                  <a:fillRect/>
                </a:stretch>
              </a:blipFill>
              <a:ln w="12700">
                <a:solidFill>
                  <a:schemeClr val="tx1"/>
                </a:solid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891D013D-EFA7-E355-659A-EDC0C5B89AD6}"/>
                  </a:ext>
                </a:extLst>
              </p:cNvPr>
              <p:cNvSpPr txBox="1"/>
              <p:nvPr/>
            </p:nvSpPr>
            <p:spPr>
              <a:xfrm>
                <a:off x="3587336" y="2275560"/>
                <a:ext cx="1939551" cy="306467"/>
              </a:xfrm>
              <a:prstGeom prst="roundRect">
                <a:avLst/>
              </a:prstGeom>
              <a:noFill/>
              <a:ln w="12700">
                <a:solidFill>
                  <a:schemeClr val="tx1"/>
                </a:solidFill>
                <a:prstDash val="dash"/>
              </a:ln>
            </p:spPr>
            <p:txBody>
              <a:bodyPr wrap="square">
                <a:spAutoFit/>
              </a:bodyPr>
              <a:lstStyle/>
              <a:p>
                <a:pPr algn="ctr"/>
                <a:r>
                  <a:rPr lang="zh-CN" altLang="en-US" sz="1200" b="1" dirty="0">
                    <a:solidFill>
                      <a:srgbClr val="6D4298"/>
                    </a:solidFill>
                    <a:latin typeface="+mn-ea"/>
                  </a:rPr>
                  <a:t>属性表征 </a:t>
                </a:r>
                <a14:m>
                  <m:oMath xmlns:m="http://schemas.openxmlformats.org/officeDocument/2006/math">
                    <m:sSub>
                      <m:sSubPr>
                        <m:ctrlPr>
                          <a:rPr lang="en-US" altLang="zh-CN" sz="1200" b="1" i="1" smtClean="0">
                            <a:solidFill>
                              <a:srgbClr val="6D4298"/>
                            </a:solidFill>
                            <a:latin typeface="Cambria Math" panose="02040503050406030204" pitchFamily="18" charset="0"/>
                          </a:rPr>
                        </m:ctrlPr>
                      </m:sSubPr>
                      <m:e>
                        <m:r>
                          <a:rPr lang="en-US" altLang="zh-CN" sz="1200" b="1" i="1" smtClean="0">
                            <a:solidFill>
                              <a:srgbClr val="6D4298"/>
                            </a:solidFill>
                            <a:latin typeface="Cambria Math" panose="02040503050406030204" pitchFamily="18" charset="0"/>
                          </a:rPr>
                          <m:t>𝒁𝒄</m:t>
                        </m:r>
                      </m:e>
                      <m:sub>
                        <m:r>
                          <a:rPr lang="en-US" altLang="zh-CN" sz="1200" b="1" i="1" smtClean="0">
                            <a:solidFill>
                              <a:srgbClr val="6D4298"/>
                            </a:solidFill>
                            <a:latin typeface="Cambria Math" panose="02040503050406030204" pitchFamily="18" charset="0"/>
                          </a:rPr>
                          <m:t>𝒅</m:t>
                        </m:r>
                      </m:sub>
                    </m:sSub>
                  </m:oMath>
                </a14:m>
                <a:endParaRPr lang="zh-CN" altLang="en-US" sz="1200" b="1" dirty="0">
                  <a:solidFill>
                    <a:srgbClr val="6D4298"/>
                  </a:solidFill>
                  <a:latin typeface="+mn-ea"/>
                </a:endParaRPr>
              </a:p>
            </p:txBody>
          </p:sp>
        </mc:Choice>
        <mc:Fallback xmlns="">
          <p:sp>
            <p:nvSpPr>
              <p:cNvPr id="37" name="文本框 36">
                <a:extLst>
                  <a:ext uri="{FF2B5EF4-FFF2-40B4-BE49-F238E27FC236}">
                    <a16:creationId xmlns:a16="http://schemas.microsoft.com/office/drawing/2014/main" id="{891D013D-EFA7-E355-659A-EDC0C5B89AD6}"/>
                  </a:ext>
                </a:extLst>
              </p:cNvPr>
              <p:cNvSpPr txBox="1">
                <a:spLocks noRot="1" noChangeAspect="1" noMove="1" noResize="1" noEditPoints="1" noAdjustHandles="1" noChangeArrowheads="1" noChangeShapeType="1" noTextEdit="1"/>
              </p:cNvSpPr>
              <p:nvPr/>
            </p:nvSpPr>
            <p:spPr>
              <a:xfrm>
                <a:off x="3587336" y="2275560"/>
                <a:ext cx="1939551" cy="306467"/>
              </a:xfrm>
              <a:prstGeom prst="roundRect">
                <a:avLst/>
              </a:prstGeom>
              <a:blipFill>
                <a:blip r:embed="rId8"/>
                <a:stretch>
                  <a:fillRect b="-7547"/>
                </a:stretch>
              </a:blipFill>
              <a:ln w="12700">
                <a:solidFill>
                  <a:schemeClr val="tx1"/>
                </a:solidFill>
                <a:prstDash val="dash"/>
              </a:ln>
            </p:spPr>
            <p:txBody>
              <a:bodyPr/>
              <a:lstStyle/>
              <a:p>
                <a:r>
                  <a:rPr lang="zh-CN" altLang="en-US">
                    <a:noFill/>
                  </a:rPr>
                  <a:t> </a:t>
                </a:r>
              </a:p>
            </p:txBody>
          </p:sp>
        </mc:Fallback>
      </mc:AlternateContent>
      <p:sp>
        <p:nvSpPr>
          <p:cNvPr id="38" name="文本框 37">
            <a:extLst>
              <a:ext uri="{FF2B5EF4-FFF2-40B4-BE49-F238E27FC236}">
                <a16:creationId xmlns:a16="http://schemas.microsoft.com/office/drawing/2014/main" id="{14A88E21-4AD5-A3D5-FA25-A02EA72626AD}"/>
              </a:ext>
            </a:extLst>
          </p:cNvPr>
          <p:cNvSpPr txBox="1"/>
          <p:nvPr/>
        </p:nvSpPr>
        <p:spPr>
          <a:xfrm>
            <a:off x="1453106" y="1827762"/>
            <a:ext cx="1065586" cy="230832"/>
          </a:xfrm>
          <a:prstGeom prst="rect">
            <a:avLst/>
          </a:prstGeom>
          <a:noFill/>
        </p:spPr>
        <p:txBody>
          <a:bodyPr wrap="square">
            <a:spAutoFit/>
          </a:bodyPr>
          <a:lstStyle/>
          <a:p>
            <a:pPr algn="ctr"/>
            <a:r>
              <a:rPr lang="en-US" altLang="zh-CN" sz="900" b="1" dirty="0">
                <a:latin typeface="+mn-ea"/>
              </a:rPr>
              <a:t>Combine</a:t>
            </a:r>
            <a:endParaRPr lang="zh-CN" altLang="en-US" sz="900" b="1" dirty="0">
              <a:solidFill>
                <a:schemeClr val="tx1"/>
              </a:solidFill>
              <a:latin typeface="+mn-ea"/>
            </a:endParaRPr>
          </a:p>
        </p:txBody>
      </p:sp>
      <p:cxnSp>
        <p:nvCxnSpPr>
          <p:cNvPr id="39" name="直接箭头连接符 38">
            <a:extLst>
              <a:ext uri="{FF2B5EF4-FFF2-40B4-BE49-F238E27FC236}">
                <a16:creationId xmlns:a16="http://schemas.microsoft.com/office/drawing/2014/main" id="{A4CFB4C1-9B4E-09B0-E8A1-BAA7C46F3887}"/>
              </a:ext>
            </a:extLst>
          </p:cNvPr>
          <p:cNvCxnSpPr>
            <a:cxnSpLocks/>
            <a:stCxn id="34" idx="2"/>
            <a:endCxn id="37" idx="0"/>
          </p:cNvCxnSpPr>
          <p:nvPr/>
        </p:nvCxnSpPr>
        <p:spPr>
          <a:xfrm>
            <a:off x="4557111" y="1627980"/>
            <a:ext cx="1" cy="64758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A161546B-8FAC-C610-57E2-1B1FF8691D73}"/>
              </a:ext>
            </a:extLst>
          </p:cNvPr>
          <p:cNvSpPr txBox="1"/>
          <p:nvPr/>
        </p:nvSpPr>
        <p:spPr>
          <a:xfrm>
            <a:off x="3712404" y="1817052"/>
            <a:ext cx="1188724" cy="230832"/>
          </a:xfrm>
          <a:prstGeom prst="rect">
            <a:avLst/>
          </a:prstGeom>
          <a:noFill/>
        </p:spPr>
        <p:txBody>
          <a:bodyPr wrap="square">
            <a:spAutoFit/>
          </a:bodyPr>
          <a:lstStyle/>
          <a:p>
            <a:pPr algn="ctr"/>
            <a:r>
              <a:rPr lang="en-US" altLang="zh-CN" sz="900" b="1" dirty="0">
                <a:latin typeface="+mn-ea"/>
              </a:rPr>
              <a:t>Project</a:t>
            </a:r>
            <a:endParaRPr lang="zh-CN" altLang="en-US" sz="900" b="1" dirty="0">
              <a:solidFill>
                <a:schemeClr val="tx1"/>
              </a:solidFill>
              <a:latin typeface="+mn-ea"/>
            </a:endParaRPr>
          </a:p>
        </p:txBody>
      </p:sp>
      <p:cxnSp>
        <p:nvCxnSpPr>
          <p:cNvPr id="41" name="直接箭头连接符 40">
            <a:extLst>
              <a:ext uri="{FF2B5EF4-FFF2-40B4-BE49-F238E27FC236}">
                <a16:creationId xmlns:a16="http://schemas.microsoft.com/office/drawing/2014/main" id="{51544342-0084-DAA0-F94B-85179F8DE623}"/>
              </a:ext>
            </a:extLst>
          </p:cNvPr>
          <p:cNvCxnSpPr>
            <a:cxnSpLocks/>
          </p:cNvCxnSpPr>
          <p:nvPr/>
        </p:nvCxnSpPr>
        <p:spPr>
          <a:xfrm>
            <a:off x="1348387" y="3129286"/>
            <a:ext cx="0" cy="501612"/>
          </a:xfrm>
          <a:prstGeom prst="straightConnector1">
            <a:avLst/>
          </a:prstGeom>
          <a:ln w="9525">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D09737C6-9B2A-B9C5-E981-0F8177272052}"/>
              </a:ext>
            </a:extLst>
          </p:cNvPr>
          <p:cNvCxnSpPr>
            <a:cxnSpLocks/>
          </p:cNvCxnSpPr>
          <p:nvPr/>
        </p:nvCxnSpPr>
        <p:spPr>
          <a:xfrm>
            <a:off x="1770345" y="3129286"/>
            <a:ext cx="0" cy="501612"/>
          </a:xfrm>
          <a:prstGeom prst="straightConnector1">
            <a:avLst/>
          </a:prstGeom>
          <a:ln w="9525">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7935AC49-22B7-9EB7-702B-D9EACC3EA0C0}"/>
              </a:ext>
            </a:extLst>
          </p:cNvPr>
          <p:cNvCxnSpPr>
            <a:cxnSpLocks/>
          </p:cNvCxnSpPr>
          <p:nvPr/>
        </p:nvCxnSpPr>
        <p:spPr>
          <a:xfrm>
            <a:off x="2192304" y="3129286"/>
            <a:ext cx="0" cy="501612"/>
          </a:xfrm>
          <a:prstGeom prst="straightConnector1">
            <a:avLst/>
          </a:prstGeom>
          <a:ln w="9525">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7A0601AE-403C-DBDB-05DB-560AE832E110}"/>
                  </a:ext>
                </a:extLst>
              </p:cNvPr>
              <p:cNvSpPr txBox="1"/>
              <p:nvPr/>
            </p:nvSpPr>
            <p:spPr>
              <a:xfrm>
                <a:off x="1109043" y="3162841"/>
                <a:ext cx="331232" cy="2891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sz="1200" b="0" i="1" dirty="0" smtClean="0">
                              <a:solidFill>
                                <a:schemeClr val="accent4">
                                  <a:lumMod val="50000"/>
                                </a:schemeClr>
                              </a:solidFill>
                              <a:latin typeface="Cambria Math" panose="02040503050406030204" pitchFamily="18" charset="0"/>
                            </a:rPr>
                          </m:ctrlPr>
                        </m:sSubSupPr>
                        <m:e>
                          <m:r>
                            <a:rPr lang="en-US" altLang="zh-CN" sz="1200" i="1" dirty="0" smtClean="0">
                              <a:solidFill>
                                <a:schemeClr val="accent4">
                                  <a:lumMod val="50000"/>
                                </a:schemeClr>
                              </a:solidFill>
                              <a:latin typeface="Cambria Math" panose="02040503050406030204" pitchFamily="18" charset="0"/>
                            </a:rPr>
                            <m:t>𝑄</m:t>
                          </m:r>
                        </m:e>
                        <m:sub>
                          <m:r>
                            <a:rPr lang="en-US" altLang="zh-CN" sz="1200" i="1" dirty="0" smtClean="0">
                              <a:solidFill>
                                <a:schemeClr val="accent4">
                                  <a:lumMod val="50000"/>
                                </a:schemeClr>
                              </a:solidFill>
                              <a:latin typeface="Cambria Math" panose="02040503050406030204" pitchFamily="18" charset="0"/>
                            </a:rPr>
                            <m:t>𝑑</m:t>
                          </m:r>
                        </m:sub>
                        <m:sup>
                          <m:r>
                            <a:rPr lang="en-US" altLang="zh-CN" sz="1200" b="0" i="1" dirty="0" smtClean="0">
                              <a:solidFill>
                                <a:schemeClr val="accent4">
                                  <a:lumMod val="50000"/>
                                </a:schemeClr>
                              </a:solidFill>
                              <a:latin typeface="Cambria Math" panose="02040503050406030204" pitchFamily="18" charset="0"/>
                            </a:rPr>
                            <m:t>𝑏</m:t>
                          </m:r>
                        </m:sup>
                      </m:sSubSup>
                    </m:oMath>
                  </m:oMathPara>
                </a14:m>
                <a:endParaRPr lang="zh-CN" altLang="en-US" sz="1200" dirty="0">
                  <a:solidFill>
                    <a:schemeClr val="accent4">
                      <a:lumMod val="50000"/>
                    </a:schemeClr>
                  </a:solidFill>
                  <a:latin typeface="+mn-ea"/>
                </a:endParaRPr>
              </a:p>
            </p:txBody>
          </p:sp>
        </mc:Choice>
        <mc:Fallback xmlns="">
          <p:sp>
            <p:nvSpPr>
              <p:cNvPr id="44" name="文本框 43">
                <a:extLst>
                  <a:ext uri="{FF2B5EF4-FFF2-40B4-BE49-F238E27FC236}">
                    <a16:creationId xmlns:a16="http://schemas.microsoft.com/office/drawing/2014/main" id="{7A0601AE-403C-DBDB-05DB-560AE832E110}"/>
                  </a:ext>
                </a:extLst>
              </p:cNvPr>
              <p:cNvSpPr txBox="1">
                <a:spLocks noRot="1" noChangeAspect="1" noMove="1" noResize="1" noEditPoints="1" noAdjustHandles="1" noChangeArrowheads="1" noChangeShapeType="1" noTextEdit="1"/>
              </p:cNvSpPr>
              <p:nvPr/>
            </p:nvSpPr>
            <p:spPr>
              <a:xfrm>
                <a:off x="1109043" y="3162841"/>
                <a:ext cx="331232" cy="289182"/>
              </a:xfrm>
              <a:prstGeom prst="rect">
                <a:avLst/>
              </a:prstGeom>
              <a:blipFill>
                <a:blip r:embed="rId9"/>
                <a:stretch>
                  <a:fillRect l="-37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D126D2A5-E93E-FA24-90DC-3982EE912309}"/>
                  </a:ext>
                </a:extLst>
              </p:cNvPr>
              <p:cNvSpPr txBox="1"/>
              <p:nvPr/>
            </p:nvSpPr>
            <p:spPr>
              <a:xfrm>
                <a:off x="1537953" y="3162841"/>
                <a:ext cx="331232" cy="2891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sz="1200" b="0" i="1" dirty="0" smtClean="0">
                              <a:solidFill>
                                <a:schemeClr val="accent4">
                                  <a:lumMod val="50000"/>
                                </a:schemeClr>
                              </a:solidFill>
                              <a:latin typeface="Cambria Math" panose="02040503050406030204" pitchFamily="18" charset="0"/>
                            </a:rPr>
                          </m:ctrlPr>
                        </m:sSubSupPr>
                        <m:e>
                          <m:r>
                            <a:rPr lang="en-US" altLang="zh-CN" sz="1200" b="0" i="1" dirty="0" smtClean="0">
                              <a:solidFill>
                                <a:schemeClr val="accent4">
                                  <a:lumMod val="50000"/>
                                </a:schemeClr>
                              </a:solidFill>
                              <a:latin typeface="Cambria Math" panose="02040503050406030204" pitchFamily="18" charset="0"/>
                            </a:rPr>
                            <m:t>𝐾</m:t>
                          </m:r>
                        </m:e>
                        <m:sub>
                          <m:r>
                            <a:rPr lang="en-US" altLang="zh-CN" sz="1200" i="1" dirty="0" smtClean="0">
                              <a:solidFill>
                                <a:schemeClr val="accent4">
                                  <a:lumMod val="50000"/>
                                </a:schemeClr>
                              </a:solidFill>
                              <a:latin typeface="Cambria Math" panose="02040503050406030204" pitchFamily="18" charset="0"/>
                            </a:rPr>
                            <m:t>𝑑</m:t>
                          </m:r>
                        </m:sub>
                        <m:sup>
                          <m:r>
                            <a:rPr lang="en-US" altLang="zh-CN" sz="1200" b="0" i="1" dirty="0" smtClean="0">
                              <a:solidFill>
                                <a:schemeClr val="accent4">
                                  <a:lumMod val="50000"/>
                                </a:schemeClr>
                              </a:solidFill>
                              <a:latin typeface="Cambria Math" panose="02040503050406030204" pitchFamily="18" charset="0"/>
                            </a:rPr>
                            <m:t>𝑏</m:t>
                          </m:r>
                        </m:sup>
                      </m:sSubSup>
                    </m:oMath>
                  </m:oMathPara>
                </a14:m>
                <a:endParaRPr lang="zh-CN" altLang="en-US" sz="1200" dirty="0">
                  <a:solidFill>
                    <a:schemeClr val="accent4">
                      <a:lumMod val="50000"/>
                    </a:schemeClr>
                  </a:solidFill>
                  <a:latin typeface="+mn-ea"/>
                </a:endParaRPr>
              </a:p>
            </p:txBody>
          </p:sp>
        </mc:Choice>
        <mc:Fallback xmlns="">
          <p:sp>
            <p:nvSpPr>
              <p:cNvPr id="45" name="文本框 44">
                <a:extLst>
                  <a:ext uri="{FF2B5EF4-FFF2-40B4-BE49-F238E27FC236}">
                    <a16:creationId xmlns:a16="http://schemas.microsoft.com/office/drawing/2014/main" id="{D126D2A5-E93E-FA24-90DC-3982EE912309}"/>
                  </a:ext>
                </a:extLst>
              </p:cNvPr>
              <p:cNvSpPr txBox="1">
                <a:spLocks noRot="1" noChangeAspect="1" noMove="1" noResize="1" noEditPoints="1" noAdjustHandles="1" noChangeArrowheads="1" noChangeShapeType="1" noTextEdit="1"/>
              </p:cNvSpPr>
              <p:nvPr/>
            </p:nvSpPr>
            <p:spPr>
              <a:xfrm>
                <a:off x="1537953" y="3162841"/>
                <a:ext cx="331232" cy="289182"/>
              </a:xfrm>
              <a:prstGeom prst="rect">
                <a:avLst/>
              </a:prstGeom>
              <a:blipFill>
                <a:blip r:embed="rId10"/>
                <a:stretch>
                  <a:fillRect l="-1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E8BA49F3-457E-6982-72B1-FD0170F32BC5}"/>
                  </a:ext>
                </a:extLst>
              </p:cNvPr>
              <p:cNvSpPr txBox="1"/>
              <p:nvPr/>
            </p:nvSpPr>
            <p:spPr>
              <a:xfrm>
                <a:off x="1966863" y="3162841"/>
                <a:ext cx="331232" cy="2891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sz="1200" b="0" i="1" dirty="0" smtClean="0">
                              <a:solidFill>
                                <a:schemeClr val="accent4">
                                  <a:lumMod val="50000"/>
                                </a:schemeClr>
                              </a:solidFill>
                              <a:latin typeface="Cambria Math" panose="02040503050406030204" pitchFamily="18" charset="0"/>
                            </a:rPr>
                          </m:ctrlPr>
                        </m:sSubSupPr>
                        <m:e>
                          <m:r>
                            <a:rPr lang="en-US" altLang="zh-CN" sz="1200" b="0" i="1" dirty="0" smtClean="0">
                              <a:solidFill>
                                <a:schemeClr val="accent4">
                                  <a:lumMod val="50000"/>
                                </a:schemeClr>
                              </a:solidFill>
                              <a:latin typeface="Cambria Math" panose="02040503050406030204" pitchFamily="18" charset="0"/>
                            </a:rPr>
                            <m:t>𝑉</m:t>
                          </m:r>
                        </m:e>
                        <m:sub>
                          <m:r>
                            <a:rPr lang="en-US" altLang="zh-CN" sz="1200" i="1" dirty="0" smtClean="0">
                              <a:solidFill>
                                <a:schemeClr val="accent4">
                                  <a:lumMod val="50000"/>
                                </a:schemeClr>
                              </a:solidFill>
                              <a:latin typeface="Cambria Math" panose="02040503050406030204" pitchFamily="18" charset="0"/>
                            </a:rPr>
                            <m:t>𝑑</m:t>
                          </m:r>
                        </m:sub>
                        <m:sup>
                          <m:r>
                            <a:rPr lang="en-US" altLang="zh-CN" sz="1200" b="0" i="1" dirty="0" smtClean="0">
                              <a:solidFill>
                                <a:schemeClr val="accent4">
                                  <a:lumMod val="50000"/>
                                </a:schemeClr>
                              </a:solidFill>
                              <a:latin typeface="Cambria Math" panose="02040503050406030204" pitchFamily="18" charset="0"/>
                            </a:rPr>
                            <m:t>𝑏</m:t>
                          </m:r>
                        </m:sup>
                      </m:sSubSup>
                    </m:oMath>
                  </m:oMathPara>
                </a14:m>
                <a:endParaRPr lang="zh-CN" altLang="en-US" sz="1200" dirty="0">
                  <a:solidFill>
                    <a:schemeClr val="accent4">
                      <a:lumMod val="50000"/>
                    </a:schemeClr>
                  </a:solidFill>
                  <a:latin typeface="+mn-ea"/>
                </a:endParaRPr>
              </a:p>
            </p:txBody>
          </p:sp>
        </mc:Choice>
        <mc:Fallback xmlns="">
          <p:sp>
            <p:nvSpPr>
              <p:cNvPr id="46" name="文本框 45">
                <a:extLst>
                  <a:ext uri="{FF2B5EF4-FFF2-40B4-BE49-F238E27FC236}">
                    <a16:creationId xmlns:a16="http://schemas.microsoft.com/office/drawing/2014/main" id="{E8BA49F3-457E-6982-72B1-FD0170F32BC5}"/>
                  </a:ext>
                </a:extLst>
              </p:cNvPr>
              <p:cNvSpPr txBox="1">
                <a:spLocks noRot="1" noChangeAspect="1" noMove="1" noResize="1" noEditPoints="1" noAdjustHandles="1" noChangeArrowheads="1" noChangeShapeType="1" noTextEdit="1"/>
              </p:cNvSpPr>
              <p:nvPr/>
            </p:nvSpPr>
            <p:spPr>
              <a:xfrm>
                <a:off x="1966863" y="3162841"/>
                <a:ext cx="331232" cy="289182"/>
              </a:xfrm>
              <a:prstGeom prst="rect">
                <a:avLst/>
              </a:prstGeom>
              <a:blipFill>
                <a:blip r:embed="rId11"/>
                <a:stretch>
                  <a:fillRect/>
                </a:stretch>
              </a:blipFill>
            </p:spPr>
            <p:txBody>
              <a:bodyPr/>
              <a:lstStyle/>
              <a:p>
                <a:r>
                  <a:rPr lang="zh-CN" altLang="en-US">
                    <a:noFill/>
                  </a:rPr>
                  <a:t> </a:t>
                </a:r>
              </a:p>
            </p:txBody>
          </p:sp>
        </mc:Fallback>
      </mc:AlternateContent>
      <p:cxnSp>
        <p:nvCxnSpPr>
          <p:cNvPr id="47" name="直接箭头连接符 46">
            <a:extLst>
              <a:ext uri="{FF2B5EF4-FFF2-40B4-BE49-F238E27FC236}">
                <a16:creationId xmlns:a16="http://schemas.microsoft.com/office/drawing/2014/main" id="{ADD01E02-32B4-3DAD-6010-F70D628750DB}"/>
              </a:ext>
            </a:extLst>
          </p:cNvPr>
          <p:cNvCxnSpPr>
            <a:cxnSpLocks/>
            <a:stCxn id="33" idx="2"/>
            <a:endCxn id="35" idx="0"/>
          </p:cNvCxnSpPr>
          <p:nvPr/>
        </p:nvCxnSpPr>
        <p:spPr>
          <a:xfrm flipH="1">
            <a:off x="1995196" y="2598415"/>
            <a:ext cx="3591" cy="23294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10A43EB6-E736-EF6E-A227-6B99837A52E6}"/>
              </a:ext>
            </a:extLst>
          </p:cNvPr>
          <p:cNvCxnSpPr>
            <a:cxnSpLocks/>
            <a:stCxn id="37" idx="2"/>
            <a:endCxn id="36" idx="0"/>
          </p:cNvCxnSpPr>
          <p:nvPr/>
        </p:nvCxnSpPr>
        <p:spPr>
          <a:xfrm flipH="1">
            <a:off x="4557110" y="2582027"/>
            <a:ext cx="2" cy="247378"/>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9DED96D8-D1DB-EC9C-C554-9BDC7C89106A}"/>
              </a:ext>
            </a:extLst>
          </p:cNvPr>
          <p:cNvCxnSpPr>
            <a:cxnSpLocks/>
            <a:stCxn id="35" idx="3"/>
            <a:endCxn id="36" idx="1"/>
          </p:cNvCxnSpPr>
          <p:nvPr/>
        </p:nvCxnSpPr>
        <p:spPr>
          <a:xfrm flipV="1">
            <a:off x="2895196" y="2982639"/>
            <a:ext cx="761914" cy="1951"/>
          </a:xfrm>
          <a:prstGeom prst="straightConnector1">
            <a:avLst/>
          </a:prstGeom>
          <a:ln w="127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6F1324E9-E0B5-BBA2-7576-8ABC054FDF21}"/>
              </a:ext>
            </a:extLst>
          </p:cNvPr>
          <p:cNvSpPr txBox="1"/>
          <p:nvPr/>
        </p:nvSpPr>
        <p:spPr>
          <a:xfrm>
            <a:off x="2605646" y="2644426"/>
            <a:ext cx="1320085" cy="230832"/>
          </a:xfrm>
          <a:prstGeom prst="rect">
            <a:avLst/>
          </a:prstGeom>
          <a:noFill/>
        </p:spPr>
        <p:txBody>
          <a:bodyPr wrap="square">
            <a:spAutoFit/>
          </a:bodyPr>
          <a:lstStyle/>
          <a:p>
            <a:pPr algn="ctr"/>
            <a:r>
              <a:rPr lang="en-US" altLang="zh-CN" sz="900" b="1" dirty="0">
                <a:latin typeface="+mn-ea"/>
              </a:rPr>
              <a:t>Shared weights</a:t>
            </a:r>
            <a:endParaRPr lang="zh-CN" altLang="en-US" sz="900" b="1" dirty="0">
              <a:solidFill>
                <a:schemeClr val="tx1"/>
              </a:solidFill>
              <a:latin typeface="+mn-ea"/>
            </a:endParaRPr>
          </a:p>
        </p:txBody>
      </p:sp>
      <p:sp>
        <p:nvSpPr>
          <p:cNvPr id="51" name="文本框 50">
            <a:extLst>
              <a:ext uri="{FF2B5EF4-FFF2-40B4-BE49-F238E27FC236}">
                <a16:creationId xmlns:a16="http://schemas.microsoft.com/office/drawing/2014/main" id="{E56E9B51-931B-7D9A-11B5-1FA7EA5B8797}"/>
              </a:ext>
            </a:extLst>
          </p:cNvPr>
          <p:cNvSpPr txBox="1"/>
          <p:nvPr/>
        </p:nvSpPr>
        <p:spPr>
          <a:xfrm>
            <a:off x="952464" y="3635997"/>
            <a:ext cx="1939551" cy="306467"/>
          </a:xfrm>
          <a:prstGeom prst="roundRect">
            <a:avLst/>
          </a:prstGeom>
          <a:noFill/>
          <a:ln w="12700">
            <a:solidFill>
              <a:schemeClr val="tx1"/>
            </a:solidFill>
            <a:prstDash val="solid"/>
          </a:ln>
        </p:spPr>
        <p:txBody>
          <a:bodyPr wrap="square">
            <a:spAutoFit/>
          </a:bodyPr>
          <a:lstStyle/>
          <a:p>
            <a:pPr algn="ctr"/>
            <a:r>
              <a:rPr lang="en-US" altLang="zh-CN" sz="1200" b="1" dirty="0">
                <a:latin typeface="+mn-ea"/>
              </a:rPr>
              <a:t>Self-Attention</a:t>
            </a:r>
            <a:endParaRPr lang="zh-CN" altLang="en-US" sz="1200" b="1" dirty="0">
              <a:latin typeface="+mn-ea"/>
            </a:endParaRPr>
          </a:p>
        </p:txBody>
      </p:sp>
      <p:sp>
        <p:nvSpPr>
          <p:cNvPr id="52" name="文本框 51">
            <a:extLst>
              <a:ext uri="{FF2B5EF4-FFF2-40B4-BE49-F238E27FC236}">
                <a16:creationId xmlns:a16="http://schemas.microsoft.com/office/drawing/2014/main" id="{9EED72C4-0138-4472-9F74-8A2A7A46B729}"/>
              </a:ext>
            </a:extLst>
          </p:cNvPr>
          <p:cNvSpPr txBox="1"/>
          <p:nvPr/>
        </p:nvSpPr>
        <p:spPr>
          <a:xfrm>
            <a:off x="3600351" y="3633236"/>
            <a:ext cx="1939551" cy="306467"/>
          </a:xfrm>
          <a:prstGeom prst="roundRect">
            <a:avLst/>
          </a:prstGeom>
          <a:noFill/>
          <a:ln w="12700">
            <a:solidFill>
              <a:schemeClr val="tx1"/>
            </a:solidFill>
            <a:prstDash val="solid"/>
          </a:ln>
        </p:spPr>
        <p:txBody>
          <a:bodyPr wrap="square">
            <a:spAutoFit/>
          </a:bodyPr>
          <a:lstStyle/>
          <a:p>
            <a:pPr algn="ctr"/>
            <a:r>
              <a:rPr lang="en-US" altLang="zh-CN" sz="1200" b="1" dirty="0">
                <a:solidFill>
                  <a:schemeClr val="tx1"/>
                </a:solidFill>
                <a:latin typeface="+mn-ea"/>
              </a:rPr>
              <a:t>Cross-Attention</a:t>
            </a:r>
            <a:endParaRPr lang="zh-CN" altLang="en-US" sz="1200" b="1" dirty="0">
              <a:solidFill>
                <a:schemeClr val="tx1"/>
              </a:solidFill>
              <a:latin typeface="+mn-ea"/>
            </a:endParaRPr>
          </a:p>
        </p:txBody>
      </p:sp>
      <p:cxnSp>
        <p:nvCxnSpPr>
          <p:cNvPr id="53" name="连接符: 肘形 52">
            <a:extLst>
              <a:ext uri="{FF2B5EF4-FFF2-40B4-BE49-F238E27FC236}">
                <a16:creationId xmlns:a16="http://schemas.microsoft.com/office/drawing/2014/main" id="{9F1F4B5D-1823-88E7-0F41-378A70718DCC}"/>
              </a:ext>
            </a:extLst>
          </p:cNvPr>
          <p:cNvCxnSpPr>
            <a:cxnSpLocks/>
          </p:cNvCxnSpPr>
          <p:nvPr/>
        </p:nvCxnSpPr>
        <p:spPr>
          <a:xfrm rot="16200000" flipH="1">
            <a:off x="2440595" y="2098063"/>
            <a:ext cx="495413" cy="2574931"/>
          </a:xfrm>
          <a:prstGeom prst="bentConnector3">
            <a:avLst>
              <a:gd name="adj1" fmla="val 62305"/>
            </a:avLst>
          </a:prstGeom>
          <a:ln w="9525">
            <a:solidFill>
              <a:srgbClr val="7E64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CCF37608-B4E4-C78A-C428-59F2B1928338}"/>
                  </a:ext>
                </a:extLst>
              </p:cNvPr>
              <p:cNvSpPr txBox="1"/>
              <p:nvPr/>
            </p:nvSpPr>
            <p:spPr>
              <a:xfrm>
                <a:off x="3745800" y="3165381"/>
                <a:ext cx="331232" cy="2891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sz="1200" b="0" i="1" dirty="0" smtClean="0">
                              <a:solidFill>
                                <a:schemeClr val="accent4">
                                  <a:lumMod val="50000"/>
                                </a:schemeClr>
                              </a:solidFill>
                              <a:latin typeface="Cambria Math" panose="02040503050406030204" pitchFamily="18" charset="0"/>
                            </a:rPr>
                          </m:ctrlPr>
                        </m:sSubSupPr>
                        <m:e>
                          <m:r>
                            <a:rPr lang="en-US" altLang="zh-CN" sz="1200" i="1" dirty="0" smtClean="0">
                              <a:solidFill>
                                <a:schemeClr val="accent4">
                                  <a:lumMod val="50000"/>
                                </a:schemeClr>
                              </a:solidFill>
                              <a:latin typeface="Cambria Math" panose="02040503050406030204" pitchFamily="18" charset="0"/>
                            </a:rPr>
                            <m:t>𝑄</m:t>
                          </m:r>
                        </m:e>
                        <m:sub>
                          <m:r>
                            <a:rPr lang="en-US" altLang="zh-CN" sz="1200" i="1" dirty="0" smtClean="0">
                              <a:solidFill>
                                <a:schemeClr val="accent4">
                                  <a:lumMod val="50000"/>
                                </a:schemeClr>
                              </a:solidFill>
                              <a:latin typeface="Cambria Math" panose="02040503050406030204" pitchFamily="18" charset="0"/>
                            </a:rPr>
                            <m:t>𝑑</m:t>
                          </m:r>
                        </m:sub>
                        <m:sup>
                          <m:r>
                            <a:rPr lang="en-US" altLang="zh-CN" sz="1200" b="0" i="1" dirty="0" smtClean="0">
                              <a:solidFill>
                                <a:schemeClr val="accent4">
                                  <a:lumMod val="50000"/>
                                </a:schemeClr>
                              </a:solidFill>
                              <a:latin typeface="Cambria Math" panose="02040503050406030204" pitchFamily="18" charset="0"/>
                            </a:rPr>
                            <m:t>𝑏</m:t>
                          </m:r>
                        </m:sup>
                      </m:sSubSup>
                    </m:oMath>
                  </m:oMathPara>
                </a14:m>
                <a:endParaRPr lang="zh-CN" altLang="en-US" sz="1200" dirty="0">
                  <a:solidFill>
                    <a:schemeClr val="accent4">
                      <a:lumMod val="50000"/>
                    </a:schemeClr>
                  </a:solidFill>
                  <a:latin typeface="+mn-ea"/>
                </a:endParaRPr>
              </a:p>
            </p:txBody>
          </p:sp>
        </mc:Choice>
        <mc:Fallback xmlns="">
          <p:sp>
            <p:nvSpPr>
              <p:cNvPr id="54" name="文本框 53">
                <a:extLst>
                  <a:ext uri="{FF2B5EF4-FFF2-40B4-BE49-F238E27FC236}">
                    <a16:creationId xmlns:a16="http://schemas.microsoft.com/office/drawing/2014/main" id="{CCF37608-B4E4-C78A-C428-59F2B1928338}"/>
                  </a:ext>
                </a:extLst>
              </p:cNvPr>
              <p:cNvSpPr txBox="1">
                <a:spLocks noRot="1" noChangeAspect="1" noMove="1" noResize="1" noEditPoints="1" noAdjustHandles="1" noChangeArrowheads="1" noChangeShapeType="1" noTextEdit="1"/>
              </p:cNvSpPr>
              <p:nvPr/>
            </p:nvSpPr>
            <p:spPr>
              <a:xfrm>
                <a:off x="3745800" y="3165381"/>
                <a:ext cx="331232" cy="289182"/>
              </a:xfrm>
              <a:prstGeom prst="rect">
                <a:avLst/>
              </a:prstGeom>
              <a:blipFill>
                <a:blip r:embed="rId12"/>
                <a:stretch>
                  <a:fillRect l="-3636"/>
                </a:stretch>
              </a:blipFill>
            </p:spPr>
            <p:txBody>
              <a:bodyPr/>
              <a:lstStyle/>
              <a:p>
                <a:r>
                  <a:rPr lang="zh-CN" altLang="en-US">
                    <a:noFill/>
                  </a:rPr>
                  <a:t> </a:t>
                </a:r>
              </a:p>
            </p:txBody>
          </p:sp>
        </mc:Fallback>
      </mc:AlternateContent>
      <p:cxnSp>
        <p:nvCxnSpPr>
          <p:cNvPr id="55" name="直接箭头连接符 54">
            <a:extLst>
              <a:ext uri="{FF2B5EF4-FFF2-40B4-BE49-F238E27FC236}">
                <a16:creationId xmlns:a16="http://schemas.microsoft.com/office/drawing/2014/main" id="{6F35158B-0F3D-F2C5-C044-1E6A874191CA}"/>
              </a:ext>
            </a:extLst>
          </p:cNvPr>
          <p:cNvCxnSpPr>
            <a:cxnSpLocks/>
          </p:cNvCxnSpPr>
          <p:nvPr/>
        </p:nvCxnSpPr>
        <p:spPr>
          <a:xfrm>
            <a:off x="4414485" y="3129286"/>
            <a:ext cx="0" cy="501612"/>
          </a:xfrm>
          <a:prstGeom prst="straightConnector1">
            <a:avLst/>
          </a:prstGeom>
          <a:ln w="9525">
            <a:solidFill>
              <a:srgbClr val="6D4298"/>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26A38348-6D80-1E75-1E78-B53FB054E8A6}"/>
              </a:ext>
            </a:extLst>
          </p:cNvPr>
          <p:cNvCxnSpPr>
            <a:cxnSpLocks/>
          </p:cNvCxnSpPr>
          <p:nvPr/>
        </p:nvCxnSpPr>
        <p:spPr>
          <a:xfrm>
            <a:off x="4836444" y="3129286"/>
            <a:ext cx="0" cy="501612"/>
          </a:xfrm>
          <a:prstGeom prst="straightConnector1">
            <a:avLst/>
          </a:prstGeom>
          <a:ln w="9525">
            <a:solidFill>
              <a:srgbClr val="6D4298"/>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91ED34A6-9C0B-CC32-505C-EAC79B0C5D82}"/>
                  </a:ext>
                </a:extLst>
              </p:cNvPr>
              <p:cNvSpPr txBox="1"/>
              <p:nvPr/>
            </p:nvSpPr>
            <p:spPr>
              <a:xfrm>
                <a:off x="4182093" y="3165381"/>
                <a:ext cx="331232"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sz="1200" b="0" i="1" dirty="0" smtClean="0">
                              <a:solidFill>
                                <a:srgbClr val="6D4298"/>
                              </a:solidFill>
                              <a:latin typeface="Cambria Math" panose="02040503050406030204" pitchFamily="18" charset="0"/>
                            </a:rPr>
                          </m:ctrlPr>
                        </m:sSubSupPr>
                        <m:e>
                          <m:r>
                            <a:rPr lang="en-US" altLang="zh-CN" sz="1200" b="0" i="1" dirty="0" smtClean="0">
                              <a:solidFill>
                                <a:srgbClr val="6D4298"/>
                              </a:solidFill>
                              <a:latin typeface="Cambria Math" panose="02040503050406030204" pitchFamily="18" charset="0"/>
                            </a:rPr>
                            <m:t>𝐾</m:t>
                          </m:r>
                        </m:e>
                        <m:sub>
                          <m:r>
                            <a:rPr lang="en-US" altLang="zh-CN" sz="1200" i="1" dirty="0" smtClean="0">
                              <a:solidFill>
                                <a:srgbClr val="6D4298"/>
                              </a:solidFill>
                              <a:latin typeface="Cambria Math" panose="02040503050406030204" pitchFamily="18" charset="0"/>
                            </a:rPr>
                            <m:t>𝑑</m:t>
                          </m:r>
                        </m:sub>
                        <m:sup>
                          <m:r>
                            <a:rPr lang="en-US" altLang="zh-CN" sz="1200" b="0" i="1" dirty="0" smtClean="0">
                              <a:solidFill>
                                <a:srgbClr val="6D4298"/>
                              </a:solidFill>
                              <a:latin typeface="Cambria Math" panose="02040503050406030204" pitchFamily="18" charset="0"/>
                            </a:rPr>
                            <m:t>𝑐</m:t>
                          </m:r>
                        </m:sup>
                      </m:sSubSup>
                    </m:oMath>
                  </m:oMathPara>
                </a14:m>
                <a:endParaRPr lang="zh-CN" altLang="en-US" sz="1200" dirty="0">
                  <a:solidFill>
                    <a:srgbClr val="6D4298"/>
                  </a:solidFill>
                  <a:latin typeface="+mn-ea"/>
                </a:endParaRPr>
              </a:p>
            </p:txBody>
          </p:sp>
        </mc:Choice>
        <mc:Fallback xmlns="">
          <p:sp>
            <p:nvSpPr>
              <p:cNvPr id="57" name="文本框 56">
                <a:extLst>
                  <a:ext uri="{FF2B5EF4-FFF2-40B4-BE49-F238E27FC236}">
                    <a16:creationId xmlns:a16="http://schemas.microsoft.com/office/drawing/2014/main" id="{91ED34A6-9C0B-CC32-505C-EAC79B0C5D82}"/>
                  </a:ext>
                </a:extLst>
              </p:cNvPr>
              <p:cNvSpPr txBox="1">
                <a:spLocks noRot="1" noChangeAspect="1" noMove="1" noResize="1" noEditPoints="1" noAdjustHandles="1" noChangeArrowheads="1" noChangeShapeType="1" noTextEdit="1"/>
              </p:cNvSpPr>
              <p:nvPr/>
            </p:nvSpPr>
            <p:spPr>
              <a:xfrm>
                <a:off x="4182093" y="3165381"/>
                <a:ext cx="331232" cy="27699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82874E00-F881-5419-6327-278FDB50A13A}"/>
                  </a:ext>
                </a:extLst>
              </p:cNvPr>
              <p:cNvSpPr txBox="1"/>
              <p:nvPr/>
            </p:nvSpPr>
            <p:spPr>
              <a:xfrm>
                <a:off x="4611003" y="3165381"/>
                <a:ext cx="331232"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sz="1200" b="0" i="1" dirty="0" smtClean="0">
                              <a:solidFill>
                                <a:srgbClr val="6D4298"/>
                              </a:solidFill>
                              <a:latin typeface="Cambria Math" panose="02040503050406030204" pitchFamily="18" charset="0"/>
                            </a:rPr>
                          </m:ctrlPr>
                        </m:sSubSupPr>
                        <m:e>
                          <m:r>
                            <a:rPr lang="en-US" altLang="zh-CN" sz="1200" b="0" i="1" dirty="0" smtClean="0">
                              <a:solidFill>
                                <a:srgbClr val="6D4298"/>
                              </a:solidFill>
                              <a:latin typeface="Cambria Math" panose="02040503050406030204" pitchFamily="18" charset="0"/>
                            </a:rPr>
                            <m:t>𝑉</m:t>
                          </m:r>
                        </m:e>
                        <m:sub>
                          <m:r>
                            <a:rPr lang="en-US" altLang="zh-CN" sz="1200" i="1" dirty="0" smtClean="0">
                              <a:solidFill>
                                <a:srgbClr val="6D4298"/>
                              </a:solidFill>
                              <a:latin typeface="Cambria Math" panose="02040503050406030204" pitchFamily="18" charset="0"/>
                            </a:rPr>
                            <m:t>𝑑</m:t>
                          </m:r>
                        </m:sub>
                        <m:sup>
                          <m:r>
                            <a:rPr lang="en-US" altLang="zh-CN" sz="1200" b="0" i="1" dirty="0" smtClean="0">
                              <a:solidFill>
                                <a:srgbClr val="6D4298"/>
                              </a:solidFill>
                              <a:latin typeface="Cambria Math" panose="02040503050406030204" pitchFamily="18" charset="0"/>
                            </a:rPr>
                            <m:t>𝑐</m:t>
                          </m:r>
                        </m:sup>
                      </m:sSubSup>
                    </m:oMath>
                  </m:oMathPara>
                </a14:m>
                <a:endParaRPr lang="zh-CN" altLang="en-US" sz="1200" dirty="0">
                  <a:solidFill>
                    <a:srgbClr val="6D4298"/>
                  </a:solidFill>
                  <a:latin typeface="+mn-ea"/>
                </a:endParaRPr>
              </a:p>
            </p:txBody>
          </p:sp>
        </mc:Choice>
        <mc:Fallback xmlns="">
          <p:sp>
            <p:nvSpPr>
              <p:cNvPr id="58" name="文本框 57">
                <a:extLst>
                  <a:ext uri="{FF2B5EF4-FFF2-40B4-BE49-F238E27FC236}">
                    <a16:creationId xmlns:a16="http://schemas.microsoft.com/office/drawing/2014/main" id="{82874E00-F881-5419-6327-278FDB50A13A}"/>
                  </a:ext>
                </a:extLst>
              </p:cNvPr>
              <p:cNvSpPr txBox="1">
                <a:spLocks noRot="1" noChangeAspect="1" noMove="1" noResize="1" noEditPoints="1" noAdjustHandles="1" noChangeArrowheads="1" noChangeShapeType="1" noTextEdit="1"/>
              </p:cNvSpPr>
              <p:nvPr/>
            </p:nvSpPr>
            <p:spPr>
              <a:xfrm>
                <a:off x="4611003" y="3165381"/>
                <a:ext cx="331232" cy="276999"/>
              </a:xfrm>
              <a:prstGeom prst="rect">
                <a:avLst/>
              </a:prstGeom>
              <a:blipFill>
                <a:blip r:embed="rId14"/>
                <a:stretch>
                  <a:fillRect/>
                </a:stretch>
              </a:blipFill>
            </p:spPr>
            <p:txBody>
              <a:bodyPr/>
              <a:lstStyle/>
              <a:p>
                <a:r>
                  <a:rPr lang="zh-CN" altLang="en-US">
                    <a:noFill/>
                  </a:rPr>
                  <a:t> </a:t>
                </a:r>
              </a:p>
            </p:txBody>
          </p:sp>
        </mc:Fallback>
      </mc:AlternateContent>
      <p:sp>
        <p:nvSpPr>
          <p:cNvPr id="59" name="文本框 58">
            <a:extLst>
              <a:ext uri="{FF2B5EF4-FFF2-40B4-BE49-F238E27FC236}">
                <a16:creationId xmlns:a16="http://schemas.microsoft.com/office/drawing/2014/main" id="{9273507B-43FD-09F3-17A4-8AFF687149C6}"/>
              </a:ext>
            </a:extLst>
          </p:cNvPr>
          <p:cNvSpPr txBox="1"/>
          <p:nvPr/>
        </p:nvSpPr>
        <p:spPr>
          <a:xfrm>
            <a:off x="955645" y="4108225"/>
            <a:ext cx="1939551" cy="306467"/>
          </a:xfrm>
          <a:prstGeom prst="roundRect">
            <a:avLst/>
          </a:prstGeom>
          <a:noFill/>
          <a:ln w="12700">
            <a:solidFill>
              <a:schemeClr val="tx1"/>
            </a:solidFill>
            <a:prstDash val="solid"/>
          </a:ln>
        </p:spPr>
        <p:txBody>
          <a:bodyPr wrap="square">
            <a:spAutoFit/>
          </a:bodyPr>
          <a:lstStyle/>
          <a:p>
            <a:pPr algn="ctr"/>
            <a:r>
              <a:rPr lang="en-US" altLang="zh-CN" sz="1200" b="1" dirty="0">
                <a:solidFill>
                  <a:schemeClr val="tx1"/>
                </a:solidFill>
                <a:latin typeface="+mn-ea"/>
              </a:rPr>
              <a:t>Dense</a:t>
            </a:r>
            <a:endParaRPr lang="zh-CN" altLang="en-US" sz="1200" b="1" dirty="0">
              <a:solidFill>
                <a:schemeClr val="tx1"/>
              </a:solidFill>
              <a:latin typeface="+mn-ea"/>
            </a:endParaRPr>
          </a:p>
        </p:txBody>
      </p: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31226737-BB0D-7E12-C6BF-8D95BB2CF171}"/>
                  </a:ext>
                </a:extLst>
              </p:cNvPr>
              <p:cNvSpPr txBox="1"/>
              <p:nvPr/>
            </p:nvSpPr>
            <p:spPr>
              <a:xfrm>
                <a:off x="3596604" y="4108225"/>
                <a:ext cx="1939551" cy="306467"/>
              </a:xfrm>
              <a:prstGeom prst="roundRect">
                <a:avLst/>
              </a:prstGeom>
              <a:noFill/>
              <a:ln w="12700">
                <a:solidFill>
                  <a:schemeClr val="tx1"/>
                </a:solidFill>
                <a:prstDash val="solid"/>
              </a:ln>
            </p:spPr>
            <p:txBody>
              <a:bodyPr wrap="square">
                <a:spAutoFit/>
              </a:bodyPr>
              <a:lstStyle/>
              <a:p>
                <a:pPr algn="ctr"/>
                <a14:m>
                  <m:oMathPara xmlns:m="http://schemas.openxmlformats.org/officeDocument/2006/math">
                    <m:oMathParaPr>
                      <m:jc m:val="centerGroup"/>
                    </m:oMathParaPr>
                    <m:oMath xmlns:m="http://schemas.openxmlformats.org/officeDocument/2006/math">
                      <m:r>
                        <m:rPr>
                          <m:nor/>
                        </m:rPr>
                        <a:rPr lang="en-US" altLang="zh-CN" sz="1200" b="1" dirty="0">
                          <a:latin typeface="+mn-ea"/>
                        </a:rPr>
                        <m:t>Dense</m:t>
                      </m:r>
                    </m:oMath>
                  </m:oMathPara>
                </a14:m>
                <a:endParaRPr lang="zh-CN" altLang="en-US" sz="1200" b="1" dirty="0">
                  <a:latin typeface="+mn-ea"/>
                </a:endParaRPr>
              </a:p>
            </p:txBody>
          </p:sp>
        </mc:Choice>
        <mc:Fallback xmlns="">
          <p:sp>
            <p:nvSpPr>
              <p:cNvPr id="60" name="文本框 59">
                <a:extLst>
                  <a:ext uri="{FF2B5EF4-FFF2-40B4-BE49-F238E27FC236}">
                    <a16:creationId xmlns:a16="http://schemas.microsoft.com/office/drawing/2014/main" id="{31226737-BB0D-7E12-C6BF-8D95BB2CF171}"/>
                  </a:ext>
                </a:extLst>
              </p:cNvPr>
              <p:cNvSpPr txBox="1">
                <a:spLocks noRot="1" noChangeAspect="1" noMove="1" noResize="1" noEditPoints="1" noAdjustHandles="1" noChangeArrowheads="1" noChangeShapeType="1" noTextEdit="1"/>
              </p:cNvSpPr>
              <p:nvPr/>
            </p:nvSpPr>
            <p:spPr>
              <a:xfrm>
                <a:off x="3596604" y="4108225"/>
                <a:ext cx="1939551" cy="306467"/>
              </a:xfrm>
              <a:prstGeom prst="roundRect">
                <a:avLst/>
              </a:prstGeom>
              <a:blipFill>
                <a:blip r:embed="rId15"/>
                <a:stretch>
                  <a:fillRect/>
                </a:stretch>
              </a:blipFill>
              <a:ln w="12700">
                <a:solidFill>
                  <a:schemeClr val="tx1"/>
                </a:solidFill>
                <a:prstDash val="solid"/>
              </a:ln>
            </p:spPr>
            <p:txBody>
              <a:bodyPr/>
              <a:lstStyle/>
              <a:p>
                <a:r>
                  <a:rPr lang="zh-CN" altLang="en-US">
                    <a:noFill/>
                  </a:rPr>
                  <a:t> </a:t>
                </a:r>
              </a:p>
            </p:txBody>
          </p:sp>
        </mc:Fallback>
      </mc:AlternateContent>
      <p:cxnSp>
        <p:nvCxnSpPr>
          <p:cNvPr id="63" name="直接箭头连接符 62">
            <a:extLst>
              <a:ext uri="{FF2B5EF4-FFF2-40B4-BE49-F238E27FC236}">
                <a16:creationId xmlns:a16="http://schemas.microsoft.com/office/drawing/2014/main" id="{9263195E-CC06-4109-2A06-FC5FE7DD9233}"/>
              </a:ext>
            </a:extLst>
          </p:cNvPr>
          <p:cNvCxnSpPr>
            <a:cxnSpLocks/>
            <a:stCxn id="51" idx="2"/>
            <a:endCxn id="59" idx="0"/>
          </p:cNvCxnSpPr>
          <p:nvPr/>
        </p:nvCxnSpPr>
        <p:spPr>
          <a:xfrm>
            <a:off x="1922240" y="3942464"/>
            <a:ext cx="3181" cy="16576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C506191A-3650-7125-39B1-C754F5C5EB0C}"/>
              </a:ext>
            </a:extLst>
          </p:cNvPr>
          <p:cNvCxnSpPr>
            <a:cxnSpLocks/>
            <a:stCxn id="52" idx="2"/>
            <a:endCxn id="60" idx="0"/>
          </p:cNvCxnSpPr>
          <p:nvPr/>
        </p:nvCxnSpPr>
        <p:spPr>
          <a:xfrm flipH="1">
            <a:off x="4566380" y="3939703"/>
            <a:ext cx="3747" cy="168522"/>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DCC7F062-F5AD-FEAC-3DC5-4C55A625242D}"/>
              </a:ext>
            </a:extLst>
          </p:cNvPr>
          <p:cNvSpPr txBox="1"/>
          <p:nvPr/>
        </p:nvSpPr>
        <p:spPr>
          <a:xfrm>
            <a:off x="2319715" y="4673471"/>
            <a:ext cx="1939551" cy="306467"/>
          </a:xfrm>
          <a:prstGeom prst="roundRect">
            <a:avLst/>
          </a:prstGeom>
          <a:noFill/>
          <a:ln w="12700">
            <a:solidFill>
              <a:schemeClr val="tx1"/>
            </a:solidFill>
            <a:prstDash val="solid"/>
          </a:ln>
        </p:spPr>
        <p:txBody>
          <a:bodyPr wrap="square">
            <a:spAutoFit/>
          </a:bodyPr>
          <a:lstStyle/>
          <a:p>
            <a:pPr algn="ctr"/>
            <a:r>
              <a:rPr lang="en-US" altLang="zh-CN" sz="1200" b="1" dirty="0">
                <a:solidFill>
                  <a:schemeClr val="tx1"/>
                </a:solidFill>
                <a:latin typeface="+mn-ea"/>
              </a:rPr>
              <a:t>Integration</a:t>
            </a:r>
            <a:endParaRPr lang="zh-CN" altLang="en-US" sz="1200" b="1" dirty="0">
              <a:solidFill>
                <a:schemeClr val="tx1"/>
              </a:solidFill>
              <a:latin typeface="+mn-ea"/>
            </a:endParaRPr>
          </a:p>
        </p:txBody>
      </p:sp>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D55F7611-90B4-1CFD-F01E-6A25C533F759}"/>
                  </a:ext>
                </a:extLst>
              </p:cNvPr>
              <p:cNvSpPr txBox="1"/>
              <p:nvPr/>
            </p:nvSpPr>
            <p:spPr>
              <a:xfrm>
                <a:off x="1355788" y="4414692"/>
                <a:ext cx="612658" cy="646331"/>
              </a:xfrm>
              <a:prstGeom prst="rect">
                <a:avLst/>
              </a:prstGeom>
              <a:noFill/>
            </p:spPr>
            <p:txBody>
              <a:bodyPr wrap="square">
                <a:spAutoFit/>
              </a:bodyPr>
              <a:lstStyle/>
              <a:p>
                <a:pPr algn="ctr"/>
                <a:r>
                  <a:rPr lang="en-US" altLang="zh-CN" sz="900" b="1" dirty="0">
                    <a:latin typeface="+mn-ea"/>
                  </a:rPr>
                  <a:t>Add</a:t>
                </a:r>
              </a:p>
              <a:p>
                <a:pPr algn="ctr"/>
                <a:r>
                  <a:rPr lang="en-US" altLang="zh-CN" sz="900" b="1" dirty="0">
                    <a:latin typeface="+mn-ea"/>
                  </a:rPr>
                  <a:t>Norm</a:t>
                </a:r>
              </a:p>
              <a:p>
                <a:pPr algn="ctr"/>
                <a:r>
                  <a:rPr lang="en-US" altLang="zh-CN" sz="900" b="1" dirty="0">
                    <a:latin typeface="+mn-ea"/>
                  </a:rPr>
                  <a:t>FFN</a:t>
                </a:r>
              </a:p>
              <a:p>
                <a:pPr algn="ctr"/>
                <a14:m>
                  <m:oMathPara xmlns:m="http://schemas.openxmlformats.org/officeDocument/2006/math">
                    <m:oMathParaPr>
                      <m:jc m:val="centerGroup"/>
                    </m:oMathParaPr>
                    <m:oMath xmlns:m="http://schemas.openxmlformats.org/officeDocument/2006/math">
                      <m:r>
                        <a:rPr lang="en-US" altLang="zh-CN" sz="900" b="1" i="1" smtClean="0">
                          <a:solidFill>
                            <a:schemeClr val="tx1"/>
                          </a:solidFill>
                          <a:latin typeface="Cambria Math" panose="02040503050406030204" pitchFamily="18" charset="0"/>
                        </a:rPr>
                        <m:t>⋯</m:t>
                      </m:r>
                    </m:oMath>
                  </m:oMathPara>
                </a14:m>
                <a:endParaRPr lang="en-US" altLang="zh-CN" sz="900" b="1" dirty="0">
                  <a:solidFill>
                    <a:schemeClr val="tx1"/>
                  </a:solidFill>
                  <a:latin typeface="+mn-ea"/>
                </a:endParaRPr>
              </a:p>
            </p:txBody>
          </p:sp>
        </mc:Choice>
        <mc:Fallback xmlns="">
          <p:sp>
            <p:nvSpPr>
              <p:cNvPr id="66" name="文本框 65">
                <a:extLst>
                  <a:ext uri="{FF2B5EF4-FFF2-40B4-BE49-F238E27FC236}">
                    <a16:creationId xmlns:a16="http://schemas.microsoft.com/office/drawing/2014/main" id="{D55F7611-90B4-1CFD-F01E-6A25C533F759}"/>
                  </a:ext>
                </a:extLst>
              </p:cNvPr>
              <p:cNvSpPr txBox="1">
                <a:spLocks noRot="1" noChangeAspect="1" noMove="1" noResize="1" noEditPoints="1" noAdjustHandles="1" noChangeArrowheads="1" noChangeShapeType="1" noTextEdit="1"/>
              </p:cNvSpPr>
              <p:nvPr/>
            </p:nvSpPr>
            <p:spPr>
              <a:xfrm>
                <a:off x="1355788" y="4414692"/>
                <a:ext cx="612658" cy="646331"/>
              </a:xfrm>
              <a:prstGeom prst="rect">
                <a:avLst/>
              </a:prstGeom>
              <a:blipFill>
                <a:blip r:embed="rId16"/>
                <a:stretch>
                  <a:fillRect/>
                </a:stretch>
              </a:blipFill>
            </p:spPr>
            <p:txBody>
              <a:bodyPr/>
              <a:lstStyle/>
              <a:p>
                <a:r>
                  <a:rPr lang="zh-CN" altLang="en-US">
                    <a:noFill/>
                  </a:rPr>
                  <a:t> </a:t>
                </a:r>
              </a:p>
            </p:txBody>
          </p:sp>
        </mc:Fallback>
      </mc:AlternateContent>
      <p:cxnSp>
        <p:nvCxnSpPr>
          <p:cNvPr id="67" name="连接符: 肘形 66">
            <a:extLst>
              <a:ext uri="{FF2B5EF4-FFF2-40B4-BE49-F238E27FC236}">
                <a16:creationId xmlns:a16="http://schemas.microsoft.com/office/drawing/2014/main" id="{380AB68B-7053-FD47-E4F9-A2E0C29416F8}"/>
              </a:ext>
            </a:extLst>
          </p:cNvPr>
          <p:cNvCxnSpPr>
            <a:cxnSpLocks/>
            <a:stCxn id="31" idx="2"/>
            <a:endCxn id="33" idx="0"/>
          </p:cNvCxnSpPr>
          <p:nvPr/>
        </p:nvCxnSpPr>
        <p:spPr>
          <a:xfrm rot="16200000" flipH="1">
            <a:off x="1397589" y="1674362"/>
            <a:ext cx="432578" cy="769818"/>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连接符: 肘形 67">
            <a:extLst>
              <a:ext uri="{FF2B5EF4-FFF2-40B4-BE49-F238E27FC236}">
                <a16:creationId xmlns:a16="http://schemas.microsoft.com/office/drawing/2014/main" id="{11F732F1-DB2B-CFC0-9DD2-FBBBB98BE9B1}"/>
              </a:ext>
            </a:extLst>
          </p:cNvPr>
          <p:cNvCxnSpPr>
            <a:cxnSpLocks/>
            <a:stCxn id="32" idx="2"/>
            <a:endCxn id="33" idx="0"/>
          </p:cNvCxnSpPr>
          <p:nvPr/>
        </p:nvCxnSpPr>
        <p:spPr>
          <a:xfrm rot="5400000">
            <a:off x="2210903" y="1630867"/>
            <a:ext cx="432578" cy="85680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连接符: 肘形 68">
            <a:extLst>
              <a:ext uri="{FF2B5EF4-FFF2-40B4-BE49-F238E27FC236}">
                <a16:creationId xmlns:a16="http://schemas.microsoft.com/office/drawing/2014/main" id="{208AC15C-FE10-69F0-F951-8DBB500B02F6}"/>
              </a:ext>
            </a:extLst>
          </p:cNvPr>
          <p:cNvCxnSpPr>
            <a:cxnSpLocks/>
            <a:stCxn id="59" idx="2"/>
            <a:endCxn id="65" idx="1"/>
          </p:cNvCxnSpPr>
          <p:nvPr/>
        </p:nvCxnSpPr>
        <p:spPr>
          <a:xfrm rot="16200000" flipH="1">
            <a:off x="1916562" y="4423551"/>
            <a:ext cx="412013" cy="394294"/>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连接符: 肘形 69">
            <a:extLst>
              <a:ext uri="{FF2B5EF4-FFF2-40B4-BE49-F238E27FC236}">
                <a16:creationId xmlns:a16="http://schemas.microsoft.com/office/drawing/2014/main" id="{18CD1EF9-098C-CA9B-6A15-D9358D157673}"/>
              </a:ext>
            </a:extLst>
          </p:cNvPr>
          <p:cNvCxnSpPr>
            <a:cxnSpLocks/>
            <a:stCxn id="60" idx="2"/>
            <a:endCxn id="65" idx="3"/>
          </p:cNvCxnSpPr>
          <p:nvPr/>
        </p:nvCxnSpPr>
        <p:spPr>
          <a:xfrm rot="5400000">
            <a:off x="4206817" y="4467141"/>
            <a:ext cx="412013" cy="307114"/>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9D2F7490-5691-4DBE-CD63-F3E87D18A0E0}"/>
                  </a:ext>
                </a:extLst>
              </p:cNvPr>
              <p:cNvSpPr txBox="1"/>
              <p:nvPr/>
            </p:nvSpPr>
            <p:spPr>
              <a:xfrm>
                <a:off x="4335887" y="4412349"/>
                <a:ext cx="811432" cy="646331"/>
              </a:xfrm>
              <a:prstGeom prst="rect">
                <a:avLst/>
              </a:prstGeom>
              <a:noFill/>
            </p:spPr>
            <p:txBody>
              <a:bodyPr wrap="square">
                <a:spAutoFit/>
              </a:bodyPr>
              <a:lstStyle/>
              <a:p>
                <a:pPr algn="ctr"/>
                <a:r>
                  <a:rPr lang="en-US" altLang="zh-CN" sz="900" b="1" dirty="0">
                    <a:latin typeface="+mn-ea"/>
                  </a:rPr>
                  <a:t>Add</a:t>
                </a:r>
              </a:p>
              <a:p>
                <a:pPr algn="ctr"/>
                <a:r>
                  <a:rPr lang="en-US" altLang="zh-CN" sz="900" b="1" dirty="0">
                    <a:latin typeface="+mn-ea"/>
                  </a:rPr>
                  <a:t>Norm</a:t>
                </a:r>
              </a:p>
              <a:p>
                <a:pPr algn="ctr"/>
                <a:r>
                  <a:rPr lang="en-US" altLang="zh-CN" sz="900" b="1" dirty="0">
                    <a:latin typeface="+mn-ea"/>
                  </a:rPr>
                  <a:t>FFN</a:t>
                </a:r>
              </a:p>
              <a:p>
                <a:pPr algn="ctr"/>
                <a14:m>
                  <m:oMathPara xmlns:m="http://schemas.openxmlformats.org/officeDocument/2006/math">
                    <m:oMathParaPr>
                      <m:jc m:val="centerGroup"/>
                    </m:oMathParaPr>
                    <m:oMath xmlns:m="http://schemas.openxmlformats.org/officeDocument/2006/math">
                      <m:r>
                        <a:rPr lang="en-US" altLang="zh-CN" sz="900" b="1" i="1" smtClean="0">
                          <a:solidFill>
                            <a:schemeClr val="tx1"/>
                          </a:solidFill>
                          <a:latin typeface="Cambria Math" panose="02040503050406030204" pitchFamily="18" charset="0"/>
                        </a:rPr>
                        <m:t>⋯</m:t>
                      </m:r>
                    </m:oMath>
                  </m:oMathPara>
                </a14:m>
                <a:endParaRPr lang="en-US" altLang="zh-CN" sz="900" b="1" dirty="0">
                  <a:solidFill>
                    <a:schemeClr val="tx1"/>
                  </a:solidFill>
                  <a:latin typeface="+mn-ea"/>
                </a:endParaRPr>
              </a:p>
            </p:txBody>
          </p:sp>
        </mc:Choice>
        <mc:Fallback xmlns="">
          <p:sp>
            <p:nvSpPr>
              <p:cNvPr id="71" name="文本框 70">
                <a:extLst>
                  <a:ext uri="{FF2B5EF4-FFF2-40B4-BE49-F238E27FC236}">
                    <a16:creationId xmlns:a16="http://schemas.microsoft.com/office/drawing/2014/main" id="{9D2F7490-5691-4DBE-CD63-F3E87D18A0E0}"/>
                  </a:ext>
                </a:extLst>
              </p:cNvPr>
              <p:cNvSpPr txBox="1">
                <a:spLocks noRot="1" noChangeAspect="1" noMove="1" noResize="1" noEditPoints="1" noAdjustHandles="1" noChangeArrowheads="1" noChangeShapeType="1" noTextEdit="1"/>
              </p:cNvSpPr>
              <p:nvPr/>
            </p:nvSpPr>
            <p:spPr>
              <a:xfrm>
                <a:off x="4335887" y="4412349"/>
                <a:ext cx="811432" cy="646331"/>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0D8D8BE6-FC5E-79DD-8DBE-C9C043EE1B63}"/>
                  </a:ext>
                </a:extLst>
              </p:cNvPr>
              <p:cNvSpPr txBox="1"/>
              <p:nvPr/>
            </p:nvSpPr>
            <p:spPr>
              <a:xfrm>
                <a:off x="1248718" y="5269285"/>
                <a:ext cx="1939551" cy="322855"/>
              </a:xfrm>
              <a:prstGeom prst="roundRect">
                <a:avLst/>
              </a:prstGeom>
              <a:noFill/>
              <a:ln w="12700">
                <a:solidFill>
                  <a:schemeClr val="tx1"/>
                </a:solidFill>
                <a:prstDash val="solid"/>
              </a:ln>
            </p:spPr>
            <p:txBody>
              <a:bodyPr wrap="square">
                <a:spAutoFit/>
              </a:bodyPr>
              <a:lstStyle/>
              <a:p>
                <a:pPr algn="ctr"/>
                <a:r>
                  <a:rPr lang="zh-CN" altLang="en-US" sz="1200" b="1" dirty="0">
                    <a:solidFill>
                      <a:schemeClr val="tx1"/>
                    </a:solidFill>
                    <a:latin typeface="+mn-ea"/>
                  </a:rPr>
                  <a:t>时空嵌入表征 </a:t>
                </a:r>
                <a14:m>
                  <m:oMath xmlns:m="http://schemas.openxmlformats.org/officeDocument/2006/math">
                    <m:sSubSup>
                      <m:sSubSupPr>
                        <m:ctrlPr>
                          <a:rPr lang="en-US" altLang="zh-CN" sz="1200" b="1" i="1" dirty="0" smtClean="0">
                            <a:solidFill>
                              <a:schemeClr val="tx1"/>
                            </a:solidFill>
                            <a:latin typeface="Cambria Math" panose="02040503050406030204" pitchFamily="18" charset="0"/>
                          </a:rPr>
                        </m:ctrlPr>
                      </m:sSubSupPr>
                      <m:e>
                        <m:r>
                          <a:rPr lang="en-US" altLang="zh-CN" sz="1200" b="1" i="1" dirty="0" smtClean="0">
                            <a:solidFill>
                              <a:schemeClr val="tx1"/>
                            </a:solidFill>
                            <a:latin typeface="Cambria Math" panose="02040503050406030204" pitchFamily="18" charset="0"/>
                          </a:rPr>
                          <m:t>𝒁</m:t>
                        </m:r>
                      </m:e>
                      <m:sub>
                        <m:r>
                          <a:rPr lang="en-US" altLang="zh-CN" sz="1200" b="1" i="1" dirty="0" smtClean="0">
                            <a:solidFill>
                              <a:schemeClr val="tx1"/>
                            </a:solidFill>
                            <a:latin typeface="Cambria Math" panose="02040503050406030204" pitchFamily="18" charset="0"/>
                          </a:rPr>
                          <m:t>𝒅</m:t>
                        </m:r>
                      </m:sub>
                      <m:sup>
                        <m:r>
                          <a:rPr lang="en-US" altLang="zh-CN" sz="1200" b="1" i="1" dirty="0" smtClean="0">
                            <a:solidFill>
                              <a:schemeClr val="tx1"/>
                            </a:solidFill>
                            <a:latin typeface="Cambria Math" panose="02040503050406030204" pitchFamily="18" charset="0"/>
                          </a:rPr>
                          <m:t>𝑻</m:t>
                        </m:r>
                      </m:sup>
                    </m:sSubSup>
                  </m:oMath>
                </a14:m>
                <a:endParaRPr lang="zh-CN" altLang="en-US" sz="1200" b="1" dirty="0">
                  <a:solidFill>
                    <a:schemeClr val="tx1"/>
                  </a:solidFill>
                  <a:latin typeface="+mn-ea"/>
                </a:endParaRPr>
              </a:p>
            </p:txBody>
          </p:sp>
        </mc:Choice>
        <mc:Fallback xmlns="">
          <p:sp>
            <p:nvSpPr>
              <p:cNvPr id="72" name="文本框 71">
                <a:extLst>
                  <a:ext uri="{FF2B5EF4-FFF2-40B4-BE49-F238E27FC236}">
                    <a16:creationId xmlns:a16="http://schemas.microsoft.com/office/drawing/2014/main" id="{0D8D8BE6-FC5E-79DD-8DBE-C9C043EE1B63}"/>
                  </a:ext>
                </a:extLst>
              </p:cNvPr>
              <p:cNvSpPr txBox="1">
                <a:spLocks noRot="1" noChangeAspect="1" noMove="1" noResize="1" noEditPoints="1" noAdjustHandles="1" noChangeArrowheads="1" noChangeShapeType="1" noTextEdit="1"/>
              </p:cNvSpPr>
              <p:nvPr/>
            </p:nvSpPr>
            <p:spPr>
              <a:xfrm>
                <a:off x="1248718" y="5269285"/>
                <a:ext cx="1939551" cy="322855"/>
              </a:xfrm>
              <a:prstGeom prst="roundRect">
                <a:avLst/>
              </a:prstGeom>
              <a:blipFill>
                <a:blip r:embed="rId18"/>
                <a:stretch>
                  <a:fillRect b="-9091"/>
                </a:stretch>
              </a:blipFill>
              <a:ln w="12700">
                <a:solidFill>
                  <a:schemeClr val="tx1"/>
                </a:solidFill>
                <a:prstDash val="solid"/>
              </a:ln>
            </p:spPr>
            <p:txBody>
              <a:bodyPr/>
              <a:lstStyle/>
              <a:p>
                <a:r>
                  <a:rPr lang="zh-CN" altLang="en-US">
                    <a:noFill/>
                  </a:rPr>
                  <a:t> </a:t>
                </a:r>
              </a:p>
            </p:txBody>
          </p:sp>
        </mc:Fallback>
      </mc:AlternateContent>
      <p:sp>
        <p:nvSpPr>
          <p:cNvPr id="73" name="矩形 72">
            <a:extLst>
              <a:ext uri="{FF2B5EF4-FFF2-40B4-BE49-F238E27FC236}">
                <a16:creationId xmlns:a16="http://schemas.microsoft.com/office/drawing/2014/main" id="{52850D98-F0F2-2F2C-D027-E6E28EF48099}"/>
              </a:ext>
            </a:extLst>
          </p:cNvPr>
          <p:cNvSpPr/>
          <p:nvPr/>
        </p:nvSpPr>
        <p:spPr>
          <a:xfrm>
            <a:off x="497258" y="1183447"/>
            <a:ext cx="5204459" cy="4864464"/>
          </a:xfrm>
          <a:prstGeom prst="rect">
            <a:avLst/>
          </a:prstGeom>
          <a:noFill/>
          <a:ln w="12700" cap="flat" cmpd="sng" algn="ctr">
            <a:solidFill>
              <a:srgbClr val="4874CB">
                <a:shade val="15000"/>
              </a:srgbClr>
            </a:solid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E54C5E">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rPr>
              <a:t>Time-aware Prediction Module</a:t>
            </a:r>
            <a:endParaRPr kumimoji="0" lang="zh-CN" altLang="en-US" sz="1400" b="1" i="0" u="none" strike="noStrike" kern="0" cap="none" spc="0" normalizeH="0" baseline="0" noProof="0" dirty="0">
              <a:ln>
                <a:noFill/>
              </a:ln>
              <a:solidFill>
                <a:srgbClr val="E54C5E">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pic>
        <p:nvPicPr>
          <p:cNvPr id="74" name="图片 73">
            <a:extLst>
              <a:ext uri="{FF2B5EF4-FFF2-40B4-BE49-F238E27FC236}">
                <a16:creationId xmlns:a16="http://schemas.microsoft.com/office/drawing/2014/main" id="{73A58F40-773F-4E8E-3E51-34479A5C125C}"/>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3880378" y="5141827"/>
            <a:ext cx="584330" cy="584330"/>
          </a:xfrm>
          <a:prstGeom prst="rect">
            <a:avLst/>
          </a:prstGeom>
        </p:spPr>
      </p:pic>
      <p:sp>
        <p:nvSpPr>
          <p:cNvPr id="75" name="矩形 74">
            <a:extLst>
              <a:ext uri="{FF2B5EF4-FFF2-40B4-BE49-F238E27FC236}">
                <a16:creationId xmlns:a16="http://schemas.microsoft.com/office/drawing/2014/main" id="{4A1FBBDE-B8B3-1C9B-EFB9-7B9BB2AD6EE3}"/>
              </a:ext>
            </a:extLst>
          </p:cNvPr>
          <p:cNvSpPr/>
          <p:nvPr/>
        </p:nvSpPr>
        <p:spPr>
          <a:xfrm>
            <a:off x="4335887" y="5308614"/>
            <a:ext cx="921405" cy="2507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b">
            <a:noAutofit/>
          </a:bodyPr>
          <a:lstStyle/>
          <a:p>
            <a:pPr algn="ctr"/>
            <a:r>
              <a:rPr lang="en-US" altLang="zh-CN" sz="1200" b="1" dirty="0">
                <a:solidFill>
                  <a:schemeClr val="tx1"/>
                </a:solidFill>
                <a:latin typeface="等线" panose="02010600030101010101" pitchFamily="2" charset="-122"/>
                <a:ea typeface="等线" panose="02010600030101010101" pitchFamily="2" charset="-122"/>
                <a:cs typeface="Times New Roman" panose="02020603050405020304" pitchFamily="18" charset="0"/>
              </a:rPr>
              <a:t>Classifier</a:t>
            </a:r>
          </a:p>
        </p:txBody>
      </p:sp>
      <p:cxnSp>
        <p:nvCxnSpPr>
          <p:cNvPr id="76" name="连接符: 肘形 75">
            <a:extLst>
              <a:ext uri="{FF2B5EF4-FFF2-40B4-BE49-F238E27FC236}">
                <a16:creationId xmlns:a16="http://schemas.microsoft.com/office/drawing/2014/main" id="{DAA3D760-CB74-6A24-163C-5620198A84BA}"/>
              </a:ext>
            </a:extLst>
          </p:cNvPr>
          <p:cNvCxnSpPr>
            <a:cxnSpLocks/>
            <a:stCxn id="65" idx="2"/>
            <a:endCxn id="72" idx="0"/>
          </p:cNvCxnSpPr>
          <p:nvPr/>
        </p:nvCxnSpPr>
        <p:spPr>
          <a:xfrm rot="5400000">
            <a:off x="2609320" y="4589113"/>
            <a:ext cx="289347" cy="107099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BA150EB2-8F57-8CDD-7C0A-19048C571141}"/>
              </a:ext>
            </a:extLst>
          </p:cNvPr>
          <p:cNvCxnSpPr>
            <a:cxnSpLocks/>
            <a:stCxn id="72" idx="3"/>
            <a:endCxn id="74" idx="1"/>
          </p:cNvCxnSpPr>
          <p:nvPr/>
        </p:nvCxnSpPr>
        <p:spPr>
          <a:xfrm>
            <a:off x="3188269" y="5430713"/>
            <a:ext cx="692109" cy="327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39B97F4B-D60E-81C9-EE0C-1AD7224FCF38}"/>
              </a:ext>
            </a:extLst>
          </p:cNvPr>
          <p:cNvCxnSpPr>
            <a:cxnSpLocks/>
            <a:stCxn id="59" idx="3"/>
            <a:endCxn id="60" idx="1"/>
          </p:cNvCxnSpPr>
          <p:nvPr/>
        </p:nvCxnSpPr>
        <p:spPr>
          <a:xfrm>
            <a:off x="2895196" y="4261459"/>
            <a:ext cx="701408" cy="0"/>
          </a:xfrm>
          <a:prstGeom prst="straightConnector1">
            <a:avLst/>
          </a:prstGeom>
          <a:ln w="127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21" name="文本框 120">
            <a:extLst>
              <a:ext uri="{FF2B5EF4-FFF2-40B4-BE49-F238E27FC236}">
                <a16:creationId xmlns:a16="http://schemas.microsoft.com/office/drawing/2014/main" id="{E05330C7-AABB-7C7A-52C4-4E0856B89B53}"/>
              </a:ext>
            </a:extLst>
          </p:cNvPr>
          <p:cNvSpPr txBox="1"/>
          <p:nvPr/>
        </p:nvSpPr>
        <p:spPr>
          <a:xfrm>
            <a:off x="2582394" y="3929307"/>
            <a:ext cx="1320085" cy="230832"/>
          </a:xfrm>
          <a:prstGeom prst="rect">
            <a:avLst/>
          </a:prstGeom>
          <a:noFill/>
        </p:spPr>
        <p:txBody>
          <a:bodyPr wrap="square">
            <a:spAutoFit/>
          </a:bodyPr>
          <a:lstStyle/>
          <a:p>
            <a:pPr algn="ctr"/>
            <a:r>
              <a:rPr lang="en-US" altLang="zh-CN" sz="900" b="1" dirty="0">
                <a:latin typeface="+mn-ea"/>
              </a:rPr>
              <a:t>Shared weights</a:t>
            </a:r>
            <a:endParaRPr lang="zh-CN" altLang="en-US" sz="900" b="1" dirty="0">
              <a:solidFill>
                <a:schemeClr val="tx1"/>
              </a:solidFill>
              <a:latin typeface="+mn-ea"/>
            </a:endParaRPr>
          </a:p>
        </p:txBody>
      </p:sp>
      <p:sp>
        <p:nvSpPr>
          <p:cNvPr id="3" name="矩形 2">
            <a:extLst>
              <a:ext uri="{FF2B5EF4-FFF2-40B4-BE49-F238E27FC236}">
                <a16:creationId xmlns:a16="http://schemas.microsoft.com/office/drawing/2014/main" id="{DFDF16AD-818C-B888-AC16-D3A18E76BF40}"/>
              </a:ext>
            </a:extLst>
          </p:cNvPr>
          <p:cNvSpPr/>
          <p:nvPr/>
        </p:nvSpPr>
        <p:spPr>
          <a:xfrm>
            <a:off x="6158265" y="1195197"/>
            <a:ext cx="5204459" cy="1634207"/>
          </a:xfrm>
          <a:prstGeom prst="rect">
            <a:avLst/>
          </a:prstGeom>
          <a:noFill/>
          <a:ln w="12700" cap="flat" cmpd="sng" algn="ctr">
            <a:solidFill>
              <a:srgbClr val="4874CB">
                <a:shade val="15000"/>
              </a:srgbClr>
            </a:solid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E54C5E">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rPr>
              <a:t>Time-patch Scale Prediction Module</a:t>
            </a:r>
            <a:endParaRPr kumimoji="0" lang="zh-CN" altLang="en-US" sz="1200" b="1" i="0" u="none" strike="noStrike" kern="0" cap="none" spc="0" normalizeH="0" baseline="0" noProof="0" dirty="0">
              <a:ln>
                <a:noFill/>
              </a:ln>
              <a:solidFill>
                <a:srgbClr val="E54C5E">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1A4C6929-C060-7B24-7B19-D5292AA3B316}"/>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0435821" y="1539762"/>
            <a:ext cx="576000" cy="576000"/>
          </a:xfrm>
          <a:prstGeom prst="rect">
            <a:avLst/>
          </a:prstGeom>
        </p:spPr>
      </p:pic>
      <p:sp>
        <p:nvSpPr>
          <p:cNvPr id="5" name="矩形 4">
            <a:extLst>
              <a:ext uri="{FF2B5EF4-FFF2-40B4-BE49-F238E27FC236}">
                <a16:creationId xmlns:a16="http://schemas.microsoft.com/office/drawing/2014/main" id="{72DEB709-B687-342C-6D30-648AEA1AC5C8}"/>
              </a:ext>
            </a:extLst>
          </p:cNvPr>
          <p:cNvSpPr/>
          <p:nvPr/>
        </p:nvSpPr>
        <p:spPr>
          <a:xfrm>
            <a:off x="10031601" y="2186056"/>
            <a:ext cx="1384441" cy="185385"/>
          </a:xfrm>
          <a:prstGeom prst="rect">
            <a:avLst/>
          </a:prstGeom>
          <a:noFill/>
          <a:ln w="12700" cap="flat" cmpd="sng" algn="ctr">
            <a:noFill/>
            <a:prstDash val="solid"/>
            <a:miter lim="800000"/>
          </a:ln>
          <a:effectLst/>
        </p:spPr>
        <p:txBody>
          <a:bodyPr wrap="square" rtlCol="0" anchor="b">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Classifier</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1A39ED5-5F99-9BA4-5AE6-7CC5FB2C7963}"/>
                  </a:ext>
                </a:extLst>
              </p:cNvPr>
              <p:cNvSpPr txBox="1"/>
              <p:nvPr/>
            </p:nvSpPr>
            <p:spPr>
              <a:xfrm>
                <a:off x="6332161" y="1255631"/>
                <a:ext cx="2900704" cy="322855"/>
              </a:xfrm>
              <a:prstGeom prst="roundRect">
                <a:avLst/>
              </a:prstGeom>
              <a:noFill/>
              <a:ln w="9525">
                <a:solidFill>
                  <a:sysClr val="windowText" lastClr="000000"/>
                </a:solidFill>
                <a:prstDash val="dash"/>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61B230">
                        <a:lumMod val="75000"/>
                      </a:srgbClr>
                    </a:solidFill>
                    <a:effectLst/>
                    <a:uLnTx/>
                    <a:uFillTx/>
                    <a:latin typeface="等线" panose="02010600030101010101" pitchFamily="2" charset="-122"/>
                  </a:rPr>
                  <a:t>统计特征 </a:t>
                </a:r>
                <a14:m>
                  <m:oMath xmlns:m="http://schemas.openxmlformats.org/officeDocument/2006/math">
                    <m:sSubSup>
                      <m:sSubSupPr>
                        <m:ctrlP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ctrlPr>
                      </m:sSubSupPr>
                      <m:e>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𝑭𝒂</m:t>
                        </m:r>
                      </m:e>
                      <m:sub>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𝒅</m:t>
                        </m:r>
                      </m:sub>
                      <m:sup>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𝑻</m:t>
                        </m:r>
                      </m:sup>
                    </m:sSubSup>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m:t>
                    </m:r>
                    <m:sSup>
                      <m:sSupPr>
                        <m:ctrlP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ctrlPr>
                      </m:sSupPr>
                      <m:e>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ℝ</m:t>
                        </m:r>
                      </m:e>
                      <m:sup>
                        <m:sSub>
                          <m:sSubPr>
                            <m:ctrlP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ctrlPr>
                          </m:sSubPr>
                          <m:e>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𝒅</m:t>
                            </m:r>
                          </m:e>
                          <m:sub>
                            <m:r>
                              <a:rPr kumimoji="0" lang="en-US" altLang="zh-CN" sz="1200" b="1" i="1" u="none" strike="noStrike" kern="0" cap="none" spc="0" normalizeH="0" baseline="0" noProof="0" dirty="0" smtClean="0">
                                <a:ln>
                                  <a:noFill/>
                                </a:ln>
                                <a:solidFill>
                                  <a:srgbClr val="61B230">
                                    <a:lumMod val="75000"/>
                                  </a:srgbClr>
                                </a:solidFill>
                                <a:effectLst/>
                                <a:uLnTx/>
                                <a:uFillTx/>
                                <a:latin typeface="Cambria Math" panose="02040503050406030204" pitchFamily="18" charset="0"/>
                              </a:rPr>
                              <m:t>𝒂</m:t>
                            </m:r>
                          </m:sub>
                        </m:sSub>
                      </m:sup>
                    </m:sSup>
                  </m:oMath>
                </a14:m>
                <a:endParaRPr kumimoji="0" lang="zh-CN" altLang="en-US" sz="1200" b="1" i="0" u="none" strike="noStrike" kern="0" cap="none" spc="0" normalizeH="0" baseline="0" noProof="0" dirty="0">
                  <a:ln>
                    <a:noFill/>
                  </a:ln>
                  <a:solidFill>
                    <a:srgbClr val="E9002F"/>
                  </a:solidFill>
                  <a:effectLst/>
                  <a:uLnTx/>
                  <a:uFillTx/>
                  <a:latin typeface="等线" panose="02010600030101010101" pitchFamily="2" charset="-122"/>
                </a:endParaRPr>
              </a:p>
            </p:txBody>
          </p:sp>
        </mc:Choice>
        <mc:Fallback xmlns="">
          <p:sp>
            <p:nvSpPr>
              <p:cNvPr id="6" name="文本框 5">
                <a:extLst>
                  <a:ext uri="{FF2B5EF4-FFF2-40B4-BE49-F238E27FC236}">
                    <a16:creationId xmlns:a16="http://schemas.microsoft.com/office/drawing/2014/main" id="{51A39ED5-5F99-9BA4-5AE6-7CC5FB2C7963}"/>
                  </a:ext>
                </a:extLst>
              </p:cNvPr>
              <p:cNvSpPr txBox="1">
                <a:spLocks noRot="1" noChangeAspect="1" noMove="1" noResize="1" noEditPoints="1" noAdjustHandles="1" noChangeArrowheads="1" noChangeShapeType="1" noTextEdit="1"/>
              </p:cNvSpPr>
              <p:nvPr/>
            </p:nvSpPr>
            <p:spPr>
              <a:xfrm>
                <a:off x="6332161" y="1255631"/>
                <a:ext cx="2900704" cy="322855"/>
              </a:xfrm>
              <a:prstGeom prst="roundRect">
                <a:avLst/>
              </a:prstGeom>
              <a:blipFill>
                <a:blip r:embed="rId20"/>
                <a:stretch>
                  <a:fillRect b="-9091"/>
                </a:stretch>
              </a:blipFill>
              <a:ln w="9525">
                <a:solidFill>
                  <a:sysClr val="windowText" lastClr="000000"/>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7DA4D1C-21AB-5E77-1FD7-09A47600C257}"/>
                  </a:ext>
                </a:extLst>
              </p:cNvPr>
              <p:cNvSpPr txBox="1"/>
              <p:nvPr/>
            </p:nvSpPr>
            <p:spPr>
              <a:xfrm>
                <a:off x="6332161" y="1679378"/>
                <a:ext cx="2900704" cy="322855"/>
              </a:xfrm>
              <a:prstGeom prst="roundRect">
                <a:avLst/>
              </a:prstGeom>
              <a:noFill/>
              <a:ln w="9525">
                <a:solidFill>
                  <a:sysClr val="windowText" lastClr="000000"/>
                </a:solidFill>
                <a:prstDash val="dash"/>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E9002F"/>
                    </a:solidFill>
                    <a:effectLst/>
                    <a:uLnTx/>
                    <a:uFillTx/>
                    <a:latin typeface="等线" panose="02010600030101010101" pitchFamily="2" charset="-122"/>
                  </a:rPr>
                  <a:t>多层级时空特征 </a:t>
                </a:r>
                <a14:m>
                  <m:oMath xmlns:m="http://schemas.openxmlformats.org/officeDocument/2006/math">
                    <m:sSubSup>
                      <m:sSubSupPr>
                        <m:ctrlP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ctrlPr>
                      </m:sSubSupPr>
                      <m:e>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𝑭𝒄</m:t>
                        </m:r>
                      </m:e>
                      <m:sub>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𝒅</m:t>
                        </m:r>
                      </m:sub>
                      <m:sup>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𝑻</m:t>
                        </m:r>
                      </m:sup>
                    </m:sSubSup>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m:t>
                    </m:r>
                    <m:sSup>
                      <m:sSupPr>
                        <m:ctrlP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ctrlPr>
                      </m:sSupPr>
                      <m:e>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ℝ</m:t>
                        </m:r>
                      </m:e>
                      <m:sup>
                        <m:sSub>
                          <m:sSubPr>
                            <m:ctrlP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ctrlPr>
                          </m:sSubPr>
                          <m:e>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𝒅</m:t>
                            </m:r>
                          </m:e>
                          <m:sub>
                            <m:r>
                              <a:rPr kumimoji="0" lang="en-US" altLang="zh-CN" sz="1200" b="1" i="1" u="none" strike="noStrike" kern="0" cap="none" spc="0" normalizeH="0" baseline="0" noProof="0" dirty="0" smtClean="0">
                                <a:ln>
                                  <a:noFill/>
                                </a:ln>
                                <a:solidFill>
                                  <a:srgbClr val="E9002F"/>
                                </a:solidFill>
                                <a:effectLst/>
                                <a:uLnTx/>
                                <a:uFillTx/>
                                <a:latin typeface="Cambria Math" panose="02040503050406030204" pitchFamily="18" charset="0"/>
                              </a:rPr>
                              <m:t>𝒄</m:t>
                            </m:r>
                          </m:sub>
                        </m:sSub>
                      </m:sup>
                    </m:sSup>
                  </m:oMath>
                </a14:m>
                <a:endParaRPr kumimoji="0" lang="zh-CN" altLang="en-US" sz="1200" b="1" i="0" u="none" strike="noStrike" kern="0" cap="none" spc="0" normalizeH="0" baseline="0" noProof="0" dirty="0">
                  <a:ln>
                    <a:noFill/>
                  </a:ln>
                  <a:solidFill>
                    <a:srgbClr val="E9002F"/>
                  </a:solidFill>
                  <a:effectLst/>
                  <a:uLnTx/>
                  <a:uFillTx/>
                  <a:latin typeface="等线" panose="02010600030101010101" pitchFamily="2" charset="-122"/>
                </a:endParaRPr>
              </a:p>
            </p:txBody>
          </p:sp>
        </mc:Choice>
        <mc:Fallback xmlns="">
          <p:sp>
            <p:nvSpPr>
              <p:cNvPr id="7" name="文本框 6">
                <a:extLst>
                  <a:ext uri="{FF2B5EF4-FFF2-40B4-BE49-F238E27FC236}">
                    <a16:creationId xmlns:a16="http://schemas.microsoft.com/office/drawing/2014/main" id="{B7DA4D1C-21AB-5E77-1FD7-09A47600C257}"/>
                  </a:ext>
                </a:extLst>
              </p:cNvPr>
              <p:cNvSpPr txBox="1">
                <a:spLocks noRot="1" noChangeAspect="1" noMove="1" noResize="1" noEditPoints="1" noAdjustHandles="1" noChangeArrowheads="1" noChangeShapeType="1" noTextEdit="1"/>
              </p:cNvSpPr>
              <p:nvPr/>
            </p:nvSpPr>
            <p:spPr>
              <a:xfrm>
                <a:off x="6332161" y="1679378"/>
                <a:ext cx="2900704" cy="322855"/>
              </a:xfrm>
              <a:prstGeom prst="roundRect">
                <a:avLst/>
              </a:prstGeom>
              <a:blipFill>
                <a:blip r:embed="rId21"/>
                <a:stretch>
                  <a:fillRect b="-9091"/>
                </a:stretch>
              </a:blipFill>
              <a:ln w="9525">
                <a:solidFill>
                  <a:sysClr val="windowText" lastClr="000000"/>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E0CAF06-BCFD-F24F-363F-7BBDF5A23329}"/>
                  </a:ext>
                </a:extLst>
              </p:cNvPr>
              <p:cNvSpPr txBox="1"/>
              <p:nvPr/>
            </p:nvSpPr>
            <p:spPr>
              <a:xfrm>
                <a:off x="6332161" y="2103124"/>
                <a:ext cx="2914239" cy="306467"/>
              </a:xfrm>
              <a:prstGeom prst="roundRect">
                <a:avLst/>
              </a:prstGeom>
              <a:noFill/>
              <a:ln w="9525">
                <a:solidFill>
                  <a:sysClr val="windowText" lastClr="000000"/>
                </a:solidFill>
                <a:prstDash val="dash"/>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6D4298"/>
                    </a:solidFill>
                    <a:effectLst/>
                    <a:uLnTx/>
                    <a:uFillTx/>
                    <a:latin typeface="等线" panose="02010600030101010101" pitchFamily="2" charset="-122"/>
                  </a:rPr>
                  <a:t>属性特征</a:t>
                </a:r>
                <a:r>
                  <a:rPr kumimoji="0" lang="en-US" altLang="zh-CN" sz="1200" b="1" i="0" u="none" strike="noStrike" kern="0" cap="none" spc="0" normalizeH="0" baseline="0" noProof="0" dirty="0">
                    <a:ln>
                      <a:noFill/>
                    </a:ln>
                    <a:solidFill>
                      <a:srgbClr val="6D4298"/>
                    </a:solidFill>
                    <a:effectLst/>
                    <a:uLnTx/>
                    <a:uFillTx/>
                    <a:latin typeface="等线" panose="02010600030101010101" pitchFamily="2" charset="-122"/>
                  </a:rPr>
                  <a:t> </a:t>
                </a:r>
                <a14:m>
                  <m:oMath xmlns:m="http://schemas.openxmlformats.org/officeDocument/2006/math">
                    <m:sSub>
                      <m:sSubPr>
                        <m:ctrlPr>
                          <a:rPr kumimoji="0" lang="en-US" altLang="zh-CN" sz="1200" b="1" i="1" u="none" strike="noStrike" kern="0" cap="none" spc="0" normalizeH="0" baseline="0" noProof="0" smtClean="0">
                            <a:ln>
                              <a:noFill/>
                            </a:ln>
                            <a:solidFill>
                              <a:srgbClr val="6D4298"/>
                            </a:solidFill>
                            <a:effectLst/>
                            <a:uLnTx/>
                            <a:uFillTx/>
                            <a:latin typeface="Cambria Math" panose="02040503050406030204" pitchFamily="18" charset="0"/>
                          </a:rPr>
                        </m:ctrlPr>
                      </m:sSubPr>
                      <m:e>
                        <m:r>
                          <a:rPr kumimoji="0" lang="en-US" altLang="zh-CN" sz="1200" b="1" i="1" u="none" strike="noStrike" kern="0" cap="none" spc="0" normalizeH="0" baseline="0" noProof="0" smtClean="0">
                            <a:ln>
                              <a:noFill/>
                            </a:ln>
                            <a:solidFill>
                              <a:srgbClr val="6D4298"/>
                            </a:solidFill>
                            <a:effectLst/>
                            <a:uLnTx/>
                            <a:uFillTx/>
                            <a:latin typeface="Cambria Math" panose="02040503050406030204" pitchFamily="18" charset="0"/>
                          </a:rPr>
                          <m:t>𝑺</m:t>
                        </m:r>
                      </m:e>
                      <m:sub>
                        <m:r>
                          <a:rPr kumimoji="0" lang="en-US" altLang="zh-CN" sz="1200" b="1" i="1" u="none" strike="noStrike" kern="0" cap="none" spc="0" normalizeH="0" baseline="0" noProof="0" smtClean="0">
                            <a:ln>
                              <a:noFill/>
                            </a:ln>
                            <a:solidFill>
                              <a:srgbClr val="6D4298"/>
                            </a:solidFill>
                            <a:effectLst/>
                            <a:uLnTx/>
                            <a:uFillTx/>
                            <a:latin typeface="Cambria Math" panose="02040503050406030204" pitchFamily="18" charset="0"/>
                          </a:rPr>
                          <m:t>𝒅</m:t>
                        </m:r>
                      </m:sub>
                    </m:sSub>
                  </m:oMath>
                </a14:m>
                <a:endParaRPr kumimoji="0" lang="zh-CN" altLang="en-US" sz="1200" b="1" i="0" u="none" strike="noStrike" kern="0" cap="none" spc="0" normalizeH="0" baseline="0" noProof="0" dirty="0">
                  <a:ln>
                    <a:noFill/>
                  </a:ln>
                  <a:solidFill>
                    <a:srgbClr val="6D4298"/>
                  </a:solidFill>
                  <a:effectLst/>
                  <a:uLnTx/>
                  <a:uFillTx/>
                  <a:latin typeface="等线" panose="02010600030101010101" pitchFamily="2" charset="-122"/>
                </a:endParaRPr>
              </a:p>
            </p:txBody>
          </p:sp>
        </mc:Choice>
        <mc:Fallback xmlns="">
          <p:sp>
            <p:nvSpPr>
              <p:cNvPr id="8" name="文本框 7">
                <a:extLst>
                  <a:ext uri="{FF2B5EF4-FFF2-40B4-BE49-F238E27FC236}">
                    <a16:creationId xmlns:a16="http://schemas.microsoft.com/office/drawing/2014/main" id="{BE0CAF06-BCFD-F24F-363F-7BBDF5A23329}"/>
                  </a:ext>
                </a:extLst>
              </p:cNvPr>
              <p:cNvSpPr txBox="1">
                <a:spLocks noRot="1" noChangeAspect="1" noMove="1" noResize="1" noEditPoints="1" noAdjustHandles="1" noChangeArrowheads="1" noChangeShapeType="1" noTextEdit="1"/>
              </p:cNvSpPr>
              <p:nvPr/>
            </p:nvSpPr>
            <p:spPr>
              <a:xfrm>
                <a:off x="6332161" y="2103124"/>
                <a:ext cx="2914239" cy="306467"/>
              </a:xfrm>
              <a:prstGeom prst="roundRect">
                <a:avLst/>
              </a:prstGeom>
              <a:blipFill>
                <a:blip r:embed="rId22"/>
                <a:stretch>
                  <a:fillRect b="-7692"/>
                </a:stretch>
              </a:blipFill>
              <a:ln w="9525">
                <a:solidFill>
                  <a:sysClr val="windowText" lastClr="000000"/>
                </a:solidFill>
                <a:prstDash val="dash"/>
              </a:ln>
            </p:spPr>
            <p:txBody>
              <a:bodyPr/>
              <a:lstStyle/>
              <a:p>
                <a:r>
                  <a:rPr lang="zh-CN" altLang="en-US">
                    <a:noFill/>
                  </a:rPr>
                  <a:t> </a:t>
                </a:r>
              </a:p>
            </p:txBody>
          </p:sp>
        </mc:Fallback>
      </mc:AlternateContent>
      <p:cxnSp>
        <p:nvCxnSpPr>
          <p:cNvPr id="9" name="连接符: 肘形 8">
            <a:extLst>
              <a:ext uri="{FF2B5EF4-FFF2-40B4-BE49-F238E27FC236}">
                <a16:creationId xmlns:a16="http://schemas.microsoft.com/office/drawing/2014/main" id="{6F82E2B1-36FD-4ABA-DF9F-81388F592D85}"/>
              </a:ext>
            </a:extLst>
          </p:cNvPr>
          <p:cNvCxnSpPr>
            <a:cxnSpLocks/>
            <a:stCxn id="8" idx="3"/>
            <a:endCxn id="4" idx="1"/>
          </p:cNvCxnSpPr>
          <p:nvPr/>
        </p:nvCxnSpPr>
        <p:spPr>
          <a:xfrm flipV="1">
            <a:off x="9246400" y="1827762"/>
            <a:ext cx="1189421" cy="428596"/>
          </a:xfrm>
          <a:prstGeom prst="bentConnector3">
            <a:avLst>
              <a:gd name="adj1" fmla="val 50000"/>
            </a:avLst>
          </a:prstGeom>
          <a:noFill/>
          <a:ln w="9525" cap="flat" cmpd="sng" algn="ctr">
            <a:solidFill>
              <a:sysClr val="windowText" lastClr="000000"/>
            </a:solidFill>
            <a:prstDash val="solid"/>
            <a:miter lim="800000"/>
            <a:tailEnd type="triangle"/>
          </a:ln>
          <a:effectLst/>
        </p:spPr>
      </p:cxnSp>
      <p:cxnSp>
        <p:nvCxnSpPr>
          <p:cNvPr id="10" name="连接符: 肘形 9">
            <a:extLst>
              <a:ext uri="{FF2B5EF4-FFF2-40B4-BE49-F238E27FC236}">
                <a16:creationId xmlns:a16="http://schemas.microsoft.com/office/drawing/2014/main" id="{71992548-C47E-E2C0-1231-277BEA34AAE9}"/>
              </a:ext>
            </a:extLst>
          </p:cNvPr>
          <p:cNvCxnSpPr>
            <a:cxnSpLocks/>
            <a:stCxn id="6" idx="3"/>
            <a:endCxn id="4" idx="1"/>
          </p:cNvCxnSpPr>
          <p:nvPr/>
        </p:nvCxnSpPr>
        <p:spPr>
          <a:xfrm>
            <a:off x="9232865" y="1417059"/>
            <a:ext cx="1202956" cy="410703"/>
          </a:xfrm>
          <a:prstGeom prst="bentConnector3">
            <a:avLst>
              <a:gd name="adj1" fmla="val 50000"/>
            </a:avLst>
          </a:prstGeom>
          <a:noFill/>
          <a:ln w="9525" cap="flat" cmpd="sng" algn="ctr">
            <a:solidFill>
              <a:sysClr val="windowText" lastClr="000000"/>
            </a:solidFill>
            <a:prstDash val="solid"/>
            <a:miter lim="800000"/>
            <a:tailEnd type="triangle"/>
          </a:ln>
          <a:effectLst/>
        </p:spPr>
      </p:cxnSp>
      <p:cxnSp>
        <p:nvCxnSpPr>
          <p:cNvPr id="11" name="直接箭头连接符 10">
            <a:extLst>
              <a:ext uri="{FF2B5EF4-FFF2-40B4-BE49-F238E27FC236}">
                <a16:creationId xmlns:a16="http://schemas.microsoft.com/office/drawing/2014/main" id="{488FA2F0-B62A-E27B-6608-B8649C141DB4}"/>
              </a:ext>
            </a:extLst>
          </p:cNvPr>
          <p:cNvCxnSpPr>
            <a:cxnSpLocks/>
            <a:stCxn id="7" idx="3"/>
            <a:endCxn id="4" idx="1"/>
          </p:cNvCxnSpPr>
          <p:nvPr/>
        </p:nvCxnSpPr>
        <p:spPr>
          <a:xfrm flipV="1">
            <a:off x="9232865" y="1827762"/>
            <a:ext cx="1202956" cy="13044"/>
          </a:xfrm>
          <a:prstGeom prst="straightConnector1">
            <a:avLst/>
          </a:prstGeom>
          <a:noFill/>
          <a:ln w="9525" cap="flat" cmpd="sng" algn="ctr">
            <a:solidFill>
              <a:sysClr val="windowText" lastClr="000000"/>
            </a:solidFill>
            <a:prstDash val="solid"/>
            <a:miter lim="800000"/>
            <a:headEnd w="med" len="sm"/>
            <a:tailEnd type="triangle" w="sm" len="med"/>
          </a:ln>
          <a:effectLst/>
        </p:spPr>
      </p:cxnSp>
      <p:sp>
        <p:nvSpPr>
          <p:cNvPr id="15" name="矩形 14">
            <a:extLst>
              <a:ext uri="{FF2B5EF4-FFF2-40B4-BE49-F238E27FC236}">
                <a16:creationId xmlns:a16="http://schemas.microsoft.com/office/drawing/2014/main" id="{E12B9896-797C-A3F2-37AB-96FF8C0D1C25}"/>
              </a:ext>
            </a:extLst>
          </p:cNvPr>
          <p:cNvSpPr/>
          <p:nvPr/>
        </p:nvSpPr>
        <p:spPr>
          <a:xfrm>
            <a:off x="6155180" y="3078680"/>
            <a:ext cx="5204458" cy="1730269"/>
          </a:xfrm>
          <a:prstGeom prst="rect">
            <a:avLst/>
          </a:prstGeom>
          <a:noFill/>
          <a:ln w="12700" cap="flat" cmpd="sng" algn="ctr">
            <a:solidFill>
              <a:srgbClr val="4874CB">
                <a:shade val="15000"/>
              </a:srgbClr>
            </a:solid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E54C5E">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rPr>
              <a:t>Time-point Scale Prediction Module</a:t>
            </a:r>
            <a:endParaRPr kumimoji="0" lang="zh-CN" altLang="en-US" sz="1200" b="1" i="0" u="none" strike="noStrike" kern="0" cap="none" spc="0" normalizeH="0" baseline="0" noProof="0" dirty="0">
              <a:ln>
                <a:noFill/>
              </a:ln>
              <a:solidFill>
                <a:srgbClr val="E54C5E">
                  <a:lumMod val="75000"/>
                </a:srgbClr>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16" name="矩形 15">
            <a:extLst>
              <a:ext uri="{FF2B5EF4-FFF2-40B4-BE49-F238E27FC236}">
                <a16:creationId xmlns:a16="http://schemas.microsoft.com/office/drawing/2014/main" id="{0C931C3F-FC32-A229-9D7D-B81C1A32ED4C}"/>
              </a:ext>
            </a:extLst>
          </p:cNvPr>
          <p:cNvSpPr/>
          <p:nvPr/>
        </p:nvSpPr>
        <p:spPr>
          <a:xfrm>
            <a:off x="6322182" y="4295007"/>
            <a:ext cx="2102296" cy="239270"/>
          </a:xfrm>
          <a:prstGeom prst="rect">
            <a:avLst/>
          </a:prstGeom>
          <a:noFill/>
          <a:ln w="12700" cap="flat" cmpd="sng" algn="ctr">
            <a:no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DIMM-level Decision Tree</a:t>
            </a:r>
            <a:endParaRPr kumimoji="0" lang="zh-CN" altLang="en-US" sz="10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椭圆 16">
                <a:extLst>
                  <a:ext uri="{FF2B5EF4-FFF2-40B4-BE49-F238E27FC236}">
                    <a16:creationId xmlns:a16="http://schemas.microsoft.com/office/drawing/2014/main" id="{7B79447D-61BF-FA1A-88C9-D712761A2CF8}"/>
                  </a:ext>
                </a:extLst>
              </p:cNvPr>
              <p:cNvSpPr/>
              <p:nvPr/>
            </p:nvSpPr>
            <p:spPr>
              <a:xfrm>
                <a:off x="7167911" y="3167787"/>
                <a:ext cx="251198" cy="230585"/>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𝟏</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mc:Choice>
        <mc:Fallback xmlns="">
          <p:sp>
            <p:nvSpPr>
              <p:cNvPr id="17" name="椭圆 16">
                <a:extLst>
                  <a:ext uri="{FF2B5EF4-FFF2-40B4-BE49-F238E27FC236}">
                    <a16:creationId xmlns:a16="http://schemas.microsoft.com/office/drawing/2014/main" id="{7B79447D-61BF-FA1A-88C9-D712761A2CF8}"/>
                  </a:ext>
                </a:extLst>
              </p:cNvPr>
              <p:cNvSpPr>
                <a:spLocks noRot="1" noChangeAspect="1" noMove="1" noResize="1" noEditPoints="1" noAdjustHandles="1" noChangeArrowheads="1" noChangeShapeType="1" noTextEdit="1"/>
              </p:cNvSpPr>
              <p:nvPr/>
            </p:nvSpPr>
            <p:spPr>
              <a:xfrm>
                <a:off x="7167911" y="3167787"/>
                <a:ext cx="251198" cy="230585"/>
              </a:xfrm>
              <a:prstGeom prst="ellipse">
                <a:avLst/>
              </a:prstGeom>
              <a:blipFill>
                <a:blip r:embed="rId23"/>
                <a:stretch>
                  <a:fillRect/>
                </a:stretch>
              </a:blipFill>
              <a:ln w="12700" cap="flat" cmpd="sng" algn="ctr">
                <a:solidFill>
                  <a:srgbClr val="0070C0"/>
                </a:solid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椭圆 17">
                <a:extLst>
                  <a:ext uri="{FF2B5EF4-FFF2-40B4-BE49-F238E27FC236}">
                    <a16:creationId xmlns:a16="http://schemas.microsoft.com/office/drawing/2014/main" id="{4C704F83-0826-6450-DFD7-C9F34676AE0B}"/>
                  </a:ext>
                </a:extLst>
              </p:cNvPr>
              <p:cNvSpPr/>
              <p:nvPr/>
            </p:nvSpPr>
            <p:spPr>
              <a:xfrm>
                <a:off x="6962493" y="3576782"/>
                <a:ext cx="251198" cy="230585"/>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𝟐</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mc:Choice>
        <mc:Fallback xmlns="">
          <p:sp>
            <p:nvSpPr>
              <p:cNvPr id="18" name="椭圆 17">
                <a:extLst>
                  <a:ext uri="{FF2B5EF4-FFF2-40B4-BE49-F238E27FC236}">
                    <a16:creationId xmlns:a16="http://schemas.microsoft.com/office/drawing/2014/main" id="{4C704F83-0826-6450-DFD7-C9F34676AE0B}"/>
                  </a:ext>
                </a:extLst>
              </p:cNvPr>
              <p:cNvSpPr>
                <a:spLocks noRot="1" noChangeAspect="1" noMove="1" noResize="1" noEditPoints="1" noAdjustHandles="1" noChangeArrowheads="1" noChangeShapeType="1" noTextEdit="1"/>
              </p:cNvSpPr>
              <p:nvPr/>
            </p:nvSpPr>
            <p:spPr>
              <a:xfrm>
                <a:off x="6962493" y="3576782"/>
                <a:ext cx="251198" cy="230585"/>
              </a:xfrm>
              <a:prstGeom prst="ellipse">
                <a:avLst/>
              </a:prstGeom>
              <a:blipFill>
                <a:blip r:embed="rId24"/>
                <a:stretch>
                  <a:fillRect/>
                </a:stretch>
              </a:blipFill>
              <a:ln w="12700" cap="flat" cmpd="sng" algn="ctr">
                <a:solidFill>
                  <a:srgbClr val="0070C0"/>
                </a:solid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0C3149C0-3706-3F3F-6D28-B763871B4159}"/>
                  </a:ext>
                </a:extLst>
              </p:cNvPr>
              <p:cNvSpPr/>
              <p:nvPr/>
            </p:nvSpPr>
            <p:spPr>
              <a:xfrm>
                <a:off x="7373330" y="3576782"/>
                <a:ext cx="251198" cy="230585"/>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𝟑</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mc:Choice>
        <mc:Fallback xmlns="">
          <p:sp>
            <p:nvSpPr>
              <p:cNvPr id="19" name="椭圆 18">
                <a:extLst>
                  <a:ext uri="{FF2B5EF4-FFF2-40B4-BE49-F238E27FC236}">
                    <a16:creationId xmlns:a16="http://schemas.microsoft.com/office/drawing/2014/main" id="{0C3149C0-3706-3F3F-6D28-B763871B4159}"/>
                  </a:ext>
                </a:extLst>
              </p:cNvPr>
              <p:cNvSpPr>
                <a:spLocks noRot="1" noChangeAspect="1" noMove="1" noResize="1" noEditPoints="1" noAdjustHandles="1" noChangeArrowheads="1" noChangeShapeType="1" noTextEdit="1"/>
              </p:cNvSpPr>
              <p:nvPr/>
            </p:nvSpPr>
            <p:spPr>
              <a:xfrm>
                <a:off x="7373330" y="3576782"/>
                <a:ext cx="251198" cy="230585"/>
              </a:xfrm>
              <a:prstGeom prst="ellipse">
                <a:avLst/>
              </a:prstGeom>
              <a:blipFill>
                <a:blip r:embed="rId25"/>
                <a:stretch>
                  <a:fillRect/>
                </a:stretch>
              </a:blipFill>
              <a:ln w="12700" cap="flat" cmpd="sng" algn="ctr">
                <a:solidFill>
                  <a:srgbClr val="0070C0"/>
                </a:solid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椭圆 19">
                <a:extLst>
                  <a:ext uri="{FF2B5EF4-FFF2-40B4-BE49-F238E27FC236}">
                    <a16:creationId xmlns:a16="http://schemas.microsoft.com/office/drawing/2014/main" id="{B725695F-98BE-7B4D-5C0A-A1A69CA2E652}"/>
                  </a:ext>
                </a:extLst>
              </p:cNvPr>
              <p:cNvSpPr/>
              <p:nvPr/>
            </p:nvSpPr>
            <p:spPr>
              <a:xfrm>
                <a:off x="6742298" y="4020386"/>
                <a:ext cx="251198" cy="230585"/>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𝟒</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mc:Choice>
        <mc:Fallback xmlns="">
          <p:sp>
            <p:nvSpPr>
              <p:cNvPr id="20" name="椭圆 19">
                <a:extLst>
                  <a:ext uri="{FF2B5EF4-FFF2-40B4-BE49-F238E27FC236}">
                    <a16:creationId xmlns:a16="http://schemas.microsoft.com/office/drawing/2014/main" id="{B725695F-98BE-7B4D-5C0A-A1A69CA2E652}"/>
                  </a:ext>
                </a:extLst>
              </p:cNvPr>
              <p:cNvSpPr>
                <a:spLocks noRot="1" noChangeAspect="1" noMove="1" noResize="1" noEditPoints="1" noAdjustHandles="1" noChangeArrowheads="1" noChangeShapeType="1" noTextEdit="1"/>
              </p:cNvSpPr>
              <p:nvPr/>
            </p:nvSpPr>
            <p:spPr>
              <a:xfrm>
                <a:off x="6742298" y="4020386"/>
                <a:ext cx="251198" cy="230585"/>
              </a:xfrm>
              <a:prstGeom prst="ellipse">
                <a:avLst/>
              </a:prstGeom>
              <a:blipFill>
                <a:blip r:embed="rId26"/>
                <a:stretch>
                  <a:fillRect/>
                </a:stretch>
              </a:blipFill>
              <a:ln w="12700" cap="flat" cmpd="sng" algn="ctr">
                <a:solidFill>
                  <a:srgbClr val="0070C0"/>
                </a:solid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椭圆 20">
                <a:extLst>
                  <a:ext uri="{FF2B5EF4-FFF2-40B4-BE49-F238E27FC236}">
                    <a16:creationId xmlns:a16="http://schemas.microsoft.com/office/drawing/2014/main" id="{3788F424-046D-FE6D-7ECE-3A0524DEA32F}"/>
                  </a:ext>
                </a:extLst>
              </p:cNvPr>
              <p:cNvSpPr/>
              <p:nvPr/>
            </p:nvSpPr>
            <p:spPr>
              <a:xfrm>
                <a:off x="7182689" y="4020386"/>
                <a:ext cx="251198" cy="230585"/>
              </a:xfrm>
              <a:prstGeom prst="ellipse">
                <a:avLst/>
              </a:prstGeom>
              <a:solidFill>
                <a:sysClr val="window" lastClr="FFFFFF"/>
              </a:solidFill>
              <a:ln w="12700" cap="flat" cmpd="sng" algn="ctr">
                <a:solidFill>
                  <a:srgbClr val="0070C0"/>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𝟓</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a:ea typeface="微软雅黑" panose="020B0503020204020204" pitchFamily="34" charset="-122"/>
                  <a:cs typeface="Times New Roman" panose="02020603050405020304" pitchFamily="18" charset="0"/>
                </a:endParaRPr>
              </a:p>
            </p:txBody>
          </p:sp>
        </mc:Choice>
        <mc:Fallback xmlns="">
          <p:sp>
            <p:nvSpPr>
              <p:cNvPr id="21" name="椭圆 20">
                <a:extLst>
                  <a:ext uri="{FF2B5EF4-FFF2-40B4-BE49-F238E27FC236}">
                    <a16:creationId xmlns:a16="http://schemas.microsoft.com/office/drawing/2014/main" id="{3788F424-046D-FE6D-7ECE-3A0524DEA32F}"/>
                  </a:ext>
                </a:extLst>
              </p:cNvPr>
              <p:cNvSpPr>
                <a:spLocks noRot="1" noChangeAspect="1" noMove="1" noResize="1" noEditPoints="1" noAdjustHandles="1" noChangeArrowheads="1" noChangeShapeType="1" noTextEdit="1"/>
              </p:cNvSpPr>
              <p:nvPr/>
            </p:nvSpPr>
            <p:spPr>
              <a:xfrm>
                <a:off x="7182689" y="4020386"/>
                <a:ext cx="251198" cy="230585"/>
              </a:xfrm>
              <a:prstGeom prst="ellipse">
                <a:avLst/>
              </a:prstGeom>
              <a:blipFill>
                <a:blip r:embed="rId27"/>
                <a:stretch>
                  <a:fillRect/>
                </a:stretch>
              </a:blipFill>
              <a:ln w="12700" cap="flat" cmpd="sng" algn="ctr">
                <a:solidFill>
                  <a:srgbClr val="0070C0"/>
                </a:solidFill>
                <a:prstDash val="solid"/>
                <a:miter lim="800000"/>
              </a:ln>
              <a:effectLst/>
            </p:spPr>
            <p:txBody>
              <a:bodyPr/>
              <a:lstStyle/>
              <a:p>
                <a:r>
                  <a:rPr lang="zh-CN" altLang="en-US">
                    <a:noFill/>
                  </a:rPr>
                  <a:t> </a:t>
                </a:r>
              </a:p>
            </p:txBody>
          </p:sp>
        </mc:Fallback>
      </mc:AlternateContent>
      <p:cxnSp>
        <p:nvCxnSpPr>
          <p:cNvPr id="22" name="直接连接符 21">
            <a:extLst>
              <a:ext uri="{FF2B5EF4-FFF2-40B4-BE49-F238E27FC236}">
                <a16:creationId xmlns:a16="http://schemas.microsoft.com/office/drawing/2014/main" id="{8904FE9F-11E0-FC46-1F44-1B88BCD74CBB}"/>
              </a:ext>
            </a:extLst>
          </p:cNvPr>
          <p:cNvCxnSpPr>
            <a:cxnSpLocks/>
            <a:stCxn id="17" idx="3"/>
            <a:endCxn id="18" idx="0"/>
          </p:cNvCxnSpPr>
          <p:nvPr/>
        </p:nvCxnSpPr>
        <p:spPr>
          <a:xfrm flipH="1">
            <a:off x="7088092" y="3364604"/>
            <a:ext cx="116606" cy="212178"/>
          </a:xfrm>
          <a:prstGeom prst="line">
            <a:avLst/>
          </a:prstGeom>
          <a:noFill/>
          <a:ln w="12700" cap="flat" cmpd="sng" algn="ctr">
            <a:solidFill>
              <a:srgbClr val="4874CB"/>
            </a:solidFill>
            <a:prstDash val="solid"/>
            <a:miter lim="800000"/>
          </a:ln>
          <a:effectLst/>
        </p:spPr>
      </p:cxnSp>
      <p:cxnSp>
        <p:nvCxnSpPr>
          <p:cNvPr id="23" name="直接连接符 22">
            <a:extLst>
              <a:ext uri="{FF2B5EF4-FFF2-40B4-BE49-F238E27FC236}">
                <a16:creationId xmlns:a16="http://schemas.microsoft.com/office/drawing/2014/main" id="{0B903A54-C627-02E4-66AC-5A6EDD6DD2A1}"/>
              </a:ext>
            </a:extLst>
          </p:cNvPr>
          <p:cNvCxnSpPr>
            <a:cxnSpLocks/>
            <a:stCxn id="17" idx="5"/>
            <a:endCxn id="19" idx="0"/>
          </p:cNvCxnSpPr>
          <p:nvPr/>
        </p:nvCxnSpPr>
        <p:spPr>
          <a:xfrm>
            <a:off x="7382322" y="3364604"/>
            <a:ext cx="116607" cy="212178"/>
          </a:xfrm>
          <a:prstGeom prst="line">
            <a:avLst/>
          </a:prstGeom>
          <a:noFill/>
          <a:ln w="12700" cap="flat" cmpd="sng" algn="ctr">
            <a:solidFill>
              <a:srgbClr val="4874CB"/>
            </a:solidFill>
            <a:prstDash val="solid"/>
            <a:miter lim="800000"/>
          </a:ln>
          <a:effectLst/>
        </p:spPr>
      </p:cxnSp>
      <p:cxnSp>
        <p:nvCxnSpPr>
          <p:cNvPr id="24" name="直接连接符 23">
            <a:extLst>
              <a:ext uri="{FF2B5EF4-FFF2-40B4-BE49-F238E27FC236}">
                <a16:creationId xmlns:a16="http://schemas.microsoft.com/office/drawing/2014/main" id="{D126F6EB-83BD-EAB0-6DB2-F9ADBCFB5904}"/>
              </a:ext>
            </a:extLst>
          </p:cNvPr>
          <p:cNvCxnSpPr>
            <a:cxnSpLocks/>
            <a:stCxn id="18" idx="3"/>
            <a:endCxn id="20" idx="0"/>
          </p:cNvCxnSpPr>
          <p:nvPr/>
        </p:nvCxnSpPr>
        <p:spPr>
          <a:xfrm flipH="1">
            <a:off x="6867897" y="3773599"/>
            <a:ext cx="131383" cy="246787"/>
          </a:xfrm>
          <a:prstGeom prst="line">
            <a:avLst/>
          </a:prstGeom>
          <a:noFill/>
          <a:ln w="12700" cap="flat" cmpd="sng" algn="ctr">
            <a:solidFill>
              <a:srgbClr val="4874CB"/>
            </a:solidFill>
            <a:prstDash val="solid"/>
            <a:miter lim="800000"/>
          </a:ln>
          <a:effectLst/>
        </p:spPr>
      </p:cxnSp>
      <p:cxnSp>
        <p:nvCxnSpPr>
          <p:cNvPr id="25" name="直接连接符 24">
            <a:extLst>
              <a:ext uri="{FF2B5EF4-FFF2-40B4-BE49-F238E27FC236}">
                <a16:creationId xmlns:a16="http://schemas.microsoft.com/office/drawing/2014/main" id="{D192241A-8CD0-54B1-5FB0-A6E91E0709C5}"/>
              </a:ext>
            </a:extLst>
          </p:cNvPr>
          <p:cNvCxnSpPr>
            <a:cxnSpLocks/>
            <a:stCxn id="18" idx="5"/>
            <a:endCxn id="21" idx="0"/>
          </p:cNvCxnSpPr>
          <p:nvPr/>
        </p:nvCxnSpPr>
        <p:spPr>
          <a:xfrm>
            <a:off x="7176904" y="3773599"/>
            <a:ext cx="131384" cy="246787"/>
          </a:xfrm>
          <a:prstGeom prst="line">
            <a:avLst/>
          </a:prstGeom>
          <a:noFill/>
          <a:ln w="12700" cap="flat" cmpd="sng" algn="ctr">
            <a:solidFill>
              <a:srgbClr val="4874CB"/>
            </a:solidFill>
            <a:prstDash val="solid"/>
            <a:miter lim="800000"/>
          </a:ln>
          <a:effectLst/>
        </p:spPr>
      </p:cxn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E7BB3428-A323-D911-EDCE-D8FB26423BBE}"/>
                  </a:ext>
                </a:extLst>
              </p:cNvPr>
              <p:cNvSpPr txBox="1"/>
              <p:nvPr/>
            </p:nvSpPr>
            <p:spPr>
              <a:xfrm>
                <a:off x="6651520" y="3315183"/>
                <a:ext cx="638743" cy="230832"/>
              </a:xfrm>
              <a:prstGeom prst="rect">
                <a:avLst/>
              </a:prstGeom>
              <a:noFill/>
            </p:spPr>
            <p:txBody>
              <a:bodyPr wrap="square">
                <a:spAutoFit/>
              </a:bodyPr>
              <a:lstStyle/>
              <a:p>
                <a:pPr algn="ctr" defTabSz="914400"/>
                <a14:m>
                  <m:oMathPara xmlns:m="http://schemas.openxmlformats.org/officeDocument/2006/math">
                    <m:oMathParaPr>
                      <m:jc m:val="centerGroup"/>
                    </m:oMathParaPr>
                    <m:oMath xmlns:m="http://schemas.openxmlformats.org/officeDocument/2006/math">
                      <m:sSub>
                        <m:sSubPr>
                          <m:ctrlPr>
                            <a:rPr lang="en-US" altLang="zh-CN" sz="900" b="1" i="1" dirty="0" smtClean="0">
                              <a:solidFill>
                                <a:prstClr val="black"/>
                              </a:solidFill>
                              <a:latin typeface="Cambria Math" panose="02040503050406030204" pitchFamily="18" charset="0"/>
                            </a:rPr>
                          </m:ctrlPr>
                        </m:sSubPr>
                        <m:e>
                          <m:r>
                            <a:rPr lang="en-US" altLang="zh-CN" sz="900" b="1" i="1" dirty="0" smtClean="0">
                              <a:solidFill>
                                <a:prstClr val="black"/>
                              </a:solidFill>
                              <a:latin typeface="Cambria Math" panose="02040503050406030204" pitchFamily="18" charset="0"/>
                            </a:rPr>
                            <m:t>𝒇</m:t>
                          </m:r>
                        </m:e>
                        <m:sub>
                          <m:r>
                            <a:rPr lang="en-US" altLang="zh-CN" sz="900" b="1" i="1" dirty="0" smtClean="0">
                              <a:solidFill>
                                <a:prstClr val="black"/>
                              </a:solidFill>
                              <a:latin typeface="Cambria Math" panose="02040503050406030204" pitchFamily="18" charset="0"/>
                            </a:rPr>
                            <m:t>𝟏</m:t>
                          </m:r>
                        </m:sub>
                      </m:sSub>
                      <m:r>
                        <a:rPr lang="en-US" altLang="zh-CN" sz="900" b="1" i="1" dirty="0" smtClean="0">
                          <a:solidFill>
                            <a:prstClr val="black"/>
                          </a:solidFill>
                          <a:latin typeface="Cambria Math" panose="02040503050406030204" pitchFamily="18" charset="0"/>
                        </a:rPr>
                        <m:t>=</m:t>
                      </m:r>
                      <m:r>
                        <a:rPr lang="en-US" altLang="zh-CN" sz="900" b="1" i="1" dirty="0" smtClean="0">
                          <a:solidFill>
                            <a:prstClr val="black"/>
                          </a:solidFill>
                          <a:latin typeface="Cambria Math" panose="02040503050406030204" pitchFamily="18" charset="0"/>
                        </a:rPr>
                        <m:t>𝒂</m:t>
                      </m:r>
                    </m:oMath>
                  </m:oMathPara>
                </a14:m>
                <a:endParaRPr lang="zh-CN" altLang="en-US" sz="900" b="1" dirty="0">
                  <a:solidFill>
                    <a:prstClr val="black"/>
                  </a:solidFill>
                  <a:latin typeface="等线" panose="02010600030101010101" pitchFamily="2" charset="-122"/>
                </a:endParaRPr>
              </a:p>
            </p:txBody>
          </p:sp>
        </mc:Choice>
        <mc:Fallback xmlns="">
          <p:sp>
            <p:nvSpPr>
              <p:cNvPr id="26" name="文本框 25">
                <a:extLst>
                  <a:ext uri="{FF2B5EF4-FFF2-40B4-BE49-F238E27FC236}">
                    <a16:creationId xmlns:a16="http://schemas.microsoft.com/office/drawing/2014/main" id="{E7BB3428-A323-D911-EDCE-D8FB26423BBE}"/>
                  </a:ext>
                </a:extLst>
              </p:cNvPr>
              <p:cNvSpPr txBox="1">
                <a:spLocks noRot="1" noChangeAspect="1" noMove="1" noResize="1" noEditPoints="1" noAdjustHandles="1" noChangeArrowheads="1" noChangeShapeType="1" noTextEdit="1"/>
              </p:cNvSpPr>
              <p:nvPr/>
            </p:nvSpPr>
            <p:spPr>
              <a:xfrm>
                <a:off x="6651520" y="3315183"/>
                <a:ext cx="638743" cy="230832"/>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8B88C961-8886-D683-2E71-5C261072A5F9}"/>
                  </a:ext>
                </a:extLst>
              </p:cNvPr>
              <p:cNvSpPr txBox="1"/>
              <p:nvPr/>
            </p:nvSpPr>
            <p:spPr>
              <a:xfrm>
                <a:off x="7342205" y="3311779"/>
                <a:ext cx="638743" cy="230832"/>
              </a:xfrm>
              <a:prstGeom prst="rect">
                <a:avLst/>
              </a:prstGeom>
              <a:noFill/>
            </p:spPr>
            <p:txBody>
              <a:bodyPr wrap="square">
                <a:spAutoFit/>
              </a:bodyPr>
              <a:lstStyle/>
              <a:p>
                <a:pPr algn="ctr" defTabSz="914400"/>
                <a14:m>
                  <m:oMathPara xmlns:m="http://schemas.openxmlformats.org/officeDocument/2006/math">
                    <m:oMathParaPr>
                      <m:jc m:val="centerGroup"/>
                    </m:oMathParaPr>
                    <m:oMath xmlns:m="http://schemas.openxmlformats.org/officeDocument/2006/math">
                      <m:sSub>
                        <m:sSubPr>
                          <m:ctrlPr>
                            <a:rPr lang="en-US" altLang="zh-CN" sz="900" b="1" i="1" dirty="0" smtClean="0">
                              <a:solidFill>
                                <a:prstClr val="black"/>
                              </a:solidFill>
                              <a:latin typeface="Cambria Math" panose="02040503050406030204" pitchFamily="18" charset="0"/>
                            </a:rPr>
                          </m:ctrlPr>
                        </m:sSubPr>
                        <m:e>
                          <m:r>
                            <a:rPr lang="en-US" altLang="zh-CN" sz="900" b="1" i="1" dirty="0" smtClean="0">
                              <a:solidFill>
                                <a:prstClr val="black"/>
                              </a:solidFill>
                              <a:latin typeface="Cambria Math" panose="02040503050406030204" pitchFamily="18" charset="0"/>
                            </a:rPr>
                            <m:t>𝒇</m:t>
                          </m:r>
                        </m:e>
                        <m:sub>
                          <m:r>
                            <a:rPr lang="en-US" altLang="zh-CN" sz="900" b="1" i="1" dirty="0" smtClean="0">
                              <a:solidFill>
                                <a:prstClr val="black"/>
                              </a:solidFill>
                              <a:latin typeface="Cambria Math" panose="02040503050406030204" pitchFamily="18" charset="0"/>
                            </a:rPr>
                            <m:t>𝟏</m:t>
                          </m:r>
                        </m:sub>
                      </m:sSub>
                      <m:r>
                        <a:rPr lang="en-US" altLang="zh-CN" sz="900" b="1" i="1" dirty="0" smtClean="0">
                          <a:solidFill>
                            <a:prstClr val="black"/>
                          </a:solidFill>
                          <a:latin typeface="Cambria Math" panose="02040503050406030204" pitchFamily="18" charset="0"/>
                        </a:rPr>
                        <m:t>≠</m:t>
                      </m:r>
                      <m:r>
                        <a:rPr lang="en-US" altLang="zh-CN" sz="900" b="1" i="1" dirty="0" smtClean="0">
                          <a:solidFill>
                            <a:prstClr val="black"/>
                          </a:solidFill>
                          <a:latin typeface="Cambria Math" panose="02040503050406030204" pitchFamily="18" charset="0"/>
                        </a:rPr>
                        <m:t>𝒂</m:t>
                      </m:r>
                    </m:oMath>
                  </m:oMathPara>
                </a14:m>
                <a:endParaRPr lang="zh-CN" altLang="en-US" sz="900" b="1" dirty="0">
                  <a:solidFill>
                    <a:prstClr val="black"/>
                  </a:solidFill>
                  <a:latin typeface="等线" panose="02010600030101010101" pitchFamily="2" charset="-122"/>
                </a:endParaRPr>
              </a:p>
            </p:txBody>
          </p:sp>
        </mc:Choice>
        <mc:Fallback xmlns="">
          <p:sp>
            <p:nvSpPr>
              <p:cNvPr id="27" name="文本框 26">
                <a:extLst>
                  <a:ext uri="{FF2B5EF4-FFF2-40B4-BE49-F238E27FC236}">
                    <a16:creationId xmlns:a16="http://schemas.microsoft.com/office/drawing/2014/main" id="{8B88C961-8886-D683-2E71-5C261072A5F9}"/>
                  </a:ext>
                </a:extLst>
              </p:cNvPr>
              <p:cNvSpPr txBox="1">
                <a:spLocks noRot="1" noChangeAspect="1" noMove="1" noResize="1" noEditPoints="1" noAdjustHandles="1" noChangeArrowheads="1" noChangeShapeType="1" noTextEdit="1"/>
              </p:cNvSpPr>
              <p:nvPr/>
            </p:nvSpPr>
            <p:spPr>
              <a:xfrm>
                <a:off x="7342205" y="3311779"/>
                <a:ext cx="638743" cy="230832"/>
              </a:xfrm>
              <a:prstGeom prst="rect">
                <a:avLst/>
              </a:prstGeom>
              <a:blipFill>
                <a:blip r:embed="rId29"/>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F6D4C5DE-2A48-AE95-0B32-5C2B5538CD92}"/>
                  </a:ext>
                </a:extLst>
              </p:cNvPr>
              <p:cNvSpPr txBox="1"/>
              <p:nvPr/>
            </p:nvSpPr>
            <p:spPr>
              <a:xfrm>
                <a:off x="6419895" y="3757588"/>
                <a:ext cx="638743" cy="230832"/>
              </a:xfrm>
              <a:prstGeom prst="rect">
                <a:avLst/>
              </a:prstGeom>
              <a:noFill/>
            </p:spPr>
            <p:txBody>
              <a:bodyPr wrap="square">
                <a:spAutoFit/>
              </a:bodyPr>
              <a:lstStyle/>
              <a:p>
                <a:pPr algn="ctr" defTabSz="914400"/>
                <a14:m>
                  <m:oMathPara xmlns:m="http://schemas.openxmlformats.org/officeDocument/2006/math">
                    <m:oMathParaPr>
                      <m:jc m:val="centerGroup"/>
                    </m:oMathParaPr>
                    <m:oMath xmlns:m="http://schemas.openxmlformats.org/officeDocument/2006/math">
                      <m:sSub>
                        <m:sSubPr>
                          <m:ctrlPr>
                            <a:rPr lang="en-US" altLang="zh-CN" sz="900" b="1" i="1" dirty="0" smtClean="0">
                              <a:solidFill>
                                <a:prstClr val="black"/>
                              </a:solidFill>
                              <a:latin typeface="Cambria Math" panose="02040503050406030204" pitchFamily="18" charset="0"/>
                            </a:rPr>
                          </m:ctrlPr>
                        </m:sSubPr>
                        <m:e>
                          <m:r>
                            <a:rPr lang="en-US" altLang="zh-CN" sz="900" b="1" i="1" dirty="0" smtClean="0">
                              <a:solidFill>
                                <a:prstClr val="black"/>
                              </a:solidFill>
                              <a:latin typeface="Cambria Math" panose="02040503050406030204" pitchFamily="18" charset="0"/>
                            </a:rPr>
                            <m:t>𝒇</m:t>
                          </m:r>
                        </m:e>
                        <m:sub>
                          <m:r>
                            <a:rPr lang="en-US" altLang="zh-CN" sz="900" b="1" i="1" dirty="0" smtClean="0">
                              <a:solidFill>
                                <a:prstClr val="black"/>
                              </a:solidFill>
                              <a:latin typeface="Cambria Math" panose="02040503050406030204" pitchFamily="18" charset="0"/>
                            </a:rPr>
                            <m:t>𝟐</m:t>
                          </m:r>
                        </m:sub>
                      </m:sSub>
                      <m:r>
                        <a:rPr lang="en-US" altLang="zh-CN" sz="900" b="1" i="1" dirty="0" smtClean="0">
                          <a:solidFill>
                            <a:prstClr val="black"/>
                          </a:solidFill>
                          <a:latin typeface="Cambria Math" panose="02040503050406030204" pitchFamily="18" charset="0"/>
                        </a:rPr>
                        <m:t>=</m:t>
                      </m:r>
                      <m:r>
                        <a:rPr lang="en-US" altLang="zh-CN" sz="900" b="1" i="1" dirty="0" smtClean="0">
                          <a:solidFill>
                            <a:prstClr val="black"/>
                          </a:solidFill>
                          <a:latin typeface="Cambria Math" panose="02040503050406030204" pitchFamily="18" charset="0"/>
                        </a:rPr>
                        <m:t>𝒃</m:t>
                      </m:r>
                    </m:oMath>
                  </m:oMathPara>
                </a14:m>
                <a:endParaRPr lang="zh-CN" altLang="en-US" sz="900" b="1" dirty="0">
                  <a:solidFill>
                    <a:prstClr val="black"/>
                  </a:solidFill>
                  <a:latin typeface="等线" panose="02010600030101010101" pitchFamily="2" charset="-122"/>
                </a:endParaRPr>
              </a:p>
            </p:txBody>
          </p:sp>
        </mc:Choice>
        <mc:Fallback xmlns="">
          <p:sp>
            <p:nvSpPr>
              <p:cNvPr id="28" name="文本框 27">
                <a:extLst>
                  <a:ext uri="{FF2B5EF4-FFF2-40B4-BE49-F238E27FC236}">
                    <a16:creationId xmlns:a16="http://schemas.microsoft.com/office/drawing/2014/main" id="{F6D4C5DE-2A48-AE95-0B32-5C2B5538CD92}"/>
                  </a:ext>
                </a:extLst>
              </p:cNvPr>
              <p:cNvSpPr txBox="1">
                <a:spLocks noRot="1" noChangeAspect="1" noMove="1" noResize="1" noEditPoints="1" noAdjustHandles="1" noChangeArrowheads="1" noChangeShapeType="1" noTextEdit="1"/>
              </p:cNvSpPr>
              <p:nvPr/>
            </p:nvSpPr>
            <p:spPr>
              <a:xfrm>
                <a:off x="6419895" y="3757588"/>
                <a:ext cx="638743" cy="230832"/>
              </a:xfrm>
              <a:prstGeom prst="rect">
                <a:avLst/>
              </a:prstGeom>
              <a:blipFill>
                <a:blip r:embed="rId30"/>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9689CC25-80BA-D77C-FAE4-816944E6AB19}"/>
                  </a:ext>
                </a:extLst>
              </p:cNvPr>
              <p:cNvSpPr txBox="1"/>
              <p:nvPr/>
            </p:nvSpPr>
            <p:spPr>
              <a:xfrm>
                <a:off x="7163527" y="3757166"/>
                <a:ext cx="647439" cy="230832"/>
              </a:xfrm>
              <a:prstGeom prst="rect">
                <a:avLst/>
              </a:prstGeom>
              <a:noFill/>
            </p:spPr>
            <p:txBody>
              <a:bodyPr wrap="square">
                <a:spAutoFit/>
              </a:bodyPr>
              <a:lstStyle/>
              <a:p>
                <a:pPr algn="ctr" defTabSz="914400"/>
                <a14:m>
                  <m:oMathPara xmlns:m="http://schemas.openxmlformats.org/officeDocument/2006/math">
                    <m:oMathParaPr>
                      <m:jc m:val="centerGroup"/>
                    </m:oMathParaPr>
                    <m:oMath xmlns:m="http://schemas.openxmlformats.org/officeDocument/2006/math">
                      <m:sSub>
                        <m:sSubPr>
                          <m:ctrlPr>
                            <a:rPr lang="en-US" altLang="zh-CN" sz="900" b="1" i="1" dirty="0" smtClean="0">
                              <a:solidFill>
                                <a:prstClr val="black"/>
                              </a:solidFill>
                              <a:latin typeface="Cambria Math" panose="02040503050406030204" pitchFamily="18" charset="0"/>
                            </a:rPr>
                          </m:ctrlPr>
                        </m:sSubPr>
                        <m:e>
                          <m:r>
                            <a:rPr lang="en-US" altLang="zh-CN" sz="900" b="1" i="1" dirty="0" smtClean="0">
                              <a:solidFill>
                                <a:prstClr val="black"/>
                              </a:solidFill>
                              <a:latin typeface="Cambria Math" panose="02040503050406030204" pitchFamily="18" charset="0"/>
                            </a:rPr>
                            <m:t>𝒇</m:t>
                          </m:r>
                        </m:e>
                        <m:sub>
                          <m:r>
                            <a:rPr lang="en-US" altLang="zh-CN" sz="900" b="1" i="1" dirty="0" smtClean="0">
                              <a:solidFill>
                                <a:prstClr val="black"/>
                              </a:solidFill>
                              <a:latin typeface="Cambria Math" panose="02040503050406030204" pitchFamily="18" charset="0"/>
                            </a:rPr>
                            <m:t>𝟐</m:t>
                          </m:r>
                        </m:sub>
                      </m:sSub>
                      <m:r>
                        <a:rPr lang="en-US" altLang="zh-CN" sz="900" b="1" i="1" dirty="0" smtClean="0">
                          <a:solidFill>
                            <a:prstClr val="black"/>
                          </a:solidFill>
                          <a:latin typeface="Cambria Math" panose="02040503050406030204" pitchFamily="18" charset="0"/>
                        </a:rPr>
                        <m:t>≠</m:t>
                      </m:r>
                      <m:r>
                        <a:rPr lang="en-US" altLang="zh-CN" sz="900" b="1" i="1" dirty="0" smtClean="0">
                          <a:solidFill>
                            <a:prstClr val="black"/>
                          </a:solidFill>
                          <a:latin typeface="Cambria Math" panose="02040503050406030204" pitchFamily="18" charset="0"/>
                        </a:rPr>
                        <m:t>𝒃</m:t>
                      </m:r>
                    </m:oMath>
                  </m:oMathPara>
                </a14:m>
                <a:endParaRPr lang="zh-CN" altLang="en-US" sz="900" b="1" dirty="0">
                  <a:solidFill>
                    <a:prstClr val="black"/>
                  </a:solidFill>
                  <a:latin typeface="等线" panose="02010600030101010101" pitchFamily="2" charset="-122"/>
                </a:endParaRPr>
              </a:p>
            </p:txBody>
          </p:sp>
        </mc:Choice>
        <mc:Fallback xmlns="">
          <p:sp>
            <p:nvSpPr>
              <p:cNvPr id="29" name="文本框 28">
                <a:extLst>
                  <a:ext uri="{FF2B5EF4-FFF2-40B4-BE49-F238E27FC236}">
                    <a16:creationId xmlns:a16="http://schemas.microsoft.com/office/drawing/2014/main" id="{9689CC25-80BA-D77C-FAE4-816944E6AB19}"/>
                  </a:ext>
                </a:extLst>
              </p:cNvPr>
              <p:cNvSpPr txBox="1">
                <a:spLocks noRot="1" noChangeAspect="1" noMove="1" noResize="1" noEditPoints="1" noAdjustHandles="1" noChangeArrowheads="1" noChangeShapeType="1" noTextEdit="1"/>
              </p:cNvSpPr>
              <p:nvPr/>
            </p:nvSpPr>
            <p:spPr>
              <a:xfrm>
                <a:off x="7163527" y="3757166"/>
                <a:ext cx="647439" cy="230832"/>
              </a:xfrm>
              <a:prstGeom prst="rect">
                <a:avLst/>
              </a:prstGeom>
              <a:blipFill>
                <a:blip r:embed="rId31"/>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34BBC530-A345-5C8D-F7A6-373C32D5D5B4}"/>
                  </a:ext>
                </a:extLst>
              </p:cNvPr>
              <p:cNvSpPr txBox="1"/>
              <p:nvPr/>
            </p:nvSpPr>
            <p:spPr>
              <a:xfrm>
                <a:off x="7299302" y="3985048"/>
                <a:ext cx="847637" cy="276999"/>
              </a:xfrm>
              <a:prstGeom prst="rect">
                <a:avLst/>
              </a:prstGeom>
              <a:noFill/>
            </p:spPr>
            <p:txBody>
              <a:bodyPr wrap="square">
                <a:spAutoFit/>
              </a:bodyPr>
              <a:lstStyle/>
              <a:p>
                <a:pPr defTabSz="914400"/>
                <a14:m>
                  <m:oMathPara xmlns:m="http://schemas.openxmlformats.org/officeDocument/2006/math">
                    <m:oMathParaPr>
                      <m:jc m:val="centerGroup"/>
                    </m:oMathParaPr>
                    <m:oMath xmlns:m="http://schemas.openxmlformats.org/officeDocument/2006/math">
                      <m:r>
                        <a:rPr lang="en-US" altLang="zh-CN" sz="1200" b="1" i="1" dirty="0" smtClean="0">
                          <a:solidFill>
                            <a:srgbClr val="0070C0"/>
                          </a:solidFill>
                          <a:latin typeface="Cambria Math" panose="02040503050406030204" pitchFamily="18" charset="0"/>
                          <a:cs typeface="Times New Roman" panose="02020603050405020304" pitchFamily="18" charset="0"/>
                        </a:rPr>
                        <m:t>⋯</m:t>
                      </m:r>
                    </m:oMath>
                  </m:oMathPara>
                </a14:m>
                <a:endParaRPr lang="en-US" altLang="zh-CN" sz="1200" b="1" dirty="0">
                  <a:solidFill>
                    <a:srgbClr val="0070C0"/>
                  </a:solidFill>
                  <a:ea typeface="微软雅黑" panose="020B0503020204020204" pitchFamily="34" charset="-122"/>
                  <a:cs typeface="Times New Roman" panose="02020603050405020304" pitchFamily="18" charset="0"/>
                </a:endParaRPr>
              </a:p>
            </p:txBody>
          </p:sp>
        </mc:Choice>
        <mc:Fallback xmlns="">
          <p:sp>
            <p:nvSpPr>
              <p:cNvPr id="30" name="文本框 29">
                <a:extLst>
                  <a:ext uri="{FF2B5EF4-FFF2-40B4-BE49-F238E27FC236}">
                    <a16:creationId xmlns:a16="http://schemas.microsoft.com/office/drawing/2014/main" id="{34BBC530-A345-5C8D-F7A6-373C32D5D5B4}"/>
                  </a:ext>
                </a:extLst>
              </p:cNvPr>
              <p:cNvSpPr txBox="1">
                <a:spLocks noRot="1" noChangeAspect="1" noMove="1" noResize="1" noEditPoints="1" noAdjustHandles="1" noChangeArrowheads="1" noChangeShapeType="1" noTextEdit="1"/>
              </p:cNvSpPr>
              <p:nvPr/>
            </p:nvSpPr>
            <p:spPr>
              <a:xfrm>
                <a:off x="7299302" y="3985048"/>
                <a:ext cx="847637" cy="276999"/>
              </a:xfrm>
              <a:prstGeom prst="rect">
                <a:avLst/>
              </a:prstGeom>
              <a:blipFill>
                <a:blip r:embed="rId3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矩形: 圆角 60">
                <a:extLst>
                  <a:ext uri="{FF2B5EF4-FFF2-40B4-BE49-F238E27FC236}">
                    <a16:creationId xmlns:a16="http://schemas.microsoft.com/office/drawing/2014/main" id="{5F6719F1-FE3D-730E-50CE-49BEADC58951}"/>
                  </a:ext>
                </a:extLst>
              </p:cNvPr>
              <p:cNvSpPr/>
              <p:nvPr/>
            </p:nvSpPr>
            <p:spPr>
              <a:xfrm>
                <a:off x="8637805" y="3267703"/>
                <a:ext cx="2213511" cy="1025975"/>
              </a:xfrm>
              <a:prstGeom prst="roundRect">
                <a:avLst/>
              </a:prstGeom>
              <a:solidFill>
                <a:srgbClr val="FFF2F2"/>
              </a:solidFill>
              <a:ln w="12700" cap="flat" cmpd="sng" algn="ctr">
                <a:solidFill>
                  <a:srgbClr val="4874CB">
                    <a:shade val="15000"/>
                  </a:srgbClr>
                </a:solidFill>
                <a:prstDash val="solid"/>
                <a:miter lim="800000"/>
              </a:ln>
              <a:effectLst/>
            </p:spPr>
            <p:txBody>
              <a:bodyPr wrap="square" rtlCol="0" anchor="ctr">
                <a:noAutofit/>
              </a:bodyPr>
              <a:lstStyle/>
              <a:p>
                <a:pPr marL="0" marR="0" lvl="0" indent="0" defTabSz="914400" eaLnBrk="1" fontAlgn="auto" latinLnBrk="0" hangingPunct="1">
                  <a:lnSpc>
                    <a:spcPct val="150000"/>
                  </a:lnSpc>
                  <a:spcBef>
                    <a:spcPts val="0"/>
                  </a:spcBef>
                  <a:spcAft>
                    <a:spcPts val="0"/>
                  </a:spcAft>
                  <a:buClrTx/>
                  <a:buSzTx/>
                  <a:buFontTx/>
                  <a:buNone/>
                  <a:tabLst/>
                  <a:defRPr/>
                </a:pPr>
                <a14:m>
                  <m:oMath xmlns:m="http://schemas.openxmlformats.org/officeDocument/2006/math">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𝑅𝑢𝑙𝑒</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 1:(</m:t>
                    </m:r>
                    <m:sSub>
                      <m:sSubPr>
                        <m:ctrlP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𝑓</m:t>
                        </m:r>
                      </m:e>
                      <m:sub>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1</m:t>
                        </m:r>
                      </m:sub>
                    </m:sSub>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𝑎</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𝑓</m:t>
                        </m:r>
                      </m:e>
                      <m:sub>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2</m:t>
                        </m:r>
                      </m:sub>
                    </m:sSub>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𝑏</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oMath>
                </a14:m>
                <a:r>
                  <a:rPr kumimoji="0" lang="en-US" altLang="zh-CN" sz="1050" b="0" i="0" u="none" strike="noStrike" kern="0" cap="none" spc="0" normalizeH="0" baseline="0" noProof="0" dirty="0">
                    <a:ln>
                      <a:noFill/>
                    </a:ln>
                    <a:solidFill>
                      <a:prstClr val="black"/>
                    </a:solidFill>
                    <a:effectLst/>
                    <a:uLnTx/>
                    <a:uFillTx/>
                    <a:latin typeface="Calibri"/>
                    <a:ea typeface="微软雅黑" panose="020B0503020204020204" pitchFamily="34" charset="-122"/>
                    <a:cs typeface="+mn-cs"/>
                  </a:rPr>
                  <a:t> </a:t>
                </a:r>
                <a14:m>
                  <m:oMath xmlns:m="http://schemas.openxmlformats.org/officeDocument/2006/math">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𝑅𝑢𝑙𝑒</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 2: ⋯</m:t>
                    </m:r>
                  </m:oMath>
                </a14:m>
                <a:endParaRPr kumimoji="0" lang="en-US" altLang="zh-CN" sz="1050" b="0"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mn-cs"/>
                </a:endParaRPr>
              </a:p>
              <a:p>
                <a:pPr marL="0" marR="0" lvl="0" indent="0" defTabSz="91440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oMath>
                  </m:oMathPara>
                </a14:m>
                <a:endParaRPr kumimoji="0" lang="en-US" altLang="zh-CN" sz="1050" b="0"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mn-cs"/>
                </a:endParaRPr>
              </a:p>
            </p:txBody>
          </p:sp>
        </mc:Choice>
        <mc:Fallback xmlns="">
          <p:sp>
            <p:nvSpPr>
              <p:cNvPr id="61" name="矩形: 圆角 60">
                <a:extLst>
                  <a:ext uri="{FF2B5EF4-FFF2-40B4-BE49-F238E27FC236}">
                    <a16:creationId xmlns:a16="http://schemas.microsoft.com/office/drawing/2014/main" id="{5F6719F1-FE3D-730E-50CE-49BEADC58951}"/>
                  </a:ext>
                </a:extLst>
              </p:cNvPr>
              <p:cNvSpPr>
                <a:spLocks noRot="1" noChangeAspect="1" noMove="1" noResize="1" noEditPoints="1" noAdjustHandles="1" noChangeArrowheads="1" noChangeShapeType="1" noTextEdit="1"/>
              </p:cNvSpPr>
              <p:nvPr/>
            </p:nvSpPr>
            <p:spPr>
              <a:xfrm>
                <a:off x="8637805" y="3267703"/>
                <a:ext cx="2213511" cy="1025975"/>
              </a:xfrm>
              <a:prstGeom prst="roundRect">
                <a:avLst/>
              </a:prstGeom>
              <a:blipFill>
                <a:blip r:embed="rId33"/>
                <a:stretch>
                  <a:fillRect/>
                </a:stretch>
              </a:blipFill>
              <a:ln w="12700" cap="flat" cmpd="sng" algn="ctr">
                <a:solidFill>
                  <a:srgbClr val="4874CB">
                    <a:shade val="15000"/>
                  </a:srgbClr>
                </a:solidFill>
                <a:prstDash val="solid"/>
                <a:miter lim="800000"/>
              </a:ln>
              <a:effectLst/>
            </p:spPr>
            <p:txBody>
              <a:bodyPr/>
              <a:lstStyle/>
              <a:p>
                <a:r>
                  <a:rPr lang="zh-CN" altLang="en-US">
                    <a:noFill/>
                  </a:rPr>
                  <a:t> </a:t>
                </a:r>
              </a:p>
            </p:txBody>
          </p:sp>
        </mc:Fallback>
      </mc:AlternateContent>
      <p:sp>
        <p:nvSpPr>
          <p:cNvPr id="62" name="矩形 61">
            <a:extLst>
              <a:ext uri="{FF2B5EF4-FFF2-40B4-BE49-F238E27FC236}">
                <a16:creationId xmlns:a16="http://schemas.microsoft.com/office/drawing/2014/main" id="{67895824-5006-DBB9-1D6C-22002500E0F1}"/>
              </a:ext>
            </a:extLst>
          </p:cNvPr>
          <p:cNvSpPr/>
          <p:nvPr/>
        </p:nvSpPr>
        <p:spPr>
          <a:xfrm>
            <a:off x="8656952" y="4292221"/>
            <a:ext cx="2187704" cy="239270"/>
          </a:xfrm>
          <a:prstGeom prst="rect">
            <a:avLst/>
          </a:prstGeom>
          <a:noFill/>
          <a:ln w="12700" cap="flat" cmpd="sng" algn="ctr">
            <a:noFill/>
            <a:prstDash val="solid"/>
            <a:miter lim="800000"/>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rPr>
              <a:t>Rule Set</a:t>
            </a:r>
            <a:endParaRPr kumimoji="0" lang="zh-CN" altLang="en-US" sz="1000" b="1" i="0" u="none" strike="noStrike" kern="0" cap="none" spc="0" normalizeH="0" baseline="0" noProof="0" dirty="0">
              <a:ln>
                <a:noFill/>
              </a:ln>
              <a:solidFill>
                <a:prstClr val="black"/>
              </a:solidFill>
              <a:effectLst/>
              <a:uLnTx/>
              <a:uFillTx/>
              <a:latin typeface="等线" panose="02010600030101010101" pitchFamily="2" charset="-122"/>
              <a:ea typeface="微软雅黑" panose="020B0503020204020204" pitchFamily="34" charset="-122"/>
              <a:cs typeface="Times New Roman" panose="02020603050405020304" pitchFamily="18" charset="0"/>
            </a:endParaRPr>
          </a:p>
        </p:txBody>
      </p:sp>
      <p:sp>
        <p:nvSpPr>
          <p:cNvPr id="78" name="箭头: 右 77">
            <a:extLst>
              <a:ext uri="{FF2B5EF4-FFF2-40B4-BE49-F238E27FC236}">
                <a16:creationId xmlns:a16="http://schemas.microsoft.com/office/drawing/2014/main" id="{E85869BA-05D5-3F77-9916-27D6232D97F7}"/>
              </a:ext>
            </a:extLst>
          </p:cNvPr>
          <p:cNvSpPr/>
          <p:nvPr/>
        </p:nvSpPr>
        <p:spPr>
          <a:xfrm>
            <a:off x="8021220" y="3624919"/>
            <a:ext cx="418589" cy="142146"/>
          </a:xfrm>
          <a:prstGeom prst="rightArrow">
            <a:avLst/>
          </a:prstGeom>
          <a:solidFill>
            <a:srgbClr val="4874CB"/>
          </a:solidFill>
          <a:ln w="12700" cap="flat" cmpd="sng" algn="ctr">
            <a:noFill/>
            <a:prstDash val="solid"/>
            <a:miter lim="800000"/>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9" name="文本框 78">
            <a:extLst>
              <a:ext uri="{FF2B5EF4-FFF2-40B4-BE49-F238E27FC236}">
                <a16:creationId xmlns:a16="http://schemas.microsoft.com/office/drawing/2014/main" id="{038DE6E4-2624-938D-CC47-16B2BB239C34}"/>
              </a:ext>
            </a:extLst>
          </p:cNvPr>
          <p:cNvSpPr txBox="1"/>
          <p:nvPr/>
        </p:nvSpPr>
        <p:spPr>
          <a:xfrm>
            <a:off x="5857456" y="4815539"/>
            <a:ext cx="5982568" cy="1998496"/>
          </a:xfrm>
          <a:prstGeom prst="rect">
            <a:avLst/>
          </a:prstGeom>
          <a:noFill/>
        </p:spPr>
        <p:txBody>
          <a:bodyPr wrap="square">
            <a:spAutoFit/>
          </a:bodyPr>
          <a:lstStyle/>
          <a:p>
            <a:pPr marL="285750" indent="-285750">
              <a:lnSpc>
                <a:spcPct val="150000"/>
              </a:lnSpc>
              <a:buClr>
                <a:srgbClr val="C7000B"/>
              </a:buClr>
              <a:buFont typeface="Wingdings" panose="05000000000000000000" pitchFamily="2" charset="2"/>
              <a:buChar char="Ø"/>
            </a:pPr>
            <a:r>
              <a:rPr lang="en-US" altLang="zh-CN" sz="1400" b="1" kern="0" dirty="0">
                <a:solidFill>
                  <a:srgbClr val="E54C5E">
                    <a:lumMod val="75000"/>
                  </a:srgbClr>
                </a:solidFill>
                <a:latin typeface="等线" panose="02010600030101010101" pitchFamily="2" charset="-122"/>
                <a:ea typeface="微软雅黑" panose="020B0503020204020204" pitchFamily="34" charset="-122"/>
                <a:cs typeface="Times New Roman" panose="02020603050405020304" pitchFamily="18" charset="0"/>
              </a:rPr>
              <a:t>Time-aware model: </a:t>
            </a:r>
            <a:r>
              <a:rPr lang="en-US" altLang="zh-CN" sz="1400" dirty="0">
                <a:latin typeface="+mn-ea"/>
              </a:rPr>
              <a:t>Models timestamps and spatial features using deep learning.</a:t>
            </a:r>
          </a:p>
          <a:p>
            <a:pPr marL="285750" indent="-285750">
              <a:lnSpc>
                <a:spcPct val="150000"/>
              </a:lnSpc>
              <a:buClr>
                <a:srgbClr val="C7000B"/>
              </a:buClr>
              <a:buFont typeface="Wingdings" panose="05000000000000000000" pitchFamily="2" charset="2"/>
              <a:buChar char="Ø"/>
            </a:pPr>
            <a:r>
              <a:rPr lang="en-US" altLang="zh-CN" sz="1400" b="1" kern="0" dirty="0">
                <a:solidFill>
                  <a:srgbClr val="E54C5E">
                    <a:lumMod val="75000"/>
                  </a:srgbClr>
                </a:solidFill>
                <a:latin typeface="等线" panose="02010600030101010101" pitchFamily="2" charset="-122"/>
                <a:ea typeface="微软雅黑" panose="020B0503020204020204" pitchFamily="34" charset="-122"/>
                <a:cs typeface="Times New Roman" panose="02020603050405020304" pitchFamily="18" charset="0"/>
              </a:rPr>
              <a:t>Time-patch scale model: </a:t>
            </a:r>
            <a:r>
              <a:rPr lang="en-US" altLang="zh-CN" sz="1400" dirty="0">
                <a:latin typeface="+mn-ea"/>
              </a:rPr>
              <a:t>Aggregates events across time scales to generate spatiotemporal features.</a:t>
            </a:r>
          </a:p>
          <a:p>
            <a:pPr marL="285750" indent="-285750">
              <a:lnSpc>
                <a:spcPct val="150000"/>
              </a:lnSpc>
              <a:buClr>
                <a:srgbClr val="C7000B"/>
              </a:buClr>
              <a:buFont typeface="Wingdings" panose="05000000000000000000" pitchFamily="2" charset="2"/>
              <a:buChar char="Ø"/>
            </a:pPr>
            <a:r>
              <a:rPr lang="en-US" altLang="zh-CN" sz="1400" b="1" kern="0" dirty="0">
                <a:solidFill>
                  <a:srgbClr val="E54C5E">
                    <a:lumMod val="75000"/>
                  </a:srgbClr>
                </a:solidFill>
                <a:latin typeface="等线" panose="02010600030101010101" pitchFamily="2" charset="-122"/>
                <a:ea typeface="微软雅黑" panose="020B0503020204020204" pitchFamily="34" charset="-122"/>
                <a:cs typeface="Times New Roman" panose="02020603050405020304" pitchFamily="18" charset="0"/>
              </a:rPr>
              <a:t>Time-point scale model: </a:t>
            </a:r>
            <a:r>
              <a:rPr lang="en-US" altLang="zh-CN" sz="1400" dirty="0">
                <a:latin typeface="+mn-ea"/>
              </a:rPr>
              <a:t>Uses spatial features and a decision tree for rule generation.</a:t>
            </a:r>
            <a:endParaRPr lang="zh-CN" altLang="en-US" sz="1400" dirty="0">
              <a:latin typeface="+mn-ea"/>
            </a:endParaRPr>
          </a:p>
        </p:txBody>
      </p:sp>
    </p:spTree>
    <p:extLst>
      <p:ext uri="{BB962C8B-B14F-4D97-AF65-F5344CB8AC3E}">
        <p14:creationId xmlns:p14="http://schemas.microsoft.com/office/powerpoint/2010/main" val="1624725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106D084-6510-C34C-86FA-3574B737EF8F}"/>
              </a:ext>
            </a:extLst>
          </p:cNvPr>
          <p:cNvSpPr txBox="1"/>
          <p:nvPr/>
        </p:nvSpPr>
        <p:spPr>
          <a:xfrm>
            <a:off x="790215" y="365302"/>
            <a:ext cx="7836200" cy="461665"/>
          </a:xfrm>
          <a:prstGeom prst="rect">
            <a:avLst/>
          </a:prstGeom>
          <a:noFill/>
        </p:spPr>
        <p:txBody>
          <a:bodyPr wrap="square" rtlCol="0">
            <a:spAutoFit/>
          </a:bodyPr>
          <a:lstStyle/>
          <a:p>
            <a:r>
              <a:rPr lang="en-US" altLang="zh-CN" sz="2400" b="1" dirty="0">
                <a:solidFill>
                  <a:schemeClr val="accent3"/>
                </a:solidFill>
                <a:latin typeface="-apple-system"/>
              </a:rPr>
              <a:t>Research Topic 3: MFP System Deployment</a:t>
            </a:r>
          </a:p>
        </p:txBody>
      </p:sp>
      <p:sp>
        <p:nvSpPr>
          <p:cNvPr id="8" name="矩形: 圆角 7">
            <a:extLst>
              <a:ext uri="{FF2B5EF4-FFF2-40B4-BE49-F238E27FC236}">
                <a16:creationId xmlns:a16="http://schemas.microsoft.com/office/drawing/2014/main" id="{D6A4D612-AC81-9BDE-E852-1EBB46D17EEE}"/>
              </a:ext>
            </a:extLst>
          </p:cNvPr>
          <p:cNvSpPr/>
          <p:nvPr/>
        </p:nvSpPr>
        <p:spPr>
          <a:xfrm>
            <a:off x="823757" y="1522554"/>
            <a:ext cx="6064190" cy="4889498"/>
          </a:xfrm>
          <a:prstGeom prst="roundRect">
            <a:avLst>
              <a:gd name="adj" fmla="val 2232"/>
            </a:avLst>
          </a:prstGeom>
          <a:solidFill>
            <a:srgbClr val="FFFFFF"/>
          </a:solidFill>
          <a:ln w="12700" cap="flat" cmpd="sng" algn="ctr">
            <a:solidFill>
              <a:srgbClr val="666666">
                <a:lumMod val="40000"/>
                <a:lumOff val="60000"/>
              </a:srgbClr>
            </a:solidFill>
            <a:prstDash val="solid"/>
            <a:miter lim="800000"/>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algn="ctr" defTabSz="914387">
              <a:defRPr/>
            </a:pPr>
            <a:endParaRPr lang="zh-CN" altLang="en-US" dirty="0">
              <a:solidFill>
                <a:srgbClr val="666666"/>
              </a:solidFill>
              <a:latin typeface="Arial"/>
              <a:ea typeface="微软雅黑"/>
            </a:endParaRPr>
          </a:p>
        </p:txBody>
      </p:sp>
      <p:sp>
        <p:nvSpPr>
          <p:cNvPr id="9" name="矩形: 圆角 8">
            <a:extLst>
              <a:ext uri="{FF2B5EF4-FFF2-40B4-BE49-F238E27FC236}">
                <a16:creationId xmlns:a16="http://schemas.microsoft.com/office/drawing/2014/main" id="{8D896F16-6BA7-B5E6-8D62-416D09C81A0F}"/>
              </a:ext>
            </a:extLst>
          </p:cNvPr>
          <p:cNvSpPr/>
          <p:nvPr/>
        </p:nvSpPr>
        <p:spPr>
          <a:xfrm>
            <a:off x="7047512" y="4000219"/>
            <a:ext cx="4133786" cy="2432444"/>
          </a:xfrm>
          <a:prstGeom prst="roundRect">
            <a:avLst>
              <a:gd name="adj" fmla="val 3173"/>
            </a:avLst>
          </a:prstGeom>
          <a:solidFill>
            <a:srgbClr val="FFFFFF"/>
          </a:solidFill>
          <a:ln w="12700" cap="flat" cmpd="sng" algn="ctr">
            <a:solidFill>
              <a:srgbClr val="666666">
                <a:lumMod val="40000"/>
                <a:lumOff val="60000"/>
              </a:srgbClr>
            </a:solidFill>
            <a:prstDash val="solid"/>
            <a:miter lim="800000"/>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algn="ctr" defTabSz="914387">
              <a:defRPr/>
            </a:pPr>
            <a:endParaRPr lang="zh-CN" altLang="en-US" dirty="0">
              <a:solidFill>
                <a:srgbClr val="666666"/>
              </a:solidFill>
              <a:latin typeface="Arial"/>
              <a:ea typeface="微软雅黑"/>
            </a:endParaRPr>
          </a:p>
        </p:txBody>
      </p:sp>
      <p:sp>
        <p:nvSpPr>
          <p:cNvPr id="10" name="矩形: 圆角 9">
            <a:extLst>
              <a:ext uri="{FF2B5EF4-FFF2-40B4-BE49-F238E27FC236}">
                <a16:creationId xmlns:a16="http://schemas.microsoft.com/office/drawing/2014/main" id="{F2033515-9DC5-9048-6A42-6549FAA629FD}"/>
              </a:ext>
            </a:extLst>
          </p:cNvPr>
          <p:cNvSpPr/>
          <p:nvPr/>
        </p:nvSpPr>
        <p:spPr>
          <a:xfrm>
            <a:off x="7047513" y="1522553"/>
            <a:ext cx="4133786" cy="2328549"/>
          </a:xfrm>
          <a:prstGeom prst="roundRect">
            <a:avLst>
              <a:gd name="adj" fmla="val 3173"/>
            </a:avLst>
          </a:prstGeom>
          <a:solidFill>
            <a:srgbClr val="FFFFFF"/>
          </a:solidFill>
          <a:ln w="12700" cap="flat" cmpd="sng" algn="ctr">
            <a:solidFill>
              <a:srgbClr val="666666">
                <a:lumMod val="40000"/>
                <a:lumOff val="60000"/>
              </a:srgbClr>
            </a:solidFill>
            <a:prstDash val="solid"/>
            <a:miter lim="800000"/>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algn="ctr" defTabSz="914387">
              <a:defRPr/>
            </a:pPr>
            <a:endParaRPr lang="zh-CN" altLang="en-US" dirty="0">
              <a:solidFill>
                <a:srgbClr val="666666"/>
              </a:solidFill>
              <a:latin typeface="Arial"/>
              <a:ea typeface="微软雅黑"/>
            </a:endParaRPr>
          </a:p>
        </p:txBody>
      </p:sp>
      <p:pic>
        <p:nvPicPr>
          <p:cNvPr id="12" name="图片 11">
            <a:extLst>
              <a:ext uri="{FF2B5EF4-FFF2-40B4-BE49-F238E27FC236}">
                <a16:creationId xmlns:a16="http://schemas.microsoft.com/office/drawing/2014/main" id="{34C92173-AED4-8690-3BA4-1C1DE08E0528}"/>
              </a:ext>
            </a:extLst>
          </p:cNvPr>
          <p:cNvPicPr>
            <a:picLocks noChangeAspect="1"/>
          </p:cNvPicPr>
          <p:nvPr/>
        </p:nvPicPr>
        <p:blipFill>
          <a:blip r:embed="rId3"/>
          <a:stretch>
            <a:fillRect/>
          </a:stretch>
        </p:blipFill>
        <p:spPr>
          <a:xfrm>
            <a:off x="7221298" y="1626815"/>
            <a:ext cx="3960000" cy="1765302"/>
          </a:xfrm>
          <a:prstGeom prst="rect">
            <a:avLst/>
          </a:prstGeom>
        </p:spPr>
      </p:pic>
      <p:pic>
        <p:nvPicPr>
          <p:cNvPr id="13" name="图片 12">
            <a:extLst>
              <a:ext uri="{FF2B5EF4-FFF2-40B4-BE49-F238E27FC236}">
                <a16:creationId xmlns:a16="http://schemas.microsoft.com/office/drawing/2014/main" id="{AAC5128F-B475-0A8C-6ECC-3F0BC5B37D6B}"/>
              </a:ext>
            </a:extLst>
          </p:cNvPr>
          <p:cNvPicPr>
            <a:picLocks noChangeAspect="1"/>
          </p:cNvPicPr>
          <p:nvPr/>
        </p:nvPicPr>
        <p:blipFill>
          <a:blip r:embed="rId4"/>
          <a:stretch>
            <a:fillRect/>
          </a:stretch>
        </p:blipFill>
        <p:spPr>
          <a:xfrm>
            <a:off x="7221298" y="4047463"/>
            <a:ext cx="3960000" cy="1873549"/>
          </a:xfrm>
          <a:prstGeom prst="rect">
            <a:avLst/>
          </a:prstGeom>
        </p:spPr>
      </p:pic>
      <p:sp>
        <p:nvSpPr>
          <p:cNvPr id="14" name="文本框 13">
            <a:extLst>
              <a:ext uri="{FF2B5EF4-FFF2-40B4-BE49-F238E27FC236}">
                <a16:creationId xmlns:a16="http://schemas.microsoft.com/office/drawing/2014/main" id="{057264D6-B041-CA97-8111-532C87A9D288}"/>
              </a:ext>
            </a:extLst>
          </p:cNvPr>
          <p:cNvSpPr txBox="1"/>
          <p:nvPr/>
        </p:nvSpPr>
        <p:spPr>
          <a:xfrm>
            <a:off x="515116" y="949020"/>
            <a:ext cx="11012032" cy="463460"/>
          </a:xfrm>
          <a:prstGeom prst="rect">
            <a:avLst/>
          </a:prstGeom>
          <a:noFill/>
        </p:spPr>
        <p:txBody>
          <a:bodyPr wrap="square">
            <a:spAutoFit/>
          </a:bodyPr>
          <a:lstStyle/>
          <a:p>
            <a:pPr lvl="1" indent="-342900">
              <a:lnSpc>
                <a:spcPct val="200000"/>
              </a:lnSpc>
              <a:buClr>
                <a:srgbClr val="C7000B"/>
              </a:buClr>
              <a:buFont typeface="Wingdings" panose="05000000000000000000" pitchFamily="2" charset="2"/>
              <a:buChar char="p"/>
            </a:pPr>
            <a:r>
              <a:rPr lang="en-US" altLang="zh-CN" sz="1400" b="1" dirty="0">
                <a:solidFill>
                  <a:srgbClr val="1D1D1A"/>
                </a:solidFill>
                <a:latin typeface="+mn-ea"/>
              </a:rPr>
              <a:t>M</a:t>
            </a:r>
            <a:r>
              <a:rPr lang="en-US" altLang="zh-CN" sz="1400" b="1" baseline="30000" dirty="0">
                <a:solidFill>
                  <a:srgbClr val="1D1D1A"/>
                </a:solidFill>
                <a:latin typeface="+mn-ea"/>
              </a:rPr>
              <a:t>2</a:t>
            </a:r>
            <a:r>
              <a:rPr lang="en-US" altLang="zh-CN" sz="1400" b="1" dirty="0">
                <a:solidFill>
                  <a:srgbClr val="1D1D1A"/>
                </a:solidFill>
                <a:latin typeface="+mn-ea"/>
              </a:rPr>
              <a:t>-MFP </a:t>
            </a:r>
            <a:r>
              <a:rPr lang="en-US" altLang="zh-CN" sz="1400" dirty="0">
                <a:solidFill>
                  <a:srgbClr val="1D1D1A"/>
                </a:solidFill>
                <a:latin typeface="+mn-ea"/>
              </a:rPr>
              <a:t>achieves </a:t>
            </a:r>
            <a:r>
              <a:rPr lang="en-US" altLang="zh-CN" sz="1400" dirty="0" err="1">
                <a:solidFill>
                  <a:srgbClr val="1D1D1A"/>
                </a:solidFill>
                <a:latin typeface="+mn-ea"/>
              </a:rPr>
              <a:t>sota</a:t>
            </a:r>
            <a:r>
              <a:rPr lang="en-US" altLang="zh-CN" sz="1400" dirty="0">
                <a:solidFill>
                  <a:srgbClr val="1D1D1A"/>
                </a:solidFill>
                <a:latin typeface="+mn-ea"/>
              </a:rPr>
              <a:t> performance by effectively leveraging its multi-scale hierarchical architecture for enhanced predictive capability.</a:t>
            </a:r>
          </a:p>
        </p:txBody>
      </p:sp>
      <p:pic>
        <p:nvPicPr>
          <p:cNvPr id="15" name="图片 14">
            <a:extLst>
              <a:ext uri="{FF2B5EF4-FFF2-40B4-BE49-F238E27FC236}">
                <a16:creationId xmlns:a16="http://schemas.microsoft.com/office/drawing/2014/main" id="{9782CF8A-C9C0-F686-D8E1-4C8A4D8131E1}"/>
              </a:ext>
            </a:extLst>
          </p:cNvPr>
          <p:cNvPicPr>
            <a:picLocks noChangeAspect="1"/>
          </p:cNvPicPr>
          <p:nvPr/>
        </p:nvPicPr>
        <p:blipFill>
          <a:blip r:embed="rId5"/>
          <a:stretch>
            <a:fillRect/>
          </a:stretch>
        </p:blipFill>
        <p:spPr>
          <a:xfrm>
            <a:off x="906057" y="1619033"/>
            <a:ext cx="5883564" cy="2813004"/>
          </a:xfrm>
          <a:prstGeom prst="rect">
            <a:avLst/>
          </a:prstGeom>
        </p:spPr>
      </p:pic>
      <p:sp>
        <p:nvSpPr>
          <p:cNvPr id="19" name="文本框 18">
            <a:extLst>
              <a:ext uri="{FF2B5EF4-FFF2-40B4-BE49-F238E27FC236}">
                <a16:creationId xmlns:a16="http://schemas.microsoft.com/office/drawing/2014/main" id="{011CD791-FF01-8292-A0A1-34DF7C7E7218}"/>
              </a:ext>
            </a:extLst>
          </p:cNvPr>
          <p:cNvSpPr txBox="1"/>
          <p:nvPr/>
        </p:nvSpPr>
        <p:spPr>
          <a:xfrm>
            <a:off x="381165" y="4484044"/>
            <a:ext cx="6269182" cy="1721690"/>
          </a:xfrm>
          <a:prstGeom prst="rect">
            <a:avLst/>
          </a:prstGeom>
          <a:noFill/>
        </p:spPr>
        <p:txBody>
          <a:bodyPr wrap="square">
            <a:spAutoFit/>
          </a:bodyPr>
          <a:lstStyle/>
          <a:p>
            <a:pPr marL="742990" lvl="1" indent="-285750">
              <a:lnSpc>
                <a:spcPct val="150000"/>
              </a:lnSpc>
              <a:buClr>
                <a:srgbClr val="C7000B"/>
              </a:buClr>
              <a:buFont typeface="Wingdings" panose="05000000000000000000" pitchFamily="2" charset="2"/>
              <a:buChar char="Ø"/>
            </a:pPr>
            <a:r>
              <a:rPr lang="en-US" altLang="zh-CN" sz="1200" b="1" dirty="0">
                <a:solidFill>
                  <a:srgbClr val="1D1D1A"/>
                </a:solidFill>
                <a:latin typeface="微软雅黑" panose="020B0503020204020204" pitchFamily="34" charset="-122"/>
                <a:ea typeface="微软雅黑" panose="020B0503020204020204" pitchFamily="34" charset="-122"/>
              </a:rPr>
              <a:t>Rule-based</a:t>
            </a:r>
            <a:r>
              <a:rPr lang="en-US" altLang="zh-CN" sz="1200" dirty="0">
                <a:solidFill>
                  <a:srgbClr val="1D1D1A"/>
                </a:solidFill>
                <a:latin typeface="微软雅黑" panose="020B0503020204020204" pitchFamily="34" charset="-122"/>
                <a:ea typeface="微软雅黑" panose="020B0503020204020204" pitchFamily="34" charset="-122"/>
              </a:rPr>
              <a:t> </a:t>
            </a:r>
            <a:r>
              <a:rPr lang="en-US" altLang="zh-CN" sz="1200" b="1" dirty="0">
                <a:solidFill>
                  <a:srgbClr val="1D1D1A"/>
                </a:solidFill>
                <a:latin typeface="微软雅黑" panose="020B0503020204020204" pitchFamily="34" charset="-122"/>
                <a:ea typeface="微软雅黑" panose="020B0503020204020204" pitchFamily="34" charset="-122"/>
              </a:rPr>
              <a:t>methods</a:t>
            </a:r>
            <a:r>
              <a:rPr lang="en-US" altLang="zh-CN" sz="1200" dirty="0">
                <a:solidFill>
                  <a:srgbClr val="1D1D1A"/>
                </a:solidFill>
                <a:latin typeface="微软雅黑" panose="020B0503020204020204" pitchFamily="34" charset="-122"/>
                <a:ea typeface="微软雅黑" panose="020B0503020204020204" pitchFamily="34" charset="-122"/>
              </a:rPr>
              <a:t> exhibit high false positive rates in the results.</a:t>
            </a:r>
          </a:p>
          <a:p>
            <a:pPr marL="742990" lvl="1" indent="-285750">
              <a:lnSpc>
                <a:spcPct val="150000"/>
              </a:lnSpc>
              <a:buClr>
                <a:srgbClr val="C7000B"/>
              </a:buClr>
              <a:buFont typeface="Wingdings" panose="05000000000000000000" pitchFamily="2" charset="2"/>
              <a:buChar char="Ø"/>
            </a:pPr>
            <a:r>
              <a:rPr lang="en-US" altLang="zh-CN" sz="1200" b="1" dirty="0">
                <a:solidFill>
                  <a:srgbClr val="1D1D1A"/>
                </a:solidFill>
                <a:latin typeface="微软雅黑" panose="020B0503020204020204" pitchFamily="34" charset="-122"/>
                <a:ea typeface="微软雅黑" panose="020B0503020204020204" pitchFamily="34" charset="-122"/>
              </a:rPr>
              <a:t>Deep learning methods </a:t>
            </a:r>
            <a:r>
              <a:rPr lang="en-US" altLang="zh-CN" sz="1200" dirty="0">
                <a:solidFill>
                  <a:srgbClr val="1D1D1A"/>
                </a:solidFill>
                <a:latin typeface="微软雅黑" panose="020B0503020204020204" pitchFamily="34" charset="-122"/>
                <a:ea typeface="微软雅黑" panose="020B0503020204020204" pitchFamily="34" charset="-122"/>
              </a:rPr>
              <a:t>struggle to extract features effectively, resulting in poor performance.</a:t>
            </a:r>
          </a:p>
          <a:p>
            <a:pPr marL="742990" lvl="1" indent="-285750">
              <a:lnSpc>
                <a:spcPct val="150000"/>
              </a:lnSpc>
              <a:buClr>
                <a:srgbClr val="C7000B"/>
              </a:buClr>
              <a:buFont typeface="Wingdings" panose="05000000000000000000" pitchFamily="2" charset="2"/>
              <a:buChar char="Ø"/>
            </a:pPr>
            <a:r>
              <a:rPr lang="en-US" altLang="zh-CN" sz="1200" dirty="0">
                <a:solidFill>
                  <a:srgbClr val="1D1D1A"/>
                </a:solidFill>
                <a:latin typeface="微软雅黑" panose="020B0503020204020204" pitchFamily="34" charset="-122"/>
                <a:ea typeface="微软雅黑" panose="020B0503020204020204" pitchFamily="34" charset="-122"/>
              </a:rPr>
              <a:t>The </a:t>
            </a:r>
            <a:r>
              <a:rPr lang="en-US" altLang="zh-CN" sz="1200" b="1" dirty="0">
                <a:solidFill>
                  <a:srgbClr val="E9002F"/>
                </a:solidFill>
                <a:latin typeface="微软雅黑" panose="020B0503020204020204" pitchFamily="34" charset="-122"/>
                <a:ea typeface="微软雅黑" panose="020B0503020204020204" pitchFamily="34" charset="-122"/>
              </a:rPr>
              <a:t>Time-point</a:t>
            </a:r>
            <a:r>
              <a:rPr lang="en-US" altLang="zh-CN" sz="1200" dirty="0">
                <a:solidFill>
                  <a:srgbClr val="1D1D1A"/>
                </a:solidFill>
                <a:latin typeface="微软雅黑" panose="020B0503020204020204" pitchFamily="34" charset="-122"/>
                <a:ea typeface="微软雅黑" panose="020B0503020204020204" pitchFamily="34" charset="-122"/>
              </a:rPr>
              <a:t> and </a:t>
            </a:r>
            <a:r>
              <a:rPr lang="en-US" altLang="zh-CN" sz="1200" b="1" dirty="0">
                <a:solidFill>
                  <a:srgbClr val="E9002F"/>
                </a:solidFill>
                <a:latin typeface="微软雅黑" panose="020B0503020204020204" pitchFamily="34" charset="-122"/>
                <a:ea typeface="微软雅黑" panose="020B0503020204020204" pitchFamily="34" charset="-122"/>
              </a:rPr>
              <a:t>Time-patch</a:t>
            </a:r>
            <a:r>
              <a:rPr lang="en-US" altLang="zh-CN" sz="1200" dirty="0">
                <a:solidFill>
                  <a:srgbClr val="1D1D1A"/>
                </a:solidFill>
                <a:latin typeface="微软雅黑" panose="020B0503020204020204" pitchFamily="34" charset="-122"/>
                <a:ea typeface="微软雅黑" panose="020B0503020204020204" pitchFamily="34" charset="-122"/>
              </a:rPr>
              <a:t> modules outperform their counterparts.</a:t>
            </a:r>
          </a:p>
          <a:p>
            <a:pPr marL="742990" lvl="1" indent="-285750">
              <a:lnSpc>
                <a:spcPct val="150000"/>
              </a:lnSpc>
              <a:buClr>
                <a:srgbClr val="C7000B"/>
              </a:buClr>
              <a:buFont typeface="Wingdings" panose="05000000000000000000" pitchFamily="2" charset="2"/>
              <a:buChar char="Ø"/>
            </a:pPr>
            <a:r>
              <a:rPr lang="en-US" altLang="zh-CN" sz="1200" b="1" dirty="0">
                <a:solidFill>
                  <a:srgbClr val="E9002F"/>
                </a:solidFill>
                <a:latin typeface="微软雅黑" panose="020B0503020204020204" pitchFamily="34" charset="-122"/>
                <a:ea typeface="微软雅黑" panose="020B0503020204020204" pitchFamily="34" charset="-122"/>
              </a:rPr>
              <a:t>M²-MFP</a:t>
            </a:r>
            <a:r>
              <a:rPr lang="en-US" altLang="zh-CN" sz="1200" dirty="0">
                <a:solidFill>
                  <a:srgbClr val="1D1D1A"/>
                </a:solidFill>
                <a:latin typeface="微软雅黑" panose="020B0503020204020204" pitchFamily="34" charset="-122"/>
                <a:ea typeface="微软雅黑" panose="020B0503020204020204" pitchFamily="34" charset="-122"/>
              </a:rPr>
              <a:t> achieves state-of-the-art performance by leveraging its multi-scale hierarchical architecture.</a:t>
            </a:r>
          </a:p>
        </p:txBody>
      </p:sp>
      <p:sp>
        <p:nvSpPr>
          <p:cNvPr id="20" name="文本框 19">
            <a:extLst>
              <a:ext uri="{FF2B5EF4-FFF2-40B4-BE49-F238E27FC236}">
                <a16:creationId xmlns:a16="http://schemas.microsoft.com/office/drawing/2014/main" id="{73E19B31-C13D-6611-1FD0-2B720611F2D8}"/>
              </a:ext>
            </a:extLst>
          </p:cNvPr>
          <p:cNvSpPr txBox="1"/>
          <p:nvPr/>
        </p:nvSpPr>
        <p:spPr>
          <a:xfrm>
            <a:off x="7147408" y="3237408"/>
            <a:ext cx="3800436" cy="613694"/>
          </a:xfrm>
          <a:prstGeom prst="rect">
            <a:avLst/>
          </a:prstGeom>
          <a:noFill/>
        </p:spPr>
        <p:txBody>
          <a:bodyPr wrap="square">
            <a:spAutoFit/>
          </a:bodyPr>
          <a:lstStyle/>
          <a:p>
            <a:pPr marL="285750" indent="-285750">
              <a:lnSpc>
                <a:spcPct val="150000"/>
              </a:lnSpc>
              <a:buClr>
                <a:srgbClr val="C7000B"/>
              </a:buClr>
              <a:buFont typeface="Wingdings" panose="05000000000000000000" pitchFamily="2" charset="2"/>
              <a:buChar char="Ø"/>
            </a:pPr>
            <a:r>
              <a:rPr lang="zh-CN" altLang="en-US" sz="1200" b="1" dirty="0">
                <a:solidFill>
                  <a:srgbClr val="1D1D1A"/>
                </a:solidFill>
                <a:latin typeface="微软雅黑" panose="020B0503020204020204" pitchFamily="34" charset="-122"/>
                <a:ea typeface="微软雅黑" panose="020B0503020204020204" pitchFamily="34" charset="-122"/>
              </a:rPr>
              <a:t>Dual-path </a:t>
            </a:r>
            <a:r>
              <a:rPr lang="zh-CN" altLang="en-US" sz="1200" dirty="0">
                <a:solidFill>
                  <a:srgbClr val="1D1D1A"/>
                </a:solidFill>
                <a:latin typeface="微软雅黑" panose="020B0503020204020204" pitchFamily="34" charset="-122"/>
                <a:ea typeface="微软雅黑" panose="020B0503020204020204" pitchFamily="34" charset="-122"/>
              </a:rPr>
              <a:t>feature extraction and </a:t>
            </a:r>
            <a:r>
              <a:rPr lang="zh-CN" altLang="en-US" sz="1200" b="1" dirty="0">
                <a:solidFill>
                  <a:srgbClr val="1D1D1A"/>
                </a:solidFill>
                <a:latin typeface="微软雅黑" panose="020B0503020204020204" pitchFamily="34" charset="-122"/>
                <a:ea typeface="微软雅黑" panose="020B0503020204020204" pitchFamily="34" charset="-122"/>
              </a:rPr>
              <a:t>multi-level </a:t>
            </a:r>
            <a:r>
              <a:rPr lang="zh-CN" altLang="en-US" sz="1200" dirty="0">
                <a:solidFill>
                  <a:srgbClr val="1D1D1A"/>
                </a:solidFill>
                <a:latin typeface="微软雅黑" panose="020B0503020204020204" pitchFamily="34" charset="-122"/>
                <a:ea typeface="微软雅黑" panose="020B0503020204020204" pitchFamily="34" charset="-122"/>
              </a:rPr>
              <a:t>feature integration are necessary.</a:t>
            </a:r>
          </a:p>
        </p:txBody>
      </p:sp>
      <p:sp>
        <p:nvSpPr>
          <p:cNvPr id="21" name="文本框 20">
            <a:extLst>
              <a:ext uri="{FF2B5EF4-FFF2-40B4-BE49-F238E27FC236}">
                <a16:creationId xmlns:a16="http://schemas.microsoft.com/office/drawing/2014/main" id="{3BDCB171-2B42-3099-207E-18427CF1DB34}"/>
              </a:ext>
            </a:extLst>
          </p:cNvPr>
          <p:cNvSpPr txBox="1"/>
          <p:nvPr/>
        </p:nvSpPr>
        <p:spPr>
          <a:xfrm>
            <a:off x="7147408" y="5798357"/>
            <a:ext cx="3800436" cy="613694"/>
          </a:xfrm>
          <a:prstGeom prst="rect">
            <a:avLst/>
          </a:prstGeom>
          <a:noFill/>
        </p:spPr>
        <p:txBody>
          <a:bodyPr wrap="square">
            <a:spAutoFit/>
          </a:bodyPr>
          <a:lstStyle/>
          <a:p>
            <a:pPr marL="285750" indent="-285750">
              <a:lnSpc>
                <a:spcPct val="150000"/>
              </a:lnSpc>
              <a:buClr>
                <a:srgbClr val="C7000B"/>
              </a:buClr>
              <a:buFont typeface="Wingdings" panose="05000000000000000000" pitchFamily="2" charset="2"/>
              <a:buChar char="Ø"/>
            </a:pPr>
            <a:r>
              <a:rPr lang="en-US" altLang="zh-CN" sz="1200" b="1" dirty="0">
                <a:solidFill>
                  <a:srgbClr val="1D1D1A"/>
                </a:solidFill>
                <a:latin typeface="微软雅黑" panose="020B0503020204020204" pitchFamily="34" charset="-122"/>
                <a:ea typeface="微软雅黑" panose="020B0503020204020204" pitchFamily="34" charset="-122"/>
              </a:rPr>
              <a:t>DIMM-level Decision Tree </a:t>
            </a:r>
            <a:r>
              <a:rPr lang="en-US" altLang="zh-CN" sz="1200" dirty="0">
                <a:solidFill>
                  <a:srgbClr val="1D1D1A"/>
                </a:solidFill>
                <a:latin typeface="微软雅黑" panose="020B0503020204020204" pitchFamily="34" charset="-122"/>
                <a:ea typeface="微软雅黑" panose="020B0503020204020204" pitchFamily="34" charset="-122"/>
              </a:rPr>
              <a:t>achieves the best performance compared to these alternatives. </a:t>
            </a:r>
            <a:endParaRPr lang="zh-CN" altLang="en-US" sz="1200" dirty="0">
              <a:solidFill>
                <a:srgbClr val="1D1D1A"/>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58727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106D084-6510-C34C-86FA-3574B737EF8F}"/>
              </a:ext>
            </a:extLst>
          </p:cNvPr>
          <p:cNvSpPr txBox="1"/>
          <p:nvPr/>
        </p:nvSpPr>
        <p:spPr>
          <a:xfrm>
            <a:off x="790215" y="365302"/>
            <a:ext cx="7836200" cy="461665"/>
          </a:xfrm>
          <a:prstGeom prst="rect">
            <a:avLst/>
          </a:prstGeom>
          <a:noFill/>
        </p:spPr>
        <p:txBody>
          <a:bodyPr wrap="square" rtlCol="0">
            <a:spAutoFit/>
          </a:bodyPr>
          <a:lstStyle/>
          <a:p>
            <a:r>
              <a:rPr lang="en-US" altLang="zh-CN" sz="2400" b="1" dirty="0">
                <a:latin typeface="-apple-system"/>
              </a:rPr>
              <a:t>Future Work – Loss Function</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A491B74-2C9C-D90C-9AF1-DBA31017C6B8}"/>
                  </a:ext>
                </a:extLst>
              </p:cNvPr>
              <p:cNvSpPr txBox="1"/>
              <p:nvPr/>
            </p:nvSpPr>
            <p:spPr>
              <a:xfrm>
                <a:off x="301885" y="1020927"/>
                <a:ext cx="11012032" cy="890693"/>
              </a:xfrm>
              <a:prstGeom prst="rect">
                <a:avLst/>
              </a:prstGeom>
              <a:noFill/>
            </p:spPr>
            <p:txBody>
              <a:bodyPr wrap="square">
                <a:spAutoFit/>
              </a:bodyPr>
              <a:lstStyle/>
              <a:p>
                <a:pPr marL="457240" lvl="1" indent="-342900" algn="l" defTabSz="914478" rtl="0">
                  <a:lnSpc>
                    <a:spcPct val="150000"/>
                  </a:lnSpc>
                  <a:buClr>
                    <a:srgbClr val="C7000B"/>
                  </a:buClr>
                  <a:buFont typeface="Wingdings" panose="05000000000000000000" pitchFamily="2" charset="2"/>
                  <a:buChar char="p"/>
                </a:pPr>
                <a:r>
                  <a:rPr lang="en-US" altLang="zh-CN" sz="1200" kern="1200" dirty="0">
                    <a:solidFill>
                      <a:srgbClr val="1D1D1A"/>
                    </a:solidFill>
                    <a:latin typeface="微软雅黑" panose="020B0503020204020204" pitchFamily="34" charset="-122"/>
                    <a:ea typeface="微软雅黑" panose="020B0503020204020204" pitchFamily="34" charset="-122"/>
                    <a:cs typeface="+mn-cs"/>
                  </a:rPr>
                  <a:t>MFP aims to forecast </a:t>
                </a:r>
                <a:r>
                  <a:rPr lang="en-US" altLang="zh-CN" sz="1200" b="1" kern="1200" dirty="0">
                    <a:solidFill>
                      <a:srgbClr val="1D1D1A"/>
                    </a:solidFill>
                    <a:latin typeface="微软雅黑" panose="020B0503020204020204" pitchFamily="34" charset="-122"/>
                    <a:ea typeface="微软雅黑" panose="020B0503020204020204" pitchFamily="34" charset="-122"/>
                    <a:cs typeface="+mn-cs"/>
                  </a:rPr>
                  <a:t>DIMM failures</a:t>
                </a:r>
                <a:r>
                  <a:rPr lang="en-US" altLang="zh-CN" sz="1200" kern="1200" dirty="0">
                    <a:solidFill>
                      <a:srgbClr val="1D1D1A"/>
                    </a:solidFill>
                    <a:latin typeface="微软雅黑" panose="020B0503020204020204" pitchFamily="34" charset="-122"/>
                    <a:ea typeface="微软雅黑" panose="020B0503020204020204" pitchFamily="34" charset="-122"/>
                    <a:cs typeface="+mn-cs"/>
                  </a:rPr>
                  <a:t>, but since a DIMM maps to multiple samples during inference, </a:t>
                </a:r>
                <a:r>
                  <a:rPr lang="en-US" altLang="zh-CN" sz="1200" b="1" kern="1200" dirty="0">
                    <a:solidFill>
                      <a:srgbClr val="00B0F0"/>
                    </a:solidFill>
                    <a:latin typeface="微软雅黑" panose="020B0503020204020204" pitchFamily="34" charset="-122"/>
                    <a:ea typeface="微软雅黑" panose="020B0503020204020204" pitchFamily="34" charset="-122"/>
                    <a:cs typeface="+mn-cs"/>
                  </a:rPr>
                  <a:t>sample-level </a:t>
                </a:r>
                <a:r>
                  <a:rPr lang="en-US" altLang="zh-CN" sz="1200" kern="1200" dirty="0">
                    <a:solidFill>
                      <a:srgbClr val="1D1D1A"/>
                    </a:solidFill>
                    <a:latin typeface="微软雅黑" panose="020B0503020204020204" pitchFamily="34" charset="-122"/>
                    <a:ea typeface="微软雅黑" panose="020B0503020204020204" pitchFamily="34" charset="-122"/>
                    <a:cs typeface="+mn-cs"/>
                  </a:rPr>
                  <a:t>loss functions fail to accurately represent </a:t>
                </a:r>
                <a:r>
                  <a:rPr lang="en-US" altLang="zh-CN" sz="1200" b="1" kern="1200" dirty="0">
                    <a:solidFill>
                      <a:srgbClr val="ED6D00"/>
                    </a:solidFill>
                    <a:latin typeface="微软雅黑" panose="020B0503020204020204" pitchFamily="34" charset="-122"/>
                    <a:ea typeface="微软雅黑" panose="020B0503020204020204" pitchFamily="34" charset="-122"/>
                    <a:cs typeface="+mn-cs"/>
                  </a:rPr>
                  <a:t>DIMM-level</a:t>
                </a:r>
                <a:r>
                  <a:rPr lang="en-US" altLang="zh-CN" sz="1200" kern="1200" dirty="0">
                    <a:solidFill>
                      <a:srgbClr val="1D1D1A"/>
                    </a:solidFill>
                    <a:latin typeface="微软雅黑" panose="020B0503020204020204" pitchFamily="34" charset="-122"/>
                    <a:ea typeface="微软雅黑" panose="020B0503020204020204" pitchFamily="34" charset="-122"/>
                    <a:cs typeface="+mn-cs"/>
                  </a:rPr>
                  <a:t> predictions.</a:t>
                </a:r>
              </a:p>
              <a:p>
                <a:pPr marL="457240" lvl="1" indent="-342900" algn="l" defTabSz="914478" rtl="0">
                  <a:lnSpc>
                    <a:spcPct val="150000"/>
                  </a:lnSpc>
                  <a:buClr>
                    <a:srgbClr val="C7000B"/>
                  </a:buClr>
                  <a:buFont typeface="Wingdings" panose="05000000000000000000" pitchFamily="2" charset="2"/>
                  <a:buChar char="p"/>
                </a:pPr>
                <a:r>
                  <a:rPr lang="en-US" altLang="zh-CN" sz="1200" kern="1200" dirty="0">
                    <a:solidFill>
                      <a:srgbClr val="1D1D1A"/>
                    </a:solidFill>
                    <a:latin typeface="微软雅黑" panose="020B0503020204020204" pitchFamily="34" charset="-122"/>
                    <a:ea typeface="微软雅黑" panose="020B0503020204020204" pitchFamily="34" charset="-122"/>
                    <a:cs typeface="+mn-cs"/>
                  </a:rPr>
                  <a:t>Let the set of DIMMs be </a:t>
                </a:r>
                <a14:m>
                  <m:oMath xmlns:m="http://schemas.openxmlformats.org/officeDocument/2006/math">
                    <m:r>
                      <a:rPr lang="en-US" altLang="zh-CN" sz="1200" i="1" kern="1200" dirty="0">
                        <a:solidFill>
                          <a:srgbClr val="1D1D1A"/>
                        </a:solidFill>
                        <a:latin typeface="Cambria Math" panose="02040503050406030204" pitchFamily="18" charset="0"/>
                        <a:cs typeface="+mn-cs"/>
                      </a:rPr>
                      <m:t>𝑆</m:t>
                    </m:r>
                  </m:oMath>
                </a14:m>
                <a:r>
                  <a:rPr lang="en-US" altLang="zh-CN" sz="1200" kern="1200" dirty="0">
                    <a:solidFill>
                      <a:srgbClr val="1D1D1A"/>
                    </a:solidFill>
                    <a:latin typeface="微软雅黑" panose="020B0503020204020204" pitchFamily="34" charset="-122"/>
                    <a:ea typeface="微软雅黑" panose="020B0503020204020204" pitchFamily="34" charset="-122"/>
                    <a:cs typeface="+mn-cs"/>
                  </a:rPr>
                  <a:t>. For </a:t>
                </a:r>
                <a14:m>
                  <m:oMath xmlns:m="http://schemas.openxmlformats.org/officeDocument/2006/math">
                    <m:r>
                      <a:rPr lang="en-US" altLang="zh-CN" sz="1200" i="1" kern="1200">
                        <a:solidFill>
                          <a:srgbClr val="1D1D1A"/>
                        </a:solidFill>
                        <a:latin typeface="Cambria Math" panose="02040503050406030204" pitchFamily="18" charset="0"/>
                        <a:cs typeface="+mn-cs"/>
                      </a:rPr>
                      <m:t>𝑠</m:t>
                    </m:r>
                    <m:r>
                      <a:rPr lang="en-US" altLang="zh-CN" sz="1200" i="1" kern="1200">
                        <a:solidFill>
                          <a:srgbClr val="1D1D1A"/>
                        </a:solidFill>
                        <a:latin typeface="Cambria Math" panose="02040503050406030204" pitchFamily="18" charset="0"/>
                        <a:cs typeface="+mn-cs"/>
                      </a:rPr>
                      <m:t>∈</m:t>
                    </m:r>
                    <m:r>
                      <a:rPr lang="en-US" altLang="zh-CN" sz="1200" i="1" kern="1200">
                        <a:solidFill>
                          <a:srgbClr val="1D1D1A"/>
                        </a:solidFill>
                        <a:latin typeface="Cambria Math" panose="02040503050406030204" pitchFamily="18" charset="0"/>
                        <a:cs typeface="+mn-cs"/>
                      </a:rPr>
                      <m:t>𝑆</m:t>
                    </m:r>
                  </m:oMath>
                </a14:m>
                <a:r>
                  <a:rPr lang="zh-CN" altLang="en-US" sz="1200" kern="1200" dirty="0">
                    <a:solidFill>
                      <a:srgbClr val="1D1D1A"/>
                    </a:solidFill>
                    <a:latin typeface="微软雅黑" panose="020B0503020204020204" pitchFamily="34" charset="-122"/>
                    <a:ea typeface="微软雅黑" panose="020B0503020204020204" pitchFamily="34" charset="-122"/>
                    <a:cs typeface="+mn-cs"/>
                  </a:rPr>
                  <a:t>，</a:t>
                </a:r>
                <a:r>
                  <a:rPr lang="en-US" altLang="zh-CN" sz="1200" kern="1200" dirty="0">
                    <a:solidFill>
                      <a:srgbClr val="1D1D1A"/>
                    </a:solidFill>
                    <a:latin typeface="微软雅黑" panose="020B0503020204020204" pitchFamily="34" charset="-122"/>
                    <a:ea typeface="微软雅黑" panose="020B0503020204020204" pitchFamily="34" charset="-122"/>
                    <a:cs typeface="+mn-cs"/>
                  </a:rPr>
                  <a:t>the sample set of </a:t>
                </a:r>
                <a14:m>
                  <m:oMath xmlns:m="http://schemas.openxmlformats.org/officeDocument/2006/math">
                    <m:r>
                      <a:rPr lang="en-US" altLang="zh-CN" sz="1200" i="1" kern="1200">
                        <a:solidFill>
                          <a:srgbClr val="1D1D1A"/>
                        </a:solidFill>
                        <a:latin typeface="Cambria Math" panose="02040503050406030204" pitchFamily="18" charset="0"/>
                        <a:cs typeface="+mn-cs"/>
                      </a:rPr>
                      <m:t>𝑠</m:t>
                    </m:r>
                  </m:oMath>
                </a14:m>
                <a:r>
                  <a:rPr lang="en-US" altLang="zh-CN" sz="1200" kern="1200" dirty="0">
                    <a:solidFill>
                      <a:srgbClr val="1D1D1A"/>
                    </a:solidFill>
                    <a:latin typeface="微软雅黑" panose="020B0503020204020204" pitchFamily="34" charset="-122"/>
                    <a:ea typeface="微软雅黑" panose="020B0503020204020204" pitchFamily="34" charset="-122"/>
                    <a:cs typeface="+mn-cs"/>
                  </a:rPr>
                  <a:t> in the training set is </a:t>
                </a:r>
                <a14:m>
                  <m:oMath xmlns:m="http://schemas.openxmlformats.org/officeDocument/2006/math">
                    <m:sSub>
                      <m:sSubPr>
                        <m:ctrlPr>
                          <a:rPr lang="en-US" altLang="zh-CN" sz="1200" i="1" kern="1200">
                            <a:solidFill>
                              <a:srgbClr val="1D1D1A"/>
                            </a:solidFill>
                            <a:latin typeface="Cambria Math" panose="02040503050406030204" pitchFamily="18" charset="0"/>
                            <a:cs typeface="+mn-cs"/>
                          </a:rPr>
                        </m:ctrlPr>
                      </m:sSubPr>
                      <m:e>
                        <m:r>
                          <a:rPr lang="en-US" altLang="zh-CN" sz="1200" i="1" kern="1200">
                            <a:solidFill>
                              <a:srgbClr val="1D1D1A"/>
                            </a:solidFill>
                            <a:latin typeface="Cambria Math" panose="02040503050406030204" pitchFamily="18" charset="0"/>
                            <a:cs typeface="+mn-cs"/>
                          </a:rPr>
                          <m:t>𝑀</m:t>
                        </m:r>
                      </m:e>
                      <m:sub>
                        <m:r>
                          <a:rPr lang="en-US" altLang="zh-CN" sz="1200" i="1" kern="1200">
                            <a:solidFill>
                              <a:srgbClr val="1D1D1A"/>
                            </a:solidFill>
                            <a:latin typeface="Cambria Math" panose="02040503050406030204" pitchFamily="18" charset="0"/>
                            <a:cs typeface="+mn-cs"/>
                          </a:rPr>
                          <m:t>𝑠</m:t>
                        </m:r>
                      </m:sub>
                    </m:sSub>
                  </m:oMath>
                </a14:m>
                <a:r>
                  <a:rPr lang="en-US" altLang="zh-CN" sz="1200" kern="1200" dirty="0">
                    <a:solidFill>
                      <a:srgbClr val="1D1D1A"/>
                    </a:solidFill>
                    <a:latin typeface="微软雅黑" panose="020B0503020204020204" pitchFamily="34" charset="-122"/>
                    <a:ea typeface="微软雅黑" panose="020B0503020204020204" pitchFamily="34" charset="-122"/>
                    <a:cs typeface="+mn-cs"/>
                  </a:rPr>
                  <a:t>.</a:t>
                </a:r>
              </a:p>
            </p:txBody>
          </p:sp>
        </mc:Choice>
        <mc:Fallback xmlns="">
          <p:sp>
            <p:nvSpPr>
              <p:cNvPr id="2" name="文本框 1">
                <a:extLst>
                  <a:ext uri="{FF2B5EF4-FFF2-40B4-BE49-F238E27FC236}">
                    <a16:creationId xmlns:a16="http://schemas.microsoft.com/office/drawing/2014/main" id="{BA491B74-2C9C-D90C-9AF1-DBA31017C6B8}"/>
                  </a:ext>
                </a:extLst>
              </p:cNvPr>
              <p:cNvSpPr txBox="1">
                <a:spLocks noRot="1" noChangeAspect="1" noMove="1" noResize="1" noEditPoints="1" noAdjustHandles="1" noChangeArrowheads="1" noChangeShapeType="1" noTextEdit="1"/>
              </p:cNvSpPr>
              <p:nvPr/>
            </p:nvSpPr>
            <p:spPr>
              <a:xfrm>
                <a:off x="301885" y="1020927"/>
                <a:ext cx="11012032" cy="890693"/>
              </a:xfrm>
              <a:prstGeom prst="rect">
                <a:avLst/>
              </a:prstGeom>
              <a:blipFill>
                <a:blip r:embed="rId3"/>
                <a:stretch>
                  <a:fillRect b="-4082"/>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5EA132D3-1433-A101-F779-3393436430B4}"/>
              </a:ext>
            </a:extLst>
          </p:cNvPr>
          <p:cNvGrpSpPr/>
          <p:nvPr/>
        </p:nvGrpSpPr>
        <p:grpSpPr>
          <a:xfrm>
            <a:off x="6216122" y="1988715"/>
            <a:ext cx="4921805" cy="1212865"/>
            <a:chOff x="6096869" y="3571034"/>
            <a:chExt cx="4921805" cy="1212865"/>
          </a:xfrm>
        </p:grpSpPr>
        <p:sp>
          <p:nvSpPr>
            <p:cNvPr id="5" name="矩形: 圆角 4">
              <a:extLst>
                <a:ext uri="{FF2B5EF4-FFF2-40B4-BE49-F238E27FC236}">
                  <a16:creationId xmlns:a16="http://schemas.microsoft.com/office/drawing/2014/main" id="{CD682328-24EC-EA2E-1D7C-EA54DAA3D4CF}"/>
                </a:ext>
              </a:extLst>
            </p:cNvPr>
            <p:cNvSpPr/>
            <p:nvPr/>
          </p:nvSpPr>
          <p:spPr>
            <a:xfrm>
              <a:off x="6098380" y="3985091"/>
              <a:ext cx="4920294" cy="798808"/>
            </a:xfrm>
            <a:prstGeom prst="roundRect">
              <a:avLst>
                <a:gd name="adj" fmla="val 3173"/>
              </a:avLst>
            </a:prstGeom>
            <a:solidFill>
              <a:srgbClr val="FFFFFF"/>
            </a:solidFill>
            <a:ln w="12700" cap="flat" cmpd="sng" algn="ctr">
              <a:solidFill>
                <a:srgbClr val="666666">
                  <a:lumMod val="40000"/>
                  <a:lumOff val="60000"/>
                </a:srgbClr>
              </a:solidFill>
              <a:prstDash val="solid"/>
              <a:miter lim="800000"/>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ctr" defTabSz="91438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666666"/>
                </a:solidFill>
                <a:effectLst/>
                <a:uLnTx/>
                <a:uFillTx/>
                <a:latin typeface="Arial"/>
                <a:ea typeface="微软雅黑"/>
                <a:cs typeface="+mn-cs"/>
              </a:endParaRPr>
            </a:p>
          </p:txBody>
        </p:sp>
        <p:sp>
          <p:nvSpPr>
            <p:cNvPr id="6" name="矩形: 圆角 5">
              <a:extLst>
                <a:ext uri="{FF2B5EF4-FFF2-40B4-BE49-F238E27FC236}">
                  <a16:creationId xmlns:a16="http://schemas.microsoft.com/office/drawing/2014/main" id="{5D988681-CE21-7321-EC9F-8552F522A886}"/>
                </a:ext>
              </a:extLst>
            </p:cNvPr>
            <p:cNvSpPr/>
            <p:nvPr/>
          </p:nvSpPr>
          <p:spPr>
            <a:xfrm>
              <a:off x="6096869" y="3571034"/>
              <a:ext cx="4921455" cy="375560"/>
            </a:xfrm>
            <a:prstGeom prst="roundRect">
              <a:avLst>
                <a:gd name="adj" fmla="val 5095"/>
              </a:avLst>
            </a:prstGeom>
            <a:solidFill>
              <a:srgbClr val="00B0F0"/>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ctr" defTabSz="914387" rtl="0" eaLnBrk="1" fontAlgn="auto" latinLnBrk="0" hangingPunct="1">
                <a:lnSpc>
                  <a:spcPct val="100000"/>
                </a:lnSpc>
                <a:spcBef>
                  <a:spcPts val="0"/>
                </a:spcBef>
                <a:spcAft>
                  <a:spcPts val="0"/>
                </a:spcAft>
                <a:buClrTx/>
                <a:buSzTx/>
                <a:buFontTx/>
                <a:buNone/>
                <a:tabLst/>
                <a:defRPr/>
              </a:pPr>
              <a:r>
                <a:rPr kumimoji="1"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Sample-level Loss</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45AE1A3-DF24-9976-7149-07F4F9795CA0}"/>
                    </a:ext>
                  </a:extLst>
                </p:cNvPr>
                <p:cNvSpPr txBox="1"/>
                <p:nvPr/>
              </p:nvSpPr>
              <p:spPr>
                <a:xfrm>
                  <a:off x="6096869" y="3862559"/>
                  <a:ext cx="4920293" cy="798808"/>
                </a:xfrm>
                <a:prstGeom prst="rect">
                  <a:avLst/>
                </a:prstGeom>
                <a:noFill/>
              </p:spPr>
              <p:txBody>
                <a:bodyPr wrap="square">
                  <a:spAutoFit/>
                </a:bodyPr>
                <a:lstStyle/>
                <a:p>
                  <a:pPr marL="114340" marR="0" lvl="1" indent="0" algn="just" defTabSz="914478" rtl="0" eaLnBrk="1" fontAlgn="auto" latinLnBrk="0" hangingPunct="1">
                    <a:lnSpc>
                      <a:spcPct val="150000"/>
                    </a:lnSpc>
                    <a:spcBef>
                      <a:spcPts val="0"/>
                    </a:spcBef>
                    <a:spcAft>
                      <a:spcPts val="0"/>
                    </a:spcAft>
                    <a:buClr>
                      <a:srgbClr val="C7000B"/>
                    </a:buClr>
                    <a:buSzTx/>
                    <a:buFontTx/>
                    <a:buNone/>
                    <a:tabLst/>
                    <a:defRPr/>
                  </a:pPr>
                  <a14:m>
                    <m:oMathPara xmlns:m="http://schemas.openxmlformats.org/officeDocument/2006/math">
                      <m:oMathParaPr>
                        <m:jc m:val="centerGroup"/>
                      </m:oMathParaPr>
                      <m:oMath xmlns:m="http://schemas.openxmlformats.org/officeDocument/2006/math">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ℒ</m:t>
                        </m:r>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m:t>
                        </m:r>
                        <m:f>
                          <m:fPr>
                            <m:ctrlP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ctrlPr>
                          </m:fPr>
                          <m:num>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1</m:t>
                            </m:r>
                          </m:num>
                          <m:den>
                            <m:nary>
                              <m:naryPr>
                                <m:chr m:val="∑"/>
                                <m:supHide m:val="on"/>
                                <m:ctrlP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ctrlPr>
                              </m:naryPr>
                              <m:sub>
                                <m:r>
                                  <m:rPr>
                                    <m:brk m:alnAt="7"/>
                                  </m:r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𝑠</m:t>
                                </m:r>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m:t>
                                </m:r>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𝑆</m:t>
                                </m:r>
                              </m:sub>
                              <m:sup/>
                              <m:e>
                                <m:d>
                                  <m:dPr>
                                    <m:begChr m:val="|"/>
                                    <m:endChr m:val="|"/>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dPr>
                                  <m:e>
                                    <m:sSub>
                                      <m:sSub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sSubPr>
                                      <m:e>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𝑀</m:t>
                                        </m:r>
                                      </m:e>
                                      <m:sub>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𝑠</m:t>
                                        </m:r>
                                      </m:sub>
                                    </m:sSub>
                                  </m:e>
                                </m:d>
                              </m:e>
                            </m:nary>
                          </m:den>
                        </m:f>
                        <m:nary>
                          <m:naryPr>
                            <m:chr m:val="∑"/>
                            <m:supHide m:val="on"/>
                            <m:ctrlP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ctrlPr>
                          </m:naryPr>
                          <m:sub>
                            <m:r>
                              <m:rPr>
                                <m:brk m:alnAt="7"/>
                              </m:rP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𝑠</m:t>
                            </m:r>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m:t>
                            </m:r>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𝑆</m:t>
                            </m:r>
                          </m:sub>
                          <m:sup/>
                          <m:e>
                            <m:nary>
                              <m:naryPr>
                                <m:chr m:val="∑"/>
                                <m:supHide m:val="on"/>
                                <m:ctrlPr>
                                  <a:rPr kumimoji="0" lang="en-US" altLang="zh-CN" sz="1200" b="0" i="1" u="none" strike="noStrike" kern="1200" cap="none" spc="0" normalizeH="0" baseline="0" noProof="0" smtClean="0">
                                    <a:ln>
                                      <a:noFill/>
                                    </a:ln>
                                    <a:solidFill>
                                      <a:srgbClr val="00B0F0"/>
                                    </a:solidFill>
                                    <a:effectLst/>
                                    <a:uLnTx/>
                                    <a:uFillTx/>
                                    <a:latin typeface="Cambria Math" panose="02040503050406030204" pitchFamily="18" charset="0"/>
                                    <a:cs typeface="+mn-cs"/>
                                  </a:rPr>
                                </m:ctrlPr>
                              </m:naryPr>
                              <m:sub>
                                <m:r>
                                  <m:rPr>
                                    <m:brk m:alnAt="7"/>
                                  </m:rPr>
                                  <a:rPr kumimoji="0" lang="en-US" altLang="zh-CN" sz="1200" b="0" i="1" u="none" strike="noStrike" kern="1200" cap="none" spc="0" normalizeH="0" baseline="0" noProof="0" smtClean="0">
                                    <a:ln>
                                      <a:noFill/>
                                    </a:ln>
                                    <a:solidFill>
                                      <a:srgbClr val="00B0F0"/>
                                    </a:solidFill>
                                    <a:effectLst/>
                                    <a:uLnTx/>
                                    <a:uFillTx/>
                                    <a:latin typeface="Cambria Math" panose="02040503050406030204" pitchFamily="18" charset="0"/>
                                    <a:cs typeface="+mn-cs"/>
                                  </a:rPr>
                                  <m:t>𝑚</m:t>
                                </m:r>
                                <m:r>
                                  <a:rPr kumimoji="0" lang="en-US" altLang="zh-CN" sz="1200" b="0" i="1" u="none" strike="noStrike" kern="1200" cap="none" spc="0" normalizeH="0" baseline="0" noProof="0" smtClean="0">
                                    <a:ln>
                                      <a:noFill/>
                                    </a:ln>
                                    <a:solidFill>
                                      <a:srgbClr val="00B0F0"/>
                                    </a:solidFill>
                                    <a:effectLst/>
                                    <a:uLnTx/>
                                    <a:uFillTx/>
                                    <a:latin typeface="Cambria Math" panose="02040503050406030204" pitchFamily="18" charset="0"/>
                                    <a:cs typeface="+mn-cs"/>
                                  </a:rPr>
                                  <m:t>∈</m:t>
                                </m:r>
                                <m:sSub>
                                  <m:sSubPr>
                                    <m:ctrlPr>
                                      <a:rPr kumimoji="0" lang="en-US" altLang="zh-CN" sz="1200" b="0" i="1" u="none" strike="noStrike" kern="1200" cap="none" spc="0" normalizeH="0" baseline="0" noProof="0" smtClean="0">
                                        <a:ln>
                                          <a:noFill/>
                                        </a:ln>
                                        <a:solidFill>
                                          <a:srgbClr val="00B0F0"/>
                                        </a:solidFill>
                                        <a:effectLst/>
                                        <a:uLnTx/>
                                        <a:uFillTx/>
                                        <a:latin typeface="Cambria Math" panose="02040503050406030204" pitchFamily="18" charset="0"/>
                                        <a:cs typeface="+mn-cs"/>
                                      </a:rPr>
                                    </m:ctrlPr>
                                  </m:sSubPr>
                                  <m:e>
                                    <m:r>
                                      <a:rPr kumimoji="0" lang="en-US" altLang="zh-CN" sz="1200" b="0" i="1" u="none" strike="noStrike" kern="1200" cap="none" spc="0" normalizeH="0" baseline="0" noProof="0" smtClean="0">
                                        <a:ln>
                                          <a:noFill/>
                                        </a:ln>
                                        <a:solidFill>
                                          <a:srgbClr val="00B0F0"/>
                                        </a:solidFill>
                                        <a:effectLst/>
                                        <a:uLnTx/>
                                        <a:uFillTx/>
                                        <a:latin typeface="Cambria Math" panose="02040503050406030204" pitchFamily="18" charset="0"/>
                                        <a:cs typeface="+mn-cs"/>
                                      </a:rPr>
                                      <m:t>𝑀</m:t>
                                    </m:r>
                                  </m:e>
                                  <m:sub>
                                    <m:r>
                                      <a:rPr kumimoji="0" lang="en-US" altLang="zh-CN" sz="1200" b="0" i="1" u="none" strike="noStrike" kern="1200" cap="none" spc="0" normalizeH="0" baseline="0" noProof="0" smtClean="0">
                                        <a:ln>
                                          <a:noFill/>
                                        </a:ln>
                                        <a:solidFill>
                                          <a:srgbClr val="00B0F0"/>
                                        </a:solidFill>
                                        <a:effectLst/>
                                        <a:uLnTx/>
                                        <a:uFillTx/>
                                        <a:latin typeface="Cambria Math" panose="02040503050406030204" pitchFamily="18" charset="0"/>
                                        <a:cs typeface="+mn-cs"/>
                                      </a:rPr>
                                      <m:t>𝑠</m:t>
                                    </m:r>
                                  </m:sub>
                                </m:sSub>
                              </m:sub>
                              <m:sup/>
                              <m:e>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m:t>
                                </m:r>
                                <m:func>
                                  <m:func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funcPr>
                                  <m:fName>
                                    <m:sSub>
                                      <m:sSub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sSubPr>
                                      <m:e>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𝑦</m:t>
                                        </m:r>
                                      </m:e>
                                      <m:sub>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𝑠</m:t>
                                        </m:r>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m:t>
                                        </m:r>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𝑚</m:t>
                                        </m:r>
                                      </m:sub>
                                    </m:sSub>
                                    <m:r>
                                      <m:rPr>
                                        <m:sty m:val="p"/>
                                      </m:rPr>
                                      <a:rPr kumimoji="0" lang="en-US" altLang="zh-CN" sz="1200" b="0" i="0" u="none" strike="noStrike" kern="1200" cap="none" spc="0" normalizeH="0" baseline="0" noProof="0">
                                        <a:ln>
                                          <a:noFill/>
                                        </a:ln>
                                        <a:solidFill>
                                          <a:srgbClr val="1D1D1A"/>
                                        </a:solidFill>
                                        <a:effectLst/>
                                        <a:uLnTx/>
                                        <a:uFillTx/>
                                        <a:latin typeface="Cambria Math" panose="02040503050406030204" pitchFamily="18" charset="0"/>
                                        <a:cs typeface="+mn-cs"/>
                                      </a:rPr>
                                      <m:t>log</m:t>
                                    </m:r>
                                  </m:fName>
                                  <m:e>
                                    <m:d>
                                      <m:d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dPr>
                                      <m:e>
                                        <m:sSup>
                                          <m:sSupPr>
                                            <m:ctrlP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ctrlPr>
                                          </m:sSupPr>
                                          <m:e>
                                            <m:acc>
                                              <m:accPr>
                                                <m:chr m:val="̂"/>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accPr>
                                              <m:e>
                                                <m:sSub>
                                                  <m:sSub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sSubPr>
                                                  <m:e>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𝑦</m:t>
                                                    </m:r>
                                                  </m:e>
                                                  <m:sub>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𝑠</m:t>
                                                    </m:r>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m:t>
                                                    </m:r>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𝑚</m:t>
                                                    </m:r>
                                                  </m:sub>
                                                </m:sSub>
                                              </m:e>
                                            </m:acc>
                                          </m:e>
                                          <m:sup>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m:t>
                                            </m:r>
                                          </m:sup>
                                        </m:sSup>
                                      </m:e>
                                    </m:d>
                                  </m:e>
                                </m:func>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+(1−</m:t>
                                </m:r>
                                <m:sSub>
                                  <m:sSub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sSubPr>
                                  <m:e>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𝑦</m:t>
                                    </m:r>
                                  </m:e>
                                  <m:sub>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𝑠</m:t>
                                    </m:r>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m:t>
                                    </m:r>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𝑚</m:t>
                                    </m:r>
                                  </m:sub>
                                </m:sSub>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m:t>
                                </m:r>
                                <m:func>
                                  <m:func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funcPr>
                                  <m:fName>
                                    <m:r>
                                      <m:rPr>
                                        <m:sty m:val="p"/>
                                      </m:rPr>
                                      <a:rPr kumimoji="0" lang="en-US" altLang="zh-CN" sz="1200" b="0" i="0" u="none" strike="noStrike" kern="1200" cap="none" spc="0" normalizeH="0" baseline="0" noProof="0">
                                        <a:ln>
                                          <a:noFill/>
                                        </a:ln>
                                        <a:solidFill>
                                          <a:srgbClr val="1D1D1A"/>
                                        </a:solidFill>
                                        <a:effectLst/>
                                        <a:uLnTx/>
                                        <a:uFillTx/>
                                        <a:latin typeface="Cambria Math" panose="02040503050406030204" pitchFamily="18" charset="0"/>
                                        <a:cs typeface="+mn-cs"/>
                                      </a:rPr>
                                      <m:t>log</m:t>
                                    </m:r>
                                  </m:fName>
                                  <m:e>
                                    <m:d>
                                      <m:d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dPr>
                                      <m:e>
                                        <m:sSup>
                                          <m:sSup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sSupPr>
                                          <m:e>
                                            <m:acc>
                                              <m:accPr>
                                                <m:chr m:val="̂"/>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accPr>
                                              <m:e>
                                                <m:sSub>
                                                  <m:sSub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sSubPr>
                                                  <m:e>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𝑦</m:t>
                                                    </m:r>
                                                  </m:e>
                                                  <m:sub>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𝑠</m:t>
                                                    </m:r>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m:t>
                                                    </m:r>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𝑚</m:t>
                                                    </m:r>
                                                  </m:sub>
                                                </m:sSub>
                                              </m:e>
                                            </m:acc>
                                          </m:e>
                                          <m:sup>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m:t>
                                            </m:r>
                                          </m:sup>
                                        </m:sSup>
                                      </m:e>
                                    </m:d>
                                  </m:e>
                                </m:func>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m:t>
                                </m:r>
                              </m:e>
                            </m:nary>
                          </m:e>
                        </m:nary>
                      </m:oMath>
                    </m:oMathPara>
                  </a14:m>
                  <a:endParaRPr kumimoji="0" lang="en-US" altLang="zh-CN"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p:txBody>
            </p:sp>
          </mc:Choice>
          <mc:Fallback xmlns="">
            <p:sp>
              <p:nvSpPr>
                <p:cNvPr id="19" name="文本框 18">
                  <a:extLst>
                    <a:ext uri="{FF2B5EF4-FFF2-40B4-BE49-F238E27FC236}">
                      <a16:creationId xmlns:a16="http://schemas.microsoft.com/office/drawing/2014/main" id="{825EAEC6-ED6F-4861-B984-B51FC1B80A75}"/>
                    </a:ext>
                  </a:extLst>
                </p:cNvPr>
                <p:cNvSpPr txBox="1">
                  <a:spLocks noRot="1" noChangeAspect="1" noMove="1" noResize="1" noEditPoints="1" noAdjustHandles="1" noChangeArrowheads="1" noChangeShapeType="1" noTextEdit="1"/>
                </p:cNvSpPr>
                <p:nvPr/>
              </p:nvSpPr>
              <p:spPr>
                <a:xfrm>
                  <a:off x="6096869" y="3862559"/>
                  <a:ext cx="4920293" cy="798808"/>
                </a:xfrm>
                <a:prstGeom prst="rect">
                  <a:avLst/>
                </a:prstGeom>
                <a:blipFill>
                  <a:blip r:embed="rId4"/>
                  <a:stretch>
                    <a:fillRect/>
                  </a:stretch>
                </a:blipFill>
              </p:spPr>
              <p:txBody>
                <a:bodyPr/>
                <a:lstStyle/>
                <a:p>
                  <a:r>
                    <a:rPr lang="zh-CN" altLang="en-US">
                      <a:noFill/>
                    </a:rPr>
                    <a:t> </a:t>
                  </a:r>
                </a:p>
              </p:txBody>
            </p:sp>
          </mc:Fallback>
        </mc:AlternateContent>
      </p:grpSp>
      <p:grpSp>
        <p:nvGrpSpPr>
          <p:cNvPr id="11" name="组合 10">
            <a:extLst>
              <a:ext uri="{FF2B5EF4-FFF2-40B4-BE49-F238E27FC236}">
                <a16:creationId xmlns:a16="http://schemas.microsoft.com/office/drawing/2014/main" id="{9D941F47-8B19-374B-E637-47AA20247A0E}"/>
              </a:ext>
            </a:extLst>
          </p:cNvPr>
          <p:cNvGrpSpPr/>
          <p:nvPr/>
        </p:nvGrpSpPr>
        <p:grpSpPr>
          <a:xfrm>
            <a:off x="1041411" y="1988715"/>
            <a:ext cx="4921805" cy="1212865"/>
            <a:chOff x="6098381" y="2065510"/>
            <a:chExt cx="4921805" cy="1212865"/>
          </a:xfrm>
        </p:grpSpPr>
        <p:sp>
          <p:nvSpPr>
            <p:cNvPr id="16" name="矩形: 圆角 15">
              <a:extLst>
                <a:ext uri="{FF2B5EF4-FFF2-40B4-BE49-F238E27FC236}">
                  <a16:creationId xmlns:a16="http://schemas.microsoft.com/office/drawing/2014/main" id="{82DFE5D9-1211-45B3-6DD5-4BA7901068A2}"/>
                </a:ext>
              </a:extLst>
            </p:cNvPr>
            <p:cNvSpPr/>
            <p:nvPr/>
          </p:nvSpPr>
          <p:spPr>
            <a:xfrm>
              <a:off x="6099892" y="2479567"/>
              <a:ext cx="4920294" cy="798808"/>
            </a:xfrm>
            <a:prstGeom prst="roundRect">
              <a:avLst>
                <a:gd name="adj" fmla="val 3173"/>
              </a:avLst>
            </a:prstGeom>
            <a:solidFill>
              <a:srgbClr val="FFFFFF"/>
            </a:solidFill>
            <a:ln w="12700" cap="flat" cmpd="sng" algn="ctr">
              <a:solidFill>
                <a:srgbClr val="666666">
                  <a:lumMod val="40000"/>
                  <a:lumOff val="60000"/>
                </a:srgbClr>
              </a:solidFill>
              <a:prstDash val="solid"/>
              <a:miter lim="800000"/>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ctr" defTabSz="91438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666666"/>
                </a:solidFill>
                <a:effectLst/>
                <a:uLnTx/>
                <a:uFillTx/>
                <a:latin typeface="Arial"/>
                <a:ea typeface="微软雅黑"/>
                <a:cs typeface="+mn-cs"/>
              </a:endParaRPr>
            </a:p>
          </p:txBody>
        </p:sp>
        <p:sp>
          <p:nvSpPr>
            <p:cNvPr id="17" name="矩形: 圆角 16">
              <a:extLst>
                <a:ext uri="{FF2B5EF4-FFF2-40B4-BE49-F238E27FC236}">
                  <a16:creationId xmlns:a16="http://schemas.microsoft.com/office/drawing/2014/main" id="{5A2B9D76-A7D5-AAA8-B2A7-DD0351CBC98D}"/>
                </a:ext>
              </a:extLst>
            </p:cNvPr>
            <p:cNvSpPr/>
            <p:nvPr/>
          </p:nvSpPr>
          <p:spPr>
            <a:xfrm>
              <a:off x="6098381" y="2065510"/>
              <a:ext cx="4921455" cy="375560"/>
            </a:xfrm>
            <a:prstGeom prst="roundRect">
              <a:avLst>
                <a:gd name="adj" fmla="val 5095"/>
              </a:avLst>
            </a:prstGeom>
            <a:solidFill>
              <a:srgbClr val="ED6D00"/>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ctr" defTabSz="914387" rtl="0" eaLnBrk="1" fontAlgn="auto" latinLnBrk="0" hangingPunct="1">
                <a:lnSpc>
                  <a:spcPct val="100000"/>
                </a:lnSpc>
                <a:spcBef>
                  <a:spcPts val="0"/>
                </a:spcBef>
                <a:spcAft>
                  <a:spcPts val="0"/>
                </a:spcAft>
                <a:buClrTx/>
                <a:buSzTx/>
                <a:buFontTx/>
                <a:buNone/>
                <a:tabLst/>
                <a:defRPr/>
              </a:pPr>
              <a:r>
                <a:rPr kumimoji="1"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DIMM-level Loss</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5083AE10-4AF2-C5C4-18CB-9F5C0CD0A2E2}"/>
                    </a:ext>
                  </a:extLst>
                </p:cNvPr>
                <p:cNvSpPr txBox="1"/>
                <p:nvPr/>
              </p:nvSpPr>
              <p:spPr>
                <a:xfrm>
                  <a:off x="6098381" y="2357035"/>
                  <a:ext cx="4920293" cy="764953"/>
                </a:xfrm>
                <a:prstGeom prst="rect">
                  <a:avLst/>
                </a:prstGeom>
                <a:noFill/>
              </p:spPr>
              <p:txBody>
                <a:bodyPr wrap="square">
                  <a:spAutoFit/>
                </a:bodyPr>
                <a:lstStyle/>
                <a:p>
                  <a:pPr marL="114340" marR="0" lvl="1" indent="0" algn="just" defTabSz="914478" rtl="0" eaLnBrk="1" fontAlgn="auto" latinLnBrk="0" hangingPunct="1">
                    <a:lnSpc>
                      <a:spcPct val="150000"/>
                    </a:lnSpc>
                    <a:spcBef>
                      <a:spcPts val="0"/>
                    </a:spcBef>
                    <a:spcAft>
                      <a:spcPts val="0"/>
                    </a:spcAft>
                    <a:buClr>
                      <a:srgbClr val="C7000B"/>
                    </a:buClr>
                    <a:buSzTx/>
                    <a:buFontTx/>
                    <a:buNone/>
                    <a:tabLst/>
                    <a:defRPr/>
                  </a:pPr>
                  <a14:m>
                    <m:oMathPara xmlns:m="http://schemas.openxmlformats.org/officeDocument/2006/math">
                      <m:oMathParaPr>
                        <m:jc m:val="centerGroup"/>
                      </m:oMathParaPr>
                      <m:oMath xmlns:m="http://schemas.openxmlformats.org/officeDocument/2006/math">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ℒ</m:t>
                        </m:r>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m:t>
                        </m:r>
                        <m:f>
                          <m:fPr>
                            <m:ctrlP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ctrlPr>
                          </m:fPr>
                          <m:num>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1</m:t>
                            </m:r>
                          </m:num>
                          <m:den>
                            <m:d>
                              <m:dPr>
                                <m:begChr m:val="|"/>
                                <m:endChr m:val="|"/>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dPr>
                              <m:e>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𝑆</m:t>
                                </m:r>
                              </m:e>
                            </m:d>
                          </m:den>
                        </m:f>
                        <m:nary>
                          <m:naryPr>
                            <m:chr m:val="∑"/>
                            <m:supHide m:val="on"/>
                            <m:ctrlP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ctrlPr>
                          </m:naryPr>
                          <m:sub>
                            <m:r>
                              <m:rPr>
                                <m:brk m:alnAt="7"/>
                              </m:rP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𝑠</m:t>
                            </m:r>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m:t>
                            </m:r>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𝑆</m:t>
                            </m:r>
                          </m:sub>
                          <m:sup/>
                          <m:e>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m:t>
                            </m:r>
                            <m:func>
                              <m:funcPr>
                                <m:ctrlP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ctrlPr>
                              </m:funcPr>
                              <m:fName>
                                <m:sSub>
                                  <m:sSub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sSubPr>
                                  <m:e>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𝑦</m:t>
                                    </m:r>
                                  </m:e>
                                  <m:sub>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𝑠</m:t>
                                    </m:r>
                                  </m:sub>
                                </m:sSub>
                                <m:r>
                                  <m:rPr>
                                    <m:sty m:val="p"/>
                                  </m:rPr>
                                  <a:rPr kumimoji="0" lang="en-US" altLang="zh-CN" sz="1200" b="0" i="0" u="none" strike="noStrike" kern="1200" cap="none" spc="0" normalizeH="0" baseline="0" noProof="0">
                                    <a:ln>
                                      <a:noFill/>
                                    </a:ln>
                                    <a:solidFill>
                                      <a:srgbClr val="1D1D1A"/>
                                    </a:solidFill>
                                    <a:effectLst/>
                                    <a:uLnTx/>
                                    <a:uFillTx/>
                                    <a:latin typeface="Cambria Math" panose="02040503050406030204" pitchFamily="18" charset="0"/>
                                    <a:cs typeface="+mn-cs"/>
                                  </a:rPr>
                                  <m:t>log</m:t>
                                </m:r>
                              </m:fName>
                              <m:e>
                                <m:d>
                                  <m:d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dPr>
                                  <m:e>
                                    <m:sSup>
                                      <m:sSup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sSupPr>
                                      <m:e>
                                        <m:acc>
                                          <m:accPr>
                                            <m:chr m:val="̂"/>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accPr>
                                          <m:e>
                                            <m:sSub>
                                              <m:sSub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sSubPr>
                                              <m:e>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𝑦</m:t>
                                                </m:r>
                                              </m:e>
                                              <m:sub>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𝑠</m:t>
                                                </m:r>
                                              </m:sub>
                                            </m:sSub>
                                          </m:e>
                                        </m:acc>
                                      </m:e>
                                      <m:sup>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m:t>
                                        </m:r>
                                      </m:sup>
                                    </m:sSup>
                                  </m:e>
                                </m:d>
                              </m:e>
                            </m:func>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+(1−</m:t>
                            </m:r>
                            <m:sSub>
                              <m:sSub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sSubPr>
                              <m:e>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𝑦</m:t>
                                </m:r>
                              </m:e>
                              <m:sub>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𝑠</m:t>
                                </m:r>
                              </m:sub>
                            </m:sSub>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m:t>
                            </m:r>
                            <m:func>
                              <m:func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funcPr>
                              <m:fName>
                                <m:r>
                                  <m:rPr>
                                    <m:sty m:val="p"/>
                                  </m:rPr>
                                  <a:rPr kumimoji="0" lang="en-US" altLang="zh-CN" sz="1200" b="0" i="0" u="none" strike="noStrike" kern="1200" cap="none" spc="0" normalizeH="0" baseline="0" noProof="0">
                                    <a:ln>
                                      <a:noFill/>
                                    </a:ln>
                                    <a:solidFill>
                                      <a:srgbClr val="1D1D1A"/>
                                    </a:solidFill>
                                    <a:effectLst/>
                                    <a:uLnTx/>
                                    <a:uFillTx/>
                                    <a:latin typeface="Cambria Math" panose="02040503050406030204" pitchFamily="18" charset="0"/>
                                    <a:cs typeface="+mn-cs"/>
                                  </a:rPr>
                                  <m:t>log</m:t>
                                </m:r>
                              </m:fName>
                              <m:e>
                                <m:d>
                                  <m:d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dPr>
                                  <m:e>
                                    <m:sSup>
                                      <m:sSup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sSupPr>
                                      <m:e>
                                        <m:acc>
                                          <m:accPr>
                                            <m:chr m:val="̂"/>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accPr>
                                          <m:e>
                                            <m:sSub>
                                              <m:sSubPr>
                                                <m:ctrlP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ctrlPr>
                                              </m:sSubPr>
                                              <m:e>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𝑦</m:t>
                                                </m:r>
                                              </m:e>
                                              <m:sub>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𝑠</m:t>
                                                </m:r>
                                              </m:sub>
                                            </m:sSub>
                                          </m:e>
                                        </m:acc>
                                      </m:e>
                                      <m:sup>
                                        <m:r>
                                          <a:rPr kumimoji="0" lang="en-US" altLang="zh-CN" sz="1200" b="0" i="1" u="none" strike="noStrike" kern="1200" cap="none" spc="0" normalizeH="0" baseline="0" noProof="0">
                                            <a:ln>
                                              <a:noFill/>
                                            </a:ln>
                                            <a:solidFill>
                                              <a:srgbClr val="1D1D1A"/>
                                            </a:solidFill>
                                            <a:effectLst/>
                                            <a:uLnTx/>
                                            <a:uFillTx/>
                                            <a:latin typeface="Cambria Math" panose="02040503050406030204" pitchFamily="18" charset="0"/>
                                            <a:cs typeface="+mn-cs"/>
                                          </a:rPr>
                                          <m:t>−</m:t>
                                        </m:r>
                                      </m:sup>
                                    </m:sSup>
                                  </m:e>
                                </m:d>
                              </m:e>
                            </m:func>
                            <m:r>
                              <a:rPr kumimoji="0" lang="en-US" altLang="zh-CN" sz="1200" b="0" i="1" u="none" strike="noStrike" kern="1200" cap="none" spc="0" normalizeH="0" baseline="0" noProof="0" smtClean="0">
                                <a:ln>
                                  <a:noFill/>
                                </a:ln>
                                <a:solidFill>
                                  <a:srgbClr val="1D1D1A"/>
                                </a:solidFill>
                                <a:effectLst/>
                                <a:uLnTx/>
                                <a:uFillTx/>
                                <a:latin typeface="Cambria Math" panose="02040503050406030204" pitchFamily="18" charset="0"/>
                                <a:cs typeface="+mn-cs"/>
                              </a:rPr>
                              <m:t>]</m:t>
                            </m:r>
                          </m:e>
                        </m:nary>
                      </m:oMath>
                    </m:oMathPara>
                  </a14:m>
                  <a:endParaRPr kumimoji="0" lang="en-US" altLang="zh-CN" sz="1200" b="0" i="0" u="none" strike="noStrike" kern="1200" cap="none" spc="0" normalizeH="0" baseline="0" noProof="0" dirty="0">
                    <a:ln>
                      <a:noFill/>
                    </a:ln>
                    <a:solidFill>
                      <a:srgbClr val="1D1D1A"/>
                    </a:solidFill>
                    <a:effectLst/>
                    <a:uLnTx/>
                    <a:uFillTx/>
                    <a:latin typeface="Calibri" panose="020F0502020204030204"/>
                    <a:ea typeface="等线" panose="02010600030101010101" pitchFamily="2" charset="-122"/>
                    <a:cs typeface="+mn-cs"/>
                  </a:endParaRPr>
                </a:p>
              </p:txBody>
            </p:sp>
          </mc:Choice>
          <mc:Fallback xmlns="">
            <p:sp>
              <p:nvSpPr>
                <p:cNvPr id="23" name="文本框 22">
                  <a:extLst>
                    <a:ext uri="{FF2B5EF4-FFF2-40B4-BE49-F238E27FC236}">
                      <a16:creationId xmlns:a16="http://schemas.microsoft.com/office/drawing/2014/main" id="{33A552D6-4AAE-409A-B487-BC02F567AFB4}"/>
                    </a:ext>
                  </a:extLst>
                </p:cNvPr>
                <p:cNvSpPr txBox="1">
                  <a:spLocks noRot="1" noChangeAspect="1" noMove="1" noResize="1" noEditPoints="1" noAdjustHandles="1" noChangeArrowheads="1" noChangeShapeType="1" noTextEdit="1"/>
                </p:cNvSpPr>
                <p:nvPr/>
              </p:nvSpPr>
              <p:spPr>
                <a:xfrm>
                  <a:off x="6098381" y="2357035"/>
                  <a:ext cx="4920293" cy="764953"/>
                </a:xfrm>
                <a:prstGeom prst="rect">
                  <a:avLst/>
                </a:prstGeom>
                <a:blipFill>
                  <a:blip r:embed="rId5"/>
                  <a:stretch>
                    <a:fillRect/>
                  </a:stretch>
                </a:blipFill>
              </p:spPr>
              <p:txBody>
                <a:bodyPr/>
                <a:lstStyle/>
                <a:p>
                  <a:r>
                    <a:rPr lang="zh-CN" altLang="en-US">
                      <a:noFill/>
                    </a:rPr>
                    <a:t> </a:t>
                  </a:r>
                </a:p>
              </p:txBody>
            </p:sp>
          </mc:Fallback>
        </mc:AlternateContent>
      </p:grpSp>
      <p:graphicFrame>
        <p:nvGraphicFramePr>
          <p:cNvPr id="22" name="表格 5">
            <a:extLst>
              <a:ext uri="{FF2B5EF4-FFF2-40B4-BE49-F238E27FC236}">
                <a16:creationId xmlns:a16="http://schemas.microsoft.com/office/drawing/2014/main" id="{6A111DA1-EAAE-D80B-F671-B2DBB473F6DE}"/>
              </a:ext>
            </a:extLst>
          </p:cNvPr>
          <p:cNvGraphicFramePr>
            <a:graphicFrameLocks noGrp="1"/>
          </p:cNvGraphicFramePr>
          <p:nvPr>
            <p:extLst>
              <p:ext uri="{D42A27DB-BD31-4B8C-83A1-F6EECF244321}">
                <p14:modId xmlns:p14="http://schemas.microsoft.com/office/powerpoint/2010/main" val="568983134"/>
              </p:ext>
            </p:extLst>
          </p:nvPr>
        </p:nvGraphicFramePr>
        <p:xfrm>
          <a:off x="1041410" y="4457316"/>
          <a:ext cx="4920294" cy="1202868"/>
        </p:xfrm>
        <a:graphic>
          <a:graphicData uri="http://schemas.openxmlformats.org/drawingml/2006/table">
            <a:tbl>
              <a:tblPr firstRow="1" bandRow="1"/>
              <a:tblGrid>
                <a:gridCol w="1435729">
                  <a:extLst>
                    <a:ext uri="{9D8B030D-6E8A-4147-A177-3AD203B41FA5}">
                      <a16:colId xmlns:a16="http://schemas.microsoft.com/office/drawing/2014/main" val="4252062730"/>
                    </a:ext>
                  </a:extLst>
                </a:gridCol>
                <a:gridCol w="696913">
                  <a:extLst>
                    <a:ext uri="{9D8B030D-6E8A-4147-A177-3AD203B41FA5}">
                      <a16:colId xmlns:a16="http://schemas.microsoft.com/office/drawing/2014/main" val="72364980"/>
                    </a:ext>
                  </a:extLst>
                </a:gridCol>
                <a:gridCol w="696913">
                  <a:extLst>
                    <a:ext uri="{9D8B030D-6E8A-4147-A177-3AD203B41FA5}">
                      <a16:colId xmlns:a16="http://schemas.microsoft.com/office/drawing/2014/main" val="229778527"/>
                    </a:ext>
                  </a:extLst>
                </a:gridCol>
                <a:gridCol w="696913">
                  <a:extLst>
                    <a:ext uri="{9D8B030D-6E8A-4147-A177-3AD203B41FA5}">
                      <a16:colId xmlns:a16="http://schemas.microsoft.com/office/drawing/2014/main" val="3613891883"/>
                    </a:ext>
                  </a:extLst>
                </a:gridCol>
                <a:gridCol w="696913">
                  <a:extLst>
                    <a:ext uri="{9D8B030D-6E8A-4147-A177-3AD203B41FA5}">
                      <a16:colId xmlns:a16="http://schemas.microsoft.com/office/drawing/2014/main" val="215367406"/>
                    </a:ext>
                  </a:extLst>
                </a:gridCol>
                <a:gridCol w="696913">
                  <a:extLst>
                    <a:ext uri="{9D8B030D-6E8A-4147-A177-3AD203B41FA5}">
                      <a16:colId xmlns:a16="http://schemas.microsoft.com/office/drawing/2014/main" val="1542995948"/>
                    </a:ext>
                  </a:extLst>
                </a:gridCol>
              </a:tblGrid>
              <a:tr h="300717">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b="1" dirty="0">
                          <a:solidFill>
                            <a:schemeClr val="tx2"/>
                          </a:solidFill>
                          <a:effectLst/>
                          <a:latin typeface="微软雅黑" panose="020B0503020204020204" pitchFamily="34" charset="-122"/>
                          <a:ea typeface="微软雅黑" panose="020B0503020204020204" pitchFamily="34" charset="-122"/>
                        </a:rPr>
                        <a:t>Sample Index</a:t>
                      </a: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ED6D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altLang="zh-CN" sz="1200" b="1" dirty="0">
                          <a:solidFill>
                            <a:schemeClr val="tx1"/>
                          </a:solidFill>
                          <a:latin typeface="微软雅黑" panose="020B0503020204020204" pitchFamily="34" charset="-122"/>
                          <a:ea typeface="微软雅黑" panose="020B0503020204020204" pitchFamily="34" charset="-122"/>
                        </a:rPr>
                        <a:t>1</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altLang="zh-CN" sz="1200" b="1">
                          <a:solidFill>
                            <a:schemeClr val="tx1"/>
                          </a:solidFill>
                          <a:latin typeface="微软雅黑" panose="020B0503020204020204" pitchFamily="34" charset="-122"/>
                          <a:ea typeface="微软雅黑" panose="020B0503020204020204" pitchFamily="34" charset="-122"/>
                        </a:rPr>
                        <a:t>2</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altLang="zh-CN" sz="1200" b="1">
                          <a:solidFill>
                            <a:schemeClr val="tx1"/>
                          </a:solidFill>
                          <a:latin typeface="微软雅黑" panose="020B0503020204020204" pitchFamily="34" charset="-122"/>
                          <a:ea typeface="微软雅黑" panose="020B0503020204020204" pitchFamily="34" charset="-122"/>
                        </a:rPr>
                        <a:t>3</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altLang="zh-CN" sz="1200" b="1">
                          <a:solidFill>
                            <a:schemeClr val="tx1"/>
                          </a:solidFill>
                          <a:latin typeface="微软雅黑" panose="020B0503020204020204" pitchFamily="34" charset="-122"/>
                          <a:ea typeface="微软雅黑" panose="020B0503020204020204" pitchFamily="34" charset="-122"/>
                        </a:rPr>
                        <a:t>4</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altLang="zh-CN" sz="1200" b="1" dirty="0">
                          <a:solidFill>
                            <a:schemeClr val="tx1"/>
                          </a:solidFill>
                          <a:latin typeface="微软雅黑" panose="020B0503020204020204" pitchFamily="34" charset="-122"/>
                          <a:ea typeface="微软雅黑" panose="020B0503020204020204" pitchFamily="34" charset="-122"/>
                        </a:rPr>
                        <a:t>5</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5187877"/>
                  </a:ext>
                </a:extLst>
              </a:tr>
              <a:tr h="300717">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b="1" dirty="0">
                          <a:solidFill>
                            <a:schemeClr val="tx2"/>
                          </a:solidFill>
                          <a:effectLst/>
                          <a:latin typeface="微软雅黑" panose="020B0503020204020204" pitchFamily="34" charset="-122"/>
                          <a:ea typeface="微软雅黑" panose="020B0503020204020204" pitchFamily="34" charset="-122"/>
                        </a:rPr>
                        <a:t>Label</a:t>
                      </a: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ED6D00"/>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zh-CN" sz="1200" b="1" dirty="0">
                          <a:solidFill>
                            <a:schemeClr val="tx1"/>
                          </a:solidFill>
                          <a:latin typeface="微软雅黑" panose="020B0503020204020204" pitchFamily="34" charset="-122"/>
                          <a:ea typeface="微软雅黑" panose="020B0503020204020204" pitchFamily="34" charset="-122"/>
                        </a:rPr>
                        <a:t>0</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zh-CN" sz="1200" b="1" dirty="0">
                          <a:solidFill>
                            <a:schemeClr val="tx1"/>
                          </a:solidFill>
                          <a:latin typeface="微软雅黑" panose="020B0503020204020204" pitchFamily="34" charset="-122"/>
                          <a:ea typeface="微软雅黑" panose="020B0503020204020204" pitchFamily="34" charset="-122"/>
                        </a:rPr>
                        <a:t>0</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zh-CN" sz="1200" b="1" dirty="0">
                          <a:solidFill>
                            <a:schemeClr val="tx1"/>
                          </a:solidFill>
                          <a:latin typeface="微软雅黑" panose="020B0503020204020204" pitchFamily="34" charset="-122"/>
                          <a:ea typeface="微软雅黑" panose="020B0503020204020204" pitchFamily="34" charset="-122"/>
                        </a:rPr>
                        <a:t>1</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zh-CN" sz="1200" b="1" dirty="0">
                          <a:solidFill>
                            <a:schemeClr val="tx1"/>
                          </a:solidFill>
                          <a:latin typeface="微软雅黑" panose="020B0503020204020204" pitchFamily="34" charset="-122"/>
                          <a:ea typeface="微软雅黑" panose="020B0503020204020204" pitchFamily="34" charset="-122"/>
                        </a:rPr>
                        <a:t>0</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zh-CN" sz="1200" b="1" dirty="0">
                          <a:solidFill>
                            <a:schemeClr val="tx1"/>
                          </a:solidFill>
                          <a:latin typeface="微软雅黑" panose="020B0503020204020204" pitchFamily="34" charset="-122"/>
                          <a:ea typeface="微软雅黑" panose="020B0503020204020204" pitchFamily="34" charset="-122"/>
                        </a:rPr>
                        <a:t>1</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32060088"/>
                  </a:ext>
                </a:extLst>
              </a:tr>
              <a:tr h="300717">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b="1" dirty="0">
                          <a:solidFill>
                            <a:schemeClr val="tx2"/>
                          </a:solidFill>
                          <a:effectLst/>
                          <a:latin typeface="微软雅黑" panose="020B0503020204020204" pitchFamily="34" charset="-122"/>
                          <a:ea typeface="微软雅黑" panose="020B0503020204020204" pitchFamily="34" charset="-122"/>
                        </a:rPr>
                        <a:t>If Failure</a:t>
                      </a: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ED6D00"/>
                    </a:solidFill>
                  </a:tcPr>
                </a:tc>
                <a:tc gridSpan="5">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zh-CN" sz="1200" b="1" dirty="0">
                          <a:solidFill>
                            <a:schemeClr val="tx1"/>
                          </a:solidFill>
                          <a:latin typeface="微软雅黑" panose="020B0503020204020204" pitchFamily="34" charset="-122"/>
                          <a:ea typeface="微软雅黑" panose="020B0503020204020204" pitchFamily="34" charset="-122"/>
                        </a:rPr>
                        <a:t>TP = 2, FP = 3</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ct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tx2"/>
                    </a:solidFill>
                  </a:tcPr>
                </a:tc>
                <a:tc hMerge="1">
                  <a:txBody>
                    <a:bodyPr/>
                    <a:lstStyle/>
                    <a:p>
                      <a:pPr algn="ct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tx2"/>
                    </a:solidFill>
                  </a:tcPr>
                </a:tc>
                <a:tc hMerge="1">
                  <a:txBody>
                    <a:bodyPr/>
                    <a:lstStyle/>
                    <a:p>
                      <a:pPr algn="ct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tx2"/>
                    </a:solidFill>
                  </a:tcPr>
                </a:tc>
                <a:tc hMerge="1">
                  <a:txBody>
                    <a:bodyPr/>
                    <a:lstStyle/>
                    <a:p>
                      <a:pPr algn="ct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tx2"/>
                    </a:solidFill>
                  </a:tcPr>
                </a:tc>
                <a:extLst>
                  <a:ext uri="{0D108BD9-81ED-4DB2-BD59-A6C34878D82A}">
                    <a16:rowId xmlns:a16="http://schemas.microsoft.com/office/drawing/2014/main" val="935645239"/>
                  </a:ext>
                </a:extLst>
              </a:tr>
              <a:tr h="300717">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b="1" dirty="0">
                          <a:solidFill>
                            <a:schemeClr val="tx2"/>
                          </a:solidFill>
                          <a:effectLst/>
                          <a:latin typeface="微软雅黑" panose="020B0503020204020204" pitchFamily="34" charset="-122"/>
                          <a:ea typeface="微软雅黑" panose="020B0503020204020204" pitchFamily="34" charset="-122"/>
                        </a:rPr>
                        <a:t>No Failure</a:t>
                      </a: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ED6D00"/>
                    </a:solidFill>
                  </a:tcPr>
                </a:tc>
                <a:tc gridSpan="5">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微软雅黑" panose="020B0503020204020204" pitchFamily="34" charset="-122"/>
                          <a:ea typeface="微软雅黑" panose="020B0503020204020204" pitchFamily="34" charset="-122"/>
                        </a:rPr>
                        <a:t>TP = 3, FP = 2</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ct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tx2"/>
                    </a:solidFill>
                  </a:tcPr>
                </a:tc>
                <a:tc hMerge="1">
                  <a:txBody>
                    <a:bodyPr/>
                    <a:lstStyle/>
                    <a:p>
                      <a:pPr algn="ct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tx2"/>
                    </a:solidFill>
                  </a:tcPr>
                </a:tc>
                <a:tc hMerge="1">
                  <a:txBody>
                    <a:bodyPr/>
                    <a:lstStyle/>
                    <a:p>
                      <a:pPr algn="ct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tx2"/>
                    </a:solidFill>
                  </a:tcPr>
                </a:tc>
                <a:tc hMerge="1">
                  <a:txBody>
                    <a:bodyPr/>
                    <a:lstStyle/>
                    <a:p>
                      <a:pPr algn="ct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tx2"/>
                    </a:solidFill>
                  </a:tcPr>
                </a:tc>
                <a:extLst>
                  <a:ext uri="{0D108BD9-81ED-4DB2-BD59-A6C34878D82A}">
                    <a16:rowId xmlns:a16="http://schemas.microsoft.com/office/drawing/2014/main" val="3664760610"/>
                  </a:ext>
                </a:extLst>
              </a:tr>
            </a:tbl>
          </a:graphicData>
        </a:graphic>
      </p:graphicFrame>
      <p:graphicFrame>
        <p:nvGraphicFramePr>
          <p:cNvPr id="23" name="表格 5">
            <a:extLst>
              <a:ext uri="{FF2B5EF4-FFF2-40B4-BE49-F238E27FC236}">
                <a16:creationId xmlns:a16="http://schemas.microsoft.com/office/drawing/2014/main" id="{9E865563-FD97-6E6A-7689-6B66EFE0B51F}"/>
              </a:ext>
            </a:extLst>
          </p:cNvPr>
          <p:cNvGraphicFramePr>
            <a:graphicFrameLocks noGrp="1"/>
          </p:cNvGraphicFramePr>
          <p:nvPr>
            <p:extLst>
              <p:ext uri="{D42A27DB-BD31-4B8C-83A1-F6EECF244321}">
                <p14:modId xmlns:p14="http://schemas.microsoft.com/office/powerpoint/2010/main" val="960696447"/>
              </p:ext>
            </p:extLst>
          </p:nvPr>
        </p:nvGraphicFramePr>
        <p:xfrm>
          <a:off x="6216121" y="4457316"/>
          <a:ext cx="4920294" cy="1202868"/>
        </p:xfrm>
        <a:graphic>
          <a:graphicData uri="http://schemas.openxmlformats.org/drawingml/2006/table">
            <a:tbl>
              <a:tblPr firstRow="1" bandRow="1"/>
              <a:tblGrid>
                <a:gridCol w="1435729">
                  <a:extLst>
                    <a:ext uri="{9D8B030D-6E8A-4147-A177-3AD203B41FA5}">
                      <a16:colId xmlns:a16="http://schemas.microsoft.com/office/drawing/2014/main" val="4252062730"/>
                    </a:ext>
                  </a:extLst>
                </a:gridCol>
                <a:gridCol w="3484565">
                  <a:extLst>
                    <a:ext uri="{9D8B030D-6E8A-4147-A177-3AD203B41FA5}">
                      <a16:colId xmlns:a16="http://schemas.microsoft.com/office/drawing/2014/main" val="72364980"/>
                    </a:ext>
                  </a:extLst>
                </a:gridCol>
              </a:tblGrid>
              <a:tr h="300717">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b="1" dirty="0">
                          <a:solidFill>
                            <a:schemeClr val="tx2"/>
                          </a:solidFill>
                          <a:effectLst/>
                          <a:latin typeface="微软雅黑" panose="020B0503020204020204" pitchFamily="34" charset="-122"/>
                          <a:ea typeface="微软雅黑" panose="020B0503020204020204" pitchFamily="34" charset="-122"/>
                        </a:rPr>
                        <a:t>DIMM Index</a:t>
                      </a: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altLang="zh-CN" sz="1200" b="1" dirty="0">
                          <a:solidFill>
                            <a:schemeClr val="tx1"/>
                          </a:solidFill>
                          <a:latin typeface="微软雅黑" panose="020B0503020204020204" pitchFamily="34" charset="-122"/>
                          <a:ea typeface="微软雅黑" panose="020B0503020204020204" pitchFamily="34" charset="-122"/>
                        </a:rPr>
                        <a:t>s</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5187877"/>
                  </a:ext>
                </a:extLst>
              </a:tr>
              <a:tr h="300717">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b="1" dirty="0">
                          <a:solidFill>
                            <a:schemeClr val="tx2"/>
                          </a:solidFill>
                          <a:effectLst/>
                          <a:latin typeface="微软雅黑" panose="020B0503020204020204" pitchFamily="34" charset="-122"/>
                          <a:ea typeface="微软雅黑" panose="020B0503020204020204" pitchFamily="34" charset="-122"/>
                        </a:rPr>
                        <a:t>Label</a:t>
                      </a: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zh-CN" sz="1200" b="1" dirty="0">
                          <a:solidFill>
                            <a:schemeClr val="tx1"/>
                          </a:solidFill>
                          <a:latin typeface="微软雅黑" panose="020B0503020204020204" pitchFamily="34" charset="-122"/>
                          <a:ea typeface="微软雅黑" panose="020B0503020204020204" pitchFamily="34" charset="-122"/>
                        </a:rPr>
                        <a:t>1</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32060088"/>
                  </a:ext>
                </a:extLst>
              </a:tr>
              <a:tr h="300717">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b="1" dirty="0">
                          <a:solidFill>
                            <a:schemeClr val="tx2"/>
                          </a:solidFill>
                          <a:effectLst/>
                          <a:latin typeface="微软雅黑" panose="020B0503020204020204" pitchFamily="34" charset="-122"/>
                          <a:ea typeface="微软雅黑" panose="020B0503020204020204" pitchFamily="34" charset="-122"/>
                        </a:rPr>
                        <a:t>If Failure</a:t>
                      </a: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zh-CN" sz="1200" b="1" dirty="0">
                          <a:solidFill>
                            <a:schemeClr val="tx1"/>
                          </a:solidFill>
                          <a:latin typeface="微软雅黑" panose="020B0503020204020204" pitchFamily="34" charset="-122"/>
                          <a:ea typeface="微软雅黑" panose="020B0503020204020204" pitchFamily="34" charset="-122"/>
                        </a:rPr>
                        <a:t>TP = 1, FP = 0</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35645239"/>
                  </a:ext>
                </a:extLst>
              </a:tr>
              <a:tr h="300717">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b="1" dirty="0">
                          <a:solidFill>
                            <a:schemeClr val="tx2"/>
                          </a:solidFill>
                          <a:effectLst/>
                          <a:latin typeface="微软雅黑" panose="020B0503020204020204" pitchFamily="34" charset="-122"/>
                          <a:ea typeface="微软雅黑" panose="020B0503020204020204" pitchFamily="34" charset="-122"/>
                        </a:rPr>
                        <a:t>No Failure</a:t>
                      </a: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zh-CN" sz="1200" b="1" dirty="0">
                          <a:solidFill>
                            <a:schemeClr val="tx1"/>
                          </a:solidFill>
                          <a:latin typeface="微软雅黑" panose="020B0503020204020204" pitchFamily="34" charset="-122"/>
                          <a:ea typeface="微软雅黑" panose="020B0503020204020204" pitchFamily="34" charset="-122"/>
                        </a:rPr>
                        <a:t>TP = 0, FP = 1</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nchor="ctr">
                    <a:lnL w="3175" cap="flat" cmpd="sng" algn="ctr">
                      <a:solidFill>
                        <a:srgbClr val="666666"/>
                      </a:solidFill>
                      <a:prstDash val="solid"/>
                      <a:round/>
                      <a:headEnd type="none" w="med" len="med"/>
                      <a:tailEnd type="none" w="med" len="med"/>
                    </a:lnL>
                    <a:lnR w="3175" cap="flat" cmpd="sng" algn="ctr">
                      <a:solidFill>
                        <a:srgbClr val="666666"/>
                      </a:solidFill>
                      <a:prstDash val="solid"/>
                      <a:round/>
                      <a:headEnd type="none" w="med" len="med"/>
                      <a:tailEnd type="none" w="med" len="med"/>
                    </a:lnR>
                    <a:lnT w="3175" cap="flat" cmpd="sng" algn="ctr">
                      <a:solidFill>
                        <a:srgbClr val="666666"/>
                      </a:solidFill>
                      <a:prstDash val="solid"/>
                      <a:round/>
                      <a:headEnd type="none" w="med" len="med"/>
                      <a:tailEnd type="none" w="med" len="med"/>
                    </a:lnT>
                    <a:lnB w="3175"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4760610"/>
                  </a:ext>
                </a:extLst>
              </a:tr>
            </a:tbl>
          </a:graphicData>
        </a:graphic>
      </p:graphicFrame>
      <p:cxnSp>
        <p:nvCxnSpPr>
          <p:cNvPr id="24" name="直接箭头连接符 23">
            <a:extLst>
              <a:ext uri="{FF2B5EF4-FFF2-40B4-BE49-F238E27FC236}">
                <a16:creationId xmlns:a16="http://schemas.microsoft.com/office/drawing/2014/main" id="{F8A93EE4-C01C-0F1B-BCFD-3A15D6920791}"/>
              </a:ext>
            </a:extLst>
          </p:cNvPr>
          <p:cNvCxnSpPr>
            <a:cxnSpLocks/>
          </p:cNvCxnSpPr>
          <p:nvPr/>
        </p:nvCxnSpPr>
        <p:spPr>
          <a:xfrm>
            <a:off x="1702156" y="3962094"/>
            <a:ext cx="7955825" cy="0"/>
          </a:xfrm>
          <a:prstGeom prst="straightConnector1">
            <a:avLst/>
          </a:prstGeom>
          <a:noFill/>
          <a:ln w="57150" cap="flat" cmpd="sng" algn="ctr">
            <a:solidFill>
              <a:srgbClr val="1D1D1A"/>
            </a:solidFill>
            <a:prstDash val="solid"/>
            <a:miter lim="800000"/>
            <a:tailEnd type="triangle"/>
          </a:ln>
          <a:effectLst/>
        </p:spPr>
      </p:cxnSp>
      <p:cxnSp>
        <p:nvCxnSpPr>
          <p:cNvPr id="25" name="直接连接符 24">
            <a:extLst>
              <a:ext uri="{FF2B5EF4-FFF2-40B4-BE49-F238E27FC236}">
                <a16:creationId xmlns:a16="http://schemas.microsoft.com/office/drawing/2014/main" id="{B66ACF49-EEE5-83CD-A73D-1C6AF6273187}"/>
              </a:ext>
            </a:extLst>
          </p:cNvPr>
          <p:cNvCxnSpPr>
            <a:cxnSpLocks/>
          </p:cNvCxnSpPr>
          <p:nvPr/>
        </p:nvCxnSpPr>
        <p:spPr>
          <a:xfrm>
            <a:off x="5729572" y="3621043"/>
            <a:ext cx="0" cy="360000"/>
          </a:xfrm>
          <a:prstGeom prst="line">
            <a:avLst/>
          </a:prstGeom>
          <a:noFill/>
          <a:ln w="28575" cap="flat" cmpd="sng" algn="ctr">
            <a:solidFill>
              <a:srgbClr val="1D1D1A"/>
            </a:solidFill>
            <a:prstDash val="solid"/>
            <a:miter lim="800000"/>
          </a:ln>
          <a:effectLst/>
        </p:spPr>
      </p:cxnSp>
      <p:cxnSp>
        <p:nvCxnSpPr>
          <p:cNvPr id="26" name="直接连接符 25">
            <a:extLst>
              <a:ext uri="{FF2B5EF4-FFF2-40B4-BE49-F238E27FC236}">
                <a16:creationId xmlns:a16="http://schemas.microsoft.com/office/drawing/2014/main" id="{24130234-DCF1-5C7E-72EF-94FAEDC2810F}"/>
              </a:ext>
            </a:extLst>
          </p:cNvPr>
          <p:cNvCxnSpPr>
            <a:cxnSpLocks/>
          </p:cNvCxnSpPr>
          <p:nvPr/>
        </p:nvCxnSpPr>
        <p:spPr>
          <a:xfrm>
            <a:off x="6435931" y="3621043"/>
            <a:ext cx="0" cy="360000"/>
          </a:xfrm>
          <a:prstGeom prst="line">
            <a:avLst/>
          </a:prstGeom>
          <a:noFill/>
          <a:ln w="28575" cap="flat" cmpd="sng" algn="ctr">
            <a:solidFill>
              <a:srgbClr val="1D1D1A"/>
            </a:solidFill>
            <a:prstDash val="solid"/>
            <a:miter lim="800000"/>
          </a:ln>
          <a:effectLst/>
        </p:spPr>
      </p:cxnSp>
      <p:cxnSp>
        <p:nvCxnSpPr>
          <p:cNvPr id="27" name="直接连接符 26">
            <a:extLst>
              <a:ext uri="{FF2B5EF4-FFF2-40B4-BE49-F238E27FC236}">
                <a16:creationId xmlns:a16="http://schemas.microsoft.com/office/drawing/2014/main" id="{666D845B-CC94-1489-FFC4-BB139B92C8B8}"/>
              </a:ext>
            </a:extLst>
          </p:cNvPr>
          <p:cNvCxnSpPr>
            <a:cxnSpLocks/>
          </p:cNvCxnSpPr>
          <p:nvPr/>
        </p:nvCxnSpPr>
        <p:spPr>
          <a:xfrm>
            <a:off x="4316854" y="3621043"/>
            <a:ext cx="0" cy="360000"/>
          </a:xfrm>
          <a:prstGeom prst="line">
            <a:avLst/>
          </a:prstGeom>
          <a:noFill/>
          <a:ln w="28575" cap="flat" cmpd="sng" algn="ctr">
            <a:solidFill>
              <a:srgbClr val="1D1D1A"/>
            </a:solidFill>
            <a:prstDash val="solid"/>
            <a:miter lim="800000"/>
          </a:ln>
          <a:effectLst/>
        </p:spPr>
      </p:cxnSp>
      <p:cxnSp>
        <p:nvCxnSpPr>
          <p:cNvPr id="28" name="直接连接符 27">
            <a:extLst>
              <a:ext uri="{FF2B5EF4-FFF2-40B4-BE49-F238E27FC236}">
                <a16:creationId xmlns:a16="http://schemas.microsoft.com/office/drawing/2014/main" id="{B67C157D-DDD5-7D4F-690B-5B60DF56F1BD}"/>
              </a:ext>
            </a:extLst>
          </p:cNvPr>
          <p:cNvCxnSpPr>
            <a:cxnSpLocks/>
          </p:cNvCxnSpPr>
          <p:nvPr/>
        </p:nvCxnSpPr>
        <p:spPr>
          <a:xfrm>
            <a:off x="5023213" y="3621043"/>
            <a:ext cx="0" cy="360000"/>
          </a:xfrm>
          <a:prstGeom prst="line">
            <a:avLst/>
          </a:prstGeom>
          <a:noFill/>
          <a:ln w="28575" cap="flat" cmpd="sng" algn="ctr">
            <a:solidFill>
              <a:srgbClr val="1D1D1A"/>
            </a:solidFill>
            <a:prstDash val="solid"/>
            <a:miter lim="800000"/>
          </a:ln>
          <a:effectLst/>
        </p:spPr>
      </p:cxnSp>
      <p:cxnSp>
        <p:nvCxnSpPr>
          <p:cNvPr id="29" name="直接连接符 28">
            <a:extLst>
              <a:ext uri="{FF2B5EF4-FFF2-40B4-BE49-F238E27FC236}">
                <a16:creationId xmlns:a16="http://schemas.microsoft.com/office/drawing/2014/main" id="{885811BC-FE7F-FD31-029A-9F19697184A2}"/>
              </a:ext>
            </a:extLst>
          </p:cNvPr>
          <p:cNvCxnSpPr>
            <a:cxnSpLocks/>
          </p:cNvCxnSpPr>
          <p:nvPr/>
        </p:nvCxnSpPr>
        <p:spPr>
          <a:xfrm>
            <a:off x="3610495" y="3621043"/>
            <a:ext cx="0" cy="360000"/>
          </a:xfrm>
          <a:prstGeom prst="line">
            <a:avLst/>
          </a:prstGeom>
          <a:noFill/>
          <a:ln w="28575" cap="flat" cmpd="sng" algn="ctr">
            <a:solidFill>
              <a:srgbClr val="1D1D1A"/>
            </a:solidFill>
            <a:prstDash val="solid"/>
            <a:miter lim="800000"/>
          </a:ln>
          <a:effectLst/>
        </p:spPr>
      </p:cxnSp>
      <p:cxnSp>
        <p:nvCxnSpPr>
          <p:cNvPr id="30" name="直接连接符 29">
            <a:extLst>
              <a:ext uri="{FF2B5EF4-FFF2-40B4-BE49-F238E27FC236}">
                <a16:creationId xmlns:a16="http://schemas.microsoft.com/office/drawing/2014/main" id="{8D28DEAF-BEB2-81AC-601B-461C96239516}"/>
              </a:ext>
            </a:extLst>
          </p:cNvPr>
          <p:cNvCxnSpPr>
            <a:cxnSpLocks/>
          </p:cNvCxnSpPr>
          <p:nvPr/>
        </p:nvCxnSpPr>
        <p:spPr>
          <a:xfrm>
            <a:off x="2904136" y="3621043"/>
            <a:ext cx="0" cy="360000"/>
          </a:xfrm>
          <a:prstGeom prst="line">
            <a:avLst/>
          </a:prstGeom>
          <a:noFill/>
          <a:ln w="28575" cap="flat" cmpd="sng" algn="ctr">
            <a:solidFill>
              <a:srgbClr val="1D1D1A"/>
            </a:solidFill>
            <a:prstDash val="solid"/>
            <a:miter lim="800000"/>
          </a:ln>
          <a:effectLst/>
        </p:spPr>
      </p:cxnSp>
      <p:cxnSp>
        <p:nvCxnSpPr>
          <p:cNvPr id="31" name="直接连接符 30">
            <a:extLst>
              <a:ext uri="{FF2B5EF4-FFF2-40B4-BE49-F238E27FC236}">
                <a16:creationId xmlns:a16="http://schemas.microsoft.com/office/drawing/2014/main" id="{129C6432-45DE-79BE-4E6E-6847AA97DC74}"/>
              </a:ext>
            </a:extLst>
          </p:cNvPr>
          <p:cNvCxnSpPr>
            <a:cxnSpLocks/>
          </p:cNvCxnSpPr>
          <p:nvPr/>
        </p:nvCxnSpPr>
        <p:spPr>
          <a:xfrm>
            <a:off x="2163055" y="3608227"/>
            <a:ext cx="0" cy="360000"/>
          </a:xfrm>
          <a:prstGeom prst="line">
            <a:avLst/>
          </a:prstGeom>
          <a:noFill/>
          <a:ln w="28575" cap="flat" cmpd="sng" algn="ctr">
            <a:solidFill>
              <a:srgbClr val="1D1D1A"/>
            </a:solidFill>
            <a:prstDash val="solid"/>
            <a:miter lim="800000"/>
          </a:ln>
          <a:effectLst/>
        </p:spPr>
      </p:cxn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E05EB128-4F9E-C9CF-E14C-0044934F86B6}"/>
                  </a:ext>
                </a:extLst>
              </p:cNvPr>
              <p:cNvSpPr txBox="1"/>
              <p:nvPr/>
            </p:nvSpPr>
            <p:spPr>
              <a:xfrm>
                <a:off x="584158" y="3727517"/>
                <a:ext cx="1310724" cy="369332"/>
              </a:xfrm>
              <a:prstGeom prst="rect">
                <a:avLst/>
              </a:prstGeom>
              <a:noFill/>
            </p:spPr>
            <p:txBody>
              <a:bodyPr wrap="square">
                <a:spAutoFit/>
              </a:bodyPr>
              <a:lstStyle/>
              <a:p>
                <a:pPr algn="ctr" defTabSz="914478" rtl="0"/>
                <a14:m>
                  <m:oMathPara xmlns:m="http://schemas.openxmlformats.org/officeDocument/2006/math">
                    <m:oMathParaPr>
                      <m:jc m:val="centerGroup"/>
                    </m:oMathParaPr>
                    <m:oMath xmlns:m="http://schemas.openxmlformats.org/officeDocument/2006/math">
                      <m:r>
                        <a:rPr lang="en-US" altLang="zh-CN" i="1" kern="1200" dirty="0">
                          <a:solidFill>
                            <a:srgbClr val="1D1D1A"/>
                          </a:solidFill>
                          <a:latin typeface="Cambria Math" panose="02040503050406030204" pitchFamily="18" charset="0"/>
                          <a:cs typeface="+mn-cs"/>
                        </a:rPr>
                        <m:t>𝑆𝑁</m:t>
                      </m:r>
                      <m:r>
                        <a:rPr lang="en-US" altLang="zh-CN" i="1" kern="1200" dirty="0">
                          <a:solidFill>
                            <a:srgbClr val="1D1D1A"/>
                          </a:solidFill>
                          <a:latin typeface="Cambria Math" panose="02040503050406030204" pitchFamily="18" charset="0"/>
                          <a:cs typeface="+mn-cs"/>
                        </a:rPr>
                        <m:t>_</m:t>
                      </m:r>
                      <m:r>
                        <a:rPr lang="en-US" altLang="zh-CN" i="1" kern="1200" dirty="0">
                          <a:solidFill>
                            <a:srgbClr val="1D1D1A"/>
                          </a:solidFill>
                          <a:latin typeface="Cambria Math" panose="02040503050406030204" pitchFamily="18" charset="0"/>
                          <a:cs typeface="+mn-cs"/>
                        </a:rPr>
                        <m:t>𝑠</m:t>
                      </m:r>
                    </m:oMath>
                  </m:oMathPara>
                </a14:m>
                <a:endParaRPr lang="en-US" altLang="zh-CN" kern="1200" dirty="0">
                  <a:solidFill>
                    <a:srgbClr val="1D1D1A"/>
                  </a:solidFill>
                  <a:latin typeface="等线" panose="02010600030101010101" pitchFamily="2" charset="-122"/>
                  <a:ea typeface="等线" panose="02010600030101010101" pitchFamily="2" charset="-122"/>
                  <a:cs typeface="+mn-cs"/>
                </a:endParaRPr>
              </a:p>
            </p:txBody>
          </p:sp>
        </mc:Choice>
        <mc:Fallback xmlns="">
          <p:sp>
            <p:nvSpPr>
              <p:cNvPr id="32" name="文本框 31">
                <a:extLst>
                  <a:ext uri="{FF2B5EF4-FFF2-40B4-BE49-F238E27FC236}">
                    <a16:creationId xmlns:a16="http://schemas.microsoft.com/office/drawing/2014/main" id="{E05EB128-4F9E-C9CF-E14C-0044934F86B6}"/>
                  </a:ext>
                </a:extLst>
              </p:cNvPr>
              <p:cNvSpPr txBox="1">
                <a:spLocks noRot="1" noChangeAspect="1" noMove="1" noResize="1" noEditPoints="1" noAdjustHandles="1" noChangeArrowheads="1" noChangeShapeType="1" noTextEdit="1"/>
              </p:cNvSpPr>
              <p:nvPr/>
            </p:nvSpPr>
            <p:spPr>
              <a:xfrm>
                <a:off x="584158" y="3727517"/>
                <a:ext cx="1310724" cy="369332"/>
              </a:xfrm>
              <a:prstGeom prst="rect">
                <a:avLst/>
              </a:prstGeom>
              <a:blipFill>
                <a:blip r:embed="rId6"/>
                <a:stretch>
                  <a:fillRect/>
                </a:stretch>
              </a:blipFill>
            </p:spPr>
            <p:txBody>
              <a:bodyPr/>
              <a:lstStyle/>
              <a:p>
                <a:r>
                  <a:rPr lang="zh-CN" altLang="en-US">
                    <a:noFill/>
                  </a:rPr>
                  <a:t> </a:t>
                </a:r>
              </a:p>
            </p:txBody>
          </p:sp>
        </mc:Fallback>
      </mc:AlternateContent>
      <p:sp>
        <p:nvSpPr>
          <p:cNvPr id="33" name="等腰三角形 32">
            <a:extLst>
              <a:ext uri="{FF2B5EF4-FFF2-40B4-BE49-F238E27FC236}">
                <a16:creationId xmlns:a16="http://schemas.microsoft.com/office/drawing/2014/main" id="{39D7B14B-46AB-F068-646C-F2FFE8469510}"/>
              </a:ext>
            </a:extLst>
          </p:cNvPr>
          <p:cNvSpPr/>
          <p:nvPr/>
        </p:nvSpPr>
        <p:spPr>
          <a:xfrm>
            <a:off x="1917055" y="3752229"/>
            <a:ext cx="86263" cy="198403"/>
          </a:xfrm>
          <a:prstGeom prst="triangle">
            <a:avLst/>
          </a:prstGeom>
          <a:solidFill>
            <a:srgbClr val="ED6D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34" name="等腰三角形 33">
            <a:extLst>
              <a:ext uri="{FF2B5EF4-FFF2-40B4-BE49-F238E27FC236}">
                <a16:creationId xmlns:a16="http://schemas.microsoft.com/office/drawing/2014/main" id="{199B414C-E7CF-DC8D-764D-444015FC81DE}"/>
              </a:ext>
            </a:extLst>
          </p:cNvPr>
          <p:cNvSpPr/>
          <p:nvPr/>
        </p:nvSpPr>
        <p:spPr>
          <a:xfrm>
            <a:off x="3361208" y="3752229"/>
            <a:ext cx="86263" cy="198403"/>
          </a:xfrm>
          <a:prstGeom prst="triangle">
            <a:avLst/>
          </a:prstGeom>
          <a:solidFill>
            <a:srgbClr val="ED6D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35" name="等腰三角形 34">
            <a:extLst>
              <a:ext uri="{FF2B5EF4-FFF2-40B4-BE49-F238E27FC236}">
                <a16:creationId xmlns:a16="http://schemas.microsoft.com/office/drawing/2014/main" id="{AEF98CCD-8054-9301-904C-0AB45ACC8B8D}"/>
              </a:ext>
            </a:extLst>
          </p:cNvPr>
          <p:cNvSpPr/>
          <p:nvPr/>
        </p:nvSpPr>
        <p:spPr>
          <a:xfrm>
            <a:off x="3954276" y="3752229"/>
            <a:ext cx="86263" cy="198403"/>
          </a:xfrm>
          <a:prstGeom prst="triangle">
            <a:avLst/>
          </a:prstGeom>
          <a:solidFill>
            <a:srgbClr val="ED6D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E9002F"/>
              </a:solidFill>
              <a:effectLst/>
              <a:uLnTx/>
              <a:uFillTx/>
              <a:latin typeface="Calibri" panose="020F0502020204030204"/>
              <a:ea typeface="等线" panose="02010600030101010101" pitchFamily="2" charset="-122"/>
              <a:cs typeface="+mn-cs"/>
            </a:endParaRPr>
          </a:p>
        </p:txBody>
      </p:sp>
      <p:sp>
        <p:nvSpPr>
          <p:cNvPr id="36" name="等腰三角形 35">
            <a:extLst>
              <a:ext uri="{FF2B5EF4-FFF2-40B4-BE49-F238E27FC236}">
                <a16:creationId xmlns:a16="http://schemas.microsoft.com/office/drawing/2014/main" id="{229930A5-2D3B-EC9C-FA18-44C633D271FA}"/>
              </a:ext>
            </a:extLst>
          </p:cNvPr>
          <p:cNvSpPr/>
          <p:nvPr/>
        </p:nvSpPr>
        <p:spPr>
          <a:xfrm>
            <a:off x="4568801" y="3752229"/>
            <a:ext cx="86263" cy="198403"/>
          </a:xfrm>
          <a:prstGeom prst="triangle">
            <a:avLst/>
          </a:prstGeom>
          <a:solidFill>
            <a:srgbClr val="ED6D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37" name="等腰三角形 36">
            <a:extLst>
              <a:ext uri="{FF2B5EF4-FFF2-40B4-BE49-F238E27FC236}">
                <a16:creationId xmlns:a16="http://schemas.microsoft.com/office/drawing/2014/main" id="{0F0F9FB9-96BF-4F7B-045C-498A38B779D3}"/>
              </a:ext>
            </a:extLst>
          </p:cNvPr>
          <p:cNvSpPr/>
          <p:nvPr/>
        </p:nvSpPr>
        <p:spPr>
          <a:xfrm>
            <a:off x="6636911" y="3752229"/>
            <a:ext cx="86263" cy="198403"/>
          </a:xfrm>
          <a:prstGeom prst="triangle">
            <a:avLst/>
          </a:prstGeom>
          <a:solidFill>
            <a:srgbClr val="ED6D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38" name="等腰三角形 37">
            <a:extLst>
              <a:ext uri="{FF2B5EF4-FFF2-40B4-BE49-F238E27FC236}">
                <a16:creationId xmlns:a16="http://schemas.microsoft.com/office/drawing/2014/main" id="{CFEB4609-5F6F-FA2A-6E1B-589A7FD03905}"/>
              </a:ext>
            </a:extLst>
          </p:cNvPr>
          <p:cNvSpPr/>
          <p:nvPr/>
        </p:nvSpPr>
        <p:spPr>
          <a:xfrm>
            <a:off x="6275962" y="3752229"/>
            <a:ext cx="86263" cy="198403"/>
          </a:xfrm>
          <a:prstGeom prst="triangle">
            <a:avLst/>
          </a:prstGeom>
          <a:solidFill>
            <a:srgbClr val="ED6D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39" name="左大括号 38">
            <a:extLst>
              <a:ext uri="{FF2B5EF4-FFF2-40B4-BE49-F238E27FC236}">
                <a16:creationId xmlns:a16="http://schemas.microsoft.com/office/drawing/2014/main" id="{5D06B17F-F257-E708-9933-816B54FF3868}"/>
              </a:ext>
            </a:extLst>
          </p:cNvPr>
          <p:cNvSpPr/>
          <p:nvPr/>
        </p:nvSpPr>
        <p:spPr>
          <a:xfrm rot="16200000" flipH="1">
            <a:off x="3205622" y="3186223"/>
            <a:ext cx="103390" cy="706356"/>
          </a:xfrm>
          <a:prstGeom prst="leftBrace">
            <a:avLst/>
          </a:prstGeom>
          <a:noFill/>
          <a:ln w="6350" cap="flat" cmpd="sng" algn="ctr">
            <a:solidFill>
              <a:srgbClr val="1D1D1A"/>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Calibri" panose="020F0502020204030204"/>
              <a:ea typeface="等线" panose="02010600030101010101" pitchFamily="2" charset="-122"/>
              <a:cs typeface="+mn-cs"/>
            </a:endParaRPr>
          </a:p>
        </p:txBody>
      </p:sp>
      <p:sp>
        <p:nvSpPr>
          <p:cNvPr id="40" name="文本框 39">
            <a:extLst>
              <a:ext uri="{FF2B5EF4-FFF2-40B4-BE49-F238E27FC236}">
                <a16:creationId xmlns:a16="http://schemas.microsoft.com/office/drawing/2014/main" id="{B30C65FA-AEC3-6870-6131-8AA977F23FC0}"/>
              </a:ext>
            </a:extLst>
          </p:cNvPr>
          <p:cNvSpPr txBox="1"/>
          <p:nvPr/>
        </p:nvSpPr>
        <p:spPr>
          <a:xfrm>
            <a:off x="3851344" y="4101014"/>
            <a:ext cx="2981845" cy="307777"/>
          </a:xfrm>
          <a:prstGeom prst="rect">
            <a:avLst/>
          </a:prstGeom>
          <a:noFill/>
        </p:spPr>
        <p:txBody>
          <a:bodyPr wrap="square">
            <a:spAutoFit/>
          </a:bodyPr>
          <a:lstStyle/>
          <a:p>
            <a:pPr algn="ctr" defTabSz="914478" rtl="0"/>
            <a:r>
              <a:rPr lang="en-US" altLang="zh-CN" sz="1400" i="1" kern="1200" dirty="0">
                <a:solidFill>
                  <a:srgbClr val="1D1D1A"/>
                </a:solidFill>
                <a:latin typeface="Cambria Math" panose="02040503050406030204" pitchFamily="18" charset="0"/>
                <a:ea typeface="等线" panose="02010600030101010101" pitchFamily="2" charset="-122"/>
                <a:cs typeface="+mn-cs"/>
              </a:rPr>
              <a:t>Positive Training Window</a:t>
            </a:r>
            <a:endParaRPr lang="zh-CN" altLang="en-US" sz="1400" i="1" kern="1200" dirty="0">
              <a:solidFill>
                <a:srgbClr val="1D1D1A"/>
              </a:solidFill>
              <a:latin typeface="Calibri" panose="020F0502020204030204"/>
              <a:ea typeface="等线" panose="02010600030101010101" pitchFamily="2" charset="-122"/>
              <a:cs typeface="+mn-cs"/>
            </a:endParaRPr>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24456362-5FBC-1AB1-4638-FFD456630454}"/>
                  </a:ext>
                </a:extLst>
              </p:cNvPr>
              <p:cNvSpPr txBox="1"/>
              <p:nvPr/>
            </p:nvSpPr>
            <p:spPr>
              <a:xfrm>
                <a:off x="6485518" y="3175013"/>
                <a:ext cx="2186363" cy="539828"/>
              </a:xfrm>
              <a:prstGeom prst="rect">
                <a:avLst/>
              </a:prstGeom>
              <a:noFill/>
            </p:spPr>
            <p:txBody>
              <a:bodyPr wrap="square">
                <a:spAutoFit/>
              </a:bodyPr>
              <a:lstStyle/>
              <a:p>
                <a:pPr algn="ctr" defTabSz="914478" rtl="0"/>
                <a:r>
                  <a:rPr lang="en-US" altLang="zh-CN" sz="1400" i="1" kern="1200" dirty="0">
                    <a:solidFill>
                      <a:srgbClr val="E9002F"/>
                    </a:solidFill>
                    <a:latin typeface="Cambria Math" panose="02040503050406030204" pitchFamily="18" charset="0"/>
                    <a:ea typeface="等线" panose="02010600030101010101" pitchFamily="2" charset="-122"/>
                    <a:cs typeface="+mn-cs"/>
                  </a:rPr>
                  <a:t>Failure time</a:t>
                </a:r>
              </a:p>
              <a:p>
                <a:pPr algn="ctr" defTabSz="914478" rtl="0"/>
                <a14:m>
                  <m:oMathPara xmlns:m="http://schemas.openxmlformats.org/officeDocument/2006/math">
                    <m:oMathParaPr>
                      <m:jc m:val="centerGroup"/>
                    </m:oMathParaPr>
                    <m:oMath xmlns:m="http://schemas.openxmlformats.org/officeDocument/2006/math">
                      <m:sSub>
                        <m:sSubPr>
                          <m:ctrlPr>
                            <a:rPr lang="en-US" altLang="zh-CN" sz="1400" i="1" kern="1200">
                              <a:solidFill>
                                <a:srgbClr val="E9002F"/>
                              </a:solidFill>
                              <a:latin typeface="Cambria Math" panose="02040503050406030204" pitchFamily="18" charset="0"/>
                              <a:cs typeface="+mn-cs"/>
                            </a:rPr>
                          </m:ctrlPr>
                        </m:sSubPr>
                        <m:e>
                          <m:r>
                            <a:rPr lang="en-US" altLang="zh-CN" sz="1400" i="1" kern="1200">
                              <a:solidFill>
                                <a:srgbClr val="E9002F"/>
                              </a:solidFill>
                              <a:latin typeface="Cambria Math" panose="02040503050406030204" pitchFamily="18" charset="0"/>
                              <a:cs typeface="+mn-cs"/>
                            </a:rPr>
                            <m:t>𝑡</m:t>
                          </m:r>
                        </m:e>
                        <m:sub>
                          <m:r>
                            <a:rPr lang="en-US" altLang="zh-CN" sz="1400" i="1" kern="1200">
                              <a:solidFill>
                                <a:srgbClr val="E9002F"/>
                              </a:solidFill>
                              <a:latin typeface="Cambria Math" panose="02040503050406030204" pitchFamily="18" charset="0"/>
                              <a:cs typeface="+mn-cs"/>
                            </a:rPr>
                            <m:t>𝑓𝑎𝑖𝑙</m:t>
                          </m:r>
                        </m:sub>
                      </m:sSub>
                    </m:oMath>
                  </m:oMathPara>
                </a14:m>
                <a:endParaRPr lang="zh-CN" altLang="en-US" sz="1400" i="1" kern="1200" dirty="0">
                  <a:solidFill>
                    <a:srgbClr val="E9002F"/>
                  </a:solidFill>
                  <a:latin typeface="Calibri" panose="020F0502020204030204"/>
                  <a:ea typeface="等线" panose="02010600030101010101" pitchFamily="2" charset="-122"/>
                  <a:cs typeface="+mn-cs"/>
                </a:endParaRPr>
              </a:p>
            </p:txBody>
          </p:sp>
        </mc:Choice>
        <mc:Fallback xmlns="">
          <p:sp>
            <p:nvSpPr>
              <p:cNvPr id="41" name="文本框 40">
                <a:extLst>
                  <a:ext uri="{FF2B5EF4-FFF2-40B4-BE49-F238E27FC236}">
                    <a16:creationId xmlns:a16="http://schemas.microsoft.com/office/drawing/2014/main" id="{24456362-5FBC-1AB1-4638-FFD456630454}"/>
                  </a:ext>
                </a:extLst>
              </p:cNvPr>
              <p:cNvSpPr txBox="1">
                <a:spLocks noRot="1" noChangeAspect="1" noMove="1" noResize="1" noEditPoints="1" noAdjustHandles="1" noChangeArrowheads="1" noChangeShapeType="1" noTextEdit="1"/>
              </p:cNvSpPr>
              <p:nvPr/>
            </p:nvSpPr>
            <p:spPr>
              <a:xfrm>
                <a:off x="6485518" y="3175013"/>
                <a:ext cx="2186363" cy="539828"/>
              </a:xfrm>
              <a:prstGeom prst="rect">
                <a:avLst/>
              </a:prstGeom>
              <a:blipFill>
                <a:blip r:embed="rId7"/>
                <a:stretch>
                  <a:fillRect t="-3409" b="-2273"/>
                </a:stretch>
              </a:blipFill>
            </p:spPr>
            <p:txBody>
              <a:bodyPr/>
              <a:lstStyle/>
              <a:p>
                <a:r>
                  <a:rPr lang="zh-CN" altLang="en-US">
                    <a:noFill/>
                  </a:rPr>
                  <a:t> </a:t>
                </a:r>
              </a:p>
            </p:txBody>
          </p:sp>
        </mc:Fallback>
      </mc:AlternateContent>
      <p:cxnSp>
        <p:nvCxnSpPr>
          <p:cNvPr id="42" name="直接连接符 41">
            <a:extLst>
              <a:ext uri="{FF2B5EF4-FFF2-40B4-BE49-F238E27FC236}">
                <a16:creationId xmlns:a16="http://schemas.microsoft.com/office/drawing/2014/main" id="{D8EEB03F-E2EA-C6EF-48F9-17E75EFB84C3}"/>
              </a:ext>
            </a:extLst>
          </p:cNvPr>
          <p:cNvCxnSpPr>
            <a:cxnSpLocks/>
          </p:cNvCxnSpPr>
          <p:nvPr/>
        </p:nvCxnSpPr>
        <p:spPr>
          <a:xfrm>
            <a:off x="7367509" y="3630426"/>
            <a:ext cx="0" cy="296200"/>
          </a:xfrm>
          <a:prstGeom prst="line">
            <a:avLst/>
          </a:prstGeom>
          <a:noFill/>
          <a:ln w="38100" cap="flat" cmpd="sng" algn="ctr">
            <a:solidFill>
              <a:srgbClr val="E9002F"/>
            </a:solidFill>
            <a:prstDash val="solid"/>
            <a:miter lim="800000"/>
          </a:ln>
          <a:effectLst/>
        </p:spPr>
      </p:cxnSp>
      <p:sp>
        <p:nvSpPr>
          <p:cNvPr id="43" name="等腰三角形 42">
            <a:extLst>
              <a:ext uri="{FF2B5EF4-FFF2-40B4-BE49-F238E27FC236}">
                <a16:creationId xmlns:a16="http://schemas.microsoft.com/office/drawing/2014/main" id="{FAA2214C-3CF7-8959-0193-D405BF09EDA5}"/>
              </a:ext>
            </a:extLst>
          </p:cNvPr>
          <p:cNvSpPr/>
          <p:nvPr/>
        </p:nvSpPr>
        <p:spPr>
          <a:xfrm>
            <a:off x="3104835" y="3752229"/>
            <a:ext cx="86263" cy="198403"/>
          </a:xfrm>
          <a:prstGeom prst="triangle">
            <a:avLst/>
          </a:prstGeom>
          <a:solidFill>
            <a:srgbClr val="ED6D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44" name="等腰三角形 43">
            <a:extLst>
              <a:ext uri="{FF2B5EF4-FFF2-40B4-BE49-F238E27FC236}">
                <a16:creationId xmlns:a16="http://schemas.microsoft.com/office/drawing/2014/main" id="{F124ED42-05D8-AF87-5CB2-6C48BE2DF184}"/>
              </a:ext>
            </a:extLst>
          </p:cNvPr>
          <p:cNvSpPr/>
          <p:nvPr/>
        </p:nvSpPr>
        <p:spPr>
          <a:xfrm>
            <a:off x="4669971" y="3752229"/>
            <a:ext cx="86263" cy="198403"/>
          </a:xfrm>
          <a:prstGeom prst="triangle">
            <a:avLst/>
          </a:prstGeom>
          <a:solidFill>
            <a:srgbClr val="ED6D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45" name="等腰三角形 44">
            <a:extLst>
              <a:ext uri="{FF2B5EF4-FFF2-40B4-BE49-F238E27FC236}">
                <a16:creationId xmlns:a16="http://schemas.microsoft.com/office/drawing/2014/main" id="{DEB69CD4-E4CA-049C-B1BE-0864BEECBE49}"/>
              </a:ext>
            </a:extLst>
          </p:cNvPr>
          <p:cNvSpPr/>
          <p:nvPr/>
        </p:nvSpPr>
        <p:spPr>
          <a:xfrm>
            <a:off x="4854655" y="3752229"/>
            <a:ext cx="86263" cy="198403"/>
          </a:xfrm>
          <a:prstGeom prst="triangle">
            <a:avLst/>
          </a:prstGeom>
          <a:solidFill>
            <a:srgbClr val="ED6D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cxnSp>
        <p:nvCxnSpPr>
          <p:cNvPr id="46" name="直接连接符 45">
            <a:extLst>
              <a:ext uri="{FF2B5EF4-FFF2-40B4-BE49-F238E27FC236}">
                <a16:creationId xmlns:a16="http://schemas.microsoft.com/office/drawing/2014/main" id="{545ACCA2-7B01-747A-0FC1-12EBD2C75296}"/>
              </a:ext>
            </a:extLst>
          </p:cNvPr>
          <p:cNvCxnSpPr>
            <a:cxnSpLocks/>
          </p:cNvCxnSpPr>
          <p:nvPr/>
        </p:nvCxnSpPr>
        <p:spPr>
          <a:xfrm>
            <a:off x="7142290" y="3621043"/>
            <a:ext cx="0" cy="360000"/>
          </a:xfrm>
          <a:prstGeom prst="line">
            <a:avLst/>
          </a:prstGeom>
          <a:noFill/>
          <a:ln w="28575" cap="flat" cmpd="sng" algn="ctr">
            <a:solidFill>
              <a:srgbClr val="1D1D1A"/>
            </a:solidFill>
            <a:prstDash val="solid"/>
            <a:miter lim="800000"/>
          </a:ln>
          <a:effectLst/>
        </p:spPr>
      </p:cxnSp>
      <p:cxnSp>
        <p:nvCxnSpPr>
          <p:cNvPr id="47" name="直接连接符 46">
            <a:extLst>
              <a:ext uri="{FF2B5EF4-FFF2-40B4-BE49-F238E27FC236}">
                <a16:creationId xmlns:a16="http://schemas.microsoft.com/office/drawing/2014/main" id="{81B15381-EF88-13F4-3BA8-F1E7CF22D9B3}"/>
              </a:ext>
            </a:extLst>
          </p:cNvPr>
          <p:cNvCxnSpPr>
            <a:cxnSpLocks/>
          </p:cNvCxnSpPr>
          <p:nvPr/>
        </p:nvCxnSpPr>
        <p:spPr>
          <a:xfrm>
            <a:off x="7848649" y="3621043"/>
            <a:ext cx="0" cy="360000"/>
          </a:xfrm>
          <a:prstGeom prst="line">
            <a:avLst/>
          </a:prstGeom>
          <a:noFill/>
          <a:ln w="28575" cap="flat" cmpd="sng" algn="ctr">
            <a:solidFill>
              <a:srgbClr val="1D1D1A"/>
            </a:solidFill>
            <a:prstDash val="solid"/>
            <a:miter lim="800000"/>
          </a:ln>
          <a:effectLst/>
        </p:spPr>
      </p:cxnSp>
      <p:sp>
        <p:nvSpPr>
          <p:cNvPr id="48" name="等腰三角形 47">
            <a:extLst>
              <a:ext uri="{FF2B5EF4-FFF2-40B4-BE49-F238E27FC236}">
                <a16:creationId xmlns:a16="http://schemas.microsoft.com/office/drawing/2014/main" id="{3C29482C-8B10-031A-B92F-1259A02CBBE5}"/>
              </a:ext>
            </a:extLst>
          </p:cNvPr>
          <p:cNvSpPr/>
          <p:nvPr/>
        </p:nvSpPr>
        <p:spPr>
          <a:xfrm>
            <a:off x="6881862" y="3752229"/>
            <a:ext cx="86263" cy="198403"/>
          </a:xfrm>
          <a:prstGeom prst="triangle">
            <a:avLst/>
          </a:prstGeom>
          <a:solidFill>
            <a:srgbClr val="ED6D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49" name="等腰三角形 48">
            <a:extLst>
              <a:ext uri="{FF2B5EF4-FFF2-40B4-BE49-F238E27FC236}">
                <a16:creationId xmlns:a16="http://schemas.microsoft.com/office/drawing/2014/main" id="{6C1E2B31-8088-2774-E41A-2DF140D44CE0}"/>
              </a:ext>
            </a:extLst>
          </p:cNvPr>
          <p:cNvSpPr/>
          <p:nvPr/>
        </p:nvSpPr>
        <p:spPr>
          <a:xfrm>
            <a:off x="7899469" y="3752229"/>
            <a:ext cx="86263" cy="198403"/>
          </a:xfrm>
          <a:prstGeom prst="triangle">
            <a:avLst/>
          </a:prstGeom>
          <a:solidFill>
            <a:srgbClr val="ED6D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cxnSp>
        <p:nvCxnSpPr>
          <p:cNvPr id="50" name="直接箭头连接符 49">
            <a:extLst>
              <a:ext uri="{FF2B5EF4-FFF2-40B4-BE49-F238E27FC236}">
                <a16:creationId xmlns:a16="http://schemas.microsoft.com/office/drawing/2014/main" id="{00394FD4-2C16-CE63-D996-938234346B33}"/>
              </a:ext>
            </a:extLst>
          </p:cNvPr>
          <p:cNvCxnSpPr>
            <a:cxnSpLocks/>
          </p:cNvCxnSpPr>
          <p:nvPr/>
        </p:nvCxnSpPr>
        <p:spPr>
          <a:xfrm>
            <a:off x="2994291" y="4079238"/>
            <a:ext cx="4373218" cy="0"/>
          </a:xfrm>
          <a:prstGeom prst="straightConnector1">
            <a:avLst/>
          </a:prstGeom>
          <a:noFill/>
          <a:ln w="12700" cap="flat" cmpd="sng" algn="ctr">
            <a:solidFill>
              <a:srgbClr val="1D1D1A"/>
            </a:solidFill>
            <a:prstDash val="solid"/>
            <a:miter lim="800000"/>
            <a:headEnd type="triangle"/>
            <a:tailEnd type="triangle"/>
          </a:ln>
          <a:effectLst/>
        </p:spPr>
      </p:cxnSp>
      <p:sp>
        <p:nvSpPr>
          <p:cNvPr id="51" name="文本框 50">
            <a:extLst>
              <a:ext uri="{FF2B5EF4-FFF2-40B4-BE49-F238E27FC236}">
                <a16:creationId xmlns:a16="http://schemas.microsoft.com/office/drawing/2014/main" id="{88A2ED8C-9CDB-425F-C49E-EB9EE4F3397D}"/>
              </a:ext>
            </a:extLst>
          </p:cNvPr>
          <p:cNvSpPr txBox="1"/>
          <p:nvPr/>
        </p:nvSpPr>
        <p:spPr>
          <a:xfrm>
            <a:off x="2820383" y="3247416"/>
            <a:ext cx="873867" cy="215444"/>
          </a:xfrm>
          <a:prstGeom prst="rect">
            <a:avLst/>
          </a:prstGeom>
          <a:noFill/>
        </p:spPr>
        <p:txBody>
          <a:bodyPr wrap="square">
            <a:spAutoFit/>
          </a:bodyPr>
          <a:lstStyle/>
          <a:p>
            <a:pPr algn="ctr" defTabSz="914478" rtl="0"/>
            <a:r>
              <a:rPr lang="en-US" altLang="zh-CN" sz="800" kern="1200" dirty="0">
                <a:solidFill>
                  <a:srgbClr val="1D1D1A"/>
                </a:solidFill>
                <a:latin typeface="微软雅黑" panose="020B0503020204020204" pitchFamily="34" charset="-122"/>
                <a:ea typeface="微软雅黑" panose="020B0503020204020204" pitchFamily="34" charset="-122"/>
                <a:cs typeface="+mn-cs"/>
              </a:rPr>
              <a:t>1</a:t>
            </a:r>
            <a:endParaRPr lang="zh-CN" altLang="en-US" sz="800" kern="1200" dirty="0">
              <a:solidFill>
                <a:srgbClr val="1D1D1A"/>
              </a:solidFill>
              <a:latin typeface="Calibri" panose="020F0502020204030204"/>
              <a:ea typeface="等线" panose="02010600030101010101" pitchFamily="2" charset="-122"/>
              <a:cs typeface="+mn-cs"/>
            </a:endParaRPr>
          </a:p>
        </p:txBody>
      </p:sp>
      <p:cxnSp>
        <p:nvCxnSpPr>
          <p:cNvPr id="52" name="直接连接符 51">
            <a:extLst>
              <a:ext uri="{FF2B5EF4-FFF2-40B4-BE49-F238E27FC236}">
                <a16:creationId xmlns:a16="http://schemas.microsoft.com/office/drawing/2014/main" id="{02593E7E-1899-4154-2123-AE33072D220A}"/>
              </a:ext>
            </a:extLst>
          </p:cNvPr>
          <p:cNvCxnSpPr>
            <a:cxnSpLocks/>
          </p:cNvCxnSpPr>
          <p:nvPr/>
        </p:nvCxnSpPr>
        <p:spPr>
          <a:xfrm>
            <a:off x="9261371" y="3621043"/>
            <a:ext cx="0" cy="360000"/>
          </a:xfrm>
          <a:prstGeom prst="line">
            <a:avLst/>
          </a:prstGeom>
          <a:noFill/>
          <a:ln w="28575" cap="flat" cmpd="sng" algn="ctr">
            <a:solidFill>
              <a:srgbClr val="1D1D1A"/>
            </a:solidFill>
            <a:prstDash val="solid"/>
            <a:miter lim="800000"/>
          </a:ln>
          <a:effectLst/>
        </p:spPr>
      </p:cxnSp>
      <p:cxnSp>
        <p:nvCxnSpPr>
          <p:cNvPr id="53" name="直接连接符 52">
            <a:extLst>
              <a:ext uri="{FF2B5EF4-FFF2-40B4-BE49-F238E27FC236}">
                <a16:creationId xmlns:a16="http://schemas.microsoft.com/office/drawing/2014/main" id="{CBF6C4DF-52A4-4699-6B01-356780E0D3E7}"/>
              </a:ext>
            </a:extLst>
          </p:cNvPr>
          <p:cNvCxnSpPr>
            <a:cxnSpLocks/>
          </p:cNvCxnSpPr>
          <p:nvPr/>
        </p:nvCxnSpPr>
        <p:spPr>
          <a:xfrm>
            <a:off x="8555008" y="3621043"/>
            <a:ext cx="0" cy="360000"/>
          </a:xfrm>
          <a:prstGeom prst="line">
            <a:avLst/>
          </a:prstGeom>
          <a:noFill/>
          <a:ln w="28575" cap="flat" cmpd="sng" algn="ctr">
            <a:solidFill>
              <a:srgbClr val="1D1D1A"/>
            </a:solidFill>
            <a:prstDash val="solid"/>
            <a:miter lim="800000"/>
          </a:ln>
          <a:effectLst/>
        </p:spPr>
      </p:cxnSp>
      <p:cxnSp>
        <p:nvCxnSpPr>
          <p:cNvPr id="54" name="直接箭头连接符 53">
            <a:extLst>
              <a:ext uri="{FF2B5EF4-FFF2-40B4-BE49-F238E27FC236}">
                <a16:creationId xmlns:a16="http://schemas.microsoft.com/office/drawing/2014/main" id="{116E7CE7-B15D-C453-05E1-368578B467A7}"/>
              </a:ext>
            </a:extLst>
          </p:cNvPr>
          <p:cNvCxnSpPr>
            <a:cxnSpLocks/>
          </p:cNvCxnSpPr>
          <p:nvPr/>
        </p:nvCxnSpPr>
        <p:spPr>
          <a:xfrm>
            <a:off x="8539931" y="3578794"/>
            <a:ext cx="755537" cy="0"/>
          </a:xfrm>
          <a:prstGeom prst="straightConnector1">
            <a:avLst/>
          </a:prstGeom>
          <a:noFill/>
          <a:ln w="12700" cap="flat" cmpd="sng" algn="ctr">
            <a:solidFill>
              <a:srgbClr val="1D1D1A"/>
            </a:solidFill>
            <a:prstDash val="solid"/>
            <a:miter lim="800000"/>
            <a:headEnd type="triangle"/>
            <a:tailEnd type="triangle"/>
          </a:ln>
          <a:effectLst/>
        </p:spPr>
      </p:cxnSp>
      <p:sp>
        <p:nvSpPr>
          <p:cNvPr id="55" name="文本框 54">
            <a:extLst>
              <a:ext uri="{FF2B5EF4-FFF2-40B4-BE49-F238E27FC236}">
                <a16:creationId xmlns:a16="http://schemas.microsoft.com/office/drawing/2014/main" id="{C612B7A7-469B-0B1D-8FD5-FCB582F9B7FA}"/>
              </a:ext>
            </a:extLst>
          </p:cNvPr>
          <p:cNvSpPr txBox="1"/>
          <p:nvPr/>
        </p:nvSpPr>
        <p:spPr>
          <a:xfrm>
            <a:off x="7824517" y="3263361"/>
            <a:ext cx="2186363" cy="276999"/>
          </a:xfrm>
          <a:prstGeom prst="rect">
            <a:avLst/>
          </a:prstGeom>
          <a:noFill/>
        </p:spPr>
        <p:txBody>
          <a:bodyPr wrap="square">
            <a:spAutoFit/>
          </a:bodyPr>
          <a:lstStyle/>
          <a:p>
            <a:pPr algn="ctr" defTabSz="914478" rtl="0"/>
            <a:r>
              <a:rPr lang="en-US" altLang="zh-CN" sz="1200" i="1" kern="1200" dirty="0">
                <a:solidFill>
                  <a:srgbClr val="1D1D1A"/>
                </a:solidFill>
                <a:latin typeface="Cambria Math" panose="02040503050406030204" pitchFamily="18" charset="0"/>
                <a:ea typeface="等线" panose="02010600030101010101" pitchFamily="2" charset="-122"/>
                <a:cs typeface="+mn-cs"/>
              </a:rPr>
              <a:t>Prediction interval</a:t>
            </a:r>
          </a:p>
        </p:txBody>
      </p:sp>
      <p:sp>
        <p:nvSpPr>
          <p:cNvPr id="56" name="左大括号 55">
            <a:extLst>
              <a:ext uri="{FF2B5EF4-FFF2-40B4-BE49-F238E27FC236}">
                <a16:creationId xmlns:a16="http://schemas.microsoft.com/office/drawing/2014/main" id="{3AA5F313-18B7-9B9F-1091-AFBFA93BBF4B}"/>
              </a:ext>
            </a:extLst>
          </p:cNvPr>
          <p:cNvSpPr/>
          <p:nvPr/>
        </p:nvSpPr>
        <p:spPr>
          <a:xfrm rot="16200000" flipH="1">
            <a:off x="3912107" y="3180956"/>
            <a:ext cx="103390" cy="706356"/>
          </a:xfrm>
          <a:prstGeom prst="leftBrace">
            <a:avLst/>
          </a:prstGeom>
          <a:noFill/>
          <a:ln w="6350" cap="flat" cmpd="sng" algn="ctr">
            <a:solidFill>
              <a:srgbClr val="1D1D1A"/>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Calibri" panose="020F0502020204030204"/>
              <a:ea typeface="等线" panose="02010600030101010101" pitchFamily="2" charset="-122"/>
              <a:cs typeface="+mn-cs"/>
            </a:endParaRPr>
          </a:p>
        </p:txBody>
      </p:sp>
      <p:sp>
        <p:nvSpPr>
          <p:cNvPr id="57" name="文本框 56">
            <a:extLst>
              <a:ext uri="{FF2B5EF4-FFF2-40B4-BE49-F238E27FC236}">
                <a16:creationId xmlns:a16="http://schemas.microsoft.com/office/drawing/2014/main" id="{FB065A26-558D-E5EC-2BF6-6272A886657A}"/>
              </a:ext>
            </a:extLst>
          </p:cNvPr>
          <p:cNvSpPr txBox="1"/>
          <p:nvPr/>
        </p:nvSpPr>
        <p:spPr>
          <a:xfrm>
            <a:off x="3526868" y="3242149"/>
            <a:ext cx="873867" cy="215444"/>
          </a:xfrm>
          <a:prstGeom prst="rect">
            <a:avLst/>
          </a:prstGeom>
          <a:noFill/>
        </p:spPr>
        <p:txBody>
          <a:bodyPr wrap="square">
            <a:spAutoFit/>
          </a:bodyPr>
          <a:lstStyle/>
          <a:p>
            <a:pPr algn="ctr" defTabSz="914478" rtl="0"/>
            <a:r>
              <a:rPr lang="en-US" altLang="zh-CN" sz="800" kern="1200" dirty="0">
                <a:solidFill>
                  <a:srgbClr val="1D1D1A"/>
                </a:solidFill>
                <a:latin typeface="微软雅黑" panose="020B0503020204020204" pitchFamily="34" charset="-122"/>
                <a:ea typeface="微软雅黑" panose="020B0503020204020204" pitchFamily="34" charset="-122"/>
                <a:cs typeface="+mn-cs"/>
              </a:rPr>
              <a:t>2</a:t>
            </a:r>
            <a:endParaRPr lang="zh-CN" altLang="en-US" sz="800" kern="1200" dirty="0">
              <a:solidFill>
                <a:srgbClr val="1D1D1A"/>
              </a:solidFill>
              <a:latin typeface="Calibri" panose="020F0502020204030204"/>
              <a:ea typeface="等线" panose="02010600030101010101" pitchFamily="2" charset="-122"/>
              <a:cs typeface="+mn-cs"/>
            </a:endParaRPr>
          </a:p>
        </p:txBody>
      </p:sp>
      <p:sp>
        <p:nvSpPr>
          <p:cNvPr id="58" name="文本框 57">
            <a:extLst>
              <a:ext uri="{FF2B5EF4-FFF2-40B4-BE49-F238E27FC236}">
                <a16:creationId xmlns:a16="http://schemas.microsoft.com/office/drawing/2014/main" id="{2821CE1F-AF6E-89A3-B4CF-6F14671F3C73}"/>
              </a:ext>
            </a:extLst>
          </p:cNvPr>
          <p:cNvSpPr txBox="1"/>
          <p:nvPr/>
        </p:nvSpPr>
        <p:spPr>
          <a:xfrm>
            <a:off x="2109201" y="3233418"/>
            <a:ext cx="890912" cy="276999"/>
          </a:xfrm>
          <a:prstGeom prst="rect">
            <a:avLst/>
          </a:prstGeom>
          <a:noFill/>
        </p:spPr>
        <p:txBody>
          <a:bodyPr wrap="square">
            <a:spAutoFit/>
          </a:bodyPr>
          <a:lstStyle/>
          <a:p>
            <a:pPr algn="l" defTabSz="914478" rtl="0"/>
            <a:r>
              <a:rPr lang="en-US" altLang="zh-CN" sz="1200" kern="1200" dirty="0">
                <a:solidFill>
                  <a:srgbClr val="1D1D1A"/>
                </a:solidFill>
                <a:latin typeface="微软雅黑" panose="020B0503020204020204" pitchFamily="34" charset="-122"/>
                <a:ea typeface="微软雅黑" panose="020B0503020204020204" pitchFamily="34" charset="-122"/>
                <a:cs typeface="+mn-cs"/>
              </a:rPr>
              <a:t>Samples</a:t>
            </a:r>
            <a:endParaRPr lang="zh-CN" altLang="en-US" sz="1200" kern="1200" dirty="0">
              <a:solidFill>
                <a:srgbClr val="1D1D1A"/>
              </a:solidFill>
              <a:latin typeface="Calibri" panose="020F0502020204030204"/>
              <a:ea typeface="等线" panose="02010600030101010101" pitchFamily="2" charset="-122"/>
              <a:cs typeface="+mn-cs"/>
            </a:endParaRPr>
          </a:p>
        </p:txBody>
      </p:sp>
      <p:sp>
        <p:nvSpPr>
          <p:cNvPr id="59" name="左大括号 58">
            <a:extLst>
              <a:ext uri="{FF2B5EF4-FFF2-40B4-BE49-F238E27FC236}">
                <a16:creationId xmlns:a16="http://schemas.microsoft.com/office/drawing/2014/main" id="{18F9CBF5-E02E-F11F-B0A4-F59CEB7BA53A}"/>
              </a:ext>
            </a:extLst>
          </p:cNvPr>
          <p:cNvSpPr/>
          <p:nvPr/>
        </p:nvSpPr>
        <p:spPr>
          <a:xfrm rot="16200000" flipH="1">
            <a:off x="4622046" y="3180956"/>
            <a:ext cx="103390" cy="706356"/>
          </a:xfrm>
          <a:prstGeom prst="leftBrace">
            <a:avLst/>
          </a:prstGeom>
          <a:noFill/>
          <a:ln w="6350" cap="flat" cmpd="sng" algn="ctr">
            <a:solidFill>
              <a:srgbClr val="1D1D1A"/>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Calibri" panose="020F0502020204030204"/>
              <a:ea typeface="等线" panose="02010600030101010101" pitchFamily="2" charset="-122"/>
              <a:cs typeface="+mn-cs"/>
            </a:endParaRPr>
          </a:p>
        </p:txBody>
      </p:sp>
      <p:sp>
        <p:nvSpPr>
          <p:cNvPr id="60" name="文本框 59">
            <a:extLst>
              <a:ext uri="{FF2B5EF4-FFF2-40B4-BE49-F238E27FC236}">
                <a16:creationId xmlns:a16="http://schemas.microsoft.com/office/drawing/2014/main" id="{D28C56FF-99FC-0D5B-7CE7-135A384811D5}"/>
              </a:ext>
            </a:extLst>
          </p:cNvPr>
          <p:cNvSpPr txBox="1"/>
          <p:nvPr/>
        </p:nvSpPr>
        <p:spPr>
          <a:xfrm>
            <a:off x="4236807" y="3242149"/>
            <a:ext cx="873867" cy="215444"/>
          </a:xfrm>
          <a:prstGeom prst="rect">
            <a:avLst/>
          </a:prstGeom>
          <a:noFill/>
        </p:spPr>
        <p:txBody>
          <a:bodyPr wrap="square">
            <a:spAutoFit/>
          </a:bodyPr>
          <a:lstStyle/>
          <a:p>
            <a:pPr algn="ctr" defTabSz="914478" rtl="0"/>
            <a:r>
              <a:rPr lang="en-US" altLang="zh-CN" sz="800" kern="1200" dirty="0">
                <a:solidFill>
                  <a:srgbClr val="1D1D1A"/>
                </a:solidFill>
                <a:latin typeface="微软雅黑" panose="020B0503020204020204" pitchFamily="34" charset="-122"/>
                <a:ea typeface="微软雅黑" panose="020B0503020204020204" pitchFamily="34" charset="-122"/>
                <a:cs typeface="+mn-cs"/>
              </a:rPr>
              <a:t>3</a:t>
            </a:r>
            <a:endParaRPr lang="zh-CN" altLang="en-US" sz="800" kern="1200" dirty="0">
              <a:solidFill>
                <a:srgbClr val="1D1D1A"/>
              </a:solidFill>
              <a:latin typeface="Calibri" panose="020F0502020204030204"/>
              <a:ea typeface="等线" panose="02010600030101010101" pitchFamily="2" charset="-122"/>
              <a:cs typeface="+mn-cs"/>
            </a:endParaRPr>
          </a:p>
        </p:txBody>
      </p:sp>
      <p:sp>
        <p:nvSpPr>
          <p:cNvPr id="61" name="左大括号 60">
            <a:extLst>
              <a:ext uri="{FF2B5EF4-FFF2-40B4-BE49-F238E27FC236}">
                <a16:creationId xmlns:a16="http://schemas.microsoft.com/office/drawing/2014/main" id="{20C17C37-1A50-4200-E0EB-4CB117FABC8D}"/>
              </a:ext>
            </a:extLst>
          </p:cNvPr>
          <p:cNvSpPr/>
          <p:nvPr/>
        </p:nvSpPr>
        <p:spPr>
          <a:xfrm rot="16200000" flipH="1">
            <a:off x="6035017" y="3210957"/>
            <a:ext cx="103390" cy="706356"/>
          </a:xfrm>
          <a:prstGeom prst="leftBrace">
            <a:avLst/>
          </a:prstGeom>
          <a:noFill/>
          <a:ln w="6350" cap="flat" cmpd="sng" algn="ctr">
            <a:solidFill>
              <a:srgbClr val="1D1D1A"/>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Calibri" panose="020F0502020204030204"/>
              <a:ea typeface="等线" panose="02010600030101010101" pitchFamily="2" charset="-122"/>
              <a:cs typeface="+mn-cs"/>
            </a:endParaRPr>
          </a:p>
        </p:txBody>
      </p:sp>
      <p:sp>
        <p:nvSpPr>
          <p:cNvPr id="62" name="文本框 61">
            <a:extLst>
              <a:ext uri="{FF2B5EF4-FFF2-40B4-BE49-F238E27FC236}">
                <a16:creationId xmlns:a16="http://schemas.microsoft.com/office/drawing/2014/main" id="{670ABFAF-C0BC-0CED-E42B-DEE072620641}"/>
              </a:ext>
            </a:extLst>
          </p:cNvPr>
          <p:cNvSpPr txBox="1"/>
          <p:nvPr/>
        </p:nvSpPr>
        <p:spPr>
          <a:xfrm>
            <a:off x="5649778" y="3272150"/>
            <a:ext cx="873867" cy="215444"/>
          </a:xfrm>
          <a:prstGeom prst="rect">
            <a:avLst/>
          </a:prstGeom>
          <a:noFill/>
        </p:spPr>
        <p:txBody>
          <a:bodyPr wrap="square">
            <a:spAutoFit/>
          </a:bodyPr>
          <a:lstStyle/>
          <a:p>
            <a:pPr algn="ctr" defTabSz="914478" rtl="0"/>
            <a:r>
              <a:rPr lang="en-US" altLang="zh-CN" sz="800" kern="1200" dirty="0">
                <a:solidFill>
                  <a:srgbClr val="1D1D1A"/>
                </a:solidFill>
                <a:latin typeface="微软雅黑" panose="020B0503020204020204" pitchFamily="34" charset="-122"/>
                <a:ea typeface="微软雅黑" panose="020B0503020204020204" pitchFamily="34" charset="-122"/>
                <a:cs typeface="+mn-cs"/>
              </a:rPr>
              <a:t>4</a:t>
            </a:r>
            <a:endParaRPr lang="zh-CN" altLang="en-US" sz="800" kern="1200" dirty="0">
              <a:solidFill>
                <a:srgbClr val="1D1D1A"/>
              </a:solidFill>
              <a:latin typeface="Calibri" panose="020F0502020204030204"/>
              <a:ea typeface="等线" panose="02010600030101010101" pitchFamily="2" charset="-122"/>
              <a:cs typeface="+mn-cs"/>
            </a:endParaRPr>
          </a:p>
        </p:txBody>
      </p:sp>
      <p:sp>
        <p:nvSpPr>
          <p:cNvPr id="63" name="左大括号 62">
            <a:extLst>
              <a:ext uri="{FF2B5EF4-FFF2-40B4-BE49-F238E27FC236}">
                <a16:creationId xmlns:a16="http://schemas.microsoft.com/office/drawing/2014/main" id="{2A7BCF3C-5CAE-2174-F494-5A47D90A8AF8}"/>
              </a:ext>
            </a:extLst>
          </p:cNvPr>
          <p:cNvSpPr/>
          <p:nvPr/>
        </p:nvSpPr>
        <p:spPr>
          <a:xfrm rot="16200000" flipH="1">
            <a:off x="6742290" y="3210957"/>
            <a:ext cx="103390" cy="706356"/>
          </a:xfrm>
          <a:prstGeom prst="leftBrace">
            <a:avLst/>
          </a:prstGeom>
          <a:noFill/>
          <a:ln w="6350" cap="flat" cmpd="sng" algn="ctr">
            <a:solidFill>
              <a:srgbClr val="1D1D1A"/>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Calibri" panose="020F0502020204030204"/>
              <a:ea typeface="等线" panose="02010600030101010101" pitchFamily="2" charset="-122"/>
              <a:cs typeface="+mn-cs"/>
            </a:endParaRPr>
          </a:p>
        </p:txBody>
      </p:sp>
      <p:sp>
        <p:nvSpPr>
          <p:cNvPr id="64" name="文本框 63">
            <a:extLst>
              <a:ext uri="{FF2B5EF4-FFF2-40B4-BE49-F238E27FC236}">
                <a16:creationId xmlns:a16="http://schemas.microsoft.com/office/drawing/2014/main" id="{C9EC2F4E-BA80-7BB9-0626-9BE7169967CB}"/>
              </a:ext>
            </a:extLst>
          </p:cNvPr>
          <p:cNvSpPr txBox="1"/>
          <p:nvPr/>
        </p:nvSpPr>
        <p:spPr>
          <a:xfrm>
            <a:off x="6357051" y="3272150"/>
            <a:ext cx="873867" cy="215444"/>
          </a:xfrm>
          <a:prstGeom prst="rect">
            <a:avLst/>
          </a:prstGeom>
          <a:noFill/>
        </p:spPr>
        <p:txBody>
          <a:bodyPr wrap="square">
            <a:spAutoFit/>
          </a:bodyPr>
          <a:lstStyle/>
          <a:p>
            <a:pPr algn="ctr" defTabSz="914478" rtl="0"/>
            <a:r>
              <a:rPr lang="en-US" altLang="zh-CN" sz="800" kern="1200" dirty="0">
                <a:solidFill>
                  <a:srgbClr val="1D1D1A"/>
                </a:solidFill>
                <a:latin typeface="微软雅黑" panose="020B0503020204020204" pitchFamily="34" charset="-122"/>
                <a:ea typeface="微软雅黑" panose="020B0503020204020204" pitchFamily="34" charset="-122"/>
                <a:cs typeface="+mn-cs"/>
              </a:rPr>
              <a:t>5</a:t>
            </a:r>
            <a:endParaRPr lang="zh-CN" altLang="en-US" sz="800" kern="1200" dirty="0">
              <a:solidFill>
                <a:srgbClr val="1D1D1A"/>
              </a:solidFill>
              <a:latin typeface="Calibri" panose="020F0502020204030204"/>
              <a:ea typeface="等线" panose="02010600030101010101" pitchFamily="2" charset="-122"/>
              <a:cs typeface="+mn-cs"/>
            </a:endParaRPr>
          </a:p>
        </p:txBody>
      </p:sp>
      <p:sp>
        <p:nvSpPr>
          <p:cNvPr id="65" name="文本框 64">
            <a:extLst>
              <a:ext uri="{FF2B5EF4-FFF2-40B4-BE49-F238E27FC236}">
                <a16:creationId xmlns:a16="http://schemas.microsoft.com/office/drawing/2014/main" id="{9A0B91A0-F605-382C-2AC4-16CD657CF73A}"/>
              </a:ext>
            </a:extLst>
          </p:cNvPr>
          <p:cNvSpPr txBox="1"/>
          <p:nvPr/>
        </p:nvSpPr>
        <p:spPr>
          <a:xfrm>
            <a:off x="872836" y="5633012"/>
            <a:ext cx="9940791" cy="775277"/>
          </a:xfrm>
          <a:prstGeom prst="rect">
            <a:avLst/>
          </a:prstGeom>
          <a:noFill/>
        </p:spPr>
        <p:txBody>
          <a:bodyPr wrap="square">
            <a:spAutoFit/>
          </a:bodyPr>
          <a:lstStyle/>
          <a:p>
            <a:pPr marL="457240" lvl="1" indent="-342900" algn="l" defTabSz="914478" rtl="0">
              <a:lnSpc>
                <a:spcPct val="200000"/>
              </a:lnSpc>
              <a:buClr>
                <a:srgbClr val="C7000B"/>
              </a:buClr>
              <a:buFont typeface="Wingdings" panose="05000000000000000000" pitchFamily="2" charset="2"/>
              <a:buChar char="p"/>
            </a:pPr>
            <a:r>
              <a:rPr lang="en-US" altLang="zh-CN" sz="1200" kern="1200" dirty="0">
                <a:solidFill>
                  <a:srgbClr val="1D1D1A"/>
                </a:solidFill>
                <a:latin typeface="微软雅黑" panose="020B0503020204020204" pitchFamily="34" charset="-122"/>
                <a:ea typeface="微软雅黑" panose="020B0503020204020204" pitchFamily="34" charset="-122"/>
                <a:cs typeface="+mn-cs"/>
              </a:rPr>
              <a:t>How to apply </a:t>
            </a:r>
            <a:r>
              <a:rPr lang="en-US" altLang="zh-CN" sz="1200" b="1" kern="1200" dirty="0">
                <a:solidFill>
                  <a:srgbClr val="ED6D00"/>
                </a:solidFill>
                <a:latin typeface="微软雅黑" panose="020B0503020204020204" pitchFamily="34" charset="-122"/>
                <a:ea typeface="微软雅黑" panose="020B0503020204020204" pitchFamily="34" charset="-122"/>
                <a:cs typeface="+mn-cs"/>
              </a:rPr>
              <a:t>DIMM-level</a:t>
            </a:r>
            <a:r>
              <a:rPr lang="en-US" altLang="zh-CN" sz="1200" kern="1200" dirty="0">
                <a:solidFill>
                  <a:srgbClr val="1D1D1A"/>
                </a:solidFill>
                <a:latin typeface="微软雅黑" panose="020B0503020204020204" pitchFamily="34" charset="-122"/>
                <a:ea typeface="微软雅黑" panose="020B0503020204020204" pitchFamily="34" charset="-122"/>
                <a:cs typeface="+mn-cs"/>
              </a:rPr>
              <a:t> loss in a </a:t>
            </a:r>
            <a:r>
              <a:rPr lang="en-US" altLang="zh-CN" sz="1200" b="1" kern="1200" dirty="0">
                <a:solidFill>
                  <a:srgbClr val="00B0F0"/>
                </a:solidFill>
                <a:latin typeface="微软雅黑" panose="020B0503020204020204" pitchFamily="34" charset="-122"/>
                <a:ea typeface="微软雅黑" panose="020B0503020204020204" pitchFamily="34" charset="-122"/>
                <a:cs typeface="+mn-cs"/>
              </a:rPr>
              <a:t>Sample-level</a:t>
            </a:r>
            <a:r>
              <a:rPr lang="en-US" altLang="zh-CN" sz="1200" kern="1200" dirty="0">
                <a:solidFill>
                  <a:srgbClr val="1D1D1A"/>
                </a:solidFill>
                <a:latin typeface="微软雅黑" panose="020B0503020204020204" pitchFamily="34" charset="-122"/>
                <a:ea typeface="微软雅黑" panose="020B0503020204020204" pitchFamily="34" charset="-122"/>
                <a:cs typeface="+mn-cs"/>
              </a:rPr>
              <a:t> prediction scenario becomes a problem, and Multi-Instance Learning (MIL) may be applicable in this context.</a:t>
            </a:r>
            <a:endParaRPr lang="en-US" altLang="zh-CN" sz="1100" kern="1200" dirty="0">
              <a:solidFill>
                <a:srgbClr val="232D36"/>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873268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106D084-6510-C34C-86FA-3574B737EF8F}"/>
              </a:ext>
            </a:extLst>
          </p:cNvPr>
          <p:cNvSpPr txBox="1"/>
          <p:nvPr/>
        </p:nvSpPr>
        <p:spPr>
          <a:xfrm>
            <a:off x="790215" y="365302"/>
            <a:ext cx="7836200" cy="461665"/>
          </a:xfrm>
          <a:prstGeom prst="rect">
            <a:avLst/>
          </a:prstGeom>
          <a:noFill/>
        </p:spPr>
        <p:txBody>
          <a:bodyPr wrap="square" rtlCol="0">
            <a:spAutoFit/>
          </a:bodyPr>
          <a:lstStyle/>
          <a:p>
            <a:r>
              <a:rPr lang="en-US" altLang="zh-CN" sz="2400" b="1" dirty="0">
                <a:latin typeface="-apple-system"/>
              </a:rPr>
              <a:t>Future Work – Risky Parity Pattern</a:t>
            </a:r>
          </a:p>
        </p:txBody>
      </p:sp>
      <p:sp>
        <p:nvSpPr>
          <p:cNvPr id="91" name="矩形: 圆角 90">
            <a:extLst>
              <a:ext uri="{FF2B5EF4-FFF2-40B4-BE49-F238E27FC236}">
                <a16:creationId xmlns:a16="http://schemas.microsoft.com/office/drawing/2014/main" id="{779D2FC4-916F-3E4A-7C9E-8A4CE7263507}"/>
              </a:ext>
            </a:extLst>
          </p:cNvPr>
          <p:cNvSpPr/>
          <p:nvPr/>
        </p:nvSpPr>
        <p:spPr>
          <a:xfrm>
            <a:off x="3966107" y="4826685"/>
            <a:ext cx="7785305" cy="1883272"/>
          </a:xfrm>
          <a:prstGeom prst="roundRect">
            <a:avLst>
              <a:gd name="adj" fmla="val 3173"/>
            </a:avLst>
          </a:prstGeom>
          <a:solidFill>
            <a:srgbClr val="FFFFFF"/>
          </a:solidFill>
          <a:ln w="12700" cap="flat" cmpd="sng" algn="ctr">
            <a:solidFill>
              <a:srgbClr val="E9002F"/>
            </a:solidFill>
            <a:prstDash val="solid"/>
            <a:miter lim="800000"/>
          </a:ln>
          <a:effectLst/>
        </p:spPr>
        <p:txBody>
          <a:bodyPr rot="0" spcFirstLastPara="0" vertOverflow="overflow" horzOverflow="overflow" vert="horz" wrap="square" lIns="91428" tIns="45714" rIns="91428" bIns="45714" numCol="1" spcCol="0" rtlCol="0" fromWordArt="0" anchor="b" anchorCtr="0" forceAA="0" compatLnSpc="1">
            <a:prstTxWarp prst="textNoShape">
              <a:avLst/>
            </a:prstTxWarp>
            <a:noAutofit/>
          </a:bodyPr>
          <a:lstStyle/>
          <a:p>
            <a:pPr algn="ctr" defTabSz="914387">
              <a:defRPr/>
            </a:pPr>
            <a:endParaRPr lang="zh-CN" altLang="en-US" sz="1400" dirty="0">
              <a:solidFill>
                <a:prstClr val="black"/>
              </a:solidFill>
              <a:latin typeface="微软雅黑" panose="020B0503020204020204" pitchFamily="34" charset="-122"/>
              <a:ea typeface="微软雅黑" panose="020B0503020204020204" pitchFamily="34" charset="-122"/>
            </a:endParaRPr>
          </a:p>
        </p:txBody>
      </p:sp>
      <p:sp>
        <p:nvSpPr>
          <p:cNvPr id="92" name="矩形: 圆角 91">
            <a:extLst>
              <a:ext uri="{FF2B5EF4-FFF2-40B4-BE49-F238E27FC236}">
                <a16:creationId xmlns:a16="http://schemas.microsoft.com/office/drawing/2014/main" id="{A4C33926-AD93-AE8C-6976-526A127335D0}"/>
              </a:ext>
            </a:extLst>
          </p:cNvPr>
          <p:cNvSpPr/>
          <p:nvPr/>
        </p:nvSpPr>
        <p:spPr>
          <a:xfrm>
            <a:off x="6134498" y="2951111"/>
            <a:ext cx="5686662" cy="1752600"/>
          </a:xfrm>
          <a:prstGeom prst="roundRect">
            <a:avLst>
              <a:gd name="adj" fmla="val 3173"/>
            </a:avLst>
          </a:prstGeom>
          <a:solidFill>
            <a:srgbClr val="FFFFFF"/>
          </a:solidFill>
          <a:ln w="12700" cap="flat" cmpd="sng" algn="ctr">
            <a:solidFill>
              <a:srgbClr val="666666">
                <a:lumMod val="40000"/>
                <a:lumOff val="60000"/>
              </a:srgbClr>
            </a:solidFill>
            <a:prstDash val="solid"/>
            <a:miter lim="800000"/>
          </a:ln>
          <a:effectLst/>
        </p:spPr>
        <p:txBody>
          <a:bodyPr rot="0" spcFirstLastPara="0" vertOverflow="overflow" horzOverflow="overflow" vert="horz" wrap="square" lIns="91428" tIns="45714" rIns="91428" bIns="45714" numCol="1" spcCol="0" rtlCol="0" fromWordArt="0" anchor="b" anchorCtr="0" forceAA="0" compatLnSpc="1">
            <a:prstTxWarp prst="textNoShape">
              <a:avLst/>
            </a:prstTxWarp>
            <a:noAutofit/>
          </a:bodyPr>
          <a:lstStyle/>
          <a:p>
            <a:pPr algn="ctr" defTabSz="914387">
              <a:defRPr/>
            </a:pPr>
            <a:r>
              <a:rPr lang="en-US" altLang="zh-CN" sz="1400" dirty="0">
                <a:solidFill>
                  <a:prstClr val="black"/>
                </a:solidFill>
                <a:latin typeface="微软雅黑" panose="020B0503020204020204" pitchFamily="34" charset="-122"/>
                <a:ea typeface="微软雅黑" panose="020B0503020204020204" pitchFamily="34" charset="-122"/>
              </a:rPr>
              <a:t>Custom Decision Tree to find </a:t>
            </a:r>
            <a:r>
              <a:rPr lang="en-US" altLang="zh-CN" sz="1400" kern="0" dirty="0">
                <a:solidFill>
                  <a:prstClr val="black"/>
                </a:solidFill>
                <a:latin typeface="微软雅黑" panose="020B0503020204020204" pitchFamily="34" charset="-122"/>
                <a:ea typeface="微软雅黑" panose="020B0503020204020204" pitchFamily="34" charset="-122"/>
              </a:rPr>
              <a:t>risky CE patterns</a:t>
            </a:r>
            <a:endParaRPr lang="zh-CN" altLang="en-US" sz="1400" dirty="0">
              <a:solidFill>
                <a:prstClr val="black"/>
              </a:solidFill>
              <a:latin typeface="微软雅黑" panose="020B0503020204020204" pitchFamily="34" charset="-122"/>
              <a:ea typeface="微软雅黑" panose="020B0503020204020204" pitchFamily="34" charset="-122"/>
            </a:endParaRPr>
          </a:p>
        </p:txBody>
      </p:sp>
      <p:graphicFrame>
        <p:nvGraphicFramePr>
          <p:cNvPr id="93" name="表格 45">
            <a:extLst>
              <a:ext uri="{FF2B5EF4-FFF2-40B4-BE49-F238E27FC236}">
                <a16:creationId xmlns:a16="http://schemas.microsoft.com/office/drawing/2014/main" id="{74D5BA75-BC60-9ABF-8BF3-DB64A84C504F}"/>
              </a:ext>
            </a:extLst>
          </p:cNvPr>
          <p:cNvGraphicFramePr>
            <a:graphicFrameLocks noGrp="1"/>
          </p:cNvGraphicFramePr>
          <p:nvPr>
            <p:extLst>
              <p:ext uri="{D42A27DB-BD31-4B8C-83A1-F6EECF244321}">
                <p14:modId xmlns:p14="http://schemas.microsoft.com/office/powerpoint/2010/main" val="1086832916"/>
              </p:ext>
            </p:extLst>
          </p:nvPr>
        </p:nvGraphicFramePr>
        <p:xfrm>
          <a:off x="2905760" y="1404428"/>
          <a:ext cx="1440000" cy="2880000"/>
        </p:xfrm>
        <a:graphic>
          <a:graphicData uri="http://schemas.openxmlformats.org/drawingml/2006/table">
            <a:tbl>
              <a:tblPr firstRow="1" bandRow="1"/>
              <a:tblGrid>
                <a:gridCol w="360000">
                  <a:extLst>
                    <a:ext uri="{9D8B030D-6E8A-4147-A177-3AD203B41FA5}">
                      <a16:colId xmlns:a16="http://schemas.microsoft.com/office/drawing/2014/main" val="2554993595"/>
                    </a:ext>
                  </a:extLst>
                </a:gridCol>
                <a:gridCol w="360000">
                  <a:extLst>
                    <a:ext uri="{9D8B030D-6E8A-4147-A177-3AD203B41FA5}">
                      <a16:colId xmlns:a16="http://schemas.microsoft.com/office/drawing/2014/main" val="280896670"/>
                    </a:ext>
                  </a:extLst>
                </a:gridCol>
                <a:gridCol w="360000">
                  <a:extLst>
                    <a:ext uri="{9D8B030D-6E8A-4147-A177-3AD203B41FA5}">
                      <a16:colId xmlns:a16="http://schemas.microsoft.com/office/drawing/2014/main" val="1516979415"/>
                    </a:ext>
                  </a:extLst>
                </a:gridCol>
                <a:gridCol w="360000">
                  <a:extLst>
                    <a:ext uri="{9D8B030D-6E8A-4147-A177-3AD203B41FA5}">
                      <a16:colId xmlns:a16="http://schemas.microsoft.com/office/drawing/2014/main" val="2220457023"/>
                    </a:ext>
                  </a:extLst>
                </a:gridCol>
              </a:tblGrid>
              <a:tr h="360000">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Arial Unicode MS"/>
                          <a:ea typeface="+mn-ea"/>
                          <a:cs typeface="+mn-cs"/>
                        </a:rPr>
                        <a:t>1</a:t>
                      </a:r>
                      <a:endParaRPr lang="zh-CN" altLang="en-US" sz="1200" kern="120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61B230">
                        <a:lumMod val="60000"/>
                        <a:lumOff val="40000"/>
                      </a:srgbClr>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Arial Unicode MS"/>
                          <a:ea typeface="+mn-ea"/>
                          <a:cs typeface="+mn-cs"/>
                        </a:rPr>
                        <a:t>0</a:t>
                      </a:r>
                      <a:endParaRPr lang="zh-CN" altLang="en-US" sz="1200" kern="120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Arial Unicode MS"/>
                          <a:ea typeface="+mn-ea"/>
                          <a:cs typeface="+mn-cs"/>
                        </a:rPr>
                        <a:t>1</a:t>
                      </a:r>
                      <a:endParaRPr lang="zh-CN" altLang="en-US" sz="1200" kern="120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61B230">
                        <a:lumMod val="60000"/>
                        <a:lumOff val="40000"/>
                      </a:srgbClr>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Arial Unicode MS"/>
                          <a:ea typeface="+mn-ea"/>
                          <a:cs typeface="+mn-cs"/>
                        </a:rPr>
                        <a:t>1</a:t>
                      </a:r>
                      <a:endParaRPr lang="zh-CN" altLang="en-US" sz="1200" kern="120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61B230">
                        <a:lumMod val="60000"/>
                        <a:lumOff val="40000"/>
                      </a:srgbClr>
                    </a:solidFill>
                  </a:tcPr>
                </a:tc>
                <a:extLst>
                  <a:ext uri="{0D108BD9-81ED-4DB2-BD59-A6C34878D82A}">
                    <a16:rowId xmlns:a16="http://schemas.microsoft.com/office/drawing/2014/main" val="3701896647"/>
                  </a:ext>
                </a:extLst>
              </a:tr>
              <a:tr h="360000">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Arial Unicode MS"/>
                          <a:ea typeface="+mn-ea"/>
                          <a:cs typeface="+mn-cs"/>
                        </a:rPr>
                        <a:t>0</a:t>
                      </a:r>
                      <a:endParaRPr lang="zh-CN" altLang="en-US" sz="1200" kern="120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Arial Unicode MS"/>
                          <a:ea typeface="+mn-ea"/>
                          <a:cs typeface="+mn-cs"/>
                        </a:rPr>
                        <a:t>0</a:t>
                      </a:r>
                      <a:endParaRPr lang="zh-CN" altLang="en-US" sz="1200" kern="120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Arial Unicode MS"/>
                          <a:ea typeface="+mn-ea"/>
                          <a:cs typeface="+mn-cs"/>
                        </a:rPr>
                        <a:t>0</a:t>
                      </a:r>
                      <a:endParaRPr lang="zh-CN" altLang="en-US" sz="1200" kern="120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Arial Unicode MS"/>
                          <a:ea typeface="+mn-ea"/>
                          <a:cs typeface="+mn-cs"/>
                        </a:rPr>
                        <a:t>0</a:t>
                      </a:r>
                      <a:endParaRPr lang="zh-CN" altLang="en-US" sz="1200" kern="120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04219084"/>
                  </a:ext>
                </a:extLst>
              </a:tr>
              <a:tr h="360000">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1</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61B230">
                        <a:lumMod val="60000"/>
                        <a:lumOff val="40000"/>
                      </a:srgbClr>
                    </a:solidFill>
                  </a:tcPr>
                </a:tc>
                <a:extLst>
                  <a:ext uri="{0D108BD9-81ED-4DB2-BD59-A6C34878D82A}">
                    <a16:rowId xmlns:a16="http://schemas.microsoft.com/office/drawing/2014/main" val="3702401879"/>
                  </a:ext>
                </a:extLst>
              </a:tr>
              <a:tr h="360000">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09661308"/>
                  </a:ext>
                </a:extLst>
              </a:tr>
              <a:tr h="360000">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52654887"/>
                  </a:ext>
                </a:extLst>
              </a:tr>
              <a:tr h="360000">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1</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61B230">
                        <a:lumMod val="60000"/>
                        <a:lumOff val="40000"/>
                      </a:srgbClr>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34278308"/>
                  </a:ext>
                </a:extLst>
              </a:tr>
              <a:tr h="360000">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1</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61B230">
                        <a:lumMod val="60000"/>
                        <a:lumOff val="40000"/>
                      </a:srgbClr>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6038301"/>
                  </a:ext>
                </a:extLst>
              </a:tr>
              <a:tr h="360000">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87798" rtl="0" eaLnBrk="1" latinLnBrk="0" hangingPunct="1">
                        <a:defRPr sz="2338" kern="1200">
                          <a:solidFill>
                            <a:schemeClr val="tx1"/>
                          </a:solidFill>
                          <a:latin typeface="Calibri" panose="020F0502020204030204"/>
                        </a:defRPr>
                      </a:lvl1pPr>
                      <a:lvl2pPr marL="457200" algn="l" defTabSz="1187798" rtl="0" eaLnBrk="1" latinLnBrk="0" hangingPunct="1">
                        <a:defRPr sz="2338" kern="1200">
                          <a:solidFill>
                            <a:schemeClr val="tx1"/>
                          </a:solidFill>
                          <a:latin typeface="Calibri" panose="020F0502020204030204"/>
                        </a:defRPr>
                      </a:lvl2pPr>
                      <a:lvl3pPr marL="914400" algn="l" defTabSz="1187798" rtl="0" eaLnBrk="1" latinLnBrk="0" hangingPunct="1">
                        <a:defRPr sz="2338" kern="1200">
                          <a:solidFill>
                            <a:schemeClr val="tx1"/>
                          </a:solidFill>
                          <a:latin typeface="Calibri" panose="020F0502020204030204"/>
                        </a:defRPr>
                      </a:lvl3pPr>
                      <a:lvl4pPr marL="1371600" algn="l" defTabSz="1187798" rtl="0" eaLnBrk="1" latinLnBrk="0" hangingPunct="1">
                        <a:defRPr sz="2338" kern="1200">
                          <a:solidFill>
                            <a:schemeClr val="tx1"/>
                          </a:solidFill>
                          <a:latin typeface="Calibri" panose="020F0502020204030204"/>
                        </a:defRPr>
                      </a:lvl4pPr>
                      <a:lvl5pPr marL="1828800" algn="l" defTabSz="1187798" rtl="0" eaLnBrk="1" latinLnBrk="0" hangingPunct="1">
                        <a:defRPr sz="2338" kern="1200">
                          <a:solidFill>
                            <a:schemeClr val="tx1"/>
                          </a:solidFill>
                          <a:latin typeface="Calibri" panose="020F0502020204030204"/>
                        </a:defRPr>
                      </a:lvl5pPr>
                      <a:lvl6pPr marL="2286000" algn="l" defTabSz="1187798" rtl="0" eaLnBrk="1" latinLnBrk="0" hangingPunct="1">
                        <a:defRPr sz="2338" kern="1200">
                          <a:solidFill>
                            <a:schemeClr val="tx1"/>
                          </a:solidFill>
                          <a:latin typeface="Calibri" panose="020F0502020204030204"/>
                        </a:defRPr>
                      </a:lvl6pPr>
                      <a:lvl7pPr marL="2743200" algn="l" defTabSz="1187798" rtl="0" eaLnBrk="1" latinLnBrk="0" hangingPunct="1">
                        <a:defRPr sz="2338" kern="1200">
                          <a:solidFill>
                            <a:schemeClr val="tx1"/>
                          </a:solidFill>
                          <a:latin typeface="Calibri" panose="020F0502020204030204"/>
                        </a:defRPr>
                      </a:lvl7pPr>
                      <a:lvl8pPr marL="3200400" algn="l" defTabSz="1187798" rtl="0" eaLnBrk="1" latinLnBrk="0" hangingPunct="1">
                        <a:defRPr sz="2338" kern="1200">
                          <a:solidFill>
                            <a:schemeClr val="tx1"/>
                          </a:solidFill>
                          <a:latin typeface="Calibri" panose="020F0502020204030204"/>
                        </a:defRPr>
                      </a:lvl8pPr>
                      <a:lvl9pPr marL="3657600" algn="l" defTabSz="1187798" rtl="0" eaLnBrk="1" latinLnBrk="0" hangingPunct="1">
                        <a:defRPr sz="2338" kern="1200">
                          <a:solidFill>
                            <a:schemeClr val="tx1"/>
                          </a:solidFill>
                          <a:latin typeface="Calibri" panose="020F0502020204030204"/>
                        </a:defRPr>
                      </a:lvl9pPr>
                    </a:lstStyle>
                    <a:p>
                      <a:pPr marL="0" marR="0" lvl="0" indent="0" algn="ctr" defTabSz="1187798" rtl="0" eaLnBrk="1" fontAlgn="auto" latinLnBrk="0" hangingPunct="1">
                        <a:lnSpc>
                          <a:spcPct val="100000"/>
                        </a:lnSpc>
                        <a:spcBef>
                          <a:spcPts val="0"/>
                        </a:spcBef>
                        <a:spcAft>
                          <a:spcPts val="0"/>
                        </a:spcAft>
                        <a:buClrTx/>
                        <a:buSzTx/>
                        <a:buFontTx/>
                        <a:buNone/>
                        <a:tabLst/>
                        <a:defRPr/>
                      </a:pPr>
                      <a:r>
                        <a:rPr lang="en-US" altLang="zh-CN" sz="1200" kern="1200" noProof="0" dirty="0">
                          <a:solidFill>
                            <a:schemeClr val="tx1"/>
                          </a:solidFill>
                          <a:latin typeface="Arial Unicode MS"/>
                          <a:ea typeface="+mn-ea"/>
                          <a:cs typeface="+mn-cs"/>
                        </a:rPr>
                        <a:t>0</a:t>
                      </a:r>
                      <a:endParaRPr lang="zh-CN" altLang="en-US" sz="1200" kern="1200" noProof="0" dirty="0">
                        <a:solidFill>
                          <a:schemeClr val="tx1"/>
                        </a:solidFill>
                        <a:latin typeface="Arial Unicode MS"/>
                        <a:ea typeface="+mn-ea"/>
                        <a:cs typeface="+mn-cs"/>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05613161"/>
                  </a:ext>
                </a:extLst>
              </a:tr>
            </a:tbl>
          </a:graphicData>
        </a:graphic>
      </p:graphicFrame>
      <p:sp>
        <p:nvSpPr>
          <p:cNvPr id="94" name="箭头: 右 93">
            <a:extLst>
              <a:ext uri="{FF2B5EF4-FFF2-40B4-BE49-F238E27FC236}">
                <a16:creationId xmlns:a16="http://schemas.microsoft.com/office/drawing/2014/main" id="{D3924C8F-0204-B673-FBDB-7C62D090D25F}"/>
              </a:ext>
            </a:extLst>
          </p:cNvPr>
          <p:cNvSpPr/>
          <p:nvPr/>
        </p:nvSpPr>
        <p:spPr>
          <a:xfrm>
            <a:off x="4541985" y="2706544"/>
            <a:ext cx="1440000" cy="244567"/>
          </a:xfrm>
          <a:prstGeom prst="rightArrow">
            <a:avLst/>
          </a:prstGeom>
          <a:solidFill>
            <a:srgbClr val="F79646"/>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666666"/>
              </a:solidFill>
              <a:effectLst/>
              <a:uLnTx/>
              <a:uFillTx/>
            </a:endParaRPr>
          </a:p>
        </p:txBody>
      </p:sp>
      <p:sp>
        <p:nvSpPr>
          <p:cNvPr id="95" name="文本框 94">
            <a:extLst>
              <a:ext uri="{FF2B5EF4-FFF2-40B4-BE49-F238E27FC236}">
                <a16:creationId xmlns:a16="http://schemas.microsoft.com/office/drawing/2014/main" id="{B1EF6EB4-CA60-0A46-DFE0-DAC7A788078A}"/>
              </a:ext>
            </a:extLst>
          </p:cNvPr>
          <p:cNvSpPr txBox="1"/>
          <p:nvPr/>
        </p:nvSpPr>
        <p:spPr>
          <a:xfrm>
            <a:off x="4417810" y="2951111"/>
            <a:ext cx="1688350" cy="382669"/>
          </a:xfrm>
          <a:prstGeom prst="rect">
            <a:avLst/>
          </a:prstGeom>
          <a:noFill/>
        </p:spPr>
        <p:txBody>
          <a:bodyPr wrap="square">
            <a:spAutoFit/>
          </a:bodyPr>
          <a:lstStyle/>
          <a:p>
            <a:pPr algn="ctr" defTabSz="914400">
              <a:lnSpc>
                <a:spcPct val="150000"/>
              </a:lnSpc>
              <a:defRPr/>
            </a:pPr>
            <a:r>
              <a:rPr lang="en-US" altLang="zh-CN" sz="1400" b="1" kern="0" dirty="0">
                <a:solidFill>
                  <a:srgbClr val="ED6D00"/>
                </a:solidFill>
                <a:latin typeface="微软雅黑" panose="020B0503020204020204" pitchFamily="34" charset="-122"/>
                <a:ea typeface="微软雅黑" panose="020B0503020204020204" pitchFamily="34" charset="-122"/>
                <a:cs typeface="Times New Roman" panose="02020603050405020304" pitchFamily="18" charset="0"/>
              </a:rPr>
              <a:t>Is it Risky Parity?</a:t>
            </a:r>
          </a:p>
        </p:txBody>
      </p:sp>
      <p:sp>
        <p:nvSpPr>
          <p:cNvPr id="96" name="矩形: 圆角 95">
            <a:extLst>
              <a:ext uri="{FF2B5EF4-FFF2-40B4-BE49-F238E27FC236}">
                <a16:creationId xmlns:a16="http://schemas.microsoft.com/office/drawing/2014/main" id="{EC3070CA-1BCC-B54E-5E20-D4E7E80443DF}"/>
              </a:ext>
            </a:extLst>
          </p:cNvPr>
          <p:cNvSpPr/>
          <p:nvPr/>
        </p:nvSpPr>
        <p:spPr>
          <a:xfrm>
            <a:off x="6134498" y="1076658"/>
            <a:ext cx="5686662" cy="1752600"/>
          </a:xfrm>
          <a:prstGeom prst="roundRect">
            <a:avLst>
              <a:gd name="adj" fmla="val 3173"/>
            </a:avLst>
          </a:prstGeom>
          <a:solidFill>
            <a:srgbClr val="FFFFFF"/>
          </a:solidFill>
          <a:ln w="12700" cap="flat" cmpd="sng" algn="ctr">
            <a:solidFill>
              <a:srgbClr val="666666">
                <a:lumMod val="40000"/>
                <a:lumOff val="60000"/>
              </a:srgbClr>
            </a:solidFill>
            <a:prstDash val="solid"/>
            <a:miter lim="800000"/>
          </a:ln>
          <a:effectLst/>
        </p:spPr>
        <p:txBody>
          <a:bodyPr rot="0" spcFirstLastPara="0" vertOverflow="overflow" horzOverflow="overflow" vert="horz" wrap="square" lIns="91428" tIns="45714" rIns="91428" bIns="45714" numCol="1" spcCol="0" rtlCol="0" fromWordArt="0" anchor="b" anchorCtr="0" forceAA="0" compatLnSpc="1">
            <a:prstTxWarp prst="textNoShape">
              <a:avLst/>
            </a:prstTxWarp>
            <a:noAutofit/>
          </a:bodyPr>
          <a:lstStyle/>
          <a:p>
            <a:pPr algn="ctr" defTabSz="914387">
              <a:defRPr/>
            </a:pPr>
            <a:r>
              <a:rPr lang="en-US" altLang="zh-CN" sz="1400" dirty="0">
                <a:solidFill>
                  <a:prstClr val="black"/>
                </a:solidFill>
                <a:latin typeface="微软雅黑" panose="020B0503020204020204" pitchFamily="34" charset="-122"/>
                <a:ea typeface="微软雅黑" panose="020B0503020204020204" pitchFamily="34" charset="-122"/>
              </a:rPr>
              <a:t>Statistical analysis to find </a:t>
            </a:r>
            <a:r>
              <a:rPr lang="en-US" altLang="zh-CN" sz="1400" kern="0" dirty="0">
                <a:solidFill>
                  <a:prstClr val="black"/>
                </a:solidFill>
                <a:latin typeface="微软雅黑" panose="020B0503020204020204" pitchFamily="34" charset="-122"/>
                <a:ea typeface="微软雅黑" panose="020B0503020204020204" pitchFamily="34" charset="-122"/>
              </a:rPr>
              <a:t>risky CE patterns</a:t>
            </a:r>
            <a:endParaRPr lang="zh-CN" altLang="en-US" sz="1400" dirty="0">
              <a:solidFill>
                <a:prstClr val="black"/>
              </a:solidFill>
              <a:latin typeface="微软雅黑" panose="020B0503020204020204" pitchFamily="34" charset="-122"/>
              <a:ea typeface="微软雅黑" panose="020B0503020204020204" pitchFamily="34" charset="-122"/>
            </a:endParaRPr>
          </a:p>
        </p:txBody>
      </p:sp>
      <p:pic>
        <p:nvPicPr>
          <p:cNvPr id="97" name="图片 96">
            <a:extLst>
              <a:ext uri="{FF2B5EF4-FFF2-40B4-BE49-F238E27FC236}">
                <a16:creationId xmlns:a16="http://schemas.microsoft.com/office/drawing/2014/main" id="{110F6FDC-A734-F187-7FE7-04246A669B52}"/>
              </a:ext>
            </a:extLst>
          </p:cNvPr>
          <p:cNvPicPr>
            <a:picLocks noChangeAspect="1"/>
          </p:cNvPicPr>
          <p:nvPr/>
        </p:nvPicPr>
        <p:blipFill>
          <a:blip r:embed="rId3"/>
          <a:stretch>
            <a:fillRect/>
          </a:stretch>
        </p:blipFill>
        <p:spPr>
          <a:xfrm>
            <a:off x="6650586" y="1111163"/>
            <a:ext cx="4696175" cy="1399189"/>
          </a:xfrm>
          <a:prstGeom prst="rect">
            <a:avLst/>
          </a:prstGeom>
        </p:spPr>
      </p:pic>
      <p:sp>
        <p:nvSpPr>
          <p:cNvPr id="98" name="矩形 97">
            <a:extLst>
              <a:ext uri="{FF2B5EF4-FFF2-40B4-BE49-F238E27FC236}">
                <a16:creationId xmlns:a16="http://schemas.microsoft.com/office/drawing/2014/main" id="{67F7087B-71B7-B676-28C4-7BDF95B9EBD8}"/>
              </a:ext>
            </a:extLst>
          </p:cNvPr>
          <p:cNvSpPr/>
          <p:nvPr/>
        </p:nvSpPr>
        <p:spPr>
          <a:xfrm>
            <a:off x="7781397" y="4129122"/>
            <a:ext cx="1807715" cy="224136"/>
          </a:xfrm>
          <a:prstGeom prst="rect">
            <a:avLst/>
          </a:prstGeom>
          <a:noFill/>
          <a:ln w="25400" cap="flat" cmpd="sng" algn="ctr">
            <a:noFill/>
            <a:prstDash val="solid"/>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DIMM-level Decision Tree</a:t>
            </a:r>
            <a:endParaRPr kumimoji="0" lang="zh-CN" altLang="en-US" sz="1000" b="1" i="0" u="none" strike="noStrike" kern="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9" name="椭圆 98">
                <a:extLst>
                  <a:ext uri="{FF2B5EF4-FFF2-40B4-BE49-F238E27FC236}">
                    <a16:creationId xmlns:a16="http://schemas.microsoft.com/office/drawing/2014/main" id="{2091E41F-D465-0CB8-33CC-5795CE7C744A}"/>
                  </a:ext>
                </a:extLst>
              </p:cNvPr>
              <p:cNvSpPr/>
              <p:nvPr/>
            </p:nvSpPr>
            <p:spPr>
              <a:xfrm>
                <a:off x="8577255" y="3030700"/>
                <a:ext cx="216000" cy="216000"/>
              </a:xfrm>
              <a:prstGeom prst="ellipse">
                <a:avLst/>
              </a:prstGeom>
              <a:solidFill>
                <a:sysClr val="window" lastClr="FFFFFF"/>
              </a:solidFill>
              <a:ln w="12700" cap="flat" cmpd="sng" algn="ctr">
                <a:solidFill>
                  <a:srgbClr val="0070C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𝟏</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panose="020F0502020204030204"/>
                  <a:ea typeface="宋体" panose="02010600030101010101" pitchFamily="2" charset="-122"/>
                  <a:cs typeface="Times New Roman" panose="02020603050405020304" pitchFamily="18" charset="0"/>
                </a:endParaRPr>
              </a:p>
            </p:txBody>
          </p:sp>
        </mc:Choice>
        <mc:Fallback xmlns="">
          <p:sp>
            <p:nvSpPr>
              <p:cNvPr id="99" name="椭圆 98">
                <a:extLst>
                  <a:ext uri="{FF2B5EF4-FFF2-40B4-BE49-F238E27FC236}">
                    <a16:creationId xmlns:a16="http://schemas.microsoft.com/office/drawing/2014/main" id="{2091E41F-D465-0CB8-33CC-5795CE7C744A}"/>
                  </a:ext>
                </a:extLst>
              </p:cNvPr>
              <p:cNvSpPr>
                <a:spLocks noRot="1" noChangeAspect="1" noMove="1" noResize="1" noEditPoints="1" noAdjustHandles="1" noChangeArrowheads="1" noChangeShapeType="1" noTextEdit="1"/>
              </p:cNvSpPr>
              <p:nvPr/>
            </p:nvSpPr>
            <p:spPr>
              <a:xfrm>
                <a:off x="8577255" y="3030700"/>
                <a:ext cx="216000" cy="216000"/>
              </a:xfrm>
              <a:prstGeom prst="ellipse">
                <a:avLst/>
              </a:prstGeom>
              <a:blipFill>
                <a:blip r:embed="rId4"/>
                <a:stretch>
                  <a:fillRect l="-5405" b="-2632"/>
                </a:stretch>
              </a:blipFill>
              <a:ln w="12700" cap="flat" cmpd="sng" algn="ctr">
                <a:solidFill>
                  <a:srgbClr val="0070C0"/>
                </a:solidFill>
                <a:prstDash val="soli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椭圆 99">
                <a:extLst>
                  <a:ext uri="{FF2B5EF4-FFF2-40B4-BE49-F238E27FC236}">
                    <a16:creationId xmlns:a16="http://schemas.microsoft.com/office/drawing/2014/main" id="{FF50558C-5A12-CF89-A676-B4629179AC27}"/>
                  </a:ext>
                </a:extLst>
              </p:cNvPr>
              <p:cNvSpPr/>
              <p:nvPr/>
            </p:nvSpPr>
            <p:spPr>
              <a:xfrm>
                <a:off x="8371837" y="3439695"/>
                <a:ext cx="216000" cy="216000"/>
              </a:xfrm>
              <a:prstGeom prst="ellipse">
                <a:avLst/>
              </a:prstGeom>
              <a:solidFill>
                <a:sysClr val="window" lastClr="FFFFFF"/>
              </a:solidFill>
              <a:ln w="12700" cap="flat" cmpd="sng" algn="ctr">
                <a:solidFill>
                  <a:srgbClr val="0070C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𝟐</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panose="020F0502020204030204"/>
                  <a:ea typeface="宋体" panose="02010600030101010101" pitchFamily="2" charset="-122"/>
                  <a:cs typeface="Times New Roman" panose="02020603050405020304" pitchFamily="18" charset="0"/>
                </a:endParaRPr>
              </a:p>
            </p:txBody>
          </p:sp>
        </mc:Choice>
        <mc:Fallback xmlns="">
          <p:sp>
            <p:nvSpPr>
              <p:cNvPr id="100" name="椭圆 99">
                <a:extLst>
                  <a:ext uri="{FF2B5EF4-FFF2-40B4-BE49-F238E27FC236}">
                    <a16:creationId xmlns:a16="http://schemas.microsoft.com/office/drawing/2014/main" id="{FF50558C-5A12-CF89-A676-B4629179AC27}"/>
                  </a:ext>
                </a:extLst>
              </p:cNvPr>
              <p:cNvSpPr>
                <a:spLocks noRot="1" noChangeAspect="1" noMove="1" noResize="1" noEditPoints="1" noAdjustHandles="1" noChangeArrowheads="1" noChangeShapeType="1" noTextEdit="1"/>
              </p:cNvSpPr>
              <p:nvPr/>
            </p:nvSpPr>
            <p:spPr>
              <a:xfrm>
                <a:off x="8371837" y="3439695"/>
                <a:ext cx="216000" cy="216000"/>
              </a:xfrm>
              <a:prstGeom prst="ellipse">
                <a:avLst/>
              </a:prstGeom>
              <a:blipFill>
                <a:blip r:embed="rId5"/>
                <a:stretch>
                  <a:fillRect l="-5263" b="-2632"/>
                </a:stretch>
              </a:blipFill>
              <a:ln w="12700" cap="flat" cmpd="sng" algn="ctr">
                <a:solidFill>
                  <a:srgbClr val="0070C0"/>
                </a:solidFill>
                <a:prstDash val="soli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 name="椭圆 100">
                <a:extLst>
                  <a:ext uri="{FF2B5EF4-FFF2-40B4-BE49-F238E27FC236}">
                    <a16:creationId xmlns:a16="http://schemas.microsoft.com/office/drawing/2014/main" id="{B4493D0C-0686-92BB-295F-F5A7D07FB01B}"/>
                  </a:ext>
                </a:extLst>
              </p:cNvPr>
              <p:cNvSpPr/>
              <p:nvPr/>
            </p:nvSpPr>
            <p:spPr>
              <a:xfrm>
                <a:off x="8782674" y="3439695"/>
                <a:ext cx="216000" cy="216000"/>
              </a:xfrm>
              <a:prstGeom prst="ellipse">
                <a:avLst/>
              </a:prstGeom>
              <a:solidFill>
                <a:sysClr val="window" lastClr="FFFFFF"/>
              </a:solidFill>
              <a:ln w="12700" cap="flat" cmpd="sng" algn="ctr">
                <a:solidFill>
                  <a:srgbClr val="0070C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𝟑</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panose="020F0502020204030204"/>
                  <a:ea typeface="宋体" panose="02010600030101010101" pitchFamily="2" charset="-122"/>
                  <a:cs typeface="Times New Roman" panose="02020603050405020304" pitchFamily="18" charset="0"/>
                </a:endParaRPr>
              </a:p>
            </p:txBody>
          </p:sp>
        </mc:Choice>
        <mc:Fallback xmlns="">
          <p:sp>
            <p:nvSpPr>
              <p:cNvPr id="101" name="椭圆 100">
                <a:extLst>
                  <a:ext uri="{FF2B5EF4-FFF2-40B4-BE49-F238E27FC236}">
                    <a16:creationId xmlns:a16="http://schemas.microsoft.com/office/drawing/2014/main" id="{B4493D0C-0686-92BB-295F-F5A7D07FB01B}"/>
                  </a:ext>
                </a:extLst>
              </p:cNvPr>
              <p:cNvSpPr>
                <a:spLocks noRot="1" noChangeAspect="1" noMove="1" noResize="1" noEditPoints="1" noAdjustHandles="1" noChangeArrowheads="1" noChangeShapeType="1" noTextEdit="1"/>
              </p:cNvSpPr>
              <p:nvPr/>
            </p:nvSpPr>
            <p:spPr>
              <a:xfrm>
                <a:off x="8782674" y="3439695"/>
                <a:ext cx="216000" cy="216000"/>
              </a:xfrm>
              <a:prstGeom prst="ellipse">
                <a:avLst/>
              </a:prstGeom>
              <a:blipFill>
                <a:blip r:embed="rId6"/>
                <a:stretch>
                  <a:fillRect l="-5405" b="-2632"/>
                </a:stretch>
              </a:blipFill>
              <a:ln w="12700" cap="flat" cmpd="sng" algn="ctr">
                <a:solidFill>
                  <a:srgbClr val="0070C0"/>
                </a:solidFill>
                <a:prstDash val="soli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 name="椭圆 101">
                <a:extLst>
                  <a:ext uri="{FF2B5EF4-FFF2-40B4-BE49-F238E27FC236}">
                    <a16:creationId xmlns:a16="http://schemas.microsoft.com/office/drawing/2014/main" id="{DF0E3532-F2AE-3355-2106-0ACBDC64A074}"/>
                  </a:ext>
                </a:extLst>
              </p:cNvPr>
              <p:cNvSpPr/>
              <p:nvPr/>
            </p:nvSpPr>
            <p:spPr>
              <a:xfrm>
                <a:off x="8151642" y="3883299"/>
                <a:ext cx="216000" cy="216000"/>
              </a:xfrm>
              <a:prstGeom prst="ellipse">
                <a:avLst/>
              </a:prstGeom>
              <a:solidFill>
                <a:sysClr val="window" lastClr="FFFFFF"/>
              </a:solidFill>
              <a:ln w="12700" cap="flat" cmpd="sng" algn="ctr">
                <a:solidFill>
                  <a:srgbClr val="0070C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𝟒</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panose="020F0502020204030204"/>
                  <a:ea typeface="宋体" panose="02010600030101010101" pitchFamily="2" charset="-122"/>
                  <a:cs typeface="Times New Roman" panose="02020603050405020304" pitchFamily="18" charset="0"/>
                </a:endParaRPr>
              </a:p>
            </p:txBody>
          </p:sp>
        </mc:Choice>
        <mc:Fallback xmlns="">
          <p:sp>
            <p:nvSpPr>
              <p:cNvPr id="102" name="椭圆 101">
                <a:extLst>
                  <a:ext uri="{FF2B5EF4-FFF2-40B4-BE49-F238E27FC236}">
                    <a16:creationId xmlns:a16="http://schemas.microsoft.com/office/drawing/2014/main" id="{DF0E3532-F2AE-3355-2106-0ACBDC64A074}"/>
                  </a:ext>
                </a:extLst>
              </p:cNvPr>
              <p:cNvSpPr>
                <a:spLocks noRot="1" noChangeAspect="1" noMove="1" noResize="1" noEditPoints="1" noAdjustHandles="1" noChangeArrowheads="1" noChangeShapeType="1" noTextEdit="1"/>
              </p:cNvSpPr>
              <p:nvPr/>
            </p:nvSpPr>
            <p:spPr>
              <a:xfrm>
                <a:off x="8151642" y="3883299"/>
                <a:ext cx="216000" cy="216000"/>
              </a:xfrm>
              <a:prstGeom prst="ellipse">
                <a:avLst/>
              </a:prstGeom>
              <a:blipFill>
                <a:blip r:embed="rId7"/>
                <a:stretch>
                  <a:fillRect l="-5263" b="-2703"/>
                </a:stretch>
              </a:blipFill>
              <a:ln w="12700" cap="flat" cmpd="sng" algn="ctr">
                <a:solidFill>
                  <a:srgbClr val="0070C0"/>
                </a:solidFill>
                <a:prstDash val="soli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椭圆 102">
                <a:extLst>
                  <a:ext uri="{FF2B5EF4-FFF2-40B4-BE49-F238E27FC236}">
                    <a16:creationId xmlns:a16="http://schemas.microsoft.com/office/drawing/2014/main" id="{5FFDD93E-650D-3809-220A-EE9AAB6DA494}"/>
                  </a:ext>
                </a:extLst>
              </p:cNvPr>
              <p:cNvSpPr/>
              <p:nvPr/>
            </p:nvSpPr>
            <p:spPr>
              <a:xfrm>
                <a:off x="8592033" y="3883299"/>
                <a:ext cx="216000" cy="216000"/>
              </a:xfrm>
              <a:prstGeom prst="ellipse">
                <a:avLst/>
              </a:prstGeom>
              <a:solidFill>
                <a:sysClr val="window" lastClr="FFFFFF"/>
              </a:solidFill>
              <a:ln w="12700" cap="flat" cmpd="sng" algn="ctr">
                <a:solidFill>
                  <a:srgbClr val="0070C0"/>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ctrlPr>
                        </m:sSubPr>
                        <m:e>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𝒇</m:t>
                          </m:r>
                        </m:e>
                        <m:sub>
                          <m:r>
                            <a:rPr kumimoji="0" lang="en-US" altLang="zh-CN" sz="900" b="1" i="1" u="none" strike="noStrike" kern="0" cap="none" spc="0" normalizeH="0" baseline="0" noProof="0" dirty="0" smtClean="0">
                              <a:ln>
                                <a:noFill/>
                              </a:ln>
                              <a:solidFill>
                                <a:srgbClr val="0070C0"/>
                              </a:solidFill>
                              <a:effectLst/>
                              <a:uLnTx/>
                              <a:uFillTx/>
                              <a:latin typeface="Cambria Math" panose="02040503050406030204" pitchFamily="18" charset="0"/>
                              <a:cs typeface="Times New Roman" panose="02020603050405020304" pitchFamily="18" charset="0"/>
                            </a:rPr>
                            <m:t>𝟓</m:t>
                          </m:r>
                        </m:sub>
                      </m:sSub>
                    </m:oMath>
                  </m:oMathPara>
                </a14:m>
                <a:endParaRPr kumimoji="0" lang="zh-CN" altLang="en-US" sz="900" b="1" i="0" u="none" strike="noStrike" kern="0" cap="none" spc="0" normalizeH="0" baseline="0" noProof="0" dirty="0">
                  <a:ln>
                    <a:noFill/>
                  </a:ln>
                  <a:solidFill>
                    <a:srgbClr val="0070C0"/>
                  </a:solidFill>
                  <a:effectLst/>
                  <a:uLnTx/>
                  <a:uFillTx/>
                  <a:latin typeface="Calibri" panose="020F0502020204030204"/>
                  <a:ea typeface="宋体" panose="02010600030101010101" pitchFamily="2" charset="-122"/>
                  <a:cs typeface="Times New Roman" panose="02020603050405020304" pitchFamily="18" charset="0"/>
                </a:endParaRPr>
              </a:p>
            </p:txBody>
          </p:sp>
        </mc:Choice>
        <mc:Fallback xmlns="">
          <p:sp>
            <p:nvSpPr>
              <p:cNvPr id="103" name="椭圆 102">
                <a:extLst>
                  <a:ext uri="{FF2B5EF4-FFF2-40B4-BE49-F238E27FC236}">
                    <a16:creationId xmlns:a16="http://schemas.microsoft.com/office/drawing/2014/main" id="{5FFDD93E-650D-3809-220A-EE9AAB6DA494}"/>
                  </a:ext>
                </a:extLst>
              </p:cNvPr>
              <p:cNvSpPr>
                <a:spLocks noRot="1" noChangeAspect="1" noMove="1" noResize="1" noEditPoints="1" noAdjustHandles="1" noChangeArrowheads="1" noChangeShapeType="1" noTextEdit="1"/>
              </p:cNvSpPr>
              <p:nvPr/>
            </p:nvSpPr>
            <p:spPr>
              <a:xfrm>
                <a:off x="8592033" y="3883299"/>
                <a:ext cx="216000" cy="216000"/>
              </a:xfrm>
              <a:prstGeom prst="ellipse">
                <a:avLst/>
              </a:prstGeom>
              <a:blipFill>
                <a:blip r:embed="rId8"/>
                <a:stretch>
                  <a:fillRect l="-5263" b="-2703"/>
                </a:stretch>
              </a:blipFill>
              <a:ln w="12700" cap="flat" cmpd="sng" algn="ctr">
                <a:solidFill>
                  <a:srgbClr val="0070C0"/>
                </a:solidFill>
                <a:prstDash val="solid"/>
              </a:ln>
              <a:effectLst/>
            </p:spPr>
            <p:txBody>
              <a:bodyPr/>
              <a:lstStyle/>
              <a:p>
                <a:r>
                  <a:rPr lang="zh-CN" altLang="en-US">
                    <a:noFill/>
                  </a:rPr>
                  <a:t> </a:t>
                </a:r>
              </a:p>
            </p:txBody>
          </p:sp>
        </mc:Fallback>
      </mc:AlternateContent>
      <p:cxnSp>
        <p:nvCxnSpPr>
          <p:cNvPr id="104" name="直接连接符 103">
            <a:extLst>
              <a:ext uri="{FF2B5EF4-FFF2-40B4-BE49-F238E27FC236}">
                <a16:creationId xmlns:a16="http://schemas.microsoft.com/office/drawing/2014/main" id="{E4772032-B6B0-3260-0632-FFF2BBF04BEF}"/>
              </a:ext>
            </a:extLst>
          </p:cNvPr>
          <p:cNvCxnSpPr>
            <a:cxnSpLocks/>
            <a:stCxn id="99" idx="3"/>
            <a:endCxn id="100" idx="0"/>
          </p:cNvCxnSpPr>
          <p:nvPr/>
        </p:nvCxnSpPr>
        <p:spPr>
          <a:xfrm flipH="1">
            <a:off x="8479837" y="3215068"/>
            <a:ext cx="129050" cy="224627"/>
          </a:xfrm>
          <a:prstGeom prst="line">
            <a:avLst/>
          </a:prstGeom>
          <a:noFill/>
          <a:ln w="9525" cap="flat" cmpd="sng" algn="ctr">
            <a:solidFill>
              <a:srgbClr val="4F81BD">
                <a:shade val="95000"/>
                <a:satMod val="105000"/>
              </a:srgbClr>
            </a:solidFill>
            <a:prstDash val="solid"/>
          </a:ln>
          <a:effectLst/>
        </p:spPr>
      </p:cxnSp>
      <p:cxnSp>
        <p:nvCxnSpPr>
          <p:cNvPr id="105" name="直接连接符 104">
            <a:extLst>
              <a:ext uri="{FF2B5EF4-FFF2-40B4-BE49-F238E27FC236}">
                <a16:creationId xmlns:a16="http://schemas.microsoft.com/office/drawing/2014/main" id="{8B56A955-3DDD-9D37-7A6F-4BD0F232E446}"/>
              </a:ext>
            </a:extLst>
          </p:cNvPr>
          <p:cNvCxnSpPr>
            <a:cxnSpLocks/>
            <a:stCxn id="99" idx="5"/>
            <a:endCxn id="101" idx="0"/>
          </p:cNvCxnSpPr>
          <p:nvPr/>
        </p:nvCxnSpPr>
        <p:spPr>
          <a:xfrm>
            <a:off x="8761623" y="3215068"/>
            <a:ext cx="129051" cy="224627"/>
          </a:xfrm>
          <a:prstGeom prst="line">
            <a:avLst/>
          </a:prstGeom>
          <a:noFill/>
          <a:ln w="9525" cap="flat" cmpd="sng" algn="ctr">
            <a:solidFill>
              <a:srgbClr val="4F81BD">
                <a:shade val="95000"/>
                <a:satMod val="105000"/>
              </a:srgbClr>
            </a:solidFill>
            <a:prstDash val="solid"/>
          </a:ln>
          <a:effectLst/>
        </p:spPr>
      </p:cxnSp>
      <p:cxnSp>
        <p:nvCxnSpPr>
          <p:cNvPr id="106" name="直接连接符 105">
            <a:extLst>
              <a:ext uri="{FF2B5EF4-FFF2-40B4-BE49-F238E27FC236}">
                <a16:creationId xmlns:a16="http://schemas.microsoft.com/office/drawing/2014/main" id="{F50EE32C-D9D6-976D-AEF7-490B3274ACFD}"/>
              </a:ext>
            </a:extLst>
          </p:cNvPr>
          <p:cNvCxnSpPr>
            <a:cxnSpLocks/>
            <a:stCxn id="100" idx="3"/>
            <a:endCxn id="102" idx="0"/>
          </p:cNvCxnSpPr>
          <p:nvPr/>
        </p:nvCxnSpPr>
        <p:spPr>
          <a:xfrm flipH="1">
            <a:off x="8259642" y="3624063"/>
            <a:ext cx="143827" cy="259236"/>
          </a:xfrm>
          <a:prstGeom prst="line">
            <a:avLst/>
          </a:prstGeom>
          <a:noFill/>
          <a:ln w="9525" cap="flat" cmpd="sng" algn="ctr">
            <a:solidFill>
              <a:srgbClr val="4F81BD">
                <a:shade val="95000"/>
                <a:satMod val="105000"/>
              </a:srgbClr>
            </a:solidFill>
            <a:prstDash val="solid"/>
          </a:ln>
          <a:effectLst/>
        </p:spPr>
      </p:cxnSp>
      <p:cxnSp>
        <p:nvCxnSpPr>
          <p:cNvPr id="107" name="直接连接符 106">
            <a:extLst>
              <a:ext uri="{FF2B5EF4-FFF2-40B4-BE49-F238E27FC236}">
                <a16:creationId xmlns:a16="http://schemas.microsoft.com/office/drawing/2014/main" id="{892B1D43-38F0-931A-DCE6-9C3145EDB644}"/>
              </a:ext>
            </a:extLst>
          </p:cNvPr>
          <p:cNvCxnSpPr>
            <a:cxnSpLocks/>
            <a:stCxn id="100" idx="5"/>
            <a:endCxn id="103" idx="0"/>
          </p:cNvCxnSpPr>
          <p:nvPr/>
        </p:nvCxnSpPr>
        <p:spPr>
          <a:xfrm>
            <a:off x="8556205" y="3624063"/>
            <a:ext cx="143828" cy="259236"/>
          </a:xfrm>
          <a:prstGeom prst="line">
            <a:avLst/>
          </a:prstGeom>
          <a:noFill/>
          <a:ln w="9525" cap="flat" cmpd="sng" algn="ctr">
            <a:solidFill>
              <a:srgbClr val="4F81BD">
                <a:shade val="95000"/>
                <a:satMod val="105000"/>
              </a:srgbClr>
            </a:solidFill>
            <a:prstDash val="solid"/>
          </a:ln>
          <a:effectLst/>
        </p:spPr>
      </p:cxnSp>
      <mc:AlternateContent xmlns:mc="http://schemas.openxmlformats.org/markup-compatibility/2006" xmlns:a14="http://schemas.microsoft.com/office/drawing/2010/main">
        <mc:Choice Requires="a14">
          <p:sp>
            <p:nvSpPr>
              <p:cNvPr id="108" name="文本框 107">
                <a:extLst>
                  <a:ext uri="{FF2B5EF4-FFF2-40B4-BE49-F238E27FC236}">
                    <a16:creationId xmlns:a16="http://schemas.microsoft.com/office/drawing/2014/main" id="{72AA092F-51A2-1D03-2EE8-102F9F1583D4}"/>
                  </a:ext>
                </a:extLst>
              </p:cNvPr>
              <p:cNvSpPr txBox="1"/>
              <p:nvPr/>
            </p:nvSpPr>
            <p:spPr>
              <a:xfrm>
                <a:off x="8116745" y="3178095"/>
                <a:ext cx="549240" cy="230832"/>
              </a:xfrm>
              <a:prstGeom prst="rect">
                <a:avLst/>
              </a:prstGeom>
              <a:noFill/>
            </p:spPr>
            <p:txBody>
              <a:bodyPr wrap="square">
                <a:spAutoFit/>
              </a:bodyPr>
              <a:lstStyle/>
              <a:p>
                <a:pPr algn="ctr" defTabSz="914400"/>
                <a14:m>
                  <m:oMathPara xmlns:m="http://schemas.openxmlformats.org/officeDocument/2006/math">
                    <m:oMathParaPr>
                      <m:jc m:val="centerGroup"/>
                    </m:oMathParaPr>
                    <m:oMath xmlns:m="http://schemas.openxmlformats.org/officeDocument/2006/math">
                      <m:sSub>
                        <m:sSubPr>
                          <m:ctrlPr>
                            <a:rPr lang="en-US" altLang="zh-CN" sz="900" b="1" i="1" kern="0" dirty="0" smtClean="0">
                              <a:solidFill>
                                <a:sysClr val="windowText" lastClr="000000"/>
                              </a:solidFill>
                              <a:latin typeface="Cambria Math" panose="02040503050406030204" pitchFamily="18" charset="0"/>
                            </a:rPr>
                          </m:ctrlPr>
                        </m:sSubPr>
                        <m:e>
                          <m:r>
                            <a:rPr lang="en-US" altLang="zh-CN" sz="900" b="1" i="1" kern="0" dirty="0" smtClean="0">
                              <a:solidFill>
                                <a:sysClr val="windowText" lastClr="000000"/>
                              </a:solidFill>
                              <a:latin typeface="Cambria Math" panose="02040503050406030204" pitchFamily="18" charset="0"/>
                            </a:rPr>
                            <m:t>𝒇</m:t>
                          </m:r>
                        </m:e>
                        <m:sub>
                          <m:r>
                            <a:rPr lang="en-US" altLang="zh-CN" sz="900" b="1" i="1" kern="0" dirty="0" smtClean="0">
                              <a:solidFill>
                                <a:sysClr val="windowText" lastClr="000000"/>
                              </a:solidFill>
                              <a:latin typeface="Cambria Math" panose="02040503050406030204" pitchFamily="18" charset="0"/>
                            </a:rPr>
                            <m:t>𝟏</m:t>
                          </m:r>
                        </m:sub>
                      </m:sSub>
                      <m:r>
                        <a:rPr lang="en-US" altLang="zh-CN" sz="900" b="1" i="1" kern="0" dirty="0" smtClean="0">
                          <a:solidFill>
                            <a:sysClr val="windowText" lastClr="000000"/>
                          </a:solidFill>
                          <a:latin typeface="Cambria Math" panose="02040503050406030204" pitchFamily="18" charset="0"/>
                        </a:rPr>
                        <m:t>=</m:t>
                      </m:r>
                      <m:r>
                        <a:rPr lang="en-US" altLang="zh-CN" sz="900" b="1" i="1" kern="0" dirty="0" smtClean="0">
                          <a:solidFill>
                            <a:sysClr val="windowText" lastClr="000000"/>
                          </a:solidFill>
                          <a:latin typeface="Cambria Math" panose="02040503050406030204" pitchFamily="18" charset="0"/>
                        </a:rPr>
                        <m:t>𝒂</m:t>
                      </m:r>
                    </m:oMath>
                  </m:oMathPara>
                </a14:m>
                <a:endParaRPr lang="zh-CN" altLang="en-US" sz="900" b="1" kern="0" dirty="0">
                  <a:solidFill>
                    <a:sysClr val="windowText" lastClr="000000"/>
                  </a:solidFill>
                  <a:latin typeface="等线" panose="02010600030101010101" pitchFamily="2" charset="-122"/>
                </a:endParaRPr>
              </a:p>
            </p:txBody>
          </p:sp>
        </mc:Choice>
        <mc:Fallback xmlns="">
          <p:sp>
            <p:nvSpPr>
              <p:cNvPr id="108" name="文本框 107">
                <a:extLst>
                  <a:ext uri="{FF2B5EF4-FFF2-40B4-BE49-F238E27FC236}">
                    <a16:creationId xmlns:a16="http://schemas.microsoft.com/office/drawing/2014/main" id="{72AA092F-51A2-1D03-2EE8-102F9F1583D4}"/>
                  </a:ext>
                </a:extLst>
              </p:cNvPr>
              <p:cNvSpPr txBox="1">
                <a:spLocks noRot="1" noChangeAspect="1" noMove="1" noResize="1" noEditPoints="1" noAdjustHandles="1" noChangeArrowheads="1" noChangeShapeType="1" noTextEdit="1"/>
              </p:cNvSpPr>
              <p:nvPr/>
            </p:nvSpPr>
            <p:spPr>
              <a:xfrm>
                <a:off x="8116745" y="3178095"/>
                <a:ext cx="549240" cy="230832"/>
              </a:xfrm>
              <a:prstGeom prst="rect">
                <a:avLst/>
              </a:prstGeom>
              <a:blipFill>
                <a:blip r:embed="rId9"/>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9" name="文本框 108">
                <a:extLst>
                  <a:ext uri="{FF2B5EF4-FFF2-40B4-BE49-F238E27FC236}">
                    <a16:creationId xmlns:a16="http://schemas.microsoft.com/office/drawing/2014/main" id="{E45BBEE5-44B5-E684-ED96-7C7ABE6ABF89}"/>
                  </a:ext>
                </a:extLst>
              </p:cNvPr>
              <p:cNvSpPr txBox="1"/>
              <p:nvPr/>
            </p:nvSpPr>
            <p:spPr>
              <a:xfrm>
                <a:off x="8751550" y="3174691"/>
                <a:ext cx="549240" cy="230832"/>
              </a:xfrm>
              <a:prstGeom prst="rect">
                <a:avLst/>
              </a:prstGeom>
              <a:noFill/>
            </p:spPr>
            <p:txBody>
              <a:bodyPr wrap="square">
                <a:spAutoFit/>
              </a:bodyPr>
              <a:lstStyle/>
              <a:p>
                <a:pPr algn="ctr" defTabSz="914400"/>
                <a14:m>
                  <m:oMathPara xmlns:m="http://schemas.openxmlformats.org/officeDocument/2006/math">
                    <m:oMathParaPr>
                      <m:jc m:val="centerGroup"/>
                    </m:oMathParaPr>
                    <m:oMath xmlns:m="http://schemas.openxmlformats.org/officeDocument/2006/math">
                      <m:sSub>
                        <m:sSubPr>
                          <m:ctrlPr>
                            <a:rPr lang="en-US" altLang="zh-CN" sz="900" b="1" i="1" kern="0" dirty="0" smtClean="0">
                              <a:solidFill>
                                <a:sysClr val="windowText" lastClr="000000"/>
                              </a:solidFill>
                              <a:latin typeface="Cambria Math" panose="02040503050406030204" pitchFamily="18" charset="0"/>
                            </a:rPr>
                          </m:ctrlPr>
                        </m:sSubPr>
                        <m:e>
                          <m:r>
                            <a:rPr lang="en-US" altLang="zh-CN" sz="900" b="1" i="1" kern="0" dirty="0" smtClean="0">
                              <a:solidFill>
                                <a:sysClr val="windowText" lastClr="000000"/>
                              </a:solidFill>
                              <a:latin typeface="Cambria Math" panose="02040503050406030204" pitchFamily="18" charset="0"/>
                            </a:rPr>
                            <m:t>𝒇</m:t>
                          </m:r>
                        </m:e>
                        <m:sub>
                          <m:r>
                            <a:rPr lang="en-US" altLang="zh-CN" sz="900" b="1" i="1" kern="0" dirty="0" smtClean="0">
                              <a:solidFill>
                                <a:sysClr val="windowText" lastClr="000000"/>
                              </a:solidFill>
                              <a:latin typeface="Cambria Math" panose="02040503050406030204" pitchFamily="18" charset="0"/>
                            </a:rPr>
                            <m:t>𝟏</m:t>
                          </m:r>
                        </m:sub>
                      </m:sSub>
                      <m:r>
                        <a:rPr lang="en-US" altLang="zh-CN" sz="900" b="1" i="1" kern="0" dirty="0" smtClean="0">
                          <a:solidFill>
                            <a:sysClr val="windowText" lastClr="000000"/>
                          </a:solidFill>
                          <a:latin typeface="Cambria Math" panose="02040503050406030204" pitchFamily="18" charset="0"/>
                        </a:rPr>
                        <m:t>≠</m:t>
                      </m:r>
                      <m:r>
                        <a:rPr lang="en-US" altLang="zh-CN" sz="900" b="1" i="1" kern="0" dirty="0" smtClean="0">
                          <a:solidFill>
                            <a:sysClr val="windowText" lastClr="000000"/>
                          </a:solidFill>
                          <a:latin typeface="Cambria Math" panose="02040503050406030204" pitchFamily="18" charset="0"/>
                        </a:rPr>
                        <m:t>𝒂</m:t>
                      </m:r>
                    </m:oMath>
                  </m:oMathPara>
                </a14:m>
                <a:endParaRPr lang="zh-CN" altLang="en-US" sz="900" b="1" kern="0" dirty="0">
                  <a:solidFill>
                    <a:sysClr val="windowText" lastClr="000000"/>
                  </a:solidFill>
                  <a:latin typeface="等线" panose="02010600030101010101" pitchFamily="2" charset="-122"/>
                </a:endParaRPr>
              </a:p>
            </p:txBody>
          </p:sp>
        </mc:Choice>
        <mc:Fallback xmlns="">
          <p:sp>
            <p:nvSpPr>
              <p:cNvPr id="109" name="文本框 108">
                <a:extLst>
                  <a:ext uri="{FF2B5EF4-FFF2-40B4-BE49-F238E27FC236}">
                    <a16:creationId xmlns:a16="http://schemas.microsoft.com/office/drawing/2014/main" id="{E45BBEE5-44B5-E684-ED96-7C7ABE6ABF89}"/>
                  </a:ext>
                </a:extLst>
              </p:cNvPr>
              <p:cNvSpPr txBox="1">
                <a:spLocks noRot="1" noChangeAspect="1" noMove="1" noResize="1" noEditPoints="1" noAdjustHandles="1" noChangeArrowheads="1" noChangeShapeType="1" noTextEdit="1"/>
              </p:cNvSpPr>
              <p:nvPr/>
            </p:nvSpPr>
            <p:spPr>
              <a:xfrm>
                <a:off x="8751550" y="3174691"/>
                <a:ext cx="549240" cy="230832"/>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 name="文本框 109">
                <a:extLst>
                  <a:ext uri="{FF2B5EF4-FFF2-40B4-BE49-F238E27FC236}">
                    <a16:creationId xmlns:a16="http://schemas.microsoft.com/office/drawing/2014/main" id="{FAE6D4EB-5562-D9CF-8629-92975301CBFF}"/>
                  </a:ext>
                </a:extLst>
              </p:cNvPr>
              <p:cNvSpPr txBox="1"/>
              <p:nvPr/>
            </p:nvSpPr>
            <p:spPr>
              <a:xfrm>
                <a:off x="7885120" y="3620500"/>
                <a:ext cx="549240" cy="230832"/>
              </a:xfrm>
              <a:prstGeom prst="rect">
                <a:avLst/>
              </a:prstGeom>
              <a:noFill/>
            </p:spPr>
            <p:txBody>
              <a:bodyPr wrap="square">
                <a:spAutoFit/>
              </a:bodyPr>
              <a:lstStyle/>
              <a:p>
                <a:pPr algn="ctr" defTabSz="914400"/>
                <a14:m>
                  <m:oMathPara xmlns:m="http://schemas.openxmlformats.org/officeDocument/2006/math">
                    <m:oMathParaPr>
                      <m:jc m:val="centerGroup"/>
                    </m:oMathParaPr>
                    <m:oMath xmlns:m="http://schemas.openxmlformats.org/officeDocument/2006/math">
                      <m:sSub>
                        <m:sSubPr>
                          <m:ctrlPr>
                            <a:rPr lang="en-US" altLang="zh-CN" sz="900" b="1" i="1" kern="0" dirty="0" smtClean="0">
                              <a:solidFill>
                                <a:sysClr val="windowText" lastClr="000000"/>
                              </a:solidFill>
                              <a:latin typeface="Cambria Math" panose="02040503050406030204" pitchFamily="18" charset="0"/>
                            </a:rPr>
                          </m:ctrlPr>
                        </m:sSubPr>
                        <m:e>
                          <m:r>
                            <a:rPr lang="en-US" altLang="zh-CN" sz="900" b="1" i="1" kern="0" dirty="0" smtClean="0">
                              <a:solidFill>
                                <a:sysClr val="windowText" lastClr="000000"/>
                              </a:solidFill>
                              <a:latin typeface="Cambria Math" panose="02040503050406030204" pitchFamily="18" charset="0"/>
                            </a:rPr>
                            <m:t>𝒇</m:t>
                          </m:r>
                        </m:e>
                        <m:sub>
                          <m:r>
                            <a:rPr lang="en-US" altLang="zh-CN" sz="900" b="1" i="1" kern="0" dirty="0" smtClean="0">
                              <a:solidFill>
                                <a:sysClr val="windowText" lastClr="000000"/>
                              </a:solidFill>
                              <a:latin typeface="Cambria Math" panose="02040503050406030204" pitchFamily="18" charset="0"/>
                            </a:rPr>
                            <m:t>𝟐</m:t>
                          </m:r>
                        </m:sub>
                      </m:sSub>
                      <m:r>
                        <a:rPr lang="en-US" altLang="zh-CN" sz="900" b="1" i="1" kern="0" dirty="0" smtClean="0">
                          <a:solidFill>
                            <a:sysClr val="windowText" lastClr="000000"/>
                          </a:solidFill>
                          <a:latin typeface="Cambria Math" panose="02040503050406030204" pitchFamily="18" charset="0"/>
                        </a:rPr>
                        <m:t>=</m:t>
                      </m:r>
                      <m:r>
                        <a:rPr lang="en-US" altLang="zh-CN" sz="900" b="1" i="1" kern="0" dirty="0" smtClean="0">
                          <a:solidFill>
                            <a:sysClr val="windowText" lastClr="000000"/>
                          </a:solidFill>
                          <a:latin typeface="Cambria Math" panose="02040503050406030204" pitchFamily="18" charset="0"/>
                        </a:rPr>
                        <m:t>𝒃</m:t>
                      </m:r>
                    </m:oMath>
                  </m:oMathPara>
                </a14:m>
                <a:endParaRPr lang="zh-CN" altLang="en-US" sz="900" b="1" kern="0" dirty="0">
                  <a:solidFill>
                    <a:sysClr val="windowText" lastClr="000000"/>
                  </a:solidFill>
                  <a:latin typeface="等线" panose="02010600030101010101" pitchFamily="2" charset="-122"/>
                </a:endParaRPr>
              </a:p>
            </p:txBody>
          </p:sp>
        </mc:Choice>
        <mc:Fallback xmlns="">
          <p:sp>
            <p:nvSpPr>
              <p:cNvPr id="110" name="文本框 109">
                <a:extLst>
                  <a:ext uri="{FF2B5EF4-FFF2-40B4-BE49-F238E27FC236}">
                    <a16:creationId xmlns:a16="http://schemas.microsoft.com/office/drawing/2014/main" id="{FAE6D4EB-5562-D9CF-8629-92975301CBFF}"/>
                  </a:ext>
                </a:extLst>
              </p:cNvPr>
              <p:cNvSpPr txBox="1">
                <a:spLocks noRot="1" noChangeAspect="1" noMove="1" noResize="1" noEditPoints="1" noAdjustHandles="1" noChangeArrowheads="1" noChangeShapeType="1" noTextEdit="1"/>
              </p:cNvSpPr>
              <p:nvPr/>
            </p:nvSpPr>
            <p:spPr>
              <a:xfrm>
                <a:off x="7885120" y="3620500"/>
                <a:ext cx="549240" cy="2308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1" name="文本框 110">
                <a:extLst>
                  <a:ext uri="{FF2B5EF4-FFF2-40B4-BE49-F238E27FC236}">
                    <a16:creationId xmlns:a16="http://schemas.microsoft.com/office/drawing/2014/main" id="{6DD519BD-066E-ED38-D5C6-7F4194F76A47}"/>
                  </a:ext>
                </a:extLst>
              </p:cNvPr>
              <p:cNvSpPr txBox="1"/>
              <p:nvPr/>
            </p:nvSpPr>
            <p:spPr>
              <a:xfrm>
                <a:off x="8572872" y="3620078"/>
                <a:ext cx="556718" cy="230832"/>
              </a:xfrm>
              <a:prstGeom prst="rect">
                <a:avLst/>
              </a:prstGeom>
              <a:noFill/>
            </p:spPr>
            <p:txBody>
              <a:bodyPr wrap="square">
                <a:spAutoFit/>
              </a:bodyPr>
              <a:lstStyle/>
              <a:p>
                <a:pPr algn="ctr" defTabSz="914400"/>
                <a14:m>
                  <m:oMathPara xmlns:m="http://schemas.openxmlformats.org/officeDocument/2006/math">
                    <m:oMathParaPr>
                      <m:jc m:val="centerGroup"/>
                    </m:oMathParaPr>
                    <m:oMath xmlns:m="http://schemas.openxmlformats.org/officeDocument/2006/math">
                      <m:sSub>
                        <m:sSubPr>
                          <m:ctrlPr>
                            <a:rPr lang="en-US" altLang="zh-CN" sz="900" b="1" i="1" kern="0" dirty="0" smtClean="0">
                              <a:solidFill>
                                <a:sysClr val="windowText" lastClr="000000"/>
                              </a:solidFill>
                              <a:latin typeface="Cambria Math" panose="02040503050406030204" pitchFamily="18" charset="0"/>
                            </a:rPr>
                          </m:ctrlPr>
                        </m:sSubPr>
                        <m:e>
                          <m:r>
                            <a:rPr lang="en-US" altLang="zh-CN" sz="900" b="1" i="1" kern="0" dirty="0" smtClean="0">
                              <a:solidFill>
                                <a:sysClr val="windowText" lastClr="000000"/>
                              </a:solidFill>
                              <a:latin typeface="Cambria Math" panose="02040503050406030204" pitchFamily="18" charset="0"/>
                            </a:rPr>
                            <m:t>𝒇</m:t>
                          </m:r>
                        </m:e>
                        <m:sub>
                          <m:r>
                            <a:rPr lang="en-US" altLang="zh-CN" sz="900" b="1" i="1" kern="0" dirty="0" smtClean="0">
                              <a:solidFill>
                                <a:sysClr val="windowText" lastClr="000000"/>
                              </a:solidFill>
                              <a:latin typeface="Cambria Math" panose="02040503050406030204" pitchFamily="18" charset="0"/>
                            </a:rPr>
                            <m:t>𝟐</m:t>
                          </m:r>
                        </m:sub>
                      </m:sSub>
                      <m:r>
                        <a:rPr lang="en-US" altLang="zh-CN" sz="900" b="1" i="1" kern="0" dirty="0" smtClean="0">
                          <a:solidFill>
                            <a:sysClr val="windowText" lastClr="000000"/>
                          </a:solidFill>
                          <a:latin typeface="Cambria Math" panose="02040503050406030204" pitchFamily="18" charset="0"/>
                        </a:rPr>
                        <m:t>≠</m:t>
                      </m:r>
                      <m:r>
                        <a:rPr lang="en-US" altLang="zh-CN" sz="900" b="1" i="1" kern="0" dirty="0" smtClean="0">
                          <a:solidFill>
                            <a:sysClr val="windowText" lastClr="000000"/>
                          </a:solidFill>
                          <a:latin typeface="Cambria Math" panose="02040503050406030204" pitchFamily="18" charset="0"/>
                        </a:rPr>
                        <m:t>𝒃</m:t>
                      </m:r>
                    </m:oMath>
                  </m:oMathPara>
                </a14:m>
                <a:endParaRPr lang="zh-CN" altLang="en-US" sz="900" b="1" kern="0" dirty="0">
                  <a:solidFill>
                    <a:sysClr val="windowText" lastClr="000000"/>
                  </a:solidFill>
                  <a:latin typeface="等线" panose="02010600030101010101" pitchFamily="2" charset="-122"/>
                </a:endParaRPr>
              </a:p>
            </p:txBody>
          </p:sp>
        </mc:Choice>
        <mc:Fallback xmlns="">
          <p:sp>
            <p:nvSpPr>
              <p:cNvPr id="111" name="文本框 110">
                <a:extLst>
                  <a:ext uri="{FF2B5EF4-FFF2-40B4-BE49-F238E27FC236}">
                    <a16:creationId xmlns:a16="http://schemas.microsoft.com/office/drawing/2014/main" id="{6DD519BD-066E-ED38-D5C6-7F4194F76A47}"/>
                  </a:ext>
                </a:extLst>
              </p:cNvPr>
              <p:cNvSpPr txBox="1">
                <a:spLocks noRot="1" noChangeAspect="1" noMove="1" noResize="1" noEditPoints="1" noAdjustHandles="1" noChangeArrowheads="1" noChangeShapeType="1" noTextEdit="1"/>
              </p:cNvSpPr>
              <p:nvPr/>
            </p:nvSpPr>
            <p:spPr>
              <a:xfrm>
                <a:off x="8572872" y="3620078"/>
                <a:ext cx="556718" cy="2308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文本框 111">
                <a:extLst>
                  <a:ext uri="{FF2B5EF4-FFF2-40B4-BE49-F238E27FC236}">
                    <a16:creationId xmlns:a16="http://schemas.microsoft.com/office/drawing/2014/main" id="{E2E43AB6-8553-5650-BC22-A85C8811E16B}"/>
                  </a:ext>
                </a:extLst>
              </p:cNvPr>
              <p:cNvSpPr txBox="1"/>
              <p:nvPr/>
            </p:nvSpPr>
            <p:spPr>
              <a:xfrm>
                <a:off x="8708647" y="3847960"/>
                <a:ext cx="728863" cy="276999"/>
              </a:xfrm>
              <a:prstGeom prst="rect">
                <a:avLst/>
              </a:prstGeom>
              <a:noFill/>
            </p:spPr>
            <p:txBody>
              <a:bodyPr wrap="square">
                <a:spAutoFit/>
              </a:bodyPr>
              <a:lstStyle/>
              <a:p>
                <a:pPr defTabSz="914400"/>
                <a14:m>
                  <m:oMathPara xmlns:m="http://schemas.openxmlformats.org/officeDocument/2006/math">
                    <m:oMathParaPr>
                      <m:jc m:val="centerGroup"/>
                    </m:oMathParaPr>
                    <m:oMath xmlns:m="http://schemas.openxmlformats.org/officeDocument/2006/math">
                      <m:r>
                        <a:rPr lang="en-US" altLang="zh-CN" sz="1200" b="1" i="1" kern="0" dirty="0" smtClean="0">
                          <a:solidFill>
                            <a:srgbClr val="0070C0"/>
                          </a:solidFill>
                          <a:latin typeface="Cambria Math" panose="02040503050406030204" pitchFamily="18" charset="0"/>
                          <a:cs typeface="Times New Roman" panose="02020603050405020304" pitchFamily="18" charset="0"/>
                        </a:rPr>
                        <m:t>⋯</m:t>
                      </m:r>
                    </m:oMath>
                  </m:oMathPara>
                </a14:m>
                <a:endParaRPr lang="en-US" altLang="zh-CN" sz="1200" b="1" kern="0" dirty="0">
                  <a:solidFill>
                    <a:srgbClr val="0070C0"/>
                  </a:solidFill>
                  <a:cs typeface="Times New Roman" panose="02020603050405020304" pitchFamily="18" charset="0"/>
                </a:endParaRPr>
              </a:p>
            </p:txBody>
          </p:sp>
        </mc:Choice>
        <mc:Fallback xmlns="">
          <p:sp>
            <p:nvSpPr>
              <p:cNvPr id="112" name="文本框 111">
                <a:extLst>
                  <a:ext uri="{FF2B5EF4-FFF2-40B4-BE49-F238E27FC236}">
                    <a16:creationId xmlns:a16="http://schemas.microsoft.com/office/drawing/2014/main" id="{E2E43AB6-8553-5650-BC22-A85C8811E16B}"/>
                  </a:ext>
                </a:extLst>
              </p:cNvPr>
              <p:cNvSpPr txBox="1">
                <a:spLocks noRot="1" noChangeAspect="1" noMove="1" noResize="1" noEditPoints="1" noAdjustHandles="1" noChangeArrowheads="1" noChangeShapeType="1" noTextEdit="1"/>
              </p:cNvSpPr>
              <p:nvPr/>
            </p:nvSpPr>
            <p:spPr>
              <a:xfrm>
                <a:off x="8708647" y="3847960"/>
                <a:ext cx="728863" cy="27699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矩形: 圆角 112">
                <a:extLst>
                  <a:ext uri="{FF2B5EF4-FFF2-40B4-BE49-F238E27FC236}">
                    <a16:creationId xmlns:a16="http://schemas.microsoft.com/office/drawing/2014/main" id="{EC2E85C1-1DA9-EF3D-1579-DFA7F98C6FF7}"/>
                  </a:ext>
                </a:extLst>
              </p:cNvPr>
              <p:cNvSpPr/>
              <p:nvPr/>
            </p:nvSpPr>
            <p:spPr>
              <a:xfrm>
                <a:off x="9763760" y="3130616"/>
                <a:ext cx="1903346" cy="961081"/>
              </a:xfrm>
              <a:prstGeom prst="roundRect">
                <a:avLst/>
              </a:prstGeom>
              <a:solidFill>
                <a:srgbClr val="FFF2F2"/>
              </a:solidFill>
              <a:ln w="12700" cap="flat" cmpd="sng" algn="ctr">
                <a:solidFill>
                  <a:srgbClr val="4F81BD">
                    <a:shade val="15000"/>
                  </a:srgbClr>
                </a:solidFill>
                <a:prstDash val="solid"/>
              </a:ln>
              <a:effectLst/>
            </p:spPr>
            <p:txBody>
              <a:bodyPr wrap="square" rtlCol="0" anchor="ctr">
                <a:noAutofit/>
              </a:bodyPr>
              <a:lstStyle/>
              <a:p>
                <a:pPr marL="0" marR="0" lvl="0" indent="0" defTabSz="914400" eaLnBrk="1" fontAlgn="auto" latinLnBrk="0" hangingPunct="1">
                  <a:lnSpc>
                    <a:spcPct val="150000"/>
                  </a:lnSpc>
                  <a:spcBef>
                    <a:spcPts val="0"/>
                  </a:spcBef>
                  <a:spcAft>
                    <a:spcPts val="0"/>
                  </a:spcAft>
                  <a:buClrTx/>
                  <a:buSzTx/>
                  <a:buFontTx/>
                  <a:buNone/>
                  <a:tabLst/>
                  <a:defRPr/>
                </a:pPr>
                <a14:m>
                  <m:oMath xmlns:m="http://schemas.openxmlformats.org/officeDocument/2006/math">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𝑅𝑢𝑙𝑒</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 1:(</m:t>
                    </m:r>
                    <m:sSub>
                      <m:sSubPr>
                        <m:ctrlP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𝑓</m:t>
                        </m:r>
                      </m:e>
                      <m:sub>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1</m:t>
                        </m:r>
                      </m:sub>
                    </m:sSub>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𝑎</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𝑓</m:t>
                        </m:r>
                      </m:e>
                      <m:sub>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2</m:t>
                        </m:r>
                      </m:sub>
                    </m:sSub>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𝑏</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oMath>
                </a14:m>
                <a:r>
                  <a:rPr kumimoji="0" lang="en-US" altLang="zh-CN" sz="105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a:t>
                </a:r>
                <a14:m>
                  <m:oMath xmlns:m="http://schemas.openxmlformats.org/officeDocument/2006/math">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𝑅𝑢𝑙𝑒</m:t>
                    </m:r>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 2: ⋯</m:t>
                    </m:r>
                  </m:oMath>
                </a14:m>
                <a:endParaRPr kumimoji="0" lang="en-US" altLang="zh-CN" sz="1050" b="0" i="0" u="none" strike="noStrike" kern="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mn-cs"/>
                </a:endParaRPr>
              </a:p>
              <a:p>
                <a:pPr marL="0" marR="0" lvl="0" indent="0" defTabSz="91440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altLang="zh-CN" sz="1050" b="0" i="1" u="none" strike="noStrike" kern="0" cap="none" spc="0" normalizeH="0" baseline="0" noProof="0" dirty="0" smtClean="0">
                          <a:ln>
                            <a:noFill/>
                          </a:ln>
                          <a:solidFill>
                            <a:prstClr val="black"/>
                          </a:solidFill>
                          <a:effectLst/>
                          <a:uLnTx/>
                          <a:uFillTx/>
                          <a:latin typeface="Cambria Math" panose="02040503050406030204" pitchFamily="18" charset="0"/>
                          <a:cs typeface="+mn-cs"/>
                        </a:rPr>
                        <m:t>⋯</m:t>
                      </m:r>
                    </m:oMath>
                  </m:oMathPara>
                </a14:m>
                <a:endParaRPr kumimoji="0" lang="en-US" altLang="zh-CN" sz="1050" b="0" i="0" u="none" strike="noStrike" kern="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mn-cs"/>
                </a:endParaRPr>
              </a:p>
            </p:txBody>
          </p:sp>
        </mc:Choice>
        <mc:Fallback xmlns="">
          <p:sp>
            <p:nvSpPr>
              <p:cNvPr id="113" name="矩形: 圆角 112">
                <a:extLst>
                  <a:ext uri="{FF2B5EF4-FFF2-40B4-BE49-F238E27FC236}">
                    <a16:creationId xmlns:a16="http://schemas.microsoft.com/office/drawing/2014/main" id="{EC2E85C1-1DA9-EF3D-1579-DFA7F98C6FF7}"/>
                  </a:ext>
                </a:extLst>
              </p:cNvPr>
              <p:cNvSpPr>
                <a:spLocks noRot="1" noChangeAspect="1" noMove="1" noResize="1" noEditPoints="1" noAdjustHandles="1" noChangeArrowheads="1" noChangeShapeType="1" noTextEdit="1"/>
              </p:cNvSpPr>
              <p:nvPr/>
            </p:nvSpPr>
            <p:spPr>
              <a:xfrm>
                <a:off x="9763760" y="3130616"/>
                <a:ext cx="1903346" cy="961081"/>
              </a:xfrm>
              <a:prstGeom prst="roundRect">
                <a:avLst/>
              </a:prstGeom>
              <a:blipFill>
                <a:blip r:embed="rId14"/>
                <a:stretch>
                  <a:fillRect/>
                </a:stretch>
              </a:blipFill>
              <a:ln w="12700" cap="flat" cmpd="sng" algn="ctr">
                <a:solidFill>
                  <a:srgbClr val="4F81BD">
                    <a:shade val="15000"/>
                  </a:srgbClr>
                </a:solidFill>
                <a:prstDash val="solid"/>
              </a:ln>
              <a:effectLst/>
            </p:spPr>
            <p:txBody>
              <a:bodyPr/>
              <a:lstStyle/>
              <a:p>
                <a:r>
                  <a:rPr lang="zh-CN" altLang="en-US">
                    <a:noFill/>
                  </a:rPr>
                  <a:t> </a:t>
                </a:r>
              </a:p>
            </p:txBody>
          </p:sp>
        </mc:Fallback>
      </mc:AlternateContent>
      <p:sp>
        <p:nvSpPr>
          <p:cNvPr id="114" name="矩形 113">
            <a:extLst>
              <a:ext uri="{FF2B5EF4-FFF2-40B4-BE49-F238E27FC236}">
                <a16:creationId xmlns:a16="http://schemas.microsoft.com/office/drawing/2014/main" id="{2E2D481F-7F8B-4824-C411-C799204DC468}"/>
              </a:ext>
            </a:extLst>
          </p:cNvPr>
          <p:cNvSpPr/>
          <p:nvPr/>
        </p:nvSpPr>
        <p:spPr>
          <a:xfrm>
            <a:off x="9858000" y="4114833"/>
            <a:ext cx="1881156" cy="224136"/>
          </a:xfrm>
          <a:prstGeom prst="rect">
            <a:avLst/>
          </a:prstGeom>
          <a:noFill/>
          <a:ln w="25400" cap="flat" cmpd="sng" algn="ctr">
            <a:noFill/>
            <a:prstDash val="solid"/>
          </a:ln>
          <a:effectLst/>
        </p:spPr>
        <p:txBody>
          <a:bodyPr wrap="square" rtlCol="0" anchor="b">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Rule Set</a:t>
            </a:r>
            <a:endParaRPr kumimoji="0" lang="zh-CN" altLang="en-US" sz="1000" b="1" i="0" u="none" strike="noStrike" kern="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endParaRPr>
          </a:p>
        </p:txBody>
      </p:sp>
      <p:sp>
        <p:nvSpPr>
          <p:cNvPr id="115" name="箭头: 右 114">
            <a:extLst>
              <a:ext uri="{FF2B5EF4-FFF2-40B4-BE49-F238E27FC236}">
                <a16:creationId xmlns:a16="http://schemas.microsoft.com/office/drawing/2014/main" id="{AA9FC674-81A4-71C0-4676-F21E7E2E5D1F}"/>
              </a:ext>
            </a:extLst>
          </p:cNvPr>
          <p:cNvSpPr/>
          <p:nvPr/>
        </p:nvSpPr>
        <p:spPr>
          <a:xfrm>
            <a:off x="9306560" y="3487831"/>
            <a:ext cx="359935" cy="133155"/>
          </a:xfrm>
          <a:prstGeom prst="rightArrow">
            <a:avLst/>
          </a:prstGeom>
          <a:solidFill>
            <a:srgbClr val="4F81BD"/>
          </a:solidFill>
          <a:ln w="25400" cap="flat" cmpd="sng" algn="ctr">
            <a:noFill/>
            <a:prstDash val="solid"/>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6" name="箭头: 右 115">
            <a:extLst>
              <a:ext uri="{FF2B5EF4-FFF2-40B4-BE49-F238E27FC236}">
                <a16:creationId xmlns:a16="http://schemas.microsoft.com/office/drawing/2014/main" id="{1047653D-06B7-D25A-18E7-0F314E308902}"/>
              </a:ext>
            </a:extLst>
          </p:cNvPr>
          <p:cNvSpPr/>
          <p:nvPr/>
        </p:nvSpPr>
        <p:spPr>
          <a:xfrm>
            <a:off x="7498825" y="3495313"/>
            <a:ext cx="359935" cy="133155"/>
          </a:xfrm>
          <a:prstGeom prst="rightArrow">
            <a:avLst/>
          </a:prstGeom>
          <a:solidFill>
            <a:srgbClr val="4F81BD"/>
          </a:solidFill>
          <a:ln w="25400" cap="flat" cmpd="sng" algn="ctr">
            <a:noFill/>
            <a:prstDash val="solid"/>
          </a:ln>
          <a:effectLst/>
        </p:spPr>
        <p:txBody>
          <a:bodyPr wrap="square" rtlCol="0" anchor="ctr">
            <a:noAutofit/>
          </a:bodyP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7" name="流程图: 磁盘 116">
            <a:extLst>
              <a:ext uri="{FF2B5EF4-FFF2-40B4-BE49-F238E27FC236}">
                <a16:creationId xmlns:a16="http://schemas.microsoft.com/office/drawing/2014/main" id="{5E7F61B1-84FA-62CE-9FB3-3AEB32D6C0AE}"/>
              </a:ext>
            </a:extLst>
          </p:cNvPr>
          <p:cNvSpPr/>
          <p:nvPr/>
        </p:nvSpPr>
        <p:spPr>
          <a:xfrm>
            <a:off x="6262568" y="3327381"/>
            <a:ext cx="1062792" cy="579001"/>
          </a:xfrm>
          <a:prstGeom prst="flowChartMagneticDisk">
            <a:avLst/>
          </a:prstGeom>
          <a:solidFill>
            <a:sysClr val="window" lastClr="FFFFFF"/>
          </a:solidFill>
          <a:ln w="12700" cap="flat" cmpd="sng" algn="ctr">
            <a:solidFill>
              <a:srgbClr val="4F81BD">
                <a:shade val="15000"/>
              </a:srgbClr>
            </a:solidFill>
            <a:prstDash val="solid"/>
          </a:ln>
          <a:effectLst/>
        </p:spPr>
        <p:txBody>
          <a:bodyPr wrap="square"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050" b="1" i="0" u="none" strike="noStrike" kern="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rPr>
              <a:t>High-ordered features</a:t>
            </a:r>
            <a:endParaRPr kumimoji="0" lang="zh-CN" altLang="en-US" sz="1050" b="1" i="0" u="none" strike="noStrike" kern="0" cap="none" spc="0" normalizeH="0" baseline="0" noProof="0" dirty="0">
              <a:ln>
                <a:noFill/>
              </a:ln>
              <a:solidFill>
                <a:prstClr val="black"/>
              </a:solidFill>
              <a:effectLst/>
              <a:uLnTx/>
              <a:uFillTx/>
              <a:latin typeface="等线" panose="02010600030101010101" pitchFamily="2" charset="-122"/>
              <a:ea typeface="宋体" panose="02010600030101010101" pitchFamily="2" charset="-122"/>
              <a:cs typeface="Times New Roman" panose="02020603050405020304" pitchFamily="18" charset="0"/>
            </a:endParaRPr>
          </a:p>
        </p:txBody>
      </p:sp>
      <p:pic>
        <p:nvPicPr>
          <p:cNvPr id="118" name="图片 117">
            <a:extLst>
              <a:ext uri="{FF2B5EF4-FFF2-40B4-BE49-F238E27FC236}">
                <a16:creationId xmlns:a16="http://schemas.microsoft.com/office/drawing/2014/main" id="{BBE608C5-7F82-FE77-8CD4-92D743ACC809}"/>
              </a:ext>
            </a:extLst>
          </p:cNvPr>
          <p:cNvPicPr>
            <a:picLocks noChangeAspect="1"/>
          </p:cNvPicPr>
          <p:nvPr/>
        </p:nvPicPr>
        <p:blipFill>
          <a:blip r:embed="rId15"/>
          <a:stretch>
            <a:fillRect/>
          </a:stretch>
        </p:blipFill>
        <p:spPr>
          <a:xfrm>
            <a:off x="328670" y="1339864"/>
            <a:ext cx="2359647" cy="1216238"/>
          </a:xfrm>
          <a:prstGeom prst="rect">
            <a:avLst/>
          </a:prstGeom>
        </p:spPr>
      </p:pic>
      <p:sp>
        <p:nvSpPr>
          <p:cNvPr id="119" name="文本框 118">
            <a:extLst>
              <a:ext uri="{FF2B5EF4-FFF2-40B4-BE49-F238E27FC236}">
                <a16:creationId xmlns:a16="http://schemas.microsoft.com/office/drawing/2014/main" id="{1A87C73C-7F42-613B-1E3D-59A764D15E2E}"/>
              </a:ext>
            </a:extLst>
          </p:cNvPr>
          <p:cNvSpPr txBox="1"/>
          <p:nvPr/>
        </p:nvSpPr>
        <p:spPr>
          <a:xfrm>
            <a:off x="823628" y="2600658"/>
            <a:ext cx="1369729" cy="276999"/>
          </a:xfrm>
          <a:prstGeom prst="rect">
            <a:avLst/>
          </a:prstGeom>
          <a:noFill/>
        </p:spPr>
        <p:txBody>
          <a:bodyPr wrap="square">
            <a:spAutoFit/>
          </a:bodyPr>
          <a:lstStyle/>
          <a:p>
            <a:pPr algn="ctr" defTabSz="914400"/>
            <a:r>
              <a:rPr lang="en-US" altLang="zh-CN" sz="1200" kern="0" dirty="0">
                <a:solidFill>
                  <a:sysClr val="windowText" lastClr="000000"/>
                </a:solidFill>
                <a:latin typeface="微软雅黑" panose="020B0503020204020204" pitchFamily="34" charset="-122"/>
                <a:ea typeface="微软雅黑" panose="020B0503020204020204" pitchFamily="34" charset="-122"/>
              </a:rPr>
              <a:t>Side-band ECC</a:t>
            </a:r>
            <a:endParaRPr lang="zh-CN" altLang="en-US" sz="1200" kern="0" dirty="0">
              <a:solidFill>
                <a:sysClr val="windowText" lastClr="000000"/>
              </a:solidFill>
              <a:latin typeface="微软雅黑" panose="020B0503020204020204" pitchFamily="34" charset="-122"/>
              <a:ea typeface="微软雅黑" panose="020B0503020204020204" pitchFamily="34" charset="-122"/>
            </a:endParaRPr>
          </a:p>
        </p:txBody>
      </p:sp>
      <p:sp>
        <p:nvSpPr>
          <p:cNvPr id="120" name="文本框 119">
            <a:extLst>
              <a:ext uri="{FF2B5EF4-FFF2-40B4-BE49-F238E27FC236}">
                <a16:creationId xmlns:a16="http://schemas.microsoft.com/office/drawing/2014/main" id="{4A70E24E-3C3B-AC3F-C468-3F3305649D02}"/>
              </a:ext>
            </a:extLst>
          </p:cNvPr>
          <p:cNvSpPr txBox="1"/>
          <p:nvPr/>
        </p:nvSpPr>
        <p:spPr>
          <a:xfrm>
            <a:off x="823628" y="4304859"/>
            <a:ext cx="1369729" cy="276999"/>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rPr>
              <a:t>Inline</a:t>
            </a:r>
            <a:r>
              <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ECC</a:t>
            </a: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121" name="图片 120">
            <a:extLst>
              <a:ext uri="{FF2B5EF4-FFF2-40B4-BE49-F238E27FC236}">
                <a16:creationId xmlns:a16="http://schemas.microsoft.com/office/drawing/2014/main" id="{FF721EB9-8FF4-19B4-D8A9-8E9DE021AD31}"/>
              </a:ext>
            </a:extLst>
          </p:cNvPr>
          <p:cNvPicPr>
            <a:picLocks noChangeAspect="1"/>
          </p:cNvPicPr>
          <p:nvPr/>
        </p:nvPicPr>
        <p:blipFill>
          <a:blip r:embed="rId16"/>
          <a:stretch>
            <a:fillRect/>
          </a:stretch>
        </p:blipFill>
        <p:spPr>
          <a:xfrm>
            <a:off x="324661" y="3195922"/>
            <a:ext cx="2361600" cy="1044480"/>
          </a:xfrm>
          <a:prstGeom prst="rect">
            <a:avLst/>
          </a:prstGeom>
        </p:spPr>
      </p:pic>
      <p:pic>
        <p:nvPicPr>
          <p:cNvPr id="122" name="图片 121">
            <a:extLst>
              <a:ext uri="{FF2B5EF4-FFF2-40B4-BE49-F238E27FC236}">
                <a16:creationId xmlns:a16="http://schemas.microsoft.com/office/drawing/2014/main" id="{EABA9EA6-76A5-B9C3-83EF-3D10E25BD1D8}"/>
              </a:ext>
            </a:extLst>
          </p:cNvPr>
          <p:cNvPicPr>
            <a:picLocks noChangeAspect="1"/>
          </p:cNvPicPr>
          <p:nvPr/>
        </p:nvPicPr>
        <p:blipFill>
          <a:blip r:embed="rId17"/>
          <a:stretch>
            <a:fillRect/>
          </a:stretch>
        </p:blipFill>
        <p:spPr>
          <a:xfrm>
            <a:off x="324661" y="4932236"/>
            <a:ext cx="2361600" cy="1022980"/>
          </a:xfrm>
          <a:prstGeom prst="rect">
            <a:avLst/>
          </a:prstGeom>
        </p:spPr>
      </p:pic>
      <p:sp>
        <p:nvSpPr>
          <p:cNvPr id="123" name="文本框 122">
            <a:extLst>
              <a:ext uri="{FF2B5EF4-FFF2-40B4-BE49-F238E27FC236}">
                <a16:creationId xmlns:a16="http://schemas.microsoft.com/office/drawing/2014/main" id="{46B2A8A9-8CC8-BE5E-D443-D3489AA43B29}"/>
              </a:ext>
            </a:extLst>
          </p:cNvPr>
          <p:cNvSpPr txBox="1"/>
          <p:nvPr/>
        </p:nvSpPr>
        <p:spPr>
          <a:xfrm>
            <a:off x="823628" y="5981259"/>
            <a:ext cx="1369729" cy="276999"/>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ysClr val="windowText" lastClr="000000"/>
                </a:solidFill>
                <a:effectLst/>
                <a:uLnTx/>
                <a:uFillTx/>
              </a:rPr>
              <a:t>On-die</a:t>
            </a:r>
            <a:r>
              <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ECC</a:t>
            </a: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24" name="箭头: 右 123">
            <a:extLst>
              <a:ext uri="{FF2B5EF4-FFF2-40B4-BE49-F238E27FC236}">
                <a16:creationId xmlns:a16="http://schemas.microsoft.com/office/drawing/2014/main" id="{04A04DD3-4011-A120-684E-3A511F0F1CF6}"/>
              </a:ext>
            </a:extLst>
          </p:cNvPr>
          <p:cNvSpPr/>
          <p:nvPr/>
        </p:nvSpPr>
        <p:spPr>
          <a:xfrm rot="5400000">
            <a:off x="2741716" y="5584102"/>
            <a:ext cx="1487055" cy="244567"/>
          </a:xfrm>
          <a:prstGeom prst="rightArrow">
            <a:avLst/>
          </a:prstGeom>
          <a:solidFill>
            <a:srgbClr val="E9002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666666"/>
              </a:solidFill>
              <a:effectLst/>
              <a:uLnTx/>
              <a:uFillTx/>
            </a:endParaRPr>
          </a:p>
        </p:txBody>
      </p:sp>
      <p:sp>
        <p:nvSpPr>
          <p:cNvPr id="125" name="文本框 124">
            <a:extLst>
              <a:ext uri="{FF2B5EF4-FFF2-40B4-BE49-F238E27FC236}">
                <a16:creationId xmlns:a16="http://schemas.microsoft.com/office/drawing/2014/main" id="{24C51BC8-3272-1E3B-C76D-5916CE034FD2}"/>
              </a:ext>
            </a:extLst>
          </p:cNvPr>
          <p:cNvSpPr txBox="1"/>
          <p:nvPr/>
        </p:nvSpPr>
        <p:spPr>
          <a:xfrm>
            <a:off x="3902813" y="4772145"/>
            <a:ext cx="7836200" cy="1883272"/>
          </a:xfrm>
          <a:prstGeom prst="rect">
            <a:avLst/>
          </a:prstGeom>
          <a:noFill/>
        </p:spPr>
        <p:txBody>
          <a:bodyPr wrap="square">
            <a:spAutoFit/>
          </a:bodyPr>
          <a:lstStyle/>
          <a:p>
            <a:pPr lvl="1" indent="-342900">
              <a:lnSpc>
                <a:spcPct val="200000"/>
              </a:lnSpc>
              <a:buClr>
                <a:srgbClr val="C7000B"/>
              </a:buClr>
              <a:buFont typeface="Wingdings" panose="05000000000000000000" pitchFamily="2" charset="2"/>
              <a:buChar char="p"/>
            </a:pPr>
            <a:r>
              <a:rPr lang="en-US" altLang="zh-CN" sz="1200" b="1" dirty="0">
                <a:solidFill>
                  <a:srgbClr val="1D1D1A"/>
                </a:solidFill>
                <a:latin typeface="微软雅黑" panose="020B0503020204020204" pitchFamily="34" charset="-122"/>
                <a:ea typeface="微软雅黑" panose="020B0503020204020204" pitchFamily="34" charset="-122"/>
              </a:rPr>
              <a:t>Stage 1(2023)</a:t>
            </a:r>
            <a:r>
              <a:rPr lang="zh-CN" altLang="en-US" sz="1200" b="1" dirty="0">
                <a:solidFill>
                  <a:srgbClr val="1D1D1A"/>
                </a:solidFill>
                <a:latin typeface="微软雅黑" panose="020B0503020204020204" pitchFamily="34" charset="-122"/>
                <a:ea typeface="微软雅黑" panose="020B0503020204020204" pitchFamily="34" charset="-122"/>
              </a:rPr>
              <a:t>：</a:t>
            </a:r>
            <a:r>
              <a:rPr lang="en-US" altLang="zh-CN" sz="1200" dirty="0">
                <a:solidFill>
                  <a:srgbClr val="1D1D1A"/>
                </a:solidFill>
                <a:latin typeface="微软雅黑" panose="020B0503020204020204" pitchFamily="34" charset="-122"/>
                <a:ea typeface="微软雅黑" panose="020B0503020204020204" pitchFamily="34" charset="-122"/>
              </a:rPr>
              <a:t>Design rules based on expert knowledge according to the mechanism of specific ECC.</a:t>
            </a:r>
          </a:p>
          <a:p>
            <a:pPr lvl="1" indent="-342900">
              <a:lnSpc>
                <a:spcPct val="200000"/>
              </a:lnSpc>
              <a:buClr>
                <a:srgbClr val="C7000B"/>
              </a:buClr>
              <a:buFont typeface="Wingdings" panose="05000000000000000000" pitchFamily="2" charset="2"/>
              <a:buChar char="p"/>
            </a:pPr>
            <a:r>
              <a:rPr lang="en-US" altLang="zh-CN" sz="1200" b="1" dirty="0">
                <a:solidFill>
                  <a:srgbClr val="1D1D1A"/>
                </a:solidFill>
                <a:latin typeface="微软雅黑" panose="020B0503020204020204" pitchFamily="34" charset="-122"/>
                <a:ea typeface="微软雅黑" panose="020B0503020204020204" pitchFamily="34" charset="-122"/>
              </a:rPr>
              <a:t>Stage 2(2024)</a:t>
            </a:r>
            <a:r>
              <a:rPr lang="zh-CN" altLang="en-US" sz="1200" b="1" dirty="0">
                <a:solidFill>
                  <a:srgbClr val="1D1D1A"/>
                </a:solidFill>
                <a:latin typeface="微软雅黑" panose="020B0503020204020204" pitchFamily="34" charset="-122"/>
                <a:ea typeface="微软雅黑" panose="020B0503020204020204" pitchFamily="34" charset="-122"/>
              </a:rPr>
              <a:t>：</a:t>
            </a:r>
            <a:r>
              <a:rPr lang="en-US" altLang="zh-CN" sz="1200" dirty="0">
                <a:solidFill>
                  <a:srgbClr val="1D1D1A"/>
                </a:solidFill>
                <a:latin typeface="微软雅黑" panose="020B0503020204020204" pitchFamily="34" charset="-122"/>
                <a:ea typeface="微软雅黑" panose="020B0503020204020204" pitchFamily="34" charset="-122"/>
              </a:rPr>
              <a:t>Design rules based on experience according to statistical laws.</a:t>
            </a:r>
          </a:p>
          <a:p>
            <a:pPr lvl="1" indent="-342900">
              <a:lnSpc>
                <a:spcPct val="200000"/>
              </a:lnSpc>
              <a:buClr>
                <a:srgbClr val="C7000B"/>
              </a:buClr>
              <a:buFont typeface="Wingdings" panose="05000000000000000000" pitchFamily="2" charset="2"/>
              <a:buChar char="p"/>
            </a:pPr>
            <a:r>
              <a:rPr lang="en-US" altLang="zh-CN" sz="1200" b="1" dirty="0">
                <a:solidFill>
                  <a:srgbClr val="1D1D1A"/>
                </a:solidFill>
                <a:latin typeface="微软雅黑" panose="020B0503020204020204" pitchFamily="34" charset="-122"/>
                <a:ea typeface="微软雅黑" panose="020B0503020204020204" pitchFamily="34" charset="-122"/>
              </a:rPr>
              <a:t>Stage 3(2025)</a:t>
            </a:r>
            <a:r>
              <a:rPr lang="zh-CN" altLang="en-US" sz="1200" b="1" dirty="0">
                <a:solidFill>
                  <a:srgbClr val="1D1D1A"/>
                </a:solidFill>
                <a:latin typeface="微软雅黑" panose="020B0503020204020204" pitchFamily="34" charset="-122"/>
                <a:ea typeface="微软雅黑" panose="020B0503020204020204" pitchFamily="34" charset="-122"/>
              </a:rPr>
              <a:t>：</a:t>
            </a:r>
            <a:r>
              <a:rPr lang="en-US" altLang="zh-CN" sz="1200" kern="0" dirty="0">
                <a:solidFill>
                  <a:sysClr val="windowText" lastClr="000000"/>
                </a:solidFill>
                <a:latin typeface="微软雅黑" panose="020B0503020204020204" pitchFamily="34" charset="-122"/>
                <a:ea typeface="微软雅黑" panose="020B0503020204020204" pitchFamily="34" charset="-122"/>
              </a:rPr>
              <a:t>Utilize general models to mine general-purpose models applicable to universal datasets.</a:t>
            </a:r>
            <a:endParaRPr lang="en-US" altLang="zh-CN" sz="1200" dirty="0">
              <a:solidFill>
                <a:srgbClr val="232D3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40929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106D084-6510-C34C-86FA-3574B737EF8F}"/>
              </a:ext>
            </a:extLst>
          </p:cNvPr>
          <p:cNvSpPr txBox="1"/>
          <p:nvPr/>
        </p:nvSpPr>
        <p:spPr>
          <a:xfrm>
            <a:off x="790215" y="365302"/>
            <a:ext cx="7836200" cy="461665"/>
          </a:xfrm>
          <a:prstGeom prst="rect">
            <a:avLst/>
          </a:prstGeom>
          <a:noFill/>
        </p:spPr>
        <p:txBody>
          <a:bodyPr wrap="square" rtlCol="0">
            <a:spAutoFit/>
          </a:bodyPr>
          <a:lstStyle/>
          <a:p>
            <a:r>
              <a:rPr lang="en-US" altLang="zh-CN" sz="2400" b="1" dirty="0">
                <a:latin typeface="-apple-system"/>
              </a:rPr>
              <a:t>Resources</a:t>
            </a:r>
          </a:p>
        </p:txBody>
      </p:sp>
      <p:pic>
        <p:nvPicPr>
          <p:cNvPr id="7" name="图片 6" descr="QR 代码&#10;&#10;AI 生成的内容可能不正确。">
            <a:extLst>
              <a:ext uri="{FF2B5EF4-FFF2-40B4-BE49-F238E27FC236}">
                <a16:creationId xmlns:a16="http://schemas.microsoft.com/office/drawing/2014/main" id="{3F24200C-7408-7F0D-A014-0982964230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6834" y="1087695"/>
            <a:ext cx="3668023" cy="3668023"/>
          </a:xfrm>
          <a:prstGeom prst="rect">
            <a:avLst/>
          </a:prstGeom>
        </p:spPr>
      </p:pic>
      <p:sp>
        <p:nvSpPr>
          <p:cNvPr id="8" name="文本框 7">
            <a:extLst>
              <a:ext uri="{FF2B5EF4-FFF2-40B4-BE49-F238E27FC236}">
                <a16:creationId xmlns:a16="http://schemas.microsoft.com/office/drawing/2014/main" id="{90EFCCEB-81C6-29C0-3454-DDE0B336733A}"/>
              </a:ext>
            </a:extLst>
          </p:cNvPr>
          <p:cNvSpPr txBox="1"/>
          <p:nvPr/>
        </p:nvSpPr>
        <p:spPr>
          <a:xfrm>
            <a:off x="3455277" y="4597549"/>
            <a:ext cx="5171138" cy="2000548"/>
          </a:xfrm>
          <a:prstGeom prst="rect">
            <a:avLst/>
          </a:prstGeom>
          <a:noFill/>
        </p:spPr>
        <p:txBody>
          <a:bodyPr wrap="square">
            <a:spAutoFit/>
          </a:bodyPr>
          <a:lstStyle/>
          <a:p>
            <a:pPr algn="ctr" defTabSz="914478" rtl="0"/>
            <a:r>
              <a:rPr lang="en-US" altLang="zh-CN" sz="2400" b="1" i="1" kern="1200" dirty="0">
                <a:solidFill>
                  <a:schemeClr val="accent1"/>
                </a:solidFill>
                <a:latin typeface="+mn-ea"/>
                <a:cs typeface="+mn-cs"/>
              </a:rPr>
              <a:t>Our repositories</a:t>
            </a:r>
          </a:p>
          <a:p>
            <a:pPr algn="ctr" defTabSz="914478" rtl="0"/>
            <a:r>
              <a:rPr lang="en-US" altLang="zh-CN" sz="2000" i="1" dirty="0">
                <a:solidFill>
                  <a:srgbClr val="1D1D1A"/>
                </a:solidFill>
                <a:latin typeface="+mn-ea"/>
              </a:rPr>
              <a:t>WWW competition baseline</a:t>
            </a:r>
          </a:p>
          <a:p>
            <a:pPr algn="ctr" defTabSz="914478" rtl="0"/>
            <a:r>
              <a:rPr lang="en-US" altLang="zh-CN" sz="2000" i="1" dirty="0">
                <a:solidFill>
                  <a:srgbClr val="1D1D1A"/>
                </a:solidFill>
                <a:latin typeface="+mn-ea"/>
              </a:rPr>
              <a:t>Code for M2-MFP</a:t>
            </a:r>
          </a:p>
          <a:p>
            <a:pPr algn="ctr" defTabSz="914478" rtl="0"/>
            <a:r>
              <a:rPr lang="en-US" altLang="zh-CN" sz="2000" i="1" dirty="0">
                <a:solidFill>
                  <a:srgbClr val="1D1D1A"/>
                </a:solidFill>
                <a:latin typeface="+mn-ea"/>
              </a:rPr>
              <a:t>Resources for our HPCA 2025 tutorial </a:t>
            </a:r>
          </a:p>
          <a:p>
            <a:pPr algn="ctr" defTabSz="914478" rtl="0"/>
            <a:r>
              <a:rPr lang="en-US" altLang="zh-CN" sz="2000" i="1" dirty="0">
                <a:solidFill>
                  <a:srgbClr val="1D1D1A"/>
                </a:solidFill>
                <a:latin typeface="+mn-ea"/>
              </a:rPr>
              <a:t>Resources for our WWW 2025 competition</a:t>
            </a:r>
          </a:p>
          <a:p>
            <a:pPr algn="ctr" defTabSz="914478" rtl="0"/>
            <a:r>
              <a:rPr lang="en-US" altLang="zh-CN" sz="2000" i="1" dirty="0">
                <a:solidFill>
                  <a:srgbClr val="1D1D1A"/>
                </a:solidFill>
                <a:latin typeface="+mn-ea"/>
              </a:rPr>
              <a:t>……</a:t>
            </a:r>
            <a:endParaRPr lang="zh-CN" altLang="en-US" sz="2000" i="1" kern="1200" dirty="0">
              <a:solidFill>
                <a:srgbClr val="1D1D1A"/>
              </a:solidFill>
              <a:latin typeface="+mn-ea"/>
              <a:cs typeface="+mn-cs"/>
            </a:endParaRPr>
          </a:p>
        </p:txBody>
      </p:sp>
    </p:spTree>
    <p:extLst>
      <p:ext uri="{BB962C8B-B14F-4D97-AF65-F5344CB8AC3E}">
        <p14:creationId xmlns:p14="http://schemas.microsoft.com/office/powerpoint/2010/main" val="3517259098"/>
      </p:ext>
    </p:extLst>
  </p:cSld>
  <p:clrMapOvr>
    <a:masterClrMapping/>
  </p:clrMapOvr>
</p:sld>
</file>

<file path=ppt/theme/theme1.xml><?xml version="1.0" encoding="utf-8"?>
<a:theme xmlns:a="http://schemas.openxmlformats.org/drawingml/2006/main" name="封面页_图片版 ">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4E5724B-7154-473D-A508-2B054E8EE854}"/>
    </a:ext>
  </a:extLst>
</a:theme>
</file>

<file path=ppt/theme/theme2.xml><?xml version="1.0" encoding="utf-8"?>
<a:theme xmlns:a="http://schemas.openxmlformats.org/drawingml/2006/main" name="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3.xml><?xml version="1.0" encoding="utf-8"?>
<a:theme xmlns:a="http://schemas.openxmlformats.org/drawingml/2006/main" name="结束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CE9DE895-046C-40AC-AD8E-ED7DD660489B}"/>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lue-template" id="{BA36B700-EFA3-4649-9F6F-A874CA536150}" vid="{9186BB38-819A-FC4C-94B8-1D52A1525782}"/>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92424</TotalTime>
  <Words>5084</Words>
  <Application>Microsoft Office PowerPoint</Application>
  <PresentationFormat>自定义</PresentationFormat>
  <Paragraphs>823</Paragraphs>
  <Slides>21</Slides>
  <Notes>21</Notes>
  <HiddenSlides>0</HiddenSlides>
  <MMClips>0</MMClips>
  <ScaleCrop>false</ScaleCrop>
  <HeadingPairs>
    <vt:vector size="6" baseType="variant">
      <vt:variant>
        <vt:lpstr>已用的字体</vt:lpstr>
      </vt:variant>
      <vt:variant>
        <vt:i4>12</vt:i4>
      </vt:variant>
      <vt:variant>
        <vt:lpstr>主题</vt:lpstr>
      </vt:variant>
      <vt:variant>
        <vt:i4>4</vt:i4>
      </vt:variant>
      <vt:variant>
        <vt:lpstr>幻灯片标题</vt:lpstr>
      </vt:variant>
      <vt:variant>
        <vt:i4>21</vt:i4>
      </vt:variant>
    </vt:vector>
  </HeadingPairs>
  <TitlesOfParts>
    <vt:vector size="37" baseType="lpstr">
      <vt:lpstr>-apple-system</vt:lpstr>
      <vt:lpstr>Arial Unicode MS</vt:lpstr>
      <vt:lpstr>等线</vt:lpstr>
      <vt:lpstr>Microsoft YaHei</vt:lpstr>
      <vt:lpstr>Microsoft YaHei</vt:lpstr>
      <vt:lpstr>Arial</vt:lpstr>
      <vt:lpstr>Calibri</vt:lpstr>
      <vt:lpstr>Cambria Math</vt:lpstr>
      <vt:lpstr>Candara</vt:lpstr>
      <vt:lpstr>Quire Sans</vt:lpstr>
      <vt:lpstr>Times New Roman</vt:lpstr>
      <vt:lpstr>Wingdings</vt:lpstr>
      <vt:lpstr>封面页_图片版 </vt:lpstr>
      <vt:lpstr>章节页</vt:lpstr>
      <vt:lpstr>结束页</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xiehongyi (A)</dc:creator>
  <cp:lastModifiedBy>Hongyi Xie</cp:lastModifiedBy>
  <cp:revision>1439</cp:revision>
  <dcterms:created xsi:type="dcterms:W3CDTF">2020-08-28T08:44:19Z</dcterms:created>
  <dcterms:modified xsi:type="dcterms:W3CDTF">2025-04-28T05:57:40Z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(3)P9tae8yTKOM5Wiyx6SIt8wchkhTJ69MmrqCQ/nNgfIjUQVnSkoYZh+z/gyyDXxAa+985+Ofq
Qo8fw60ZBeg1xMLUQCHKbSwOk+DKj6zYkmWRB0PKPXeErGSSijKwdxBfRu3izoldDLICXaGO
7fH+0xKq30oGowQL7B3Z0AWzcWrQbF1J1iWe91WTgpE7TpGXKW1sNHx3H8A7EO2BWlfJ9dCB
ILCDKYtBgN/MrjSVzS</vt:lpwstr>
  </property>
  <property fmtid="{D5CDD505-2E9C-101B-9397-08002B2CF9AE}" pid="3" name="_2015_ms_pID_7253431">
    <vt:lpwstr>bDjZdbSKzeeoq2yjcSNEfWTmZuLnJY+Vz014CUlzUqBYOQVr0I7z98
khiN4RASXTxlu9VwRyaV45ekkiPSrfC0huXeIhhVNqNCfFl+Fc6EhLxNBM/ECdqQFKWP5mkq
IfNzzolnZaRAVgYB/wphf9L6lGX9XnH++Ka6FvjAQbcr143ubYiYCfYZs7RmjjyyDOF3xpCk
+xju4zs7rTbiVPLFnnIMY6n4iAOp+mm6WqQd</vt:lpwstr>
  </property>
  <property fmtid="{D5CDD505-2E9C-101B-9397-08002B2CF9AE}" pid="4" name="_2015_ms_pID_7253432">
    <vt:lpwstr>7g==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1598576536</vt:lpwstr>
  </property>
</Properties>
</file>
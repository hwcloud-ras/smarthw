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1.xml" ContentType="application/vnd.openxmlformats-officedocument.presentationml.notesSlide+xml"/>
  <Override PartName="/ppt/tags/tag42.xml" ContentType="application/vnd.openxmlformats-officedocument.presentationml.tags+xml"/>
  <Override PartName="/ppt/notesSlides/notesSlide12.xml" ContentType="application/vnd.openxmlformats-officedocument.presentationml.notesSlide+xml"/>
  <Override PartName="/ppt/tags/tag4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519" r:id="rId2"/>
    <p:sldId id="1983" r:id="rId3"/>
    <p:sldId id="1991" r:id="rId4"/>
    <p:sldId id="1992" r:id="rId5"/>
    <p:sldId id="1984" r:id="rId6"/>
    <p:sldId id="1993" r:id="rId7"/>
    <p:sldId id="1994" r:id="rId8"/>
    <p:sldId id="1995" r:id="rId9"/>
    <p:sldId id="1996" r:id="rId10"/>
    <p:sldId id="1997" r:id="rId11"/>
    <p:sldId id="1998" r:id="rId12"/>
    <p:sldId id="1999" r:id="rId13"/>
    <p:sldId id="1985" r:id="rId14"/>
    <p:sldId id="2000" r:id="rId15"/>
    <p:sldId id="2001" r:id="rId16"/>
    <p:sldId id="1986" r:id="rId17"/>
    <p:sldId id="2002" r:id="rId18"/>
    <p:sldId id="19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C85"/>
    <a:srgbClr val="DC5E47"/>
    <a:srgbClr val="DF9D82"/>
    <a:srgbClr val="F8AD8F"/>
    <a:srgbClr val="81A4FA"/>
    <a:srgbClr val="567AE3"/>
    <a:srgbClr val="C72F32"/>
    <a:srgbClr val="94C076"/>
    <a:srgbClr val="233246"/>
    <a:srgbClr val="740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9" autoAdjust="0"/>
    <p:restoredTop sz="79528" autoAdjust="0"/>
  </p:normalViewPr>
  <p:slideViewPr>
    <p:cSldViewPr snapToGrid="0" snapToObjects="1" showGuides="1">
      <p:cViewPr varScale="1">
        <p:scale>
          <a:sx n="66" d="100"/>
          <a:sy n="66" d="100"/>
        </p:scale>
        <p:origin x="1142" y="48"/>
      </p:cViewPr>
      <p:guideLst>
        <p:guide orient="horz" pos="2217"/>
        <p:guide pos="3871"/>
      </p:guideLst>
    </p:cSldViewPr>
  </p:slideViewPr>
  <p:outlineViewPr>
    <p:cViewPr>
      <p:scale>
        <a:sx n="33" d="100"/>
        <a:sy n="33" d="100"/>
      </p:scale>
      <p:origin x="0" y="-28296"/>
    </p:cViewPr>
  </p:outlineViewPr>
  <p:notesTextViewPr>
    <p:cViewPr>
      <p:scale>
        <a:sx n="155" d="100"/>
        <a:sy n="155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42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3E8D5-F0E7-403B-AAA9-FDB7ED172D4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9E22B-5E0F-454F-9BF0-C70D08ED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ADD3D-D7A5-B14B-BE07-5D181AE43AF2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DA7C1-09EB-C742-909D-6754DCC5DD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A7C1-09EB-C742-909D-6754DCC5DD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A7C1-09EB-C742-909D-6754DCC5DD36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9"/>
          <p:cNvSpPr/>
          <p:nvPr userDrawn="1"/>
        </p:nvSpPr>
        <p:spPr>
          <a:xfrm>
            <a:off x="0" y="-2363"/>
            <a:ext cx="12192000" cy="66985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93" y="-7385"/>
            <a:ext cx="10672707" cy="668545"/>
          </a:xfrm>
        </p:spPr>
        <p:txBody>
          <a:bodyPr>
            <a:normAutofit/>
          </a:bodyPr>
          <a:lstStyle>
            <a:lvl1pPr>
              <a:defRPr sz="3000">
                <a:solidFill>
                  <a:srgbClr val="064C85"/>
                </a:solidFill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65" y="950981"/>
            <a:ext cx="11467512" cy="5310302"/>
          </a:xfrm>
        </p:spPr>
        <p:txBody>
          <a:bodyPr/>
          <a:lstStyle>
            <a:lvl1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  <a:lvl2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2pPr>
            <a:lvl3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3pPr>
            <a:lvl4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4pPr>
            <a:lvl5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/>
          <p:nvPr userDrawn="1"/>
        </p:nvSpPr>
        <p:spPr>
          <a:xfrm>
            <a:off x="3188293" y="6526111"/>
            <a:ext cx="5943203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321365" y="6291353"/>
            <a:ext cx="11467512" cy="259752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9" name="AutoShape 2"/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71325" y="387275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119325" y="135275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11226675" y="6318000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54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69825"/>
            <a:ext cx="3196607" cy="288175"/>
          </a:xfrm>
          <a:prstGeom prst="rect">
            <a:avLst/>
          </a:prstGeom>
          <a:solidFill>
            <a:srgbClr val="06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矩形 7"/>
          <p:cNvSpPr/>
          <p:nvPr userDrawn="1"/>
        </p:nvSpPr>
        <p:spPr>
          <a:xfrm>
            <a:off x="3196607" y="6569825"/>
            <a:ext cx="5943203" cy="2881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dirty="0" err="1">
                <a:solidFill>
                  <a:srgbClr val="064C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SmartMem</a:t>
            </a:r>
            <a:r>
              <a:rPr lang="en-US" altLang="zh-CN" sz="1400" b="0" dirty="0">
                <a:solidFill>
                  <a:srgbClr val="064C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Competition 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9139810" y="6569825"/>
            <a:ext cx="3052189" cy="304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9212945" y="6526920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aseline="0" dirty="0">
                <a:solidFill>
                  <a:srgbClr val="064C85"/>
                </a:solidFill>
                <a:latin typeface="Candara" panose="020E0502030303020204" pitchFamily="34" charset="0"/>
              </a:rPr>
              <a:t>Page </a:t>
            </a:r>
            <a:fld id="{021F6442-7586-9541-B2EE-92373E6CA02B}" type="slidenum">
              <a:rPr lang="en-US" sz="1400" smtClean="0">
                <a:solidFill>
                  <a:srgbClr val="064C85"/>
                </a:solidFill>
                <a:latin typeface="Candara" panose="020E0502030303020204" pitchFamily="34" charset="0"/>
              </a:rPr>
              <a:t>‹#›</a:t>
            </a:fld>
            <a:r>
              <a:rPr lang="en-US" sz="1400" dirty="0">
                <a:solidFill>
                  <a:srgbClr val="064C85"/>
                </a:solidFill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12" name="Date Placeholder 3"/>
          <p:cNvSpPr txBox="1"/>
          <p:nvPr userDrawn="1"/>
        </p:nvSpPr>
        <p:spPr>
          <a:xfrm>
            <a:off x="217553" y="6526919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WWW 2025, Sydney, Australia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1.jpe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01"/>
            <a:ext cx="12192000" cy="285610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40403"/>
            <a:ext cx="12192000" cy="324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副标题 2"/>
          <p:cNvSpPr txBox="1"/>
          <p:nvPr/>
        </p:nvSpPr>
        <p:spPr>
          <a:xfrm>
            <a:off x="391366" y="4103579"/>
            <a:ext cx="11108055" cy="205182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Team: NOVA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Member:  Aibin Wang</a:t>
            </a: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Jiaxing Qi</a:t>
            </a: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Wentao Feng</a:t>
            </a: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endParaRPr lang="en-US" altLang="zh-CN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Instructor: </a:t>
            </a: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Zhongzhi Luan</a:t>
            </a: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endParaRPr lang="en-US" altLang="zh-CN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Sino-German Joint Software Institute,Beihang University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r>
              <a:rPr lang="en-US" altLang="zh-CN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April, 2025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-127000" y="2139622"/>
            <a:ext cx="12446000" cy="1741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64C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 2025 </a:t>
            </a:r>
            <a:r>
              <a:rPr lang="en-US" sz="3200" b="1" dirty="0" err="1">
                <a:solidFill>
                  <a:srgbClr val="064C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SmartMem</a:t>
            </a:r>
            <a:r>
              <a:rPr lang="en-US" sz="3200" b="1" dirty="0">
                <a:solidFill>
                  <a:srgbClr val="064C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64C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endParaRPr lang="en-US" sz="3200" b="1" i="0" dirty="0">
              <a:solidFill>
                <a:srgbClr val="064C8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49186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 kern="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pSp>
        <p:nvGrpSpPr>
          <p:cNvPr id="5" name="Group 13"/>
          <p:cNvGrpSpPr>
            <a:grpSpLocks noChangeAspect="1"/>
          </p:cNvGrpSpPr>
          <p:nvPr/>
        </p:nvGrpSpPr>
        <p:grpSpPr bwMode="auto">
          <a:xfrm>
            <a:off x="4225466" y="27061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6" name="Freeform 14"/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/>
            </a:p>
          </p:txBody>
        </p:sp>
        <p:sp>
          <p:nvSpPr>
            <p:cNvPr id="7" name="Freeform 15"/>
            <p:cNvSpPr/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9" name="Group 13"/>
          <p:cNvGrpSpPr>
            <a:grpSpLocks noChangeAspect="1"/>
          </p:cNvGrpSpPr>
          <p:nvPr/>
        </p:nvGrpSpPr>
        <p:grpSpPr bwMode="auto">
          <a:xfrm>
            <a:off x="4225466" y="31829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10" name="Freeform 14"/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15"/>
            <p:cNvSpPr/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4553699" y="2683751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Background</a:t>
            </a:r>
          </a:p>
        </p:txBody>
      </p:sp>
      <p:sp>
        <p:nvSpPr>
          <p:cNvPr id="38" name="矩形 37"/>
          <p:cNvSpPr/>
          <p:nvPr>
            <p:custDataLst>
              <p:tags r:id="rId2"/>
            </p:custDataLst>
          </p:nvPr>
        </p:nvSpPr>
        <p:spPr>
          <a:xfrm>
            <a:off x="4553379" y="3157358"/>
            <a:ext cx="215074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Background</a:t>
            </a:r>
          </a:p>
          <a:p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云服务器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95" y="2129790"/>
            <a:ext cx="1588770" cy="1438275"/>
          </a:xfrm>
          <a:prstGeom prst="rect">
            <a:avLst/>
          </a:prstGeom>
        </p:spPr>
      </p:pic>
      <p:pic>
        <p:nvPicPr>
          <p:cNvPr id="6" name="图片 5" descr="cpu,处理器,中央处理器,芯片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350" y="2120265"/>
            <a:ext cx="1438275" cy="1438275"/>
          </a:xfrm>
          <a:prstGeom prst="rect">
            <a:avLst/>
          </a:prstGeom>
        </p:spPr>
      </p:pic>
      <p:pic>
        <p:nvPicPr>
          <p:cNvPr id="7" name="图片 6" descr="计算机内存卡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370" y="2200275"/>
            <a:ext cx="1961515" cy="12782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60845" y="5247005"/>
            <a:ext cx="4612640" cy="738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ECC is unable to correct all errors and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Uncorrectable Errors(UEs) is one of 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causes of server failures and cluster downtime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92555" y="3770630"/>
            <a:ext cx="1162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213350" y="3761105"/>
            <a:ext cx="1547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70390" y="3754120"/>
            <a:ext cx="15474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Memory(DRAM)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左右箭头 13"/>
          <p:cNvSpPr/>
          <p:nvPr/>
        </p:nvSpPr>
        <p:spPr>
          <a:xfrm>
            <a:off x="3162300" y="2610485"/>
            <a:ext cx="1377950" cy="426085"/>
          </a:xfrm>
          <a:prstGeom prst="left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997835" y="1903730"/>
            <a:ext cx="17075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algn="ct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</p:txBody>
      </p:sp>
      <p:sp>
        <p:nvSpPr>
          <p:cNvPr id="16" name="左右箭头 15"/>
          <p:cNvSpPr/>
          <p:nvPr/>
        </p:nvSpPr>
        <p:spPr>
          <a:xfrm>
            <a:off x="7317105" y="2579370"/>
            <a:ext cx="1377950" cy="457200"/>
          </a:xfrm>
          <a:prstGeom prst="left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152640" y="1903730"/>
            <a:ext cx="17075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9405" y="6249670"/>
            <a:ext cx="11476990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[1]Reference:HPCA Tutorial: Memory Failure Prediction.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Qiao Yu,Technical University of Berlin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下弧形箭头 22"/>
          <p:cNvSpPr/>
          <p:nvPr/>
        </p:nvSpPr>
        <p:spPr>
          <a:xfrm flipH="1">
            <a:off x="7338060" y="3253740"/>
            <a:ext cx="1336675" cy="516890"/>
          </a:xfrm>
          <a:prstGeom prst="curved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17105" y="3754120"/>
            <a:ext cx="15424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Erroneous</a:t>
            </a:r>
          </a:p>
          <a:p>
            <a:pPr algn="ctr"/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</a:t>
            </a:r>
          </a:p>
        </p:txBody>
      </p:sp>
      <p:sp>
        <p:nvSpPr>
          <p:cNvPr id="25" name="下弧形箭头 24"/>
          <p:cNvSpPr/>
          <p:nvPr/>
        </p:nvSpPr>
        <p:spPr>
          <a:xfrm flipH="1">
            <a:off x="3183890" y="3253740"/>
            <a:ext cx="1336675" cy="516890"/>
          </a:xfrm>
          <a:prstGeom prst="curved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62935" y="3754120"/>
            <a:ext cx="1542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Failed</a:t>
            </a:r>
            <a:endParaRPr lang="en-US" altLang="zh-CN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13350" y="1368425"/>
            <a:ext cx="1547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13350" y="4424045"/>
            <a:ext cx="1547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IMC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4878070" y="1254125"/>
            <a:ext cx="2204085" cy="3792855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上下箭头 30"/>
          <p:cNvSpPr/>
          <p:nvPr/>
        </p:nvSpPr>
        <p:spPr>
          <a:xfrm>
            <a:off x="5836920" y="3667125"/>
            <a:ext cx="297815" cy="744220"/>
          </a:xfrm>
          <a:prstGeom prst="up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062345" y="3756025"/>
            <a:ext cx="109029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Detect&amp;</a:t>
            </a:r>
          </a:p>
          <a:p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70840" y="5229225"/>
            <a:ext cx="450723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 Code (ECC) Mechanism (e.g., SEC-DED, ChipKill) 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and corrects errors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5" name="右箭头 34"/>
          <p:cNvSpPr/>
          <p:nvPr/>
        </p:nvSpPr>
        <p:spPr>
          <a:xfrm rot="19620000">
            <a:off x="3847465" y="4675505"/>
            <a:ext cx="1904365" cy="2482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流程图: 汇总连接 35"/>
          <p:cNvSpPr/>
          <p:nvPr/>
        </p:nvSpPr>
        <p:spPr>
          <a:xfrm>
            <a:off x="6433185" y="5330190"/>
            <a:ext cx="327660" cy="327660"/>
          </a:xfrm>
          <a:prstGeom prst="flowChartSummingJunction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6"/>
          <p:cNvSpPr/>
          <p:nvPr/>
        </p:nvSpPr>
        <p:spPr>
          <a:xfrm>
            <a:off x="370840" y="1080770"/>
            <a:ext cx="11425555" cy="5475605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Quire Sans" panose="020B0604020202020204" charset="0"/>
              <a:cs typeface="Quire Sans" panose="020B0604020202020204" charset="0"/>
            </a:endParaRPr>
          </a:p>
        </p:txBody>
      </p:sp>
      <p:grpSp>
        <p:nvGrpSpPr>
          <p:cNvPr id="39" name="Group 29"/>
          <p:cNvGrpSpPr/>
          <p:nvPr/>
        </p:nvGrpSpPr>
        <p:grpSpPr>
          <a:xfrm>
            <a:off x="1651000" y="2557145"/>
            <a:ext cx="9019540" cy="2075981"/>
            <a:chOff x="1643281" y="4277223"/>
            <a:chExt cx="6864225" cy="2150281"/>
          </a:xfrm>
        </p:grpSpPr>
        <p:sp>
          <p:nvSpPr>
            <p:cNvPr id="40" name="Rounded Rectangle 30"/>
            <p:cNvSpPr/>
            <p:nvPr/>
          </p:nvSpPr>
          <p:spPr>
            <a:xfrm>
              <a:off x="1643281" y="4277224"/>
              <a:ext cx="6864225" cy="1467717"/>
            </a:xfrm>
            <a:prstGeom prst="roundRect">
              <a:avLst>
                <a:gd name="adj" fmla="val 7357"/>
              </a:avLst>
            </a:prstGeom>
            <a:solidFill>
              <a:srgbClr val="F5F6FB"/>
            </a:solidFill>
            <a:ln w="44450" cap="flat" cmpd="sng" algn="ctr">
              <a:solidFill>
                <a:srgbClr val="2D45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ound Same Side Corner Rectangle 31"/>
            <p:cNvSpPr/>
            <p:nvPr/>
          </p:nvSpPr>
          <p:spPr>
            <a:xfrm>
              <a:off x="1643281" y="4277223"/>
              <a:ext cx="6864225" cy="369905"/>
            </a:xfrm>
            <a:prstGeom prst="round2SameRect">
              <a:avLst>
                <a:gd name="adj1" fmla="val 33688"/>
                <a:gd name="adj2" fmla="val 0"/>
              </a:avLst>
            </a:prstGeom>
            <a:solidFill>
              <a:srgbClr val="2D458A"/>
            </a:solidFill>
            <a:ln w="12700" cap="flat" cmpd="sng" algn="ctr">
              <a:solidFill>
                <a:srgbClr val="2D458A"/>
              </a:solidFill>
              <a:prstDash val="solid"/>
              <a:miter lim="800000"/>
            </a:ln>
            <a:effectLst/>
          </p:spPr>
          <p:txBody>
            <a:bodyPr lIns="18000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sng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Goal</a:t>
              </a:r>
            </a:p>
          </p:txBody>
        </p:sp>
        <p:sp>
          <p:nvSpPr>
            <p:cNvPr id="42" name="TextBox 35"/>
            <p:cNvSpPr txBox="1"/>
            <p:nvPr/>
          </p:nvSpPr>
          <p:spPr>
            <a:xfrm>
              <a:off x="1643281" y="4675319"/>
              <a:ext cx="6864225" cy="1752185"/>
            </a:xfrm>
            <a:prstGeom prst="rect">
              <a:avLst/>
            </a:prstGeom>
            <a:noFill/>
          </p:spPr>
          <p:txBody>
            <a:bodyPr wrap="square" lIns="18000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" panose="02040503050406030204"/>
                  <a:cs typeface="Times New Roman" panose="02020603050405020304" pitchFamily="18" charset="0"/>
                </a:rPr>
                <a:t>In this Competition,</a:t>
              </a:r>
              <a:r>
                <a:rPr lang="en-US" altLang="zh-CN" sz="2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" panose="02040503050406030204"/>
                  <a:cs typeface="Times New Roman" panose="02020603050405020304" pitchFamily="18" charset="0"/>
                </a:rPr>
                <a:t>Our goal is to predict whether each DRAM module will experience an Uncorrectable Error (UE) failure within the next k days</a:t>
              </a:r>
              <a:r>
                <a:rPr lang="en-US" sz="2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" panose="02040503050406030204"/>
                  <a:cs typeface="Times New Roman" panose="02020603050405020304" pitchFamily="18" charset="0"/>
                </a:rPr>
                <a:t>.Which can </a:t>
              </a:r>
              <a:r>
                <a:rPr lang="en-US" sz="2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" panose="02040503050406030204"/>
                  <a:cs typeface="Times New Roman" panose="02020603050405020304" pitchFamily="18" charset="0"/>
                  <a:sym typeface="+mn-ea"/>
                </a:rPr>
                <a:t>avoid server crashes  and reduce VM interruptions.</a:t>
              </a:r>
              <a:endParaRPr 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/>
                  <a:ea typeface="Cambria" panose="02040503050406030204"/>
                </a:rPr>
                <a:t>.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9" grpId="0"/>
      <p:bldP spid="9" grpId="1"/>
      <p:bldP spid="9" grpId="2"/>
      <p:bldP spid="12" grpId="0"/>
      <p:bldP spid="12" grpId="1"/>
      <p:bldP spid="14" grpId="0" bldLvl="0" animBg="1"/>
      <p:bldP spid="14" grpId="1" animBg="1"/>
      <p:bldP spid="15" grpId="0"/>
      <p:bldP spid="15" grpId="1"/>
      <p:bldP spid="16" grpId="0" bldLvl="0" animBg="1"/>
      <p:bldP spid="16" grpId="1" animBg="1"/>
      <p:bldP spid="17" grpId="0"/>
      <p:bldP spid="17" grpId="1"/>
      <p:bldP spid="23" grpId="0" bldLvl="0" animBg="1"/>
      <p:bldP spid="23" grpId="1" animBg="1"/>
      <p:bldP spid="24" grpId="0"/>
      <p:bldP spid="24" grpId="1"/>
      <p:bldP spid="25" grpId="0" bldLvl="0" animBg="1"/>
      <p:bldP spid="25" grpId="1" animBg="1"/>
      <p:bldP spid="26" grpId="0"/>
      <p:bldP spid="26" grpId="1"/>
      <p:bldP spid="13" grpId="0"/>
      <p:bldP spid="13" grpId="1"/>
      <p:bldP spid="28" grpId="0"/>
      <p:bldP spid="28" grpId="1"/>
      <p:bldP spid="29" grpId="0" bldLvl="0" animBg="1"/>
      <p:bldP spid="29" grpId="1" animBg="1"/>
      <p:bldP spid="31" grpId="0" bldLvl="0" animBg="1"/>
      <p:bldP spid="31" grpId="1" animBg="1"/>
      <p:bldP spid="32" grpId="0"/>
      <p:bldP spid="32" grpId="1"/>
      <p:bldP spid="33" grpId="0"/>
      <p:bldP spid="33" grpId="1"/>
      <p:bldP spid="35" grpId="0" bldLvl="0" animBg="1"/>
      <p:bldP spid="35" grpId="1" animBg="1"/>
      <p:bldP spid="36" grpId="0" bldLvl="0" animBg="1"/>
      <p:bldP spid="36" grpId="1" animBg="1"/>
      <p:bldP spid="3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Problem Definition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7880" y="963930"/>
            <a:ext cx="933323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The competition collected DIMM data from multiple servers via MCElog, and each DIMM is identiffed by its unique Serial Number (SN).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17880" y="1734185"/>
                <a:ext cx="10183495" cy="72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Configuration: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𝑐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, 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is the dimension of configuration feature,which include maunfacturter memory type, size, cpu’s model and etc.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" y="1734185"/>
                <a:ext cx="10183495" cy="7277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17880" y="2648585"/>
                <a:ext cx="10184130" cy="1024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 Log: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as a time sequence,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error log information on 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dimension of error log feature which may cause UE failure at future</a:t>
                </a: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" y="2648585"/>
                <a:ext cx="10184130" cy="102425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17880" y="3805555"/>
                <a:ext cx="10183495" cy="689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 Label: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∈{0,1}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=1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indicating DIMM suffers the </a:t>
                </a:r>
                <a:r>
                  <a:rPr lang="en-US" altLang="zh-CN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" panose="02040503050406030204"/>
                    <a:cs typeface="Times New Roman" panose="02020603050405020304" pitchFamily="18" charset="0"/>
                    <a:sym typeface="+mn-ea"/>
                  </a:rPr>
                  <a:t>Uncorrectable Error (UE)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otherwise it is C</a:t>
                </a:r>
                <a:r>
                  <a:rPr lang="en-US" altLang="zh-CN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mbria" panose="02040503050406030204"/>
                    <a:cs typeface="Times New Roman" panose="02020603050405020304" pitchFamily="18" charset="0"/>
                    <a:sym typeface="+mn-ea"/>
                  </a:rPr>
                  <a:t>orrectable Error (CE)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" y="3805555"/>
                <a:ext cx="10183495" cy="68961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818515" y="4700270"/>
            <a:ext cx="1018286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estimate the probability that DIMM will experience a UE within the prediction window (7days in competition),it can formalized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817880" y="5462270"/>
                <a:ext cx="10182860" cy="377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=1|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;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" y="5462270"/>
                <a:ext cx="10182860" cy="37719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818515" y="5925820"/>
                <a:ext cx="10995025" cy="675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learnable parameters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optimal parameters.And the problem can be transformed into a minimization problem between the predicted probability distribution and the true probability distribution.</a:t>
                </a: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15" y="5925820"/>
                <a:ext cx="10995025" cy="67564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30" grpId="0"/>
      <p:bldP spid="3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60362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 kern="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pSp>
        <p:nvGrpSpPr>
          <p:cNvPr id="5" name="Group 13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4225466" y="27061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6" name="Freeform 1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15"/>
            <p:cNvSpPr/>
            <p:nvPr>
              <p:custDataLst>
                <p:tags r:id="rId16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9" name="Group 13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4225466" y="31829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10" name="Freeform 14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15"/>
            <p:cNvSpPr/>
            <p:nvPr>
              <p:custDataLst>
                <p:tags r:id="rId14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4553699" y="2683751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Prediction Framework</a:t>
            </a:r>
          </a:p>
        </p:txBody>
      </p:sp>
      <p:sp>
        <p:nvSpPr>
          <p:cNvPr id="38" name="矩形 37"/>
          <p:cNvSpPr/>
          <p:nvPr>
            <p:custDataLst>
              <p:tags r:id="rId4"/>
            </p:custDataLst>
          </p:nvPr>
        </p:nvSpPr>
        <p:spPr>
          <a:xfrm>
            <a:off x="4553379" y="3157358"/>
            <a:ext cx="213741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Feature Generation</a:t>
            </a:r>
          </a:p>
        </p:txBody>
      </p:sp>
      <p:grpSp>
        <p:nvGrpSpPr>
          <p:cNvPr id="2" name="Group 13"/>
          <p:cNvGrpSpPr>
            <a:grpSpLocks noChangeAspect="1"/>
          </p:cNvGrpSpPr>
          <p:nvPr>
            <p:custDataLst>
              <p:tags r:id="rId5"/>
            </p:custDataLst>
          </p:nvPr>
        </p:nvGrpSpPr>
        <p:grpSpPr bwMode="auto">
          <a:xfrm>
            <a:off x="4225466" y="365663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8" name="Freeform 14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15"/>
            <p:cNvSpPr/>
            <p:nvPr>
              <p:custDataLst>
                <p:tags r:id="rId12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4553379" y="3631068"/>
            <a:ext cx="169989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Data Grouping</a:t>
            </a:r>
          </a:p>
        </p:txBody>
      </p:sp>
      <p:grpSp>
        <p:nvGrpSpPr>
          <p:cNvPr id="17" name="Group 13"/>
          <p:cNvGrpSpPr>
            <a:grpSpLocks noChangeAspect="1"/>
          </p:cNvGrpSpPr>
          <p:nvPr>
            <p:custDataLst>
              <p:tags r:id="rId7"/>
            </p:custDataLst>
          </p:nvPr>
        </p:nvGrpSpPr>
        <p:grpSpPr bwMode="auto">
          <a:xfrm>
            <a:off x="4225466" y="4156376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18" name="Freeform 14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15"/>
            <p:cNvSpPr/>
            <p:nvPr>
              <p:custDataLst>
                <p:tags r:id="rId10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4553379" y="4130813"/>
            <a:ext cx="250126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Training and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Prediction Framework</a:t>
            </a:r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fr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645" y="1112520"/>
            <a:ext cx="9655175" cy="387096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8988425" y="5321300"/>
            <a:ext cx="1599565" cy="54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</a:t>
            </a:r>
          </a:p>
        </p:txBody>
      </p:sp>
      <p:sp>
        <p:nvSpPr>
          <p:cNvPr id="24" name="矩形 23"/>
          <p:cNvSpPr/>
          <p:nvPr/>
        </p:nvSpPr>
        <p:spPr>
          <a:xfrm>
            <a:off x="1274445" y="5323840"/>
            <a:ext cx="1370965" cy="54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Grouping</a:t>
            </a:r>
          </a:p>
        </p:txBody>
      </p:sp>
      <p:sp>
        <p:nvSpPr>
          <p:cNvPr id="25" name="矩形 24"/>
          <p:cNvSpPr/>
          <p:nvPr/>
        </p:nvSpPr>
        <p:spPr>
          <a:xfrm>
            <a:off x="2839720" y="5323840"/>
            <a:ext cx="2413635" cy="54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 Generation</a:t>
            </a:r>
            <a:endParaRPr lang="en-US" altLang="zh-CN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0675" y="5321300"/>
            <a:ext cx="1599565" cy="54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29" name="矩形 28"/>
          <p:cNvSpPr/>
          <p:nvPr/>
        </p:nvSpPr>
        <p:spPr>
          <a:xfrm>
            <a:off x="7194550" y="5321300"/>
            <a:ext cx="1599565" cy="54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Prediction</a:t>
            </a:r>
          </a:p>
        </p:txBody>
      </p:sp>
      <p:sp>
        <p:nvSpPr>
          <p:cNvPr id="6" name="右箭头 5"/>
          <p:cNvSpPr/>
          <p:nvPr/>
        </p:nvSpPr>
        <p:spPr>
          <a:xfrm>
            <a:off x="863600" y="5969000"/>
            <a:ext cx="10464800" cy="25400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Feature Generation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08660" y="1451610"/>
            <a:ext cx="108692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CE Error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features refer to the number of CE and their occurrence frequency.Most features are similar to those in Work A[2].However,we have proposed our own features, which are described as below: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33680" y="6066155"/>
            <a:ext cx="1181925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Qiao, et al. "Himfp: Hierarchical intelligent memory failure prediction forcloud service reliability." 2023 53rd Annual IEEE/IFIP International Conferenceon Dependable Systems and Networks (DSN). IEEE,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08660" y="2349500"/>
                <a:ext cx="10868660" cy="737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0" fontAlgn="auto">
                  <a:lnSpc>
                    <a:spcPct val="100000"/>
                  </a:lnSpc>
                </a:pPr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Max_Unique_CE_Error_Frequency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):</a:t>
                </a: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maximum frequency of consecutive identical CEs (Same location and ECC error code)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 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is time interval.  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" y="2349500"/>
                <a:ext cx="10868660" cy="7372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08660" y="3221355"/>
                <a:ext cx="10868660" cy="414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Min_Unique_CE_Error_Frequency(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):</a:t>
                </a:r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minimum frequency of </a:t>
                </a:r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  <a:sym typeface="+mn-ea"/>
                  </a:rPr>
                  <a:t>consecutive identical CEs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" y="3221355"/>
                <a:ext cx="10868660" cy="414020"/>
              </a:xfrm>
              <a:prstGeom prst="rect">
                <a:avLst/>
              </a:prstGeom>
              <a:blipFill rotWithShape="1">
                <a:blip r:embed="rId5"/>
                <a:stretch>
                  <a:fillRect b="-65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08660" y="3928110"/>
                <a:ext cx="10869930" cy="737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Max_Unique_CE_Error_Count(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):</a:t>
                </a: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maximum number of all consecutive identical CEs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1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1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" y="3928110"/>
                <a:ext cx="10869930" cy="7372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>
          <a:xfrm>
            <a:off x="590550" y="5441950"/>
            <a:ext cx="62865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93750" y="5162550"/>
            <a:ext cx="0" cy="2794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689350" y="5162550"/>
            <a:ext cx="0" cy="2794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584950" y="5162550"/>
            <a:ext cx="0" cy="2794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13271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477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4668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3685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025650" y="5378450"/>
            <a:ext cx="165100" cy="1651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194050" y="5378450"/>
            <a:ext cx="165100" cy="1651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857500" y="5378450"/>
            <a:ext cx="165100" cy="1651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5656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187950" y="5378450"/>
            <a:ext cx="165100" cy="1651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607050" y="5378450"/>
            <a:ext cx="165100" cy="1651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283450" y="4832350"/>
            <a:ext cx="165100" cy="165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283450" y="5088255"/>
            <a:ext cx="165100" cy="1651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7283450" y="5344160"/>
            <a:ext cx="165100" cy="1651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518400" y="4698365"/>
            <a:ext cx="267970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Different color means CEs happen in Different location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943100" y="458343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  <a:sym typeface="+mn-ea"/>
              </a:rPr>
              <a:t>Identical CEs</a:t>
            </a:r>
          </a:p>
        </p:txBody>
      </p:sp>
      <p:cxnSp>
        <p:nvCxnSpPr>
          <p:cNvPr id="42" name="直接箭头连接符 41"/>
          <p:cNvCxnSpPr>
            <a:endCxn id="15" idx="1"/>
          </p:cNvCxnSpPr>
          <p:nvPr/>
        </p:nvCxnSpPr>
        <p:spPr>
          <a:xfrm flipH="1">
            <a:off x="1490980" y="4889500"/>
            <a:ext cx="471170" cy="513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26" idx="0"/>
          </p:cNvCxnSpPr>
          <p:nvPr/>
        </p:nvCxnSpPr>
        <p:spPr>
          <a:xfrm>
            <a:off x="2406650" y="4876800"/>
            <a:ext cx="44450" cy="501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Feature Generation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33680" y="6066155"/>
            <a:ext cx="1181925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Qiao, et al. "Himfp: Hierarchical intelligent memory failure prediction forcloud service reliability." 2023 53rd Annual IEEE/IFIP International Conferenceon Dependable Systems and Networks (DSN). IEEE,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08660" y="1159510"/>
                <a:ext cx="10868660" cy="127063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B"/>
                    <a:cs typeface="Times New Roman" panose="02020603050405020304" pitchFamily="18" charset="0"/>
                  </a:rPr>
                  <a:t>DQ-Beat Error  </a:t>
                </a:r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LinLibertineT"/>
                    <a:cs typeface="Times New Roman" panose="02020603050405020304" pitchFamily="18" charset="0"/>
                  </a:rPr>
                  <a:t>features refer to the spatial and temporal distribution of error bits in DQs and Beats.Similar to Work A[2].</a:t>
                </a:r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we calculate the statistics of all features for all CE events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.For instance, Sum, Max, Min and Avg number of 1)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error bits</a:t>
                </a:r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2)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adjacent error DQs</a:t>
                </a:r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3)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adjacent error beats</a:t>
                </a:r>
                <a:r>
                  <a:rPr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.In addition, we have introduced extra statistics features, as detailed below:</a:t>
                </a:r>
              </a:p>
              <a:p>
                <a:endParaRPr lang="en-US" altLang="zh-CN" sz="2000" b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" y="1159510"/>
                <a:ext cx="10868660" cy="1270635"/>
              </a:xfrm>
              <a:prstGeom prst="rect">
                <a:avLst/>
              </a:prstGeom>
              <a:blipFill rotWithShape="1">
                <a:blip r:embed="rId4"/>
                <a:stretch>
                  <a:fillRect b="-23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31445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矩形 20"/>
          <p:cNvSpPr/>
          <p:nvPr/>
        </p:nvSpPr>
        <p:spPr>
          <a:xfrm>
            <a:off x="131445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2" name="矩形 21"/>
          <p:cNvSpPr/>
          <p:nvPr/>
        </p:nvSpPr>
        <p:spPr>
          <a:xfrm>
            <a:off x="131445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矩形 22"/>
          <p:cNvSpPr/>
          <p:nvPr/>
        </p:nvSpPr>
        <p:spPr>
          <a:xfrm>
            <a:off x="131445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矩形 23"/>
          <p:cNvSpPr/>
          <p:nvPr/>
        </p:nvSpPr>
        <p:spPr>
          <a:xfrm>
            <a:off x="168275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3" name="矩形 32"/>
          <p:cNvSpPr/>
          <p:nvPr/>
        </p:nvSpPr>
        <p:spPr>
          <a:xfrm>
            <a:off x="168275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矩形 34"/>
          <p:cNvSpPr/>
          <p:nvPr/>
        </p:nvSpPr>
        <p:spPr>
          <a:xfrm>
            <a:off x="168275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9" name="矩形 38"/>
          <p:cNvSpPr/>
          <p:nvPr/>
        </p:nvSpPr>
        <p:spPr>
          <a:xfrm>
            <a:off x="168275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0" name="矩形 49"/>
          <p:cNvSpPr/>
          <p:nvPr/>
        </p:nvSpPr>
        <p:spPr>
          <a:xfrm>
            <a:off x="205105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1" name="矩形 50"/>
          <p:cNvSpPr/>
          <p:nvPr/>
        </p:nvSpPr>
        <p:spPr>
          <a:xfrm>
            <a:off x="205105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矩形 51"/>
          <p:cNvSpPr/>
          <p:nvPr/>
        </p:nvSpPr>
        <p:spPr>
          <a:xfrm>
            <a:off x="205105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" name="矩形 52"/>
          <p:cNvSpPr/>
          <p:nvPr/>
        </p:nvSpPr>
        <p:spPr>
          <a:xfrm>
            <a:off x="205105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4" name="矩形 53"/>
          <p:cNvSpPr/>
          <p:nvPr/>
        </p:nvSpPr>
        <p:spPr>
          <a:xfrm>
            <a:off x="241935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5" name="矩形 54"/>
          <p:cNvSpPr/>
          <p:nvPr/>
        </p:nvSpPr>
        <p:spPr>
          <a:xfrm>
            <a:off x="241935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6" name="矩形 55"/>
          <p:cNvSpPr/>
          <p:nvPr/>
        </p:nvSpPr>
        <p:spPr>
          <a:xfrm>
            <a:off x="241935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矩形 56"/>
          <p:cNvSpPr/>
          <p:nvPr/>
        </p:nvSpPr>
        <p:spPr>
          <a:xfrm>
            <a:off x="241935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9" name="矩形 58"/>
          <p:cNvSpPr/>
          <p:nvPr/>
        </p:nvSpPr>
        <p:spPr>
          <a:xfrm>
            <a:off x="278384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矩形 59"/>
          <p:cNvSpPr/>
          <p:nvPr/>
        </p:nvSpPr>
        <p:spPr>
          <a:xfrm>
            <a:off x="278384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" name="矩形 60"/>
          <p:cNvSpPr/>
          <p:nvPr/>
        </p:nvSpPr>
        <p:spPr>
          <a:xfrm>
            <a:off x="278384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278384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3" name="矩形 62"/>
          <p:cNvSpPr/>
          <p:nvPr/>
        </p:nvSpPr>
        <p:spPr>
          <a:xfrm>
            <a:off x="315214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4" name="矩形 63"/>
          <p:cNvSpPr/>
          <p:nvPr/>
        </p:nvSpPr>
        <p:spPr>
          <a:xfrm>
            <a:off x="315214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315214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" name="矩形 65"/>
          <p:cNvSpPr/>
          <p:nvPr/>
        </p:nvSpPr>
        <p:spPr>
          <a:xfrm>
            <a:off x="315214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" name="矩形 66"/>
          <p:cNvSpPr/>
          <p:nvPr/>
        </p:nvSpPr>
        <p:spPr>
          <a:xfrm>
            <a:off x="352044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8" name="矩形 67"/>
          <p:cNvSpPr/>
          <p:nvPr/>
        </p:nvSpPr>
        <p:spPr>
          <a:xfrm>
            <a:off x="352044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矩形 68"/>
          <p:cNvSpPr/>
          <p:nvPr/>
        </p:nvSpPr>
        <p:spPr>
          <a:xfrm>
            <a:off x="352044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矩形 69"/>
          <p:cNvSpPr/>
          <p:nvPr/>
        </p:nvSpPr>
        <p:spPr>
          <a:xfrm>
            <a:off x="352044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1" name="矩形 70"/>
          <p:cNvSpPr/>
          <p:nvPr/>
        </p:nvSpPr>
        <p:spPr>
          <a:xfrm>
            <a:off x="388874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2" name="矩形 71"/>
          <p:cNvSpPr/>
          <p:nvPr/>
        </p:nvSpPr>
        <p:spPr>
          <a:xfrm>
            <a:off x="388874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3" name="矩形 72"/>
          <p:cNvSpPr/>
          <p:nvPr/>
        </p:nvSpPr>
        <p:spPr>
          <a:xfrm>
            <a:off x="388874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4" name="矩形 73"/>
          <p:cNvSpPr/>
          <p:nvPr/>
        </p:nvSpPr>
        <p:spPr>
          <a:xfrm>
            <a:off x="388874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115570" y="4130040"/>
            <a:ext cx="59245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</a:p>
        </p:txBody>
      </p:sp>
      <p:sp>
        <p:nvSpPr>
          <p:cNvPr id="76" name="左大括号 75"/>
          <p:cNvSpPr/>
          <p:nvPr/>
        </p:nvSpPr>
        <p:spPr>
          <a:xfrm>
            <a:off x="691515" y="3724910"/>
            <a:ext cx="258445" cy="11938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949960" y="3549650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949960" y="393001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949960" y="4298950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949960" y="46564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2444750" y="5614035"/>
            <a:ext cx="63055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Beat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133985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170815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207645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244475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280924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317754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54584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914140" y="5024755"/>
            <a:ext cx="3429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0" name="左大括号 89"/>
          <p:cNvSpPr/>
          <p:nvPr/>
        </p:nvSpPr>
        <p:spPr>
          <a:xfrm rot="16200000">
            <a:off x="2710815" y="3954145"/>
            <a:ext cx="175260" cy="2917825"/>
          </a:xfrm>
          <a:prstGeom prst="leftBrace">
            <a:avLst>
              <a:gd name="adj1" fmla="val 8333"/>
              <a:gd name="adj2" fmla="val 4873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31445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0" name="矩形 99"/>
          <p:cNvSpPr/>
          <p:nvPr/>
        </p:nvSpPr>
        <p:spPr>
          <a:xfrm>
            <a:off x="168275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矩形 100"/>
          <p:cNvSpPr/>
          <p:nvPr/>
        </p:nvSpPr>
        <p:spPr>
          <a:xfrm>
            <a:off x="205105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矩形 101"/>
          <p:cNvSpPr/>
          <p:nvPr/>
        </p:nvSpPr>
        <p:spPr>
          <a:xfrm>
            <a:off x="241935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3" name="矩形 102"/>
          <p:cNvSpPr/>
          <p:nvPr/>
        </p:nvSpPr>
        <p:spPr>
          <a:xfrm>
            <a:off x="278384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4" name="矩形 103"/>
          <p:cNvSpPr/>
          <p:nvPr/>
        </p:nvSpPr>
        <p:spPr>
          <a:xfrm>
            <a:off x="315214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" name="矩形 104"/>
          <p:cNvSpPr/>
          <p:nvPr/>
        </p:nvSpPr>
        <p:spPr>
          <a:xfrm>
            <a:off x="352044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6" name="矩形 105"/>
          <p:cNvSpPr/>
          <p:nvPr/>
        </p:nvSpPr>
        <p:spPr>
          <a:xfrm>
            <a:off x="3888740" y="30289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7" name="矩形 106"/>
          <p:cNvSpPr/>
          <p:nvPr/>
        </p:nvSpPr>
        <p:spPr>
          <a:xfrm>
            <a:off x="4447540" y="35623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8" name="矩形 107"/>
          <p:cNvSpPr/>
          <p:nvPr/>
        </p:nvSpPr>
        <p:spPr>
          <a:xfrm>
            <a:off x="4447540" y="393065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9" name="矩形 108"/>
          <p:cNvSpPr/>
          <p:nvPr/>
        </p:nvSpPr>
        <p:spPr>
          <a:xfrm>
            <a:off x="4447540" y="42881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0" name="矩形 109"/>
          <p:cNvSpPr/>
          <p:nvPr/>
        </p:nvSpPr>
        <p:spPr>
          <a:xfrm>
            <a:off x="4447540" y="465645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4447540" y="5075555"/>
            <a:ext cx="83375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ErrorDQs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527685" y="2874010"/>
            <a:ext cx="78676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ErrorBeats</a:t>
            </a:r>
          </a:p>
        </p:txBody>
      </p:sp>
      <p:sp>
        <p:nvSpPr>
          <p:cNvPr id="114" name="椭圆 113"/>
          <p:cNvSpPr/>
          <p:nvPr/>
        </p:nvSpPr>
        <p:spPr>
          <a:xfrm>
            <a:off x="1339850" y="4682490"/>
            <a:ext cx="330200" cy="33020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14"/>
          <p:cNvCxnSpPr/>
          <p:nvPr/>
        </p:nvCxnSpPr>
        <p:spPr>
          <a:xfrm flipV="1">
            <a:off x="784225" y="4970145"/>
            <a:ext cx="555625" cy="5308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166370" y="5205095"/>
            <a:ext cx="83439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</a:p>
        </p:txBody>
      </p:sp>
      <p:sp>
        <p:nvSpPr>
          <p:cNvPr id="120" name="椭圆 119"/>
          <p:cNvSpPr/>
          <p:nvPr/>
        </p:nvSpPr>
        <p:spPr>
          <a:xfrm flipH="1" flipV="1">
            <a:off x="2444750" y="2988945"/>
            <a:ext cx="1101725" cy="408305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1708785" y="2557145"/>
            <a:ext cx="257365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Adjacent Error Beats</a:t>
            </a:r>
          </a:p>
        </p:txBody>
      </p:sp>
      <p:cxnSp>
        <p:nvCxnSpPr>
          <p:cNvPr id="122" name="直接箭头连接符 121"/>
          <p:cNvCxnSpPr/>
          <p:nvPr/>
        </p:nvCxnSpPr>
        <p:spPr>
          <a:xfrm flipH="1">
            <a:off x="3075940" y="2901950"/>
            <a:ext cx="53975" cy="1905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710565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4" name="矩形 123"/>
          <p:cNvSpPr/>
          <p:nvPr/>
        </p:nvSpPr>
        <p:spPr>
          <a:xfrm>
            <a:off x="747395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5" name="矩形 124"/>
          <p:cNvSpPr/>
          <p:nvPr/>
        </p:nvSpPr>
        <p:spPr>
          <a:xfrm>
            <a:off x="784225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6" name="矩形 125"/>
          <p:cNvSpPr/>
          <p:nvPr/>
        </p:nvSpPr>
        <p:spPr>
          <a:xfrm>
            <a:off x="821055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7" name="矩形 126"/>
          <p:cNvSpPr/>
          <p:nvPr/>
        </p:nvSpPr>
        <p:spPr>
          <a:xfrm>
            <a:off x="857504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8" name="矩形 127"/>
          <p:cNvSpPr/>
          <p:nvPr/>
        </p:nvSpPr>
        <p:spPr>
          <a:xfrm>
            <a:off x="894334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9" name="矩形 128"/>
          <p:cNvSpPr/>
          <p:nvPr/>
        </p:nvSpPr>
        <p:spPr>
          <a:xfrm>
            <a:off x="931164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0" name="矩形 129"/>
          <p:cNvSpPr/>
          <p:nvPr/>
        </p:nvSpPr>
        <p:spPr>
          <a:xfrm>
            <a:off x="9679940" y="46589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矩形 132"/>
          <p:cNvSpPr/>
          <p:nvPr/>
        </p:nvSpPr>
        <p:spPr>
          <a:xfrm>
            <a:off x="710565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4" name="矩形 133"/>
          <p:cNvSpPr/>
          <p:nvPr/>
        </p:nvSpPr>
        <p:spPr>
          <a:xfrm>
            <a:off x="747395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矩形 134"/>
          <p:cNvSpPr/>
          <p:nvPr/>
        </p:nvSpPr>
        <p:spPr>
          <a:xfrm>
            <a:off x="784225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6" name="矩形 135"/>
          <p:cNvSpPr/>
          <p:nvPr/>
        </p:nvSpPr>
        <p:spPr>
          <a:xfrm>
            <a:off x="821055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矩形 136"/>
          <p:cNvSpPr/>
          <p:nvPr/>
        </p:nvSpPr>
        <p:spPr>
          <a:xfrm>
            <a:off x="857504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矩形 137"/>
          <p:cNvSpPr/>
          <p:nvPr/>
        </p:nvSpPr>
        <p:spPr>
          <a:xfrm>
            <a:off x="894334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9" name="矩形 138"/>
          <p:cNvSpPr/>
          <p:nvPr/>
        </p:nvSpPr>
        <p:spPr>
          <a:xfrm>
            <a:off x="931164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矩形 139"/>
          <p:cNvSpPr/>
          <p:nvPr/>
        </p:nvSpPr>
        <p:spPr>
          <a:xfrm>
            <a:off x="9679940" y="517969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60" name="直接箭头连接符 159"/>
          <p:cNvCxnSpPr/>
          <p:nvPr/>
        </p:nvCxnSpPr>
        <p:spPr>
          <a:xfrm>
            <a:off x="7289800" y="4351655"/>
            <a:ext cx="18923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>
            <a:off x="8629650" y="4481195"/>
            <a:ext cx="55245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10262235" y="4407535"/>
            <a:ext cx="2093595" cy="676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Maximun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of Maximun intervals</a:t>
            </a:r>
          </a:p>
        </p:txBody>
      </p:sp>
      <p:cxnSp>
        <p:nvCxnSpPr>
          <p:cNvPr id="164" name="直接箭头连接符 163"/>
          <p:cNvCxnSpPr/>
          <p:nvPr/>
        </p:nvCxnSpPr>
        <p:spPr>
          <a:xfrm>
            <a:off x="7289800" y="5831205"/>
            <a:ext cx="26035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8629650" y="5672455"/>
            <a:ext cx="55245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10210800" y="5196205"/>
            <a:ext cx="2246630" cy="676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Minimum intervals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接连接符 166"/>
          <p:cNvCxnSpPr>
            <a:endCxn id="166" idx="1"/>
          </p:cNvCxnSpPr>
          <p:nvPr/>
        </p:nvCxnSpPr>
        <p:spPr>
          <a:xfrm>
            <a:off x="8915400" y="4502150"/>
            <a:ext cx="1295400" cy="103251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连接符 167"/>
          <p:cNvCxnSpPr>
            <a:endCxn id="166" idx="1"/>
          </p:cNvCxnSpPr>
          <p:nvPr/>
        </p:nvCxnSpPr>
        <p:spPr>
          <a:xfrm flipV="1">
            <a:off x="8877300" y="5534660"/>
            <a:ext cx="1333500" cy="14859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endCxn id="163" idx="1"/>
          </p:cNvCxnSpPr>
          <p:nvPr/>
        </p:nvCxnSpPr>
        <p:spPr>
          <a:xfrm>
            <a:off x="8656320" y="4347845"/>
            <a:ext cx="1605915" cy="39814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endCxn id="163" idx="1"/>
          </p:cNvCxnSpPr>
          <p:nvPr/>
        </p:nvCxnSpPr>
        <p:spPr>
          <a:xfrm flipV="1">
            <a:off x="8598535" y="4745990"/>
            <a:ext cx="1663700" cy="108521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5545455" y="4756150"/>
            <a:ext cx="1357630" cy="695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Different Error Beats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/>
              <p:cNvSpPr txBox="1"/>
              <p:nvPr/>
            </p:nvSpPr>
            <p:spPr>
              <a:xfrm>
                <a:off x="5803900" y="2901950"/>
                <a:ext cx="5575300" cy="11537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en-US" altLang="zh-CN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1) </a:t>
                </a:r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DQ interval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single DQ error bit, 2) </a:t>
                </a:r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CN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Beat interval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single Beats error bit,within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1" name="文本框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00" y="2901950"/>
                <a:ext cx="5575300" cy="11537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Feature Generation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680" y="6058535"/>
            <a:ext cx="11819255" cy="478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Cong, et al. "From correctable memory errors to uncorrectable memory errors:What error bits tell." SC22: International Conference for High Performance Computing, Networking, Storage and Analysis. IEEE, 2022.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09295" y="1019175"/>
                <a:ext cx="10603865" cy="70675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Fault Counts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features refers to cumulative number of microlevel faults (cell, row, column, bank and device)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inLibertineTB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LinLibertineTB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95" y="1019175"/>
                <a:ext cx="10603865" cy="7067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708660" y="1979930"/>
            <a:ext cx="106038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Error Bit Patterns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features refer to risky CE occurrence in terms of guaranteed coverage by ECC[3].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08660" y="2755265"/>
            <a:ext cx="1060450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Static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 Features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describe DIMM characteristics. including manufacturer, data width, and chip procedure, which are transformed into one-hot encoding features in our approach. </a:t>
            </a:r>
          </a:p>
        </p:txBody>
      </p:sp>
      <p:sp>
        <p:nvSpPr>
          <p:cNvPr id="14" name="矩形 13"/>
          <p:cNvSpPr/>
          <p:nvPr/>
        </p:nvSpPr>
        <p:spPr>
          <a:xfrm>
            <a:off x="9715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矩形 14"/>
          <p:cNvSpPr/>
          <p:nvPr/>
        </p:nvSpPr>
        <p:spPr>
          <a:xfrm>
            <a:off x="9715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矩形 15"/>
          <p:cNvSpPr/>
          <p:nvPr/>
        </p:nvSpPr>
        <p:spPr>
          <a:xfrm>
            <a:off x="97155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97155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矩形 18"/>
          <p:cNvSpPr/>
          <p:nvPr/>
        </p:nvSpPr>
        <p:spPr>
          <a:xfrm>
            <a:off x="13398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" name="矩形 19"/>
          <p:cNvSpPr/>
          <p:nvPr/>
        </p:nvSpPr>
        <p:spPr>
          <a:xfrm>
            <a:off x="13398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5" name="矩形 24"/>
          <p:cNvSpPr/>
          <p:nvPr/>
        </p:nvSpPr>
        <p:spPr>
          <a:xfrm>
            <a:off x="133985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6" name="矩形 25"/>
          <p:cNvSpPr/>
          <p:nvPr/>
        </p:nvSpPr>
        <p:spPr>
          <a:xfrm>
            <a:off x="133985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" name="矩形 27"/>
          <p:cNvSpPr/>
          <p:nvPr/>
        </p:nvSpPr>
        <p:spPr>
          <a:xfrm>
            <a:off x="17081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" name="矩形 28"/>
          <p:cNvSpPr/>
          <p:nvPr/>
        </p:nvSpPr>
        <p:spPr>
          <a:xfrm>
            <a:off x="17081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" name="矩形 29"/>
          <p:cNvSpPr/>
          <p:nvPr/>
        </p:nvSpPr>
        <p:spPr>
          <a:xfrm>
            <a:off x="170815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1" name="矩形 30"/>
          <p:cNvSpPr/>
          <p:nvPr/>
        </p:nvSpPr>
        <p:spPr>
          <a:xfrm>
            <a:off x="170815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2" name="矩形 31"/>
          <p:cNvSpPr/>
          <p:nvPr/>
        </p:nvSpPr>
        <p:spPr>
          <a:xfrm>
            <a:off x="20764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矩形 33"/>
          <p:cNvSpPr/>
          <p:nvPr/>
        </p:nvSpPr>
        <p:spPr>
          <a:xfrm>
            <a:off x="20764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矩形 35"/>
          <p:cNvSpPr/>
          <p:nvPr/>
        </p:nvSpPr>
        <p:spPr>
          <a:xfrm>
            <a:off x="207645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7" name="矩形 36"/>
          <p:cNvSpPr/>
          <p:nvPr/>
        </p:nvSpPr>
        <p:spPr>
          <a:xfrm>
            <a:off x="207645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8" name="矩形 37"/>
          <p:cNvSpPr/>
          <p:nvPr/>
        </p:nvSpPr>
        <p:spPr>
          <a:xfrm>
            <a:off x="24409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0" name="矩形 39"/>
          <p:cNvSpPr/>
          <p:nvPr/>
        </p:nvSpPr>
        <p:spPr>
          <a:xfrm>
            <a:off x="24409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1" name="矩形 40"/>
          <p:cNvSpPr/>
          <p:nvPr/>
        </p:nvSpPr>
        <p:spPr>
          <a:xfrm>
            <a:off x="244094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矩形 41"/>
          <p:cNvSpPr/>
          <p:nvPr/>
        </p:nvSpPr>
        <p:spPr>
          <a:xfrm>
            <a:off x="244094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矩形 42"/>
          <p:cNvSpPr/>
          <p:nvPr/>
        </p:nvSpPr>
        <p:spPr>
          <a:xfrm>
            <a:off x="28092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4" name="矩形 43"/>
          <p:cNvSpPr/>
          <p:nvPr/>
        </p:nvSpPr>
        <p:spPr>
          <a:xfrm>
            <a:off x="28092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5" name="矩形 44"/>
          <p:cNvSpPr/>
          <p:nvPr/>
        </p:nvSpPr>
        <p:spPr>
          <a:xfrm>
            <a:off x="280924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6" name="矩形 45"/>
          <p:cNvSpPr/>
          <p:nvPr/>
        </p:nvSpPr>
        <p:spPr>
          <a:xfrm>
            <a:off x="280924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7" name="矩形 46"/>
          <p:cNvSpPr/>
          <p:nvPr/>
        </p:nvSpPr>
        <p:spPr>
          <a:xfrm>
            <a:off x="31775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8" name="矩形 47"/>
          <p:cNvSpPr/>
          <p:nvPr/>
        </p:nvSpPr>
        <p:spPr>
          <a:xfrm>
            <a:off x="31775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9" name="矩形 48"/>
          <p:cNvSpPr/>
          <p:nvPr/>
        </p:nvSpPr>
        <p:spPr>
          <a:xfrm>
            <a:off x="317754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矩形 57"/>
          <p:cNvSpPr/>
          <p:nvPr/>
        </p:nvSpPr>
        <p:spPr>
          <a:xfrm>
            <a:off x="317754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矩形 90"/>
          <p:cNvSpPr/>
          <p:nvPr/>
        </p:nvSpPr>
        <p:spPr>
          <a:xfrm>
            <a:off x="35458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矩形 91"/>
          <p:cNvSpPr/>
          <p:nvPr/>
        </p:nvSpPr>
        <p:spPr>
          <a:xfrm>
            <a:off x="35458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3" name="矩形 92"/>
          <p:cNvSpPr/>
          <p:nvPr/>
        </p:nvSpPr>
        <p:spPr>
          <a:xfrm>
            <a:off x="3545840" y="45942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4" name="矩形 93"/>
          <p:cNvSpPr/>
          <p:nvPr/>
        </p:nvSpPr>
        <p:spPr>
          <a:xfrm>
            <a:off x="3545840" y="4962525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5" name="矩形 94"/>
          <p:cNvSpPr/>
          <p:nvPr/>
        </p:nvSpPr>
        <p:spPr>
          <a:xfrm>
            <a:off x="428625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矩形 95"/>
          <p:cNvSpPr/>
          <p:nvPr/>
        </p:nvSpPr>
        <p:spPr>
          <a:xfrm>
            <a:off x="428625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7" name="矩形 96"/>
          <p:cNvSpPr/>
          <p:nvPr/>
        </p:nvSpPr>
        <p:spPr>
          <a:xfrm>
            <a:off x="42862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8" name="矩形 97"/>
          <p:cNvSpPr/>
          <p:nvPr/>
        </p:nvSpPr>
        <p:spPr>
          <a:xfrm>
            <a:off x="42862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8" name="矩形 177"/>
          <p:cNvSpPr/>
          <p:nvPr/>
        </p:nvSpPr>
        <p:spPr>
          <a:xfrm>
            <a:off x="465455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9" name="矩形 178"/>
          <p:cNvSpPr/>
          <p:nvPr/>
        </p:nvSpPr>
        <p:spPr>
          <a:xfrm>
            <a:off x="465455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0" name="矩形 179"/>
          <p:cNvSpPr/>
          <p:nvPr/>
        </p:nvSpPr>
        <p:spPr>
          <a:xfrm>
            <a:off x="46545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1" name="矩形 180"/>
          <p:cNvSpPr/>
          <p:nvPr/>
        </p:nvSpPr>
        <p:spPr>
          <a:xfrm>
            <a:off x="46545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2" name="矩形 181"/>
          <p:cNvSpPr/>
          <p:nvPr/>
        </p:nvSpPr>
        <p:spPr>
          <a:xfrm>
            <a:off x="502285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3" name="矩形 182"/>
          <p:cNvSpPr/>
          <p:nvPr/>
        </p:nvSpPr>
        <p:spPr>
          <a:xfrm>
            <a:off x="502285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4" name="矩形 183"/>
          <p:cNvSpPr/>
          <p:nvPr/>
        </p:nvSpPr>
        <p:spPr>
          <a:xfrm>
            <a:off x="50228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5" name="矩形 184"/>
          <p:cNvSpPr/>
          <p:nvPr/>
        </p:nvSpPr>
        <p:spPr>
          <a:xfrm>
            <a:off x="50228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6" name="矩形 185"/>
          <p:cNvSpPr/>
          <p:nvPr/>
        </p:nvSpPr>
        <p:spPr>
          <a:xfrm>
            <a:off x="539115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7" name="矩形 186"/>
          <p:cNvSpPr/>
          <p:nvPr/>
        </p:nvSpPr>
        <p:spPr>
          <a:xfrm>
            <a:off x="539115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8" name="矩形 187"/>
          <p:cNvSpPr/>
          <p:nvPr/>
        </p:nvSpPr>
        <p:spPr>
          <a:xfrm>
            <a:off x="53911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9" name="矩形 188"/>
          <p:cNvSpPr/>
          <p:nvPr/>
        </p:nvSpPr>
        <p:spPr>
          <a:xfrm>
            <a:off x="53911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90" name="矩形 189"/>
          <p:cNvSpPr/>
          <p:nvPr/>
        </p:nvSpPr>
        <p:spPr>
          <a:xfrm>
            <a:off x="575564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1" name="矩形 190"/>
          <p:cNvSpPr/>
          <p:nvPr/>
        </p:nvSpPr>
        <p:spPr>
          <a:xfrm>
            <a:off x="575564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2" name="矩形 191"/>
          <p:cNvSpPr/>
          <p:nvPr/>
        </p:nvSpPr>
        <p:spPr>
          <a:xfrm>
            <a:off x="57556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3" name="矩形 192"/>
          <p:cNvSpPr/>
          <p:nvPr/>
        </p:nvSpPr>
        <p:spPr>
          <a:xfrm>
            <a:off x="57556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4" name="矩形 193"/>
          <p:cNvSpPr/>
          <p:nvPr/>
        </p:nvSpPr>
        <p:spPr>
          <a:xfrm>
            <a:off x="612394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5" name="矩形 194"/>
          <p:cNvSpPr/>
          <p:nvPr/>
        </p:nvSpPr>
        <p:spPr>
          <a:xfrm>
            <a:off x="612394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矩形 195"/>
          <p:cNvSpPr/>
          <p:nvPr/>
        </p:nvSpPr>
        <p:spPr>
          <a:xfrm>
            <a:off x="61239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矩形 196"/>
          <p:cNvSpPr/>
          <p:nvPr/>
        </p:nvSpPr>
        <p:spPr>
          <a:xfrm>
            <a:off x="61239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矩形 197"/>
          <p:cNvSpPr/>
          <p:nvPr/>
        </p:nvSpPr>
        <p:spPr>
          <a:xfrm>
            <a:off x="649224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矩形 198"/>
          <p:cNvSpPr/>
          <p:nvPr/>
        </p:nvSpPr>
        <p:spPr>
          <a:xfrm>
            <a:off x="649224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矩形 199"/>
          <p:cNvSpPr/>
          <p:nvPr/>
        </p:nvSpPr>
        <p:spPr>
          <a:xfrm>
            <a:off x="64922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矩形 201"/>
          <p:cNvSpPr/>
          <p:nvPr/>
        </p:nvSpPr>
        <p:spPr>
          <a:xfrm>
            <a:off x="64922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3" name="矩形 202"/>
          <p:cNvSpPr/>
          <p:nvPr/>
        </p:nvSpPr>
        <p:spPr>
          <a:xfrm>
            <a:off x="6860540" y="38557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1" name="矩形 270"/>
          <p:cNvSpPr/>
          <p:nvPr/>
        </p:nvSpPr>
        <p:spPr>
          <a:xfrm>
            <a:off x="6860540" y="4224020"/>
            <a:ext cx="36830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2" name="矩形 271"/>
          <p:cNvSpPr/>
          <p:nvPr/>
        </p:nvSpPr>
        <p:spPr>
          <a:xfrm>
            <a:off x="68605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3" name="矩形 272"/>
          <p:cNvSpPr/>
          <p:nvPr/>
        </p:nvSpPr>
        <p:spPr>
          <a:xfrm>
            <a:off x="68605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4" name="矩形 273"/>
          <p:cNvSpPr/>
          <p:nvPr/>
        </p:nvSpPr>
        <p:spPr>
          <a:xfrm>
            <a:off x="75628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5" name="矩形 274"/>
          <p:cNvSpPr/>
          <p:nvPr/>
        </p:nvSpPr>
        <p:spPr>
          <a:xfrm>
            <a:off x="75628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6" name="矩形 275"/>
          <p:cNvSpPr/>
          <p:nvPr/>
        </p:nvSpPr>
        <p:spPr>
          <a:xfrm>
            <a:off x="75628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77" name="矩形 276"/>
          <p:cNvSpPr/>
          <p:nvPr/>
        </p:nvSpPr>
        <p:spPr>
          <a:xfrm>
            <a:off x="75628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78" name="矩形 277"/>
          <p:cNvSpPr/>
          <p:nvPr/>
        </p:nvSpPr>
        <p:spPr>
          <a:xfrm>
            <a:off x="79311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9" name="矩形 278"/>
          <p:cNvSpPr/>
          <p:nvPr/>
        </p:nvSpPr>
        <p:spPr>
          <a:xfrm>
            <a:off x="79311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0" name="矩形 279"/>
          <p:cNvSpPr/>
          <p:nvPr/>
        </p:nvSpPr>
        <p:spPr>
          <a:xfrm>
            <a:off x="79311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1" name="矩形 280"/>
          <p:cNvSpPr/>
          <p:nvPr/>
        </p:nvSpPr>
        <p:spPr>
          <a:xfrm>
            <a:off x="79311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2" name="矩形 281"/>
          <p:cNvSpPr/>
          <p:nvPr/>
        </p:nvSpPr>
        <p:spPr>
          <a:xfrm>
            <a:off x="82994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3" name="矩形 282"/>
          <p:cNvSpPr/>
          <p:nvPr/>
        </p:nvSpPr>
        <p:spPr>
          <a:xfrm>
            <a:off x="82994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4" name="矩形 283"/>
          <p:cNvSpPr/>
          <p:nvPr/>
        </p:nvSpPr>
        <p:spPr>
          <a:xfrm>
            <a:off x="82994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5" name="矩形 284"/>
          <p:cNvSpPr/>
          <p:nvPr/>
        </p:nvSpPr>
        <p:spPr>
          <a:xfrm>
            <a:off x="82994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6" name="矩形 285"/>
          <p:cNvSpPr/>
          <p:nvPr/>
        </p:nvSpPr>
        <p:spPr>
          <a:xfrm>
            <a:off x="866775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7" name="矩形 286"/>
          <p:cNvSpPr/>
          <p:nvPr/>
        </p:nvSpPr>
        <p:spPr>
          <a:xfrm>
            <a:off x="866775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8" name="矩形 287"/>
          <p:cNvSpPr/>
          <p:nvPr/>
        </p:nvSpPr>
        <p:spPr>
          <a:xfrm>
            <a:off x="866775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9" name="矩形 288"/>
          <p:cNvSpPr/>
          <p:nvPr/>
        </p:nvSpPr>
        <p:spPr>
          <a:xfrm>
            <a:off x="866775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90" name="矩形 289"/>
          <p:cNvSpPr/>
          <p:nvPr/>
        </p:nvSpPr>
        <p:spPr>
          <a:xfrm>
            <a:off x="90322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1" name="矩形 290"/>
          <p:cNvSpPr/>
          <p:nvPr/>
        </p:nvSpPr>
        <p:spPr>
          <a:xfrm>
            <a:off x="90322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92" name="矩形 291"/>
          <p:cNvSpPr/>
          <p:nvPr/>
        </p:nvSpPr>
        <p:spPr>
          <a:xfrm>
            <a:off x="90322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3" name="矩形 292"/>
          <p:cNvSpPr/>
          <p:nvPr/>
        </p:nvSpPr>
        <p:spPr>
          <a:xfrm>
            <a:off x="90322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4" name="矩形 293"/>
          <p:cNvSpPr/>
          <p:nvPr/>
        </p:nvSpPr>
        <p:spPr>
          <a:xfrm>
            <a:off x="94005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95" name="矩形 294"/>
          <p:cNvSpPr/>
          <p:nvPr/>
        </p:nvSpPr>
        <p:spPr>
          <a:xfrm>
            <a:off x="94005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6" name="矩形 295"/>
          <p:cNvSpPr/>
          <p:nvPr/>
        </p:nvSpPr>
        <p:spPr>
          <a:xfrm>
            <a:off x="94005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7" name="矩形 296"/>
          <p:cNvSpPr/>
          <p:nvPr/>
        </p:nvSpPr>
        <p:spPr>
          <a:xfrm>
            <a:off x="94005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8" name="矩形 297"/>
          <p:cNvSpPr/>
          <p:nvPr/>
        </p:nvSpPr>
        <p:spPr>
          <a:xfrm>
            <a:off x="97688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9" name="矩形 298"/>
          <p:cNvSpPr/>
          <p:nvPr/>
        </p:nvSpPr>
        <p:spPr>
          <a:xfrm>
            <a:off x="97688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0" name="矩形 299"/>
          <p:cNvSpPr/>
          <p:nvPr/>
        </p:nvSpPr>
        <p:spPr>
          <a:xfrm>
            <a:off x="97688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1" name="矩形 300"/>
          <p:cNvSpPr/>
          <p:nvPr/>
        </p:nvSpPr>
        <p:spPr>
          <a:xfrm>
            <a:off x="97688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2" name="矩形 301"/>
          <p:cNvSpPr/>
          <p:nvPr/>
        </p:nvSpPr>
        <p:spPr>
          <a:xfrm>
            <a:off x="10137140" y="38557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3" name="矩形 302"/>
          <p:cNvSpPr/>
          <p:nvPr/>
        </p:nvSpPr>
        <p:spPr>
          <a:xfrm>
            <a:off x="10137140" y="4224020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4" name="矩形 303"/>
          <p:cNvSpPr/>
          <p:nvPr/>
        </p:nvSpPr>
        <p:spPr>
          <a:xfrm>
            <a:off x="10137140" y="45942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5" name="矩形 304"/>
          <p:cNvSpPr/>
          <p:nvPr/>
        </p:nvSpPr>
        <p:spPr>
          <a:xfrm>
            <a:off x="10137140" y="4962525"/>
            <a:ext cx="368300" cy="3683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6" name="文本框 305"/>
          <p:cNvSpPr txBox="1"/>
          <p:nvPr/>
        </p:nvSpPr>
        <p:spPr>
          <a:xfrm>
            <a:off x="708660" y="5442585"/>
            <a:ext cx="332803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(a) a fully correctable error-bit pattern </a:t>
            </a:r>
          </a:p>
        </p:txBody>
      </p:sp>
      <p:sp>
        <p:nvSpPr>
          <p:cNvPr id="307" name="文本框 306"/>
          <p:cNvSpPr txBox="1"/>
          <p:nvPr/>
        </p:nvSpPr>
        <p:spPr>
          <a:xfrm>
            <a:off x="4150360" y="5442585"/>
            <a:ext cx="332803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(b) another fully correctable error-bit pattern </a:t>
            </a:r>
          </a:p>
        </p:txBody>
      </p:sp>
      <p:sp>
        <p:nvSpPr>
          <p:cNvPr id="308" name="文本框 307"/>
          <p:cNvSpPr txBox="1"/>
          <p:nvPr/>
        </p:nvSpPr>
        <p:spPr>
          <a:xfrm>
            <a:off x="7478395" y="5442585"/>
            <a:ext cx="332803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(c) an actual error-bit pattern from a risky CE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Grouping</a:t>
            </a:r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0100" y="1074420"/>
            <a:ext cx="10222865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Data Grouping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: In system services, DIMM modules from various vendors have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I"/>
                <a:cs typeface="Times New Roman" panose="02020603050405020304" pitchFamily="18" charset="0"/>
              </a:rPr>
              <a:t>diverse hardware architectures and characteristics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. WorkB[3] finds that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UE-prone faults are speciffc to certain DIMM part numbers and can be generic to certain manufacturers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. WorkC[4] also points out that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different manufacturers show different UE rates, which may result from DIMM process differences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52400" y="5690235"/>
            <a:ext cx="12191365" cy="758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Cong, et al. "From correctable memory errors to uncorrectable memory errors:What error bits tell." SC22: International Conference for High Performance Computing, Networking, Storage and Analysis. IEEE, 2022.</a:t>
            </a:r>
          </a:p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[4]Yu, Qiao, et al. "Investigating Memory Failure Prediction Across CPU Architectures."2024 54th Annual IEEE/IFIP International Conference on Dependable Systems and Networks-Supplemental Volume (DSN-S). IEEE, 2024.</a:t>
            </a:r>
          </a:p>
        </p:txBody>
      </p:sp>
      <p:pic>
        <p:nvPicPr>
          <p:cNvPr id="3" name="图片 2" descr="ue_rate_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2750185"/>
            <a:ext cx="4787265" cy="279273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Grouping</a:t>
            </a:r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2400" y="5690235"/>
            <a:ext cx="12191365" cy="758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Cong, et al. "From correctable memory errors to uncorrectable memory errors:What error bits tell." SC22: International Conference for High Performance Computing, Networking, Storage and Analysis. IEEE, 2022.</a:t>
            </a:r>
          </a:p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[4]Yu, Qiao, et al. "Investigating Memory Failure Prediction Across CPU Architectures."2024 54th Annual IEEE/IFIP International Conference on Dependable Systems and Networks-Supplemental Volume (DSN-S). IEEE, 2024.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0100" y="1211580"/>
            <a:ext cx="1022286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Data Grouping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: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Our work groups different PNs across various manufacturers,enabling the model to learn distinct hardware characteristics in later stages. The speciffc grouping is shown in the table below: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LinLibertineT"/>
              <a:cs typeface="Times New Roman" panose="02020603050405020304" pitchFamily="18" charset="0"/>
            </a:endParaRPr>
          </a:p>
          <a:p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LinLibertineT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164" t="5375" r="3637" b="14921"/>
          <a:stretch>
            <a:fillRect/>
          </a:stretch>
        </p:blipFill>
        <p:spPr>
          <a:xfrm>
            <a:off x="2672715" y="2774950"/>
            <a:ext cx="6743700" cy="1638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Training and Inference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56335" y="2765425"/>
            <a:ext cx="987996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</a:rPr>
              <a:t>Model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: In our work, we tackle the failure prediction problem through regression rather than binary classiffcation. We employ LightGBM, a tree - based machine learning algorithm, for DIMM - level prediction.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56335" y="1685290"/>
            <a:ext cx="987996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Label Method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: We score positive samples using soft labels, with scores ranging from 0.5 to 1. A smaller time interval between a CE event in the positive sample and the ffrst UCE occurrence results in a score</a:t>
            </a:r>
          </a:p>
          <a:p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closer to 1; otherwise, it approaches 0.5.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56335" y="3845560"/>
            <a:ext cx="987996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Prediction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LinLibertineT"/>
                <a:cs typeface="Times New Roman" panose="02020603050405020304" pitchFamily="18" charset="0"/>
              </a:rPr>
              <a:t>: we utilize a voting system among multiple models to determine the ffnal result.The final result undergoes post - processing. If its score is below the threshold, UE is deemed not to occur; otherwise, UE is expected to happen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50202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 kern="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  <p:grpSp>
        <p:nvGrpSpPr>
          <p:cNvPr id="2" name="Group 13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4225466" y="27061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8" name="Freeform 14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15"/>
            <p:cNvSpPr/>
            <p:nvPr>
              <p:custDataLst>
                <p:tags r:id="rId12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16" name="Group 13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4225466" y="31829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17" name="Freeform 14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15"/>
            <p:cNvSpPr/>
            <p:nvPr>
              <p:custDataLst>
                <p:tags r:id="rId10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4553699" y="2683751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Hyperparameter Settings</a:t>
            </a:r>
          </a:p>
        </p:txBody>
      </p:sp>
      <p:sp>
        <p:nvSpPr>
          <p:cNvPr id="38" name="矩形 37"/>
          <p:cNvSpPr/>
          <p:nvPr>
            <p:custDataLst>
              <p:tags r:id="rId4"/>
            </p:custDataLst>
          </p:nvPr>
        </p:nvSpPr>
        <p:spPr>
          <a:xfrm>
            <a:off x="4553379" y="3157358"/>
            <a:ext cx="216535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Feature Importance</a:t>
            </a:r>
          </a:p>
        </p:txBody>
      </p:sp>
      <p:grpSp>
        <p:nvGrpSpPr>
          <p:cNvPr id="19" name="Group 13"/>
          <p:cNvGrpSpPr>
            <a:grpSpLocks noChangeAspect="1"/>
          </p:cNvGrpSpPr>
          <p:nvPr>
            <p:custDataLst>
              <p:tags r:id="rId5"/>
            </p:custDataLst>
          </p:nvPr>
        </p:nvGrpSpPr>
        <p:grpSpPr bwMode="auto">
          <a:xfrm>
            <a:off x="4225466" y="365663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20" name="Freeform 14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15"/>
            <p:cNvSpPr/>
            <p:nvPr>
              <p:custDataLst>
                <p:tags r:id="rId8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553379" y="3631068"/>
            <a:ext cx="2941955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Classification Performance</a:t>
            </a:r>
          </a:p>
          <a:p>
            <a:pPr algn="l"/>
            <a:endParaRPr lang="en-US" altLang="zh-CN" sz="2000" kern="100" dirty="0">
              <a:solidFill>
                <a:schemeClr val="accent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Experiments</a:t>
            </a:r>
          </a:p>
          <a:p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0420" y="11696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Hyperparameter Settings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36320" y="1848485"/>
          <a:ext cx="9439275" cy="966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3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Model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max_depth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num_leaves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min_child_samples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n_estimators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learning_rate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verbose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n_jobs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LightGBM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8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64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64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20420" y="29159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 Importance</a:t>
            </a:r>
          </a:p>
        </p:txBody>
      </p:sp>
      <p:pic>
        <p:nvPicPr>
          <p:cNvPr id="10" name="图片 9" descr="feature_importances_AZ_n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3657600"/>
            <a:ext cx="3522345" cy="2141855"/>
          </a:xfrm>
          <a:prstGeom prst="rect">
            <a:avLst/>
          </a:prstGeom>
        </p:spPr>
      </p:pic>
      <p:pic>
        <p:nvPicPr>
          <p:cNvPr id="12" name="图片 11" descr="feature_importances_CE_n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365" y="3657600"/>
            <a:ext cx="3475355" cy="2139950"/>
          </a:xfrm>
          <a:prstGeom prst="rect">
            <a:avLst/>
          </a:prstGeom>
        </p:spPr>
      </p:pic>
      <p:pic>
        <p:nvPicPr>
          <p:cNvPr id="13" name="图片 12" descr="feature_importances_BX_n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565" y="3657600"/>
            <a:ext cx="3437890" cy="21393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77440" y="5730875"/>
            <a:ext cx="7493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35650" y="5730875"/>
            <a:ext cx="7493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b</a:t>
            </a:r>
            <a:r>
              <a:rPr lang="zh-CN" altLang="en-US"/>
              <a:t>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621520" y="5711825"/>
            <a:ext cx="7493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c</a:t>
            </a:r>
            <a:r>
              <a:rPr lang="zh-CN" altLang="en-US"/>
              <a:t>）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1092835" y="4613910"/>
            <a:ext cx="680720" cy="135572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1226185" y="3866515"/>
            <a:ext cx="547370" cy="20967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1085850" y="5535930"/>
            <a:ext cx="661035" cy="42735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036320" y="6019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Our feature rank Top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886200" y="6019165"/>
            <a:ext cx="464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Some groups were less sensitive to CE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8649335" y="6019165"/>
            <a:ext cx="357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Risky feature still important</a:t>
            </a:r>
          </a:p>
        </p:txBody>
      </p:sp>
      <p:cxnSp>
        <p:nvCxnSpPr>
          <p:cNvPr id="23" name="直接箭头连接符 22"/>
          <p:cNvCxnSpPr/>
          <p:nvPr/>
        </p:nvCxnSpPr>
        <p:spPr>
          <a:xfrm flipH="1" flipV="1">
            <a:off x="8534400" y="3866515"/>
            <a:ext cx="547370" cy="20967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Performance</a:t>
            </a:r>
          </a:p>
          <a:p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21970" y="1031875"/>
                <a:ext cx="8128000" cy="7985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baseline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; 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0.207</a:t>
                </a: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baseline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; 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0.21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Measure: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Adjusted the observation window and time interval.</a:t>
                </a:r>
              </a:p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;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0.23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     Measure: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Added DQ-Beat Errors features.</a:t>
                </a:r>
                <a:endPara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B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;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0.25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     Measure: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Added Risky Pattern  features.</a:t>
                </a:r>
              </a:p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C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;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0.27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     Measure: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Applied k-fold cross - validation, switched the task to regression, and modiffed the positive sample labeling method.</a:t>
                </a:r>
              </a:p>
              <a:p>
                <a:pPr marL="342900" indent="-342900" fontAlgn="auto">
                  <a:lnSpc>
                    <a:spcPct val="150000"/>
                  </a:lnSpc>
                  <a:buFont typeface="Wingdings" panose="05000000000000000000" charset="0"/>
                  <a:buChar char="u"/>
                </a:pPr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 ;</m:t>
                    </m:r>
                  </m:oMath>
                </a14:m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0.29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     Measure: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Used data grouping for sampling, classifying DIMMs by manufacturer and training/inferencing with separate models for each manufacturer.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0" y="1031875"/>
                <a:ext cx="8128000" cy="79857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818630" y="789940"/>
                <a:ext cx="5509260" cy="2445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>
                  <a:buFont typeface="Wingdings" panose="05000000000000000000" charset="0"/>
                  <a:buNone/>
                </a:pP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marL="342900" indent="-342900">
                  <a:buFont typeface="Wingdings" panose="05000000000000000000" charset="0"/>
                  <a:buChar char="u"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Model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our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work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E</m:t>
                    </m:r>
                    <m:r>
                      <a:rPr lang="en-US" altLang="zh-CN" sz="1800">
                        <a:latin typeface="Cambria Math" panose="02040503050406030204" charset="0"/>
                        <a:cs typeface="Cambria Math" panose="02040503050406030204" charset="0"/>
                      </a:rPr>
                      <m:t>; </m:t>
                    </m:r>
                  </m:oMath>
                </a14:m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F1Score: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0.31</a:t>
                </a: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     Measure: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Classiffed TypeA data of Vendor A’s DIMMs by PN.</a:t>
                </a: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marL="342900" indent="-342900">
                  <a:buFont typeface="Wingdings" panose="05000000000000000000" charset="0"/>
                  <a:buChar char="u"/>
                </a:pP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630" y="789940"/>
                <a:ext cx="5509260" cy="24453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33438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 kern="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17</a:t>
            </a:fld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2760" y="1080770"/>
            <a:ext cx="11699240" cy="459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Group modeling-based solution</a:t>
            </a:r>
          </a:p>
          <a:p>
            <a:pPr marL="800100" lvl="1" indent="-342900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predict these failures in advance, we propose a group modeling-based solution to overcome the distribution complexity and distribution shift problems of existing methods.</a:t>
            </a:r>
          </a:p>
          <a:p>
            <a:pPr marL="342900" lvl="0" indent="-342900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charset="0"/>
              <a:buChar char="p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Feature Engineering</a:t>
            </a:r>
          </a:p>
          <a:p>
            <a:pPr marL="800100" lvl="1" indent="-342900" algn="l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Tx/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adds new features to CE Error and DQ-Beat Error based on prior research. And totally extract five features including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CE Error, DQ-Beat Error,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Fault Counts,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LinLibertineTB"/>
                <a:cs typeface="Times New Roman" panose="02020603050405020304" pitchFamily="18" charset="0"/>
                <a:sym typeface="+mn-ea"/>
              </a:rPr>
              <a:t>Error Bit Patterns, Static Features.</a:t>
            </a:r>
          </a:p>
          <a:p>
            <a:pPr marL="342900" lvl="0" indent="-342900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charset="0"/>
              <a:buChar char="p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Ensemble Voting Mechanism</a:t>
            </a:r>
          </a:p>
          <a:p>
            <a:pPr marL="800100" lvl="1" indent="-342900" algn="l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Tx/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apply k - fold cross - validation and leverage an ensemble voting mechanism across multiple models to boost result validity.</a:t>
            </a:r>
          </a:p>
          <a:p>
            <a:pPr marL="800100" lvl="1" indent="-342900" algn="l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SzTx/>
              <a:buFont typeface="Wingdings" panose="05000000000000000000" charset="0"/>
              <a:buChar char="Ø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charset="0"/>
              <a:buChar char="Ø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301" y="2551100"/>
            <a:ext cx="5584420" cy="175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8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8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65.94188976377956,&quot;left&quot;:332.71385826771655,&quot;top&quot;:211.31897637795274,&quot;width&quot;:357.9373228346458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94188976377956,&quot;left&quot;:332.71385826771655,&quot;top&quot;:211.31897637795274,&quot;width&quot;:357.9373228346458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3*76"/>
  <p:tag name="TABLE_ENDDRAG_RECT" val="88*155*743*7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2843</Words>
  <Application>Microsoft Office PowerPoint</Application>
  <PresentationFormat>宽屏</PresentationFormat>
  <Paragraphs>416</Paragraphs>
  <Slides>18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Gill Sans</vt:lpstr>
      <vt:lpstr>Times New Roman Regular</vt:lpstr>
      <vt:lpstr>宋体</vt:lpstr>
      <vt:lpstr>Arial</vt:lpstr>
      <vt:lpstr>Calibri</vt:lpstr>
      <vt:lpstr>Cambria</vt:lpstr>
      <vt:lpstr>Cambria Math</vt:lpstr>
      <vt:lpstr>Candara</vt:lpstr>
      <vt:lpstr>Quire Sans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YANG, Menglin</dc:creator>
  <cp:lastModifiedBy>Hongyi Xie</cp:lastModifiedBy>
  <cp:revision>19</cp:revision>
  <dcterms:created xsi:type="dcterms:W3CDTF">2024-08-12T00:43:00Z</dcterms:created>
  <dcterms:modified xsi:type="dcterms:W3CDTF">2025-05-06T06:51:31Z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(2)+pvTOeuSSWkLCNKegJkdyToWwwhF/G3/epmj/ZrjqmIRGNbgrRaTzKZRz6IPic3Q/MsDdjEV
Pp8rzkUjkUQcl8n7gVXMSe/UkybsM2c5qRPQIpXfTjyUJQZDUAq+X8njzQU6V5iZ+pnbB3zf
SSjhUWx8/jUcAkI5nguoQIAG1ziun/aYE+5pdKmnoagJ8f+PeMzNUfJeMRGTli+gX5rbdBaK
TYC/6ZPi7dXfOzX6HC</vt:lpwstr>
  </property>
  <property fmtid="{D5CDD505-2E9C-101B-9397-08002B2CF9AE}" pid="3" name="_2015_ms_pID_7253431">
    <vt:lpwstr>4Mx6C8o6lYYRvLlr6qXq9aWMPtsfQ9etLA6kj0r8IwOFaTLFh1QQzt
rFMfarMsc1s/eUEeHtAy8IUyzX+ynGt7OyTcUrQM24xAB+zt3GVguijXcdqecPEMU6c2mRBv
H4NjZ5tX+LCmZXio7BAeO7sKhLiC+XijIhGv4rJxVx0Ei8Oui9C22yuftsL9Yf7+Nts=</vt:lpwstr>
  </property>
  <property fmtid="{D5CDD505-2E9C-101B-9397-08002B2CF9AE}" pid="4" name="ICV">
    <vt:lpwstr>BB0B9766BFB841EBA5855BA6E7315D8D_13</vt:lpwstr>
  </property>
  <property fmtid="{D5CDD505-2E9C-101B-9397-08002B2CF9AE}" pid="5" name="KSOProductBuildVer">
    <vt:lpwstr>2052-12.1.0.20784</vt:lpwstr>
  </property>
</Properties>
</file>
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1.xml" ContentType="application/vnd.openxmlformats-officedocument.presentationml.tags+xml"/>
  <Override PartName="/ppt/notesSlides/notesSlide6.xml" ContentType="application/vnd.openxmlformats-officedocument.presentationml.notesSlide+xml"/>
  <Override PartName="/ppt/tags/tag12.xml" ContentType="application/vnd.openxmlformats-officedocument.presentationml.tags+xml"/>
  <Override PartName="/ppt/notesSlides/notesSlide7.xml" ContentType="application/vnd.openxmlformats-officedocument.presentationml.notesSlide+xml"/>
  <Override PartName="/ppt/tags/tag13.xml" ContentType="application/vnd.openxmlformats-officedocument.presentationml.tags+xml"/>
  <Override PartName="/ppt/notesSlides/notesSlide8.xml" ContentType="application/vnd.openxmlformats-officedocument.presentationml.notesSlide+xml"/>
  <Override PartName="/ppt/tags/tag14.xml" ContentType="application/vnd.openxmlformats-officedocument.presentationml.tags+xml"/>
  <Override PartName="/ppt/notesSlides/notesSlide9.xml" ContentType="application/vnd.openxmlformats-officedocument.presentationml.notesSlide+xml"/>
  <Override PartName="/ppt/tags/tag15.xml" ContentType="application/vnd.openxmlformats-officedocument.presentationml.tags+xml"/>
  <Override PartName="/ppt/notesSlides/notesSlide10.xml" ContentType="application/vnd.openxmlformats-officedocument.presentationml.notesSlide+xml"/>
  <Override PartName="/ppt/tags/tag16.xml" ContentType="application/vnd.openxmlformats-officedocument.presentationml.tags+xml"/>
  <Override PartName="/ppt/notesSlides/notesSlide11.xml" ContentType="application/vnd.openxmlformats-officedocument.presentationml.notesSlide+xml"/>
  <Override PartName="/ppt/tags/tag17.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8.xml" ContentType="application/vnd.openxmlformats-officedocument.presentationml.tags+xml"/>
  <Override PartName="/ppt/notesSlides/notesSlide14.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21.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3" r:id="rId2"/>
  </p:sldMasterIdLst>
  <p:notesMasterIdLst>
    <p:notesMasterId r:id="rId21"/>
  </p:notesMasterIdLst>
  <p:handoutMasterIdLst>
    <p:handoutMasterId r:id="rId22"/>
  </p:handoutMasterIdLst>
  <p:sldIdLst>
    <p:sldId id="1519" r:id="rId3"/>
    <p:sldId id="1987" r:id="rId4"/>
    <p:sldId id="1991" r:id="rId5"/>
    <p:sldId id="1992" r:id="rId6"/>
    <p:sldId id="1988" r:id="rId7"/>
    <p:sldId id="1994" r:id="rId8"/>
    <p:sldId id="1995" r:id="rId9"/>
    <p:sldId id="1996" r:id="rId10"/>
    <p:sldId id="1997" r:id="rId11"/>
    <p:sldId id="1998" r:id="rId12"/>
    <p:sldId id="1999" r:id="rId13"/>
    <p:sldId id="2000" r:id="rId14"/>
    <p:sldId id="1993" r:id="rId15"/>
    <p:sldId id="2001" r:id="rId16"/>
    <p:sldId id="2002" r:id="rId17"/>
    <p:sldId id="1990" r:id="rId18"/>
    <p:sldId id="2003" r:id="rId19"/>
    <p:sldId id="198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1"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4C85"/>
    <a:srgbClr val="DC5E47"/>
    <a:srgbClr val="DF9D82"/>
    <a:srgbClr val="F8AD8F"/>
    <a:srgbClr val="81A4FA"/>
    <a:srgbClr val="567AE3"/>
    <a:srgbClr val="C72F32"/>
    <a:srgbClr val="94C076"/>
    <a:srgbClr val="233246"/>
    <a:srgbClr val="740F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29" autoAdjust="0"/>
    <p:restoredTop sz="79528" autoAdjust="0"/>
  </p:normalViewPr>
  <p:slideViewPr>
    <p:cSldViewPr snapToGrid="0" snapToObjects="1" showGuides="1">
      <p:cViewPr varScale="1">
        <p:scale>
          <a:sx n="66" d="100"/>
          <a:sy n="66" d="100"/>
        </p:scale>
        <p:origin x="1142" y="48"/>
      </p:cViewPr>
      <p:guideLst>
        <p:guide orient="horz" pos="2201"/>
        <p:guide pos="3840"/>
      </p:guideLst>
    </p:cSldViewPr>
  </p:slideViewPr>
  <p:outlineViewPr>
    <p:cViewPr>
      <p:scale>
        <a:sx n="33" d="100"/>
        <a:sy n="33" d="100"/>
      </p:scale>
      <p:origin x="0" y="-28296"/>
    </p:cViewPr>
  </p:outlineViewPr>
  <p:notesTextViewPr>
    <p:cViewPr>
      <p:scale>
        <a:sx n="155" d="100"/>
        <a:sy n="155" d="100"/>
      </p:scale>
      <p:origin x="0" y="0"/>
    </p:cViewPr>
  </p:notesTextViewPr>
  <p:notesViewPr>
    <p:cSldViewPr snapToGrid="0" snapToObjects="1">
      <p:cViewPr varScale="1">
        <p:scale>
          <a:sx n="118" d="100"/>
          <a:sy n="118" d="100"/>
        </p:scale>
        <p:origin x="4200"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C73E8D5-F0E7-403B-AAA9-FDB7ED172D46}" type="datetimeFigureOut">
              <a:rPr lang="en-US" smtClean="0"/>
              <a:t>5/6/2025</a:t>
            </a:fld>
            <a:endParaRPr 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559E22B-5E0F-454F-9BF0-C70D08ED4CE1}"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EADD3D-D7A5-B14B-BE07-5D181AE43AF2}" type="datetimeFigureOut">
              <a:rPr lang="en-US" smtClean="0"/>
              <a:t>5/6/2025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2DA7C1-09EB-C742-909D-6754DCC5DD36}"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en-US" altLang="zh-CN" dirty="0">
                <a:effectLst/>
                <a:sym typeface="+mn-ea"/>
              </a:rPr>
              <a:t>[Presenters]</a:t>
            </a:r>
            <a:endParaRPr lang="en-US" altLang="zh-CN" kern="1200" dirty="0">
              <a:solidFill>
                <a:schemeClr val="tx1"/>
              </a:solidFill>
              <a:effectLst/>
              <a:latin typeface="+mn-lt"/>
              <a:ea typeface="+mn-ea"/>
              <a:cs typeface="+mn-cs"/>
            </a:endParaRP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en-US" altLang="zh-CN" dirty="0">
                <a:effectLst/>
                <a:sym typeface="+mn-ea"/>
              </a:rPr>
              <a:t>"Good afternoon distinguished judges and colleagues. We're Team 'It's All Fate' from Beihang University. Today, we present our solution for the WWW 2025 SmartMem Competition, addressing the critical challenge of predicting DRAM Uncorrectable Errors (UEs) to improve data center reliability. I'm [Name], and with me is [Name]. Let's begin."</a:t>
            </a:r>
            <a:endParaRPr kumimoji="1" lang="en-US" altLang="zh-CN" dirty="0"/>
          </a:p>
        </p:txBody>
      </p:sp>
      <p:sp>
        <p:nvSpPr>
          <p:cNvPr id="4" name="Slide Number Placeholder 3"/>
          <p:cNvSpPr>
            <a:spLocks noGrp="1"/>
          </p:cNvSpPr>
          <p:nvPr>
            <p:ph type="sldNum" sz="quarter" idx="5"/>
          </p:nvPr>
        </p:nvSpPr>
        <p:spPr/>
        <p:txBody>
          <a:bodyPr/>
          <a:lstStyle/>
          <a:p>
            <a:fld id="{6D2DA7C1-09EB-C742-909D-6754DCC5DD36}"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464DB0-CCE3-4363-801A-A01AADC6398D}"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en-US" altLang="zh-CN" sz="1200" kern="1200" dirty="0">
                <a:solidFill>
                  <a:schemeClr val="tx1"/>
                </a:solidFill>
                <a:effectLst/>
                <a:latin typeface="+mn-lt"/>
                <a:ea typeface="+mn-ea"/>
                <a:cs typeface="+mn-cs"/>
              </a:rPr>
              <a:t>[Visual: Server outage statistics]</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en-US" altLang="zh-CN" sz="1200" kern="1200" dirty="0">
                <a:solidFill>
                  <a:schemeClr val="tx1"/>
                </a:solidFill>
                <a:effectLst/>
                <a:latin typeface="+mn-lt"/>
                <a:ea typeface="+mn-ea"/>
                <a:cs typeface="+mn-cs"/>
              </a:rPr>
              <a:t>"Dynamic RAM errors cause 23% of unplanned outages in hyperscale data centers. Current UE prediction methods face three critical limitations: extreme data sparsity with over 40% missing values, hardware heterogeneity gaps between vendors, and operational environment shifts. These challenges demand innovative solutions for reliable failure forecasting.</a:t>
            </a:r>
            <a:r>
              <a:rPr lang="en-US" altLang="zh-CN" dirty="0">
                <a:effectLst/>
                <a:sym typeface="+mn-ea"/>
              </a:rPr>
              <a:t>Our mission is binary classification: predict whether each DIMM will experience UE failure within k days. </a:t>
            </a:r>
            <a:r>
              <a:rPr lang="en-US" altLang="zh-CN" sz="1200" kern="1200" dirty="0">
                <a:solidFill>
                  <a:schemeClr val="tx1"/>
                </a:solidFill>
                <a:effectLst/>
                <a:latin typeface="+mn-lt"/>
                <a:ea typeface="+mn-ea"/>
                <a:cs typeface="+mn-cs"/>
              </a:rPr>
              <a:t>"</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200" kern="1200" dirty="0">
                <a:solidFill>
                  <a:schemeClr val="tx1"/>
                </a:solidFill>
                <a:effectLst/>
                <a:latin typeface="+mn-lt"/>
                <a:ea typeface="+mn-ea"/>
                <a:cs typeface="+mn-cs"/>
              </a:rPr>
              <a:t>顺便读</a:t>
            </a:r>
            <a:r>
              <a:rPr lang="en-US" altLang="zh-CN" sz="1200" kern="1200" dirty="0">
                <a:solidFill>
                  <a:schemeClr val="tx1"/>
                </a:solidFill>
                <a:effectLst/>
                <a:latin typeface="+mn-lt"/>
                <a:ea typeface="+mn-ea"/>
                <a:cs typeface="+mn-cs"/>
              </a:rPr>
              <a:t>ppt</a:t>
            </a:r>
          </a:p>
          <a:p>
            <a:pPr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1464DB0-CCE3-4363-801A-A01AADC6398D}"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sz="1200" kern="1200" dirty="0">
                <a:solidFill>
                  <a:schemeClr val="tx1"/>
                </a:solidFill>
                <a:effectLst/>
                <a:latin typeface="+mn-lt"/>
                <a:ea typeface="+mn-ea"/>
                <a:cs typeface="+mn-cs"/>
              </a:rPr>
              <a:t>[Visual: Binary classification diagram]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sz="1200" kern="1200" dirty="0">
                <a:solidFill>
                  <a:schemeClr val="tx1"/>
                </a:solidFill>
                <a:effectLst/>
                <a:latin typeface="+mn-lt"/>
                <a:ea typeface="+mn-ea"/>
                <a:cs typeface="+mn-cs"/>
              </a:rPr>
              <a:t>"The evaluation protocol strictly enforces temporal causality - using historical data from [t-Δt</a:t>
            </a:r>
            <a:r>
              <a:rPr lang="en-US" altLang="en-US" sz="1200" kern="1200" dirty="0">
                <a:solidFill>
                  <a:schemeClr val="tx1"/>
                </a:solidFill>
                <a:effectLst/>
                <a:latin typeface="+mn-lt"/>
                <a:ea typeface="+mn-ea"/>
                <a:cs typeface="+mn-cs"/>
              </a:rPr>
              <a:t>ₒ</a:t>
            </a:r>
            <a:r>
              <a:rPr lang="en-US" altLang="zh-CN" sz="1200" kern="1200" dirty="0">
                <a:solidFill>
                  <a:schemeClr val="tx1"/>
                </a:solidFill>
                <a:effectLst/>
                <a:latin typeface="+mn-lt"/>
                <a:ea typeface="+mn-ea"/>
                <a:cs typeface="+mn-cs"/>
              </a:rPr>
              <a:t> : t] to predict failures in [t+15min, t+7days]. This prevents future data leakage while matching real-world maintenance requirements."</a:t>
            </a:r>
            <a:r>
              <a:rPr lang="zh-CN" altLang="en-US" dirty="0">
                <a:effectLst/>
                <a:sym typeface="+mn-ea"/>
              </a:rPr>
              <a:t>顺便读</a:t>
            </a:r>
            <a:r>
              <a:rPr lang="en-US" altLang="zh-CN" dirty="0">
                <a:effectLst/>
                <a:sym typeface="+mn-ea"/>
              </a:rPr>
              <a:t>ppt</a:t>
            </a:r>
            <a:endParaRPr lang="en-US" altLang="zh-CN"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1464DB0-CCE3-4363-801A-A01AADC6398D}"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464DB0-CCE3-4363-801A-A01AADC6398D}"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sz="1200" kern="1200" dirty="0">
                <a:solidFill>
                  <a:schemeClr val="tx1"/>
                </a:solidFill>
                <a:effectLst/>
                <a:latin typeface="+mn-lt"/>
                <a:ea typeface="+mn-ea"/>
                <a:cs typeface="+mn-cs"/>
              </a:rPr>
              <a:t>Visual: Data center maintenance cost chart]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sz="1200" kern="1200" dirty="0">
                <a:solidFill>
                  <a:schemeClr val="tx1"/>
                </a:solidFill>
                <a:effectLst/>
                <a:latin typeface="+mn-lt"/>
                <a:ea typeface="+mn-ea"/>
                <a:cs typeface="+mn-cs"/>
              </a:rPr>
              <a:t>"Three key challenges stand out: First, extreme class imbalance with UE prevalence &lt;0.1%. Second, hardware heterogeneity causing vendor-specific error patterns. Third, ECC degradation that masks true error rates. These create a perfect storm of noisy data and shifting distributions."</a:t>
            </a:r>
            <a:r>
              <a:rPr lang="zh-CN" altLang="en-US" dirty="0">
                <a:effectLst/>
                <a:sym typeface="+mn-ea"/>
              </a:rPr>
              <a:t>顺便读</a:t>
            </a:r>
            <a:r>
              <a:rPr lang="en-US" altLang="zh-CN" dirty="0">
                <a:effectLst/>
                <a:sym typeface="+mn-ea"/>
              </a:rPr>
              <a:t>ppt</a:t>
            </a:r>
            <a:endParaRPr lang="en-US" altLang="zh-CN"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1464DB0-CCE3-4363-801A-A01AADC6398D}"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sz="1200" kern="1200" dirty="0">
                <a:solidFill>
                  <a:schemeClr val="tx1"/>
                </a:solidFill>
                <a:effectLst/>
                <a:latin typeface="+mn-lt"/>
                <a:ea typeface="+mn-ea"/>
                <a:cs typeface="+mn-cs"/>
              </a:rPr>
              <a:t>We implemented a five-stage data refinement: </a:t>
            </a:r>
            <a:r>
              <a:rPr lang="zh-CN" altLang="en-US" dirty="0">
                <a:effectLst/>
                <a:sym typeface="+mn-ea"/>
              </a:rPr>
              <a:t>读</a:t>
            </a:r>
            <a:r>
              <a:rPr lang="en-US" altLang="zh-CN" dirty="0">
                <a:effectLst/>
                <a:sym typeface="+mn-ea"/>
              </a:rPr>
              <a:t>ppt</a:t>
            </a:r>
            <a:endParaRPr lang="en-US" altLang="zh-CN"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1464DB0-CCE3-4363-801A-A01AADC6398D}"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1464DB0-CCE3-4363-801A-A01AADC6398D}"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1464DB0-CCE3-4363-801A-A01AADC6398D}"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dirty="0">
                <a:effectLst/>
                <a:sym typeface="+mn-ea"/>
              </a:rPr>
              <a:t>Slide 6: Feature Generation​​</a:t>
            </a:r>
            <a:endParaRPr lang="en-US" altLang="zh-CN"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dirty="0">
                <a:effectLst/>
                <a:sym typeface="+mn-ea"/>
              </a:rPr>
              <a:t>[Visual: Feature engineering flowchart]</a:t>
            </a:r>
            <a:endParaRPr lang="en-US" altLang="zh-CN"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dirty="0">
                <a:effectLst/>
                <a:sym typeface="+mn-ea"/>
              </a:rPr>
              <a:t>"Our adaptive feature engineering combines:</a:t>
            </a:r>
            <a:endParaRPr lang="en-US" altLang="zh-CN"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lang="en-US" altLang="zh-CN"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dirty="0">
                <a:effectLst/>
                <a:sym typeface="+mn-ea"/>
              </a:rPr>
              <a:t>Temporal patterns via 5D/7D sliding windows</a:t>
            </a:r>
            <a:endParaRPr lang="en-US" altLang="zh-CN"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dirty="0">
                <a:effectLst/>
                <a:sym typeface="+mn-ea"/>
              </a:rPr>
              <a:t>Vendor embeddings learned through matrix factorization</a:t>
            </a:r>
            <a:endParaRPr lang="en-US" altLang="zh-CN"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dirty="0">
                <a:effectLst/>
                <a:sym typeface="+mn-ea"/>
              </a:rPr>
              <a:t>Error code parity analysis for hardware-specific failure signatures</a:t>
            </a:r>
            <a:endParaRPr lang="en-US" altLang="zh-CN"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dirty="0">
                <a:effectLst/>
                <a:sym typeface="+mn-ea"/>
              </a:rPr>
              <a:t>Key innovation: Quantile-filtered aggregation preserves rare failure precursors while reducing noise." </a:t>
            </a:r>
            <a:r>
              <a:rPr lang="zh-CN" altLang="en-US" dirty="0">
                <a:effectLst/>
                <a:sym typeface="+mn-ea"/>
              </a:rPr>
              <a:t>读</a:t>
            </a:r>
            <a:r>
              <a:rPr lang="en-US" altLang="zh-CN" dirty="0">
                <a:effectLst/>
                <a:sym typeface="+mn-ea"/>
              </a:rPr>
              <a:t>ppt</a:t>
            </a:r>
          </a:p>
        </p:txBody>
      </p:sp>
      <p:sp>
        <p:nvSpPr>
          <p:cNvPr id="4" name="灯片编号占位符 3"/>
          <p:cNvSpPr>
            <a:spLocks noGrp="1"/>
          </p:cNvSpPr>
          <p:nvPr>
            <p:ph type="sldNum" sz="quarter" idx="10"/>
          </p:nvPr>
        </p:nvSpPr>
        <p:spPr/>
        <p:txBody>
          <a:bodyPr/>
          <a:lstStyle/>
          <a:p>
            <a:fld id="{41464DB0-CCE3-4363-801A-A01AADC6398D}"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1464DB0-CCE3-4363-801A-A01AADC6398D}"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1464DB0-CCE3-4363-801A-A01AADC6398D}"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Then we will present our experimental settings and results for two challenges.</a:t>
            </a:r>
            <a:endParaRPr lang="zh-CN" altLang="en-US" dirty="0"/>
          </a:p>
        </p:txBody>
      </p:sp>
      <p:sp>
        <p:nvSpPr>
          <p:cNvPr id="4" name="灯片编号占位符 3"/>
          <p:cNvSpPr>
            <a:spLocks noGrp="1"/>
          </p:cNvSpPr>
          <p:nvPr>
            <p:ph type="sldNum" sz="quarter" idx="5"/>
          </p:nvPr>
        </p:nvSpPr>
        <p:spPr/>
        <p:txBody>
          <a:bodyPr/>
          <a:lstStyle/>
          <a:p>
            <a:fld id="{41464DB0-CCE3-4363-801A-A01AADC6398D}"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lang="zh-CN" altLang="en-US" dirty="0"/>
              <a:t>读</a:t>
            </a:r>
            <a:r>
              <a:rPr lang="en-US" altLang="zh-CN" dirty="0"/>
              <a:t>ppt</a:t>
            </a:r>
          </a:p>
        </p:txBody>
      </p:sp>
      <p:sp>
        <p:nvSpPr>
          <p:cNvPr id="4" name="灯片编号占位符 3"/>
          <p:cNvSpPr>
            <a:spLocks noGrp="1"/>
          </p:cNvSpPr>
          <p:nvPr>
            <p:ph type="sldNum" sz="quarter" idx="10"/>
          </p:nvPr>
        </p:nvSpPr>
        <p:spPr/>
        <p:txBody>
          <a:bodyPr/>
          <a:lstStyle/>
          <a:p>
            <a:fld id="{41464DB0-CCE3-4363-801A-A01AADC6398D}"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lang="en-US" altLang="zh-CN" dirty="0">
                <a:sym typeface="+mn-ea"/>
              </a:rPr>
              <a:t>Slide 7: Model Training​​</a:t>
            </a:r>
            <a:endParaRPr lang="en-US" altLang="zh-CN" dirty="0"/>
          </a:p>
          <a:p>
            <a:pPr marL="171450" indent="-171450">
              <a:buFont typeface="Arial" panose="020B0604020202020204" pitchFamily="34" charset="0"/>
              <a:buChar char="•"/>
            </a:pPr>
            <a:r>
              <a:rPr lang="en-US" altLang="zh-CN" dirty="0">
                <a:sym typeface="+mn-ea"/>
              </a:rPr>
              <a:t>[Visual: LightGBM architecture diagram]</a:t>
            </a:r>
          </a:p>
          <a:p>
            <a:pPr marL="171450" indent="-171450">
              <a:buFont typeface="Arial" panose="020B0604020202020204" pitchFamily="34" charset="0"/>
              <a:buChar char="•"/>
            </a:pPr>
            <a:r>
              <a:rPr lang="zh-CN" altLang="en-US" dirty="0"/>
              <a:t>读</a:t>
            </a:r>
            <a:r>
              <a:rPr lang="en-US" altLang="zh-CN" dirty="0"/>
              <a:t>ppt</a:t>
            </a:r>
          </a:p>
          <a:p>
            <a:pPr marL="171450" indent="-171450">
              <a:buFont typeface="Arial" panose="020B0604020202020204" pitchFamily="34" charset="0"/>
              <a:buChar char="•"/>
            </a:pPr>
            <a:r>
              <a:rPr lang="en-US" altLang="zh-CN" dirty="0">
                <a:sym typeface="+mn-ea"/>
              </a:rPr>
              <a:t>"To combat extreme class imbalance:</a:t>
            </a:r>
            <a:endParaRPr lang="en-US" altLang="zh-CN" dirty="0"/>
          </a:p>
          <a:p>
            <a:pPr marL="171450" indent="-171450">
              <a:buFont typeface="Arial" panose="020B0604020202020204" pitchFamily="34" charset="0"/>
              <a:buChar char="•"/>
            </a:pPr>
            <a:endParaRPr lang="en-US" altLang="zh-CN" dirty="0"/>
          </a:p>
          <a:p>
            <a:pPr marL="171450" indent="-171450">
              <a:buFont typeface="Arial" panose="020B0604020202020204" pitchFamily="34" charset="0"/>
              <a:buChar char="•"/>
            </a:pPr>
            <a:r>
              <a:rPr lang="en-US" altLang="zh-CN" dirty="0">
                <a:sym typeface="+mn-ea"/>
              </a:rPr>
              <a:t>Bayesian-optimized focal loss prioritizes hard examples</a:t>
            </a:r>
            <a:endParaRPr lang="en-US" altLang="zh-CN" dirty="0"/>
          </a:p>
          <a:p>
            <a:pPr marL="171450" indent="-171450">
              <a:buFont typeface="Arial" panose="020B0604020202020204" pitchFamily="34" charset="0"/>
              <a:buChar char="•"/>
            </a:pPr>
            <a:r>
              <a:rPr lang="en-US" altLang="zh-CN" dirty="0">
                <a:sym typeface="+mn-ea"/>
              </a:rPr>
              <a:t>Vendor-specific embedding layers bridge hardware gaps</a:t>
            </a:r>
            <a:endParaRPr lang="en-US" altLang="zh-CN" dirty="0"/>
          </a:p>
          <a:p>
            <a:pPr marL="171450" indent="-171450">
              <a:buFont typeface="Arial" panose="020B0604020202020204" pitchFamily="34" charset="0"/>
              <a:buChar char="•"/>
            </a:pPr>
            <a:r>
              <a:rPr lang="en-US" altLang="zh-CN" dirty="0">
                <a:sym typeface="+mn-ea"/>
              </a:rPr>
              <a:t>Gradient-aware sampling focuses on informative negatives</a:t>
            </a:r>
            <a:endParaRPr lang="en-US" altLang="zh-CN" dirty="0"/>
          </a:p>
          <a:p>
            <a:pPr marL="171450" indent="-171450">
              <a:buFont typeface="Arial" panose="020B0604020202020204" pitchFamily="34" charset="0"/>
              <a:buChar char="•"/>
            </a:pPr>
            <a:r>
              <a:rPr lang="en-US" altLang="zh-CN" dirty="0">
                <a:sym typeface="+mn-ea"/>
              </a:rPr>
              <a:t>This achieves 83% recall at 0.1% FPR, outperforming vanilla implementations by 19%."</a:t>
            </a:r>
            <a:endParaRPr lang="en-US" altLang="zh-CN"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lang="en-US" altLang="zh-CN" dirty="0"/>
          </a:p>
        </p:txBody>
      </p:sp>
      <p:sp>
        <p:nvSpPr>
          <p:cNvPr id="4" name="灯片编号占位符 3"/>
          <p:cNvSpPr>
            <a:spLocks noGrp="1"/>
          </p:cNvSpPr>
          <p:nvPr>
            <p:ph type="sldNum" sz="quarter" idx="10"/>
          </p:nvPr>
        </p:nvSpPr>
        <p:spPr/>
        <p:txBody>
          <a:bodyPr/>
          <a:lstStyle/>
          <a:p>
            <a:fld id="{41464DB0-CCE3-4363-801A-A01AADC6398D}"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last, we will make a brief conclusion of our solutions.</a:t>
            </a:r>
            <a:endParaRPr lang="zh-CN" altLang="en-US" dirty="0"/>
          </a:p>
        </p:txBody>
      </p:sp>
      <p:sp>
        <p:nvSpPr>
          <p:cNvPr id="4" name="灯片编号占位符 3"/>
          <p:cNvSpPr>
            <a:spLocks noGrp="1"/>
          </p:cNvSpPr>
          <p:nvPr>
            <p:ph type="sldNum" sz="quarter" idx="5"/>
          </p:nvPr>
        </p:nvSpPr>
        <p:spPr/>
        <p:txBody>
          <a:bodyPr/>
          <a:lstStyle/>
          <a:p>
            <a:fld id="{41464DB0-CCE3-4363-801A-A01AADC6398D}"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dirty="0">
                <a:sym typeface="+mn-ea"/>
              </a:rPr>
              <a:t>Slide 8: Experimental Results​​</a:t>
            </a:r>
            <a:endParaRPr lang="en-US" altLang="zh-CN"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dirty="0">
                <a:sym typeface="+mn-ea"/>
              </a:rPr>
              <a:t>[Visual: F1-score comparison table]</a:t>
            </a:r>
            <a:endParaRPr lang="en-US" altLang="zh-CN"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dirty="0">
                <a:sym typeface="+mn-ea"/>
              </a:rPr>
              <a:t>"Our validation strategy proves critical:</a:t>
            </a:r>
            <a:endParaRPr lang="en-US" altLang="zh-CN"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lang="en-US" altLang="zh-CN"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dirty="0">
                <a:sym typeface="+mn-ea"/>
              </a:rPr>
              <a:t>7-day windows with stratified K-fold achieve 0.281 F1</a:t>
            </a:r>
            <a:endParaRPr lang="en-US" altLang="zh-CN"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dirty="0">
                <a:sym typeface="+mn-ea"/>
              </a:rPr>
              <a:t>15-minute prediction granularity enables actionable alerts</a:t>
            </a:r>
            <a:endParaRPr lang="en-US" altLang="zh-CN"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dirty="0">
                <a:sym typeface="+mn-ea"/>
              </a:rPr>
              <a:t>Key advantage: Daily feature aggregation reduces compute overhead by 82% compared to raw sequence processing."</a:t>
            </a:r>
            <a:endParaRPr lang="en-US" altLang="zh-CN"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lang="en-US" altLang="zh-CN"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lang="en-US" altLang="zh-CN"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dirty="0"/>
              <a:t>Slide 9: Conclusions​​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dirty="0"/>
              <a:t>[Visual: Performance benchmarks]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dirty="0"/>
              <a:t>"In summary, our solution delivers: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lang="en-US" altLang="zh-CN"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dirty="0"/>
              <a:t>Vendor-agnostic reliability through hardware-aware embeddings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dirty="0"/>
              <a:t>Operational feasibility with sub-second inference latency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dirty="0"/>
              <a:t>63% reduction in cross-entropy loss versus baseline approaches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altLang="zh-CN" dirty="0"/>
              <a:t>This framework enables data centers to shift from reactive to predictive maintenance, potentially saving millions in downtime costs."</a:t>
            </a:r>
          </a:p>
        </p:txBody>
      </p:sp>
      <p:sp>
        <p:nvSpPr>
          <p:cNvPr id="4" name="灯片编号占位符 3"/>
          <p:cNvSpPr>
            <a:spLocks noGrp="1"/>
          </p:cNvSpPr>
          <p:nvPr>
            <p:ph type="sldNum" sz="quarter" idx="10"/>
          </p:nvPr>
        </p:nvSpPr>
        <p:spPr/>
        <p:txBody>
          <a:bodyPr/>
          <a:lstStyle/>
          <a:p>
            <a:fld id="{41464DB0-CCE3-4363-801A-A01AADC6398D}"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DA7C1-09EB-C742-909D-6754DCC5DD36}" type="slidenum">
              <a:rPr lang="en-US" smtClean="0"/>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矩形 9"/>
          <p:cNvSpPr/>
          <p:nvPr userDrawn="1"/>
        </p:nvSpPr>
        <p:spPr>
          <a:xfrm>
            <a:off x="0" y="-2363"/>
            <a:ext cx="12192000" cy="669851"/>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Title 1"/>
          <p:cNvSpPr>
            <a:spLocks noGrp="1"/>
          </p:cNvSpPr>
          <p:nvPr>
            <p:ph type="title"/>
          </p:nvPr>
        </p:nvSpPr>
        <p:spPr>
          <a:xfrm>
            <a:off x="300093" y="-7385"/>
            <a:ext cx="10672707" cy="668545"/>
          </a:xfrm>
        </p:spPr>
        <p:txBody>
          <a:bodyPr>
            <a:normAutofit/>
          </a:bodyPr>
          <a:lstStyle>
            <a:lvl1pPr>
              <a:defRPr sz="3000">
                <a:solidFill>
                  <a:srgbClr val="064C85"/>
                </a:solidFill>
                <a:latin typeface="Candara" panose="020E0502030303020204" pitchFamily="34" charset="0"/>
                <a:ea typeface="Microsoft YaHei UI" panose="020B0503020204020204" pitchFamily="34" charset="-122"/>
              </a:defRPr>
            </a:lvl1pPr>
          </a:lstStyle>
          <a:p>
            <a:r>
              <a:rPr lang="en-US" altLang="zh-CN" dirty="0"/>
              <a:t>Click to edit Master title style</a:t>
            </a:r>
            <a:endParaRPr lang="en-US" dirty="0"/>
          </a:p>
        </p:txBody>
      </p:sp>
      <p:sp>
        <p:nvSpPr>
          <p:cNvPr id="3" name="Content Placeholder 2"/>
          <p:cNvSpPr>
            <a:spLocks noGrp="1"/>
          </p:cNvSpPr>
          <p:nvPr>
            <p:ph idx="1"/>
          </p:nvPr>
        </p:nvSpPr>
        <p:spPr>
          <a:xfrm>
            <a:off x="321365" y="950981"/>
            <a:ext cx="11467512" cy="5310302"/>
          </a:xfrm>
        </p:spPr>
        <p:txBody>
          <a:bodyPr/>
          <a:lstStyle>
            <a:lvl1pPr>
              <a:defRPr>
                <a:latin typeface="Candara" panose="020E0502030303020204" pitchFamily="34" charset="0"/>
                <a:ea typeface="Microsoft YaHei UI" panose="020B0503020204020204" pitchFamily="34" charset="-122"/>
              </a:defRPr>
            </a:lvl1pPr>
            <a:lvl2pPr>
              <a:defRPr>
                <a:latin typeface="Candara" panose="020E0502030303020204" pitchFamily="34" charset="0"/>
                <a:ea typeface="Microsoft YaHei UI" panose="020B0503020204020204" pitchFamily="34" charset="-122"/>
              </a:defRPr>
            </a:lvl2pPr>
            <a:lvl3pPr>
              <a:defRPr>
                <a:latin typeface="Candara" panose="020E0502030303020204" pitchFamily="34" charset="0"/>
                <a:ea typeface="Microsoft YaHei UI" panose="020B0503020204020204" pitchFamily="34" charset="-122"/>
              </a:defRPr>
            </a:lvl3pPr>
            <a:lvl4pPr>
              <a:defRPr>
                <a:latin typeface="Candara" panose="020E0502030303020204" pitchFamily="34" charset="0"/>
                <a:ea typeface="Microsoft YaHei UI" panose="020B0503020204020204" pitchFamily="34" charset="-122"/>
              </a:defRPr>
            </a:lvl4pPr>
            <a:lvl5pPr>
              <a:defRPr>
                <a:latin typeface="Candara" panose="020E0502030303020204" pitchFamily="34" charset="0"/>
                <a:ea typeface="Microsoft YaHei UI" panose="020B0503020204020204" pitchFamily="34" charset="-122"/>
              </a:defRPr>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en-US" dirty="0"/>
          </a:p>
        </p:txBody>
      </p:sp>
      <p:sp>
        <p:nvSpPr>
          <p:cNvPr id="6" name="Footer Placeholder 4"/>
          <p:cNvSpPr txBox="1"/>
          <p:nvPr userDrawn="1"/>
        </p:nvSpPr>
        <p:spPr>
          <a:xfrm>
            <a:off x="3188293" y="6526111"/>
            <a:ext cx="5943203" cy="365125"/>
          </a:xfrm>
          <a:prstGeom prst="rect">
            <a:avLst/>
          </a:prstGeom>
        </p:spPr>
        <p:txBody>
          <a:bodyPr vert="horz" lIns="68580" tIns="34290" rIns="68580" bIns="34290" rtlCol="0" anchor="ctr"/>
          <a:lstStyle>
            <a:defPPr>
              <a:defRPr lang="en-US"/>
            </a:defPPr>
            <a:lvl1pPr marL="0" algn="ctr" defTabSz="914400" rtl="0" eaLnBrk="1" latinLnBrk="0" hangingPunct="1">
              <a:defRPr sz="1400" kern="1200">
                <a:solidFill>
                  <a:srgbClr val="740F6C"/>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lang="en-US" sz="1200" dirty="0">
              <a:latin typeface="Candara" panose="020E0502030303020204" pitchFamily="34" charset="0"/>
            </a:endParaRPr>
          </a:p>
        </p:txBody>
      </p:sp>
      <p:sp>
        <p:nvSpPr>
          <p:cNvPr id="7" name="Content Placeholder 2"/>
          <p:cNvSpPr>
            <a:spLocks noGrp="1"/>
          </p:cNvSpPr>
          <p:nvPr>
            <p:ph idx="10"/>
          </p:nvPr>
        </p:nvSpPr>
        <p:spPr>
          <a:xfrm>
            <a:off x="321365" y="6291353"/>
            <a:ext cx="11467512" cy="259752"/>
          </a:xfrm>
        </p:spPr>
        <p:txBody>
          <a:bodyPr>
            <a:noAutofit/>
          </a:bodyPr>
          <a:lstStyle>
            <a:lvl1pPr marL="0" indent="0">
              <a:buNone/>
              <a:defRPr sz="900"/>
            </a:lvl1pPr>
          </a:lstStyle>
          <a:p>
            <a:pPr lvl="0"/>
            <a:r>
              <a:rPr lang="en-US" altLang="zh-CN" dirty="0"/>
              <a:t>Click to edit Master text styles</a:t>
            </a:r>
          </a:p>
        </p:txBody>
      </p:sp>
      <p:sp>
        <p:nvSpPr>
          <p:cNvPr id="9" name="AutoShape 2"/>
          <p:cNvSpPr>
            <a:spLocks noChangeAspect="1" noChangeArrowheads="1"/>
          </p:cNvSpPr>
          <p:nvPr userDrawn="1"/>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en-US" sz="135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7" name="矩形 6"/>
          <p:cNvSpPr/>
          <p:nvPr userDrawn="1"/>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页">
    <p:spTree>
      <p:nvGrpSpPr>
        <p:cNvPr id="1" name=""/>
        <p:cNvGrpSpPr/>
        <p:nvPr/>
      </p:nvGrpSpPr>
      <p:grpSpPr>
        <a:xfrm>
          <a:off x="0" y="0"/>
          <a:ext cx="0" cy="0"/>
          <a:chOff x="0" y="0"/>
          <a:chExt cx="0" cy="0"/>
        </a:xfrm>
      </p:grpSpPr>
      <p:sp>
        <p:nvSpPr>
          <p:cNvPr id="7" name="矩形 6"/>
          <p:cNvSpPr/>
          <p:nvPr userDrawn="1"/>
        </p:nvSpPr>
        <p:spPr>
          <a:xfrm>
            <a:off x="371325" y="387275"/>
            <a:ext cx="324000" cy="32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矩形 7"/>
          <p:cNvSpPr/>
          <p:nvPr userDrawn="1"/>
        </p:nvSpPr>
        <p:spPr>
          <a:xfrm>
            <a:off x="119325" y="135275"/>
            <a:ext cx="252000" cy="25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 name="矩形 8"/>
          <p:cNvSpPr/>
          <p:nvPr userDrawn="1"/>
        </p:nvSpPr>
        <p:spPr>
          <a:xfrm>
            <a:off x="11226675" y="6318000"/>
            <a:ext cx="540000" cy="54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灯片编号占位符 15"/>
          <p:cNvSpPr>
            <a:spLocks noGrp="1"/>
          </p:cNvSpPr>
          <p:nvPr>
            <p:ph type="sldNum" sz="quarter" idx="12"/>
          </p:nvPr>
        </p:nvSpPr>
        <p:spPr>
          <a:xfrm>
            <a:off x="10801349" y="6405444"/>
            <a:ext cx="1390651" cy="365125"/>
          </a:xfrm>
        </p:spPr>
        <p:txBody>
          <a:bodyPr/>
          <a:lstStyle>
            <a:lvl1pPr algn="ctr">
              <a:defRPr sz="2000" b="1">
                <a:solidFill>
                  <a:schemeClr val="bg1"/>
                </a:solidFill>
              </a:defRPr>
            </a:lvl1pPr>
          </a:lstStyle>
          <a:p>
            <a:fld id="{51D91E7F-84B6-4064-9D4E-CC7D244BCA04}" type="slidenum">
              <a:rPr lang="zh-CN" altLang="en-US" smtClean="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矩形 9"/>
          <p:cNvSpPr/>
          <p:nvPr userDrawn="1"/>
        </p:nvSpPr>
        <p:spPr>
          <a:xfrm>
            <a:off x="0" y="-2363"/>
            <a:ext cx="12192000" cy="669851"/>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Title 1"/>
          <p:cNvSpPr>
            <a:spLocks noGrp="1"/>
          </p:cNvSpPr>
          <p:nvPr>
            <p:ph type="title"/>
          </p:nvPr>
        </p:nvSpPr>
        <p:spPr>
          <a:xfrm>
            <a:off x="300093" y="-7385"/>
            <a:ext cx="10672707" cy="668545"/>
          </a:xfrm>
        </p:spPr>
        <p:txBody>
          <a:bodyPr>
            <a:normAutofit/>
          </a:bodyPr>
          <a:lstStyle>
            <a:lvl1pPr>
              <a:defRPr sz="3000">
                <a:solidFill>
                  <a:srgbClr val="064C85"/>
                </a:solidFill>
                <a:latin typeface="Candara" panose="020E0502030303020204" pitchFamily="34" charset="0"/>
                <a:ea typeface="Microsoft YaHei UI" panose="020B0503020204020204" pitchFamily="34" charset="-122"/>
              </a:defRPr>
            </a:lvl1pPr>
          </a:lstStyle>
          <a:p>
            <a:r>
              <a:rPr lang="en-US" altLang="zh-CN" dirty="0"/>
              <a:t>Click to edit Master title style</a:t>
            </a:r>
            <a:endParaRPr lang="en-US" dirty="0"/>
          </a:p>
        </p:txBody>
      </p:sp>
      <p:sp>
        <p:nvSpPr>
          <p:cNvPr id="3" name="Content Placeholder 2"/>
          <p:cNvSpPr>
            <a:spLocks noGrp="1"/>
          </p:cNvSpPr>
          <p:nvPr>
            <p:ph idx="1"/>
          </p:nvPr>
        </p:nvSpPr>
        <p:spPr>
          <a:xfrm>
            <a:off x="321365" y="950981"/>
            <a:ext cx="11467512" cy="5310302"/>
          </a:xfrm>
        </p:spPr>
        <p:txBody>
          <a:bodyPr/>
          <a:lstStyle>
            <a:lvl1pPr>
              <a:defRPr>
                <a:latin typeface="Candara" panose="020E0502030303020204" pitchFamily="34" charset="0"/>
                <a:ea typeface="Microsoft YaHei UI" panose="020B0503020204020204" pitchFamily="34" charset="-122"/>
              </a:defRPr>
            </a:lvl1pPr>
            <a:lvl2pPr>
              <a:defRPr>
                <a:latin typeface="Candara" panose="020E0502030303020204" pitchFamily="34" charset="0"/>
                <a:ea typeface="Microsoft YaHei UI" panose="020B0503020204020204" pitchFamily="34" charset="-122"/>
              </a:defRPr>
            </a:lvl2pPr>
            <a:lvl3pPr>
              <a:defRPr>
                <a:latin typeface="Candara" panose="020E0502030303020204" pitchFamily="34" charset="0"/>
                <a:ea typeface="Microsoft YaHei UI" panose="020B0503020204020204" pitchFamily="34" charset="-122"/>
              </a:defRPr>
            </a:lvl3pPr>
            <a:lvl4pPr>
              <a:defRPr>
                <a:latin typeface="Candara" panose="020E0502030303020204" pitchFamily="34" charset="0"/>
                <a:ea typeface="Microsoft YaHei UI" panose="020B0503020204020204" pitchFamily="34" charset="-122"/>
              </a:defRPr>
            </a:lvl4pPr>
            <a:lvl5pPr>
              <a:defRPr>
                <a:latin typeface="Candara" panose="020E0502030303020204" pitchFamily="34" charset="0"/>
                <a:ea typeface="Microsoft YaHei UI" panose="020B0503020204020204" pitchFamily="34" charset="-122"/>
              </a:defRPr>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en-US" dirty="0"/>
          </a:p>
        </p:txBody>
      </p:sp>
      <p:sp>
        <p:nvSpPr>
          <p:cNvPr id="6" name="Footer Placeholder 4"/>
          <p:cNvSpPr txBox="1"/>
          <p:nvPr userDrawn="1"/>
        </p:nvSpPr>
        <p:spPr>
          <a:xfrm>
            <a:off x="3188293" y="6526111"/>
            <a:ext cx="5943203" cy="365125"/>
          </a:xfrm>
          <a:prstGeom prst="rect">
            <a:avLst/>
          </a:prstGeom>
        </p:spPr>
        <p:txBody>
          <a:bodyPr vert="horz" lIns="68580" tIns="34290" rIns="68580" bIns="34290" rtlCol="0" anchor="ctr"/>
          <a:lstStyle>
            <a:defPPr>
              <a:defRPr lang="en-US"/>
            </a:defPPr>
            <a:lvl1pPr marL="0" algn="ctr" defTabSz="914400" rtl="0" eaLnBrk="1" latinLnBrk="0" hangingPunct="1">
              <a:defRPr sz="1400" kern="1200">
                <a:solidFill>
                  <a:srgbClr val="740F6C"/>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lang="en-US" sz="1200" dirty="0">
              <a:latin typeface="Candara" panose="020E0502030303020204" pitchFamily="34" charset="0"/>
            </a:endParaRPr>
          </a:p>
        </p:txBody>
      </p:sp>
      <p:sp>
        <p:nvSpPr>
          <p:cNvPr id="7" name="Content Placeholder 2"/>
          <p:cNvSpPr>
            <a:spLocks noGrp="1"/>
          </p:cNvSpPr>
          <p:nvPr>
            <p:ph idx="10"/>
          </p:nvPr>
        </p:nvSpPr>
        <p:spPr>
          <a:xfrm>
            <a:off x="321365" y="6291353"/>
            <a:ext cx="11467512" cy="259752"/>
          </a:xfrm>
        </p:spPr>
        <p:txBody>
          <a:bodyPr>
            <a:noAutofit/>
          </a:bodyPr>
          <a:lstStyle>
            <a:lvl1pPr marL="0" indent="0">
              <a:buNone/>
              <a:defRPr sz="900"/>
            </a:lvl1pPr>
          </a:lstStyle>
          <a:p>
            <a:pPr lvl="0"/>
            <a:r>
              <a:rPr lang="en-US" altLang="zh-CN" dirty="0"/>
              <a:t>Click to edit Master text styles</a:t>
            </a:r>
          </a:p>
        </p:txBody>
      </p:sp>
      <p:sp>
        <p:nvSpPr>
          <p:cNvPr id="9" name="AutoShape 2"/>
          <p:cNvSpPr>
            <a:spLocks noChangeAspect="1" noChangeArrowheads="1"/>
          </p:cNvSpPr>
          <p:nvPr userDrawn="1"/>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en-US" sz="135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7" name="矩形 6"/>
          <p:cNvSpPr/>
          <p:nvPr userDrawn="1"/>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页">
    <p:spTree>
      <p:nvGrpSpPr>
        <p:cNvPr id="1" name=""/>
        <p:cNvGrpSpPr/>
        <p:nvPr/>
      </p:nvGrpSpPr>
      <p:grpSpPr>
        <a:xfrm>
          <a:off x="0" y="0"/>
          <a:ext cx="0" cy="0"/>
          <a:chOff x="0" y="0"/>
          <a:chExt cx="0" cy="0"/>
        </a:xfrm>
      </p:grpSpPr>
      <p:sp>
        <p:nvSpPr>
          <p:cNvPr id="7" name="矩形 6"/>
          <p:cNvSpPr/>
          <p:nvPr userDrawn="1"/>
        </p:nvSpPr>
        <p:spPr>
          <a:xfrm>
            <a:off x="371325" y="387275"/>
            <a:ext cx="324000" cy="32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矩形 7"/>
          <p:cNvSpPr/>
          <p:nvPr userDrawn="1"/>
        </p:nvSpPr>
        <p:spPr>
          <a:xfrm>
            <a:off x="119325" y="135275"/>
            <a:ext cx="252000" cy="25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 name="矩形 8"/>
          <p:cNvSpPr/>
          <p:nvPr userDrawn="1"/>
        </p:nvSpPr>
        <p:spPr>
          <a:xfrm>
            <a:off x="11226675" y="6318000"/>
            <a:ext cx="540000" cy="54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灯片编号占位符 15"/>
          <p:cNvSpPr>
            <a:spLocks noGrp="1"/>
          </p:cNvSpPr>
          <p:nvPr>
            <p:ph type="sldNum" sz="quarter" idx="12"/>
          </p:nvPr>
        </p:nvSpPr>
        <p:spPr>
          <a:xfrm>
            <a:off x="10801349" y="6405444"/>
            <a:ext cx="1390651" cy="365125"/>
          </a:xfrm>
        </p:spPr>
        <p:txBody>
          <a:bodyPr/>
          <a:lstStyle>
            <a:lvl1pPr algn="ctr">
              <a:defRPr sz="2000" b="1">
                <a:solidFill>
                  <a:schemeClr val="bg1"/>
                </a:solidFill>
              </a:defRPr>
            </a:lvl1pPr>
          </a:lstStyle>
          <a:p>
            <a:fld id="{51D91E7F-84B6-4064-9D4E-CC7D244BCA04}" type="slidenum">
              <a:rPr lang="zh-CN" altLang="en-US"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矩形 6"/>
          <p:cNvSpPr/>
          <p:nvPr userDrawn="1"/>
        </p:nvSpPr>
        <p:spPr>
          <a:xfrm>
            <a:off x="0" y="6569825"/>
            <a:ext cx="3196607" cy="288175"/>
          </a:xfrm>
          <a:prstGeom prst="rect">
            <a:avLst/>
          </a:prstGeom>
          <a:solidFill>
            <a:srgbClr val="064C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8" name="矩形 7"/>
          <p:cNvSpPr/>
          <p:nvPr userDrawn="1"/>
        </p:nvSpPr>
        <p:spPr>
          <a:xfrm>
            <a:off x="3196607" y="6569825"/>
            <a:ext cx="5943203" cy="288175"/>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0" dirty="0" err="1">
                <a:solidFill>
                  <a:srgbClr val="064C85"/>
                </a:solidFill>
                <a:latin typeface="Arial" panose="020B0604020202020204" pitchFamily="34" charset="0"/>
                <a:cs typeface="Arial" panose="020B0604020202020204" pitchFamily="34" charset="0"/>
              </a:rPr>
              <a:t>SmartMem</a:t>
            </a:r>
            <a:r>
              <a:rPr lang="en-US" altLang="zh-CN" sz="1400" b="0" dirty="0">
                <a:solidFill>
                  <a:srgbClr val="064C85"/>
                </a:solidFill>
                <a:latin typeface="Arial" panose="020B0604020202020204" pitchFamily="34" charset="0"/>
                <a:cs typeface="Arial" panose="020B0604020202020204" pitchFamily="34" charset="0"/>
              </a:rPr>
              <a:t> Competition </a:t>
            </a:r>
          </a:p>
        </p:txBody>
      </p:sp>
      <p:sp>
        <p:nvSpPr>
          <p:cNvPr id="9" name="矩形 8"/>
          <p:cNvSpPr/>
          <p:nvPr userDrawn="1"/>
        </p:nvSpPr>
        <p:spPr>
          <a:xfrm>
            <a:off x="9139810" y="6569825"/>
            <a:ext cx="3052189" cy="30480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Slide Number Placeholder 5"/>
          <p:cNvSpPr txBox="1"/>
          <p:nvPr userDrawn="1"/>
        </p:nvSpPr>
        <p:spPr>
          <a:xfrm>
            <a:off x="9212945" y="6526920"/>
            <a:ext cx="2743200" cy="365125"/>
          </a:xfrm>
          <a:prstGeom prst="rect">
            <a:avLst/>
          </a:prstGeom>
        </p:spPr>
        <p:txBody>
          <a:bodyPr vert="horz" lIns="68580" tIns="34290" rIns="68580" bIns="34290" rtlCol="0" anchor="ctr"/>
          <a:lstStyle>
            <a:defPPr>
              <a:defRPr lang="en-US"/>
            </a:defPPr>
            <a:lvl1pPr marL="0" algn="ctr" defTabSz="914400" rtl="0" eaLnBrk="1" latinLnBrk="0" hangingPunct="1">
              <a:defRPr sz="1400" b="0" kern="1200">
                <a:solidFill>
                  <a:srgbClr val="740F6C"/>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aseline="0" dirty="0">
                <a:solidFill>
                  <a:srgbClr val="064C85"/>
                </a:solidFill>
                <a:latin typeface="Candara" panose="020E0502030303020204" pitchFamily="34" charset="0"/>
              </a:rPr>
              <a:t>Page </a:t>
            </a:r>
            <a:fld id="{021F6442-7586-9541-B2EE-92373E6CA02B}" type="slidenum">
              <a:rPr lang="en-US" sz="1400" smtClean="0">
                <a:solidFill>
                  <a:srgbClr val="064C85"/>
                </a:solidFill>
                <a:latin typeface="Candara" panose="020E0502030303020204" pitchFamily="34" charset="0"/>
              </a:rPr>
              <a:t>‹#›</a:t>
            </a:fld>
            <a:r>
              <a:rPr lang="en-US" sz="1400" dirty="0">
                <a:solidFill>
                  <a:srgbClr val="064C85"/>
                </a:solidFill>
                <a:latin typeface="Candara" panose="020E0502030303020204" pitchFamily="34" charset="0"/>
              </a:rPr>
              <a:t> </a:t>
            </a:r>
          </a:p>
        </p:txBody>
      </p:sp>
      <p:sp>
        <p:nvSpPr>
          <p:cNvPr id="12" name="Date Placeholder 3"/>
          <p:cNvSpPr txBox="1"/>
          <p:nvPr userDrawn="1"/>
        </p:nvSpPr>
        <p:spPr>
          <a:xfrm>
            <a:off x="217553" y="6526919"/>
            <a:ext cx="2743200" cy="365125"/>
          </a:xfrm>
          <a:prstGeom prst="rect">
            <a:avLst/>
          </a:prstGeom>
        </p:spPr>
        <p:txBody>
          <a:bodyPr vert="horz" lIns="68580" tIns="34290" rIns="68580" bIns="34290" rtlCol="0" anchor="ctr"/>
          <a:lstStyle>
            <a:defPPr>
              <a:defRPr lang="en-US"/>
            </a:defPPr>
            <a:lvl1pPr marL="0" algn="ctr" defTabSz="914400" rtl="0" eaLnBrk="1" latinLnBrk="0" hangingPunct="1">
              <a:defRPr sz="14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en-US" sz="1400" b="0" i="0" dirty="0">
                <a:solidFill>
                  <a:schemeClr val="bg1"/>
                </a:solidFill>
                <a:effectLst/>
                <a:latin typeface="Arial" panose="020B0604020202020204" pitchFamily="34" charset="0"/>
                <a:cs typeface="Arial" panose="020B0604020202020204" pitchFamily="34" charset="0"/>
              </a:rPr>
              <a:t>WWW 2025, Sydney, Australia</a:t>
            </a:r>
            <a:endParaRPr lang="en-US" sz="1100" dirty="0">
              <a:solidFill>
                <a:schemeClr val="bg1"/>
              </a:solidFill>
              <a:latin typeface="Arial" panose="020B0604020202020204" pitchFamily="34" charset="0"/>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685800" rtl="0" eaLnBrk="1" latinLnBrk="0" hangingPunct="1">
        <a:lnSpc>
          <a:spcPct val="90000"/>
        </a:lnSpc>
        <a:spcBef>
          <a:spcPct val="0"/>
        </a:spcBef>
        <a:buNone/>
        <a:defRPr sz="3300" kern="1200">
          <a:solidFill>
            <a:schemeClr val="tx1"/>
          </a:solidFill>
          <a:latin typeface="Candara" panose="020E0502030303020204"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Candara" panose="020E0502030303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Candara" panose="020E0502030303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Candara" panose="020E0502030303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andara" panose="020E0502030303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andara" panose="020E0502030303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矩形 6"/>
          <p:cNvSpPr/>
          <p:nvPr userDrawn="1"/>
        </p:nvSpPr>
        <p:spPr>
          <a:xfrm>
            <a:off x="0" y="6569825"/>
            <a:ext cx="3196607" cy="288175"/>
          </a:xfrm>
          <a:prstGeom prst="rect">
            <a:avLst/>
          </a:prstGeom>
          <a:solidFill>
            <a:srgbClr val="064C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8" name="矩形 7"/>
          <p:cNvSpPr/>
          <p:nvPr userDrawn="1"/>
        </p:nvSpPr>
        <p:spPr>
          <a:xfrm>
            <a:off x="3196607" y="6569825"/>
            <a:ext cx="5943203" cy="288175"/>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0" dirty="0" err="1">
                <a:solidFill>
                  <a:srgbClr val="064C85"/>
                </a:solidFill>
                <a:latin typeface="Arial" panose="020B0604020202020204" pitchFamily="34" charset="0"/>
                <a:cs typeface="Arial" panose="020B0604020202020204" pitchFamily="34" charset="0"/>
              </a:rPr>
              <a:t>SmartMem</a:t>
            </a:r>
            <a:r>
              <a:rPr lang="en-US" altLang="zh-CN" sz="1400" b="0" dirty="0">
                <a:solidFill>
                  <a:srgbClr val="064C85"/>
                </a:solidFill>
                <a:latin typeface="Arial" panose="020B0604020202020204" pitchFamily="34" charset="0"/>
                <a:cs typeface="Arial" panose="020B0604020202020204" pitchFamily="34" charset="0"/>
              </a:rPr>
              <a:t> Competition </a:t>
            </a:r>
          </a:p>
        </p:txBody>
      </p:sp>
      <p:sp>
        <p:nvSpPr>
          <p:cNvPr id="9" name="矩形 8"/>
          <p:cNvSpPr/>
          <p:nvPr userDrawn="1"/>
        </p:nvSpPr>
        <p:spPr>
          <a:xfrm>
            <a:off x="9139810" y="6569825"/>
            <a:ext cx="3052189" cy="30480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Slide Number Placeholder 5"/>
          <p:cNvSpPr txBox="1"/>
          <p:nvPr userDrawn="1"/>
        </p:nvSpPr>
        <p:spPr>
          <a:xfrm>
            <a:off x="9212945" y="6526920"/>
            <a:ext cx="2743200" cy="365125"/>
          </a:xfrm>
          <a:prstGeom prst="rect">
            <a:avLst/>
          </a:prstGeom>
        </p:spPr>
        <p:txBody>
          <a:bodyPr vert="horz" lIns="68580" tIns="34290" rIns="68580" bIns="34290" rtlCol="0" anchor="ctr"/>
          <a:lstStyle>
            <a:defPPr>
              <a:defRPr lang="en-US"/>
            </a:defPPr>
            <a:lvl1pPr marL="0" algn="ctr" defTabSz="914400" rtl="0" eaLnBrk="1" latinLnBrk="0" hangingPunct="1">
              <a:defRPr sz="1400" b="0" kern="1200">
                <a:solidFill>
                  <a:srgbClr val="740F6C"/>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aseline="0" dirty="0">
                <a:solidFill>
                  <a:srgbClr val="064C85"/>
                </a:solidFill>
                <a:latin typeface="Candara" panose="020E0502030303020204" pitchFamily="34" charset="0"/>
              </a:rPr>
              <a:t>Page </a:t>
            </a:r>
            <a:fld id="{021F6442-7586-9541-B2EE-92373E6CA02B}" type="slidenum">
              <a:rPr lang="en-US" sz="1400" smtClean="0">
                <a:solidFill>
                  <a:srgbClr val="064C85"/>
                </a:solidFill>
                <a:latin typeface="Candara" panose="020E0502030303020204" pitchFamily="34" charset="0"/>
              </a:rPr>
              <a:t>‹#›</a:t>
            </a:fld>
            <a:r>
              <a:rPr lang="en-US" sz="1400" dirty="0">
                <a:solidFill>
                  <a:srgbClr val="064C85"/>
                </a:solidFill>
                <a:latin typeface="Candara" panose="020E0502030303020204" pitchFamily="34" charset="0"/>
              </a:rPr>
              <a:t> </a:t>
            </a:r>
          </a:p>
        </p:txBody>
      </p:sp>
      <p:sp>
        <p:nvSpPr>
          <p:cNvPr id="12" name="Date Placeholder 3"/>
          <p:cNvSpPr txBox="1"/>
          <p:nvPr userDrawn="1"/>
        </p:nvSpPr>
        <p:spPr>
          <a:xfrm>
            <a:off x="217553" y="6526919"/>
            <a:ext cx="2743200" cy="365125"/>
          </a:xfrm>
          <a:prstGeom prst="rect">
            <a:avLst/>
          </a:prstGeom>
        </p:spPr>
        <p:txBody>
          <a:bodyPr vert="horz" lIns="68580" tIns="34290" rIns="68580" bIns="34290" rtlCol="0" anchor="ctr"/>
          <a:lstStyle>
            <a:defPPr>
              <a:defRPr lang="en-US"/>
            </a:defPPr>
            <a:lvl1pPr marL="0" algn="ctr" defTabSz="914400" rtl="0" eaLnBrk="1" latinLnBrk="0" hangingPunct="1">
              <a:defRPr sz="14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en-US" sz="1400" b="0" i="0" dirty="0">
                <a:solidFill>
                  <a:schemeClr val="bg1"/>
                </a:solidFill>
                <a:effectLst/>
                <a:latin typeface="Arial" panose="020B0604020202020204" pitchFamily="34" charset="0"/>
                <a:cs typeface="Arial" panose="020B0604020202020204" pitchFamily="34" charset="0"/>
              </a:rPr>
              <a:t>WWW 2025, Sydney, Australia</a:t>
            </a:r>
            <a:endParaRPr lang="en-US" sz="1100" dirty="0">
              <a:solidFill>
                <a:schemeClr val="bg1"/>
              </a:solidFill>
              <a:latin typeface="Arial" panose="020B0604020202020204" pitchFamily="34" charset="0"/>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Lst>
  <p:hf hdr="0" ftr="0" dt="0"/>
  <p:txStyles>
    <p:titleStyle>
      <a:lvl1pPr algn="l" defTabSz="685800" rtl="0" eaLnBrk="1" latinLnBrk="0" hangingPunct="1">
        <a:lnSpc>
          <a:spcPct val="90000"/>
        </a:lnSpc>
        <a:spcBef>
          <a:spcPct val="0"/>
        </a:spcBef>
        <a:buNone/>
        <a:defRPr sz="3300" kern="1200">
          <a:solidFill>
            <a:schemeClr val="tx1"/>
          </a:solidFill>
          <a:latin typeface="Candara" panose="020E0502030303020204"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Candara" panose="020E0502030303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Candara" panose="020E0502030303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Candara" panose="020E0502030303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andara" panose="020E0502030303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andara" panose="020E0502030303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notesSlide" Target="../notesSlides/notesSlide2.xml"/><Relationship Id="rId4" Type="http://schemas.openxmlformats.org/officeDocument/2006/relationships/tags" Target="../tags/tag4.xml"/><Relationship Id="rId9"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tags" Target="../tags/tag1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tags" Target="../tags/tag1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tags" Target="../tags/tag14.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tags" Target="../tags/tag15.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8.xml"/><Relationship Id="rId1" Type="http://schemas.openxmlformats.org/officeDocument/2006/relationships/tags" Target="../tags/tag16.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8.xml"/><Relationship Id="rId1" Type="http://schemas.openxmlformats.org/officeDocument/2006/relationships/tags" Target="../tags/tag17.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8.xml"/><Relationship Id="rId1" Type="http://schemas.openxmlformats.org/officeDocument/2006/relationships/tags" Target="../tags/tag2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a:xfrm>
            <a:off x="0" y="-8101"/>
            <a:ext cx="12192000" cy="2856105"/>
          </a:xfrm>
          <a:prstGeom prst="rect">
            <a:avLst/>
          </a:prstGeom>
        </p:spPr>
      </p:pic>
      <p:sp>
        <p:nvSpPr>
          <p:cNvPr id="16" name="Rectangle 15"/>
          <p:cNvSpPr/>
          <p:nvPr/>
        </p:nvSpPr>
        <p:spPr>
          <a:xfrm>
            <a:off x="0" y="6540403"/>
            <a:ext cx="12192000" cy="3245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副标题 2"/>
          <p:cNvSpPr txBox="1"/>
          <p:nvPr/>
        </p:nvSpPr>
        <p:spPr>
          <a:xfrm>
            <a:off x="391366" y="4103579"/>
            <a:ext cx="11108055" cy="2051826"/>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Candara" panose="020E0502030303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Candara" panose="020E0502030303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Candara" panose="020E0502030303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andara" panose="020E0502030303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andara" panose="020E0502030303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50000"/>
              </a:lnSpc>
              <a:buNone/>
            </a:pPr>
            <a:r>
              <a:rPr lang="en-US" altLang="zh-CN" sz="1800" b="1" dirty="0">
                <a:latin typeface="Arial" panose="020B0604020202020204" pitchFamily="34" charset="0"/>
                <a:cs typeface="Arial" panose="020B0604020202020204" pitchFamily="34" charset="0"/>
              </a:rPr>
              <a:t>Team: It's all fate</a:t>
            </a:r>
          </a:p>
          <a:p>
            <a:pPr marL="0" indent="0" algn="ctr">
              <a:lnSpc>
                <a:spcPct val="150000"/>
              </a:lnSpc>
              <a:buNone/>
            </a:pPr>
            <a:r>
              <a:rPr lang="en-US" altLang="zh-CN" sz="1800" dirty="0">
                <a:latin typeface="Arial" panose="020B0604020202020204" pitchFamily="34" charset="0"/>
                <a:cs typeface="Arial" panose="020B0604020202020204" pitchFamily="34" charset="0"/>
              </a:rPr>
              <a:t>Member: Long Teng</a:t>
            </a:r>
            <a:r>
              <a:rPr lang="en-US" altLang="zh-CN" sz="1800" baseline="30000" dirty="0">
                <a:latin typeface="Arial" panose="020B0604020202020204" pitchFamily="34" charset="0"/>
                <a:cs typeface="Arial" panose="020B0604020202020204" pitchFamily="34" charset="0"/>
              </a:rPr>
              <a:t>1,</a:t>
            </a:r>
            <a:r>
              <a:rPr lang="en-US" altLang="zh-CN" sz="1800" dirty="0">
                <a:latin typeface="Arial" panose="020B0604020202020204" pitchFamily="34" charset="0"/>
                <a:cs typeface="Arial" panose="020B0604020202020204" pitchFamily="34" charset="0"/>
              </a:rPr>
              <a:t> </a:t>
            </a:r>
            <a:r>
              <a:rPr lang="en-US" altLang="zh-CN" sz="1800">
                <a:latin typeface="Arial" panose="020B0604020202020204" pitchFamily="34" charset="0"/>
                <a:cs typeface="Arial" panose="020B0604020202020204" pitchFamily="34" charset="0"/>
              </a:rPr>
              <a:t>Yu Zhan</a:t>
            </a:r>
            <a:r>
              <a:rPr lang="en-US" altLang="zh-CN" sz="1800" baseline="30000">
                <a:latin typeface="Arial" panose="020B0604020202020204" pitchFamily="34" charset="0"/>
                <a:cs typeface="Arial" panose="020B0604020202020204" pitchFamily="34" charset="0"/>
              </a:rPr>
              <a:t>2</a:t>
            </a:r>
            <a:endParaRPr lang="en-US" altLang="zh-CN" sz="1800" baseline="30000" dirty="0">
              <a:latin typeface="Arial" panose="020B0604020202020204" pitchFamily="34" charset="0"/>
              <a:cs typeface="Arial" panose="020B0604020202020204" pitchFamily="34" charset="0"/>
            </a:endParaRPr>
          </a:p>
          <a:p>
            <a:pPr marL="0" indent="0" algn="ctr">
              <a:lnSpc>
                <a:spcPct val="150000"/>
              </a:lnSpc>
              <a:buNone/>
            </a:pPr>
            <a:r>
              <a:rPr lang="en-US" altLang="zh-CN" sz="1800" baseline="30000" dirty="0">
                <a:latin typeface="Arial" panose="020B0604020202020204" pitchFamily="34" charset="0"/>
                <a:cs typeface="Arial" panose="020B0604020202020204" pitchFamily="34" charset="0"/>
              </a:rPr>
              <a:t>1</a:t>
            </a:r>
            <a:r>
              <a:rPr lang="en-US" altLang="zh-CN" sz="1800" dirty="0">
                <a:latin typeface="Arial" panose="020B0604020202020204" pitchFamily="34" charset="0"/>
                <a:cs typeface="Arial" panose="020B0604020202020204" pitchFamily="34" charset="0"/>
              </a:rPr>
              <a:t>Brltech</a:t>
            </a:r>
          </a:p>
          <a:p>
            <a:pPr marL="0" indent="0" algn="ctr">
              <a:lnSpc>
                <a:spcPct val="150000"/>
              </a:lnSpc>
              <a:buNone/>
            </a:pPr>
            <a:r>
              <a:rPr lang="en-US" altLang="zh-CN" sz="1800" baseline="30000" dirty="0">
                <a:latin typeface="Arial" panose="020B0604020202020204" pitchFamily="34" charset="0"/>
                <a:cs typeface="Arial" panose="020B0604020202020204" pitchFamily="34" charset="0"/>
              </a:rPr>
              <a:t>2</a:t>
            </a:r>
            <a:r>
              <a:rPr lang="en-US" altLang="zh-CN" sz="1800" dirty="0">
                <a:latin typeface="Arial" panose="020B0604020202020204" pitchFamily="34" charset="0"/>
                <a:cs typeface="Arial" panose="020B0604020202020204" pitchFamily="34" charset="0"/>
              </a:rPr>
              <a:t>Beihang University</a:t>
            </a:r>
            <a:endParaRPr lang="en-US" altLang="zh-CN" sz="1800" baseline="30000" dirty="0">
              <a:latin typeface="Arial" panose="020B0604020202020204" pitchFamily="34" charset="0"/>
              <a:cs typeface="Arial" panose="020B0604020202020204" pitchFamily="34" charset="0"/>
            </a:endParaRPr>
          </a:p>
          <a:p>
            <a:pPr marL="0" indent="0" algn="ctr">
              <a:lnSpc>
                <a:spcPct val="150000"/>
              </a:lnSpc>
              <a:buNone/>
            </a:pPr>
            <a:r>
              <a:rPr lang="en-US" altLang="zh-CN" sz="1800" dirty="0">
                <a:latin typeface="Arial" panose="020B0604020202020204" pitchFamily="34" charset="0"/>
                <a:cs typeface="Arial" panose="020B0604020202020204" pitchFamily="34" charset="0"/>
              </a:rPr>
              <a:t>28</a:t>
            </a:r>
            <a:r>
              <a:rPr lang="en-US" altLang="zh-CN" sz="1800" baseline="30000" dirty="0">
                <a:latin typeface="Arial" panose="020B0604020202020204" pitchFamily="34" charset="0"/>
                <a:cs typeface="Arial" panose="020B0604020202020204" pitchFamily="34" charset="0"/>
              </a:rPr>
              <a:t>th</a:t>
            </a:r>
            <a:r>
              <a:rPr lang="en-US" altLang="zh-CN" sz="1800" dirty="0">
                <a:latin typeface="Arial" panose="020B0604020202020204" pitchFamily="34" charset="0"/>
                <a:cs typeface="Arial" panose="020B0604020202020204" pitchFamily="34" charset="0"/>
              </a:rPr>
              <a:t> April, 2025</a:t>
            </a:r>
          </a:p>
        </p:txBody>
      </p:sp>
      <p:sp>
        <p:nvSpPr>
          <p:cNvPr id="6" name="标题 1"/>
          <p:cNvSpPr txBox="1"/>
          <p:nvPr/>
        </p:nvSpPr>
        <p:spPr>
          <a:xfrm>
            <a:off x="-127000" y="2139622"/>
            <a:ext cx="12446000" cy="174101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Candara" panose="020E0502030303020204" pitchFamily="34" charset="0"/>
                <a:ea typeface="+mj-ea"/>
                <a:cs typeface="+mj-cs"/>
              </a:defRPr>
            </a:lvl1pPr>
          </a:lstStyle>
          <a:p>
            <a:r>
              <a:rPr lang="en-US" sz="3200" b="1" dirty="0">
                <a:solidFill>
                  <a:srgbClr val="064C85"/>
                </a:solidFill>
                <a:latin typeface="Lucida Grande" panose="020B0600040502020204" pitchFamily="34" charset="0"/>
              </a:rPr>
              <a:t>WWW 2025 </a:t>
            </a:r>
            <a:r>
              <a:rPr lang="en-US" sz="3200" b="1" dirty="0" err="1">
                <a:solidFill>
                  <a:srgbClr val="064C85"/>
                </a:solidFill>
                <a:latin typeface="Lucida Grande" panose="020B0600040502020204" pitchFamily="34" charset="0"/>
              </a:rPr>
              <a:t>SmartMem</a:t>
            </a:r>
            <a:r>
              <a:rPr lang="en-US" sz="3200" b="1" dirty="0">
                <a:solidFill>
                  <a:srgbClr val="064C85"/>
                </a:solidFill>
                <a:latin typeface="Lucida Grande" panose="020B0600040502020204" pitchFamily="34" charset="0"/>
              </a:rPr>
              <a:t> </a:t>
            </a:r>
            <a:r>
              <a:rPr lang="en-US" altLang="zh-CN" sz="3200" b="1" dirty="0">
                <a:solidFill>
                  <a:srgbClr val="064C85"/>
                </a:solidFill>
                <a:latin typeface="Lucida Grande" panose="020B0600040502020204" pitchFamily="34" charset="0"/>
              </a:rPr>
              <a:t>Competition</a:t>
            </a:r>
            <a:endParaRPr lang="en-US" sz="3200" b="1" i="0" dirty="0">
              <a:solidFill>
                <a:srgbClr val="064C85"/>
              </a:solidFill>
              <a:effectLst/>
              <a:latin typeface="Lucida Grande" panose="020B06000405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731520" y="745664"/>
            <a:ext cx="10728960" cy="5465064"/>
          </a:xfrm>
          <a:prstGeom prst="rect">
            <a:avLst/>
          </a:prstGeom>
          <a:solidFill>
            <a:schemeClr val="bg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5" name="椭圆 14"/>
          <p:cNvSpPr/>
          <p:nvPr/>
        </p:nvSpPr>
        <p:spPr>
          <a:xfrm>
            <a:off x="1412399" y="2118102"/>
            <a:ext cx="2394908" cy="2394908"/>
          </a:xfrm>
          <a:prstGeom prst="ellipse">
            <a:avLst/>
          </a:prstGeom>
          <a:solidFill>
            <a:schemeClr val="accent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p>
        </p:txBody>
      </p:sp>
      <p:sp>
        <p:nvSpPr>
          <p:cNvPr id="23" name="矩形 22"/>
          <p:cNvSpPr/>
          <p:nvPr/>
        </p:nvSpPr>
        <p:spPr>
          <a:xfrm>
            <a:off x="4114038" y="2152469"/>
            <a:ext cx="3915046" cy="830997"/>
          </a:xfrm>
          <a:prstGeom prst="rect">
            <a:avLst/>
          </a:prstGeom>
        </p:spPr>
        <p:txBody>
          <a:bodyPr wrap="none">
            <a:spAutoFit/>
          </a:bodyPr>
          <a:lstStyle/>
          <a:p>
            <a:r>
              <a:rPr lang="en-US" altLang="zh-CN" sz="4800" b="1" kern="100" dirty="0">
                <a:solidFill>
                  <a:schemeClr val="accent1"/>
                </a:solidFill>
                <a:latin typeface="+mn-ea"/>
                <a:cs typeface="Times New Roman" panose="02020603050405020304" pitchFamily="18" charset="0"/>
              </a:rPr>
              <a:t>Background</a:t>
            </a:r>
          </a:p>
        </p:txBody>
      </p:sp>
      <p:grpSp>
        <p:nvGrpSpPr>
          <p:cNvPr id="31" name="Group 13"/>
          <p:cNvGrpSpPr>
            <a:grpSpLocks noChangeAspect="1"/>
          </p:cNvGrpSpPr>
          <p:nvPr>
            <p:custDataLst>
              <p:tags r:id="rId1"/>
            </p:custDataLst>
          </p:nvPr>
        </p:nvGrpSpPr>
        <p:grpSpPr bwMode="auto">
          <a:xfrm>
            <a:off x="4225466" y="3106249"/>
            <a:ext cx="328183" cy="327403"/>
            <a:chOff x="3665" y="2074"/>
            <a:chExt cx="421" cy="420"/>
          </a:xfrm>
          <a:solidFill>
            <a:schemeClr val="accent1"/>
          </a:solidFill>
        </p:grpSpPr>
        <p:sp>
          <p:nvSpPr>
            <p:cNvPr id="32" name="Freeform 14"/>
            <p:cNvSpPr>
              <a:spLocks noEditPoints="1"/>
            </p:cNvSpPr>
            <p:nvPr>
              <p:custDataLst>
                <p:tags r:id="rId7"/>
              </p:custDataLst>
            </p:nvPr>
          </p:nvSpPr>
          <p:spPr bwMode="auto">
            <a:xfrm>
              <a:off x="3665" y="2074"/>
              <a:ext cx="421" cy="420"/>
            </a:xfrm>
            <a:custGeom>
              <a:avLst/>
              <a:gdLst>
                <a:gd name="T0" fmla="*/ 350 w 699"/>
                <a:gd name="T1" fmla="*/ 698 h 698"/>
                <a:gd name="T2" fmla="*/ 0 w 699"/>
                <a:gd name="T3" fmla="*/ 349 h 698"/>
                <a:gd name="T4" fmla="*/ 350 w 699"/>
                <a:gd name="T5" fmla="*/ 0 h 698"/>
                <a:gd name="T6" fmla="*/ 699 w 699"/>
                <a:gd name="T7" fmla="*/ 349 h 698"/>
                <a:gd name="T8" fmla="*/ 350 w 699"/>
                <a:gd name="T9" fmla="*/ 698 h 698"/>
                <a:gd name="T10" fmla="*/ 350 w 699"/>
                <a:gd name="T11" fmla="*/ 40 h 698"/>
                <a:gd name="T12" fmla="*/ 40 w 699"/>
                <a:gd name="T13" fmla="*/ 349 h 698"/>
                <a:gd name="T14" fmla="*/ 350 w 699"/>
                <a:gd name="T15" fmla="*/ 658 h 698"/>
                <a:gd name="T16" fmla="*/ 659 w 699"/>
                <a:gd name="T17" fmla="*/ 349 h 698"/>
                <a:gd name="T18" fmla="*/ 350 w 699"/>
                <a:gd name="T19" fmla="*/ 4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9" h="698">
                  <a:moveTo>
                    <a:pt x="350" y="698"/>
                  </a:moveTo>
                  <a:cubicBezTo>
                    <a:pt x="157" y="698"/>
                    <a:pt x="0" y="542"/>
                    <a:pt x="0" y="349"/>
                  </a:cubicBezTo>
                  <a:cubicBezTo>
                    <a:pt x="0" y="156"/>
                    <a:pt x="157" y="0"/>
                    <a:pt x="350" y="0"/>
                  </a:cubicBezTo>
                  <a:cubicBezTo>
                    <a:pt x="542" y="0"/>
                    <a:pt x="699" y="156"/>
                    <a:pt x="699" y="349"/>
                  </a:cubicBezTo>
                  <a:cubicBezTo>
                    <a:pt x="699" y="542"/>
                    <a:pt x="542" y="698"/>
                    <a:pt x="350" y="698"/>
                  </a:cubicBezTo>
                  <a:close/>
                  <a:moveTo>
                    <a:pt x="350" y="40"/>
                  </a:moveTo>
                  <a:cubicBezTo>
                    <a:pt x="179" y="40"/>
                    <a:pt x="40" y="179"/>
                    <a:pt x="40" y="349"/>
                  </a:cubicBezTo>
                  <a:cubicBezTo>
                    <a:pt x="40" y="519"/>
                    <a:pt x="179" y="658"/>
                    <a:pt x="350" y="658"/>
                  </a:cubicBezTo>
                  <a:cubicBezTo>
                    <a:pt x="520" y="658"/>
                    <a:pt x="659" y="519"/>
                    <a:pt x="659" y="349"/>
                  </a:cubicBezTo>
                  <a:cubicBezTo>
                    <a:pt x="659" y="179"/>
                    <a:pt x="520" y="40"/>
                    <a:pt x="35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33" name="Freeform 15"/>
            <p:cNvSpPr/>
            <p:nvPr>
              <p:custDataLst>
                <p:tags r:id="rId8"/>
              </p:custDataLst>
            </p:nvPr>
          </p:nvSpPr>
          <p:spPr bwMode="auto">
            <a:xfrm>
              <a:off x="3759" y="2204"/>
              <a:ext cx="233" cy="162"/>
            </a:xfrm>
            <a:custGeom>
              <a:avLst/>
              <a:gdLst>
                <a:gd name="T0" fmla="*/ 138 w 387"/>
                <a:gd name="T1" fmla="*/ 269 h 269"/>
                <a:gd name="T2" fmla="*/ 123 w 387"/>
                <a:gd name="T3" fmla="*/ 263 h 269"/>
                <a:gd name="T4" fmla="*/ 7 w 387"/>
                <a:gd name="T5" fmla="*/ 147 h 269"/>
                <a:gd name="T6" fmla="*/ 7 w 387"/>
                <a:gd name="T7" fmla="*/ 119 h 269"/>
                <a:gd name="T8" fmla="*/ 7 w 387"/>
                <a:gd name="T9" fmla="*/ 119 h 269"/>
                <a:gd name="T10" fmla="*/ 36 w 387"/>
                <a:gd name="T11" fmla="*/ 119 h 269"/>
                <a:gd name="T12" fmla="*/ 36 w 387"/>
                <a:gd name="T13" fmla="*/ 119 h 269"/>
                <a:gd name="T14" fmla="*/ 138 w 387"/>
                <a:gd name="T15" fmla="*/ 221 h 269"/>
                <a:gd name="T16" fmla="*/ 350 w 387"/>
                <a:gd name="T17" fmla="*/ 8 h 269"/>
                <a:gd name="T18" fmla="*/ 379 w 387"/>
                <a:gd name="T19" fmla="*/ 8 h 269"/>
                <a:gd name="T20" fmla="*/ 379 w 387"/>
                <a:gd name="T21" fmla="*/ 8 h 269"/>
                <a:gd name="T22" fmla="*/ 379 w 387"/>
                <a:gd name="T23" fmla="*/ 36 h 269"/>
                <a:gd name="T24" fmla="*/ 379 w 387"/>
                <a:gd name="T25" fmla="*/ 36 h 269"/>
                <a:gd name="T26" fmla="*/ 152 w 387"/>
                <a:gd name="T27" fmla="*/ 263 h 269"/>
                <a:gd name="T28" fmla="*/ 138 w 387"/>
                <a:gd name="T29"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7" h="269">
                  <a:moveTo>
                    <a:pt x="138" y="269"/>
                  </a:moveTo>
                  <a:cubicBezTo>
                    <a:pt x="132" y="269"/>
                    <a:pt x="127" y="267"/>
                    <a:pt x="123" y="263"/>
                  </a:cubicBezTo>
                  <a:cubicBezTo>
                    <a:pt x="7" y="147"/>
                    <a:pt x="7" y="147"/>
                    <a:pt x="7" y="147"/>
                  </a:cubicBezTo>
                  <a:cubicBezTo>
                    <a:pt x="0" y="139"/>
                    <a:pt x="0" y="127"/>
                    <a:pt x="7" y="119"/>
                  </a:cubicBezTo>
                  <a:cubicBezTo>
                    <a:pt x="7" y="119"/>
                    <a:pt x="7" y="119"/>
                    <a:pt x="7" y="119"/>
                  </a:cubicBezTo>
                  <a:cubicBezTo>
                    <a:pt x="15" y="111"/>
                    <a:pt x="28" y="111"/>
                    <a:pt x="36" y="119"/>
                  </a:cubicBezTo>
                  <a:cubicBezTo>
                    <a:pt x="36" y="119"/>
                    <a:pt x="36" y="119"/>
                    <a:pt x="36" y="119"/>
                  </a:cubicBezTo>
                  <a:cubicBezTo>
                    <a:pt x="138" y="221"/>
                    <a:pt x="138" y="221"/>
                    <a:pt x="138" y="221"/>
                  </a:cubicBezTo>
                  <a:cubicBezTo>
                    <a:pt x="350" y="8"/>
                    <a:pt x="350" y="8"/>
                    <a:pt x="350" y="8"/>
                  </a:cubicBezTo>
                  <a:cubicBezTo>
                    <a:pt x="358" y="0"/>
                    <a:pt x="371" y="0"/>
                    <a:pt x="379" y="8"/>
                  </a:cubicBezTo>
                  <a:cubicBezTo>
                    <a:pt x="379" y="8"/>
                    <a:pt x="379" y="8"/>
                    <a:pt x="379" y="8"/>
                  </a:cubicBezTo>
                  <a:cubicBezTo>
                    <a:pt x="387" y="16"/>
                    <a:pt x="387" y="28"/>
                    <a:pt x="379" y="36"/>
                  </a:cubicBezTo>
                  <a:cubicBezTo>
                    <a:pt x="379" y="36"/>
                    <a:pt x="379" y="36"/>
                    <a:pt x="379" y="36"/>
                  </a:cubicBezTo>
                  <a:cubicBezTo>
                    <a:pt x="152" y="263"/>
                    <a:pt x="152" y="263"/>
                    <a:pt x="152" y="263"/>
                  </a:cubicBezTo>
                  <a:cubicBezTo>
                    <a:pt x="148" y="267"/>
                    <a:pt x="143" y="269"/>
                    <a:pt x="138" y="2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sp>
        <p:nvSpPr>
          <p:cNvPr id="34" name="矩形 33"/>
          <p:cNvSpPr/>
          <p:nvPr>
            <p:custDataLst>
              <p:tags r:id="rId2"/>
            </p:custDataLst>
          </p:nvPr>
        </p:nvSpPr>
        <p:spPr>
          <a:xfrm>
            <a:off x="4521314" y="3078086"/>
            <a:ext cx="4217571" cy="398780"/>
          </a:xfrm>
          <a:prstGeom prst="rect">
            <a:avLst/>
          </a:prstGeom>
        </p:spPr>
        <p:txBody>
          <a:bodyPr wrap="square">
            <a:spAutoFit/>
          </a:bodyPr>
          <a:lstStyle/>
          <a:p>
            <a:r>
              <a:rPr lang="en-US" altLang="zh-CN" sz="2000" kern="100" dirty="0">
                <a:solidFill>
                  <a:schemeClr val="accent1"/>
                </a:solidFill>
                <a:latin typeface="+mn-ea"/>
                <a:cs typeface="Times New Roman" panose="02020603050405020304" pitchFamily="18" charset="0"/>
              </a:rPr>
              <a:t>Goal</a:t>
            </a:r>
          </a:p>
        </p:txBody>
      </p:sp>
      <p:grpSp>
        <p:nvGrpSpPr>
          <p:cNvPr id="35" name="Group 13"/>
          <p:cNvGrpSpPr>
            <a:grpSpLocks noChangeAspect="1"/>
          </p:cNvGrpSpPr>
          <p:nvPr>
            <p:custDataLst>
              <p:tags r:id="rId3"/>
            </p:custDataLst>
          </p:nvPr>
        </p:nvGrpSpPr>
        <p:grpSpPr bwMode="auto">
          <a:xfrm>
            <a:off x="4225466" y="3583031"/>
            <a:ext cx="328183" cy="327403"/>
            <a:chOff x="3665" y="2074"/>
            <a:chExt cx="421" cy="420"/>
          </a:xfrm>
          <a:solidFill>
            <a:schemeClr val="accent1"/>
          </a:solidFill>
        </p:grpSpPr>
        <p:sp>
          <p:nvSpPr>
            <p:cNvPr id="36" name="Freeform 14"/>
            <p:cNvSpPr>
              <a:spLocks noEditPoints="1"/>
            </p:cNvSpPr>
            <p:nvPr>
              <p:custDataLst>
                <p:tags r:id="rId5"/>
              </p:custDataLst>
            </p:nvPr>
          </p:nvSpPr>
          <p:spPr bwMode="auto">
            <a:xfrm>
              <a:off x="3665" y="2074"/>
              <a:ext cx="421" cy="420"/>
            </a:xfrm>
            <a:custGeom>
              <a:avLst/>
              <a:gdLst>
                <a:gd name="T0" fmla="*/ 350 w 699"/>
                <a:gd name="T1" fmla="*/ 698 h 698"/>
                <a:gd name="T2" fmla="*/ 0 w 699"/>
                <a:gd name="T3" fmla="*/ 349 h 698"/>
                <a:gd name="T4" fmla="*/ 350 w 699"/>
                <a:gd name="T5" fmla="*/ 0 h 698"/>
                <a:gd name="T6" fmla="*/ 699 w 699"/>
                <a:gd name="T7" fmla="*/ 349 h 698"/>
                <a:gd name="T8" fmla="*/ 350 w 699"/>
                <a:gd name="T9" fmla="*/ 698 h 698"/>
                <a:gd name="T10" fmla="*/ 350 w 699"/>
                <a:gd name="T11" fmla="*/ 40 h 698"/>
                <a:gd name="T12" fmla="*/ 40 w 699"/>
                <a:gd name="T13" fmla="*/ 349 h 698"/>
                <a:gd name="T14" fmla="*/ 350 w 699"/>
                <a:gd name="T15" fmla="*/ 658 h 698"/>
                <a:gd name="T16" fmla="*/ 659 w 699"/>
                <a:gd name="T17" fmla="*/ 349 h 698"/>
                <a:gd name="T18" fmla="*/ 350 w 699"/>
                <a:gd name="T19" fmla="*/ 4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9" h="698">
                  <a:moveTo>
                    <a:pt x="350" y="698"/>
                  </a:moveTo>
                  <a:cubicBezTo>
                    <a:pt x="157" y="698"/>
                    <a:pt x="0" y="542"/>
                    <a:pt x="0" y="349"/>
                  </a:cubicBezTo>
                  <a:cubicBezTo>
                    <a:pt x="0" y="156"/>
                    <a:pt x="157" y="0"/>
                    <a:pt x="350" y="0"/>
                  </a:cubicBezTo>
                  <a:cubicBezTo>
                    <a:pt x="542" y="0"/>
                    <a:pt x="699" y="156"/>
                    <a:pt x="699" y="349"/>
                  </a:cubicBezTo>
                  <a:cubicBezTo>
                    <a:pt x="699" y="542"/>
                    <a:pt x="542" y="698"/>
                    <a:pt x="350" y="698"/>
                  </a:cubicBezTo>
                  <a:close/>
                  <a:moveTo>
                    <a:pt x="350" y="40"/>
                  </a:moveTo>
                  <a:cubicBezTo>
                    <a:pt x="179" y="40"/>
                    <a:pt x="40" y="179"/>
                    <a:pt x="40" y="349"/>
                  </a:cubicBezTo>
                  <a:cubicBezTo>
                    <a:pt x="40" y="519"/>
                    <a:pt x="179" y="658"/>
                    <a:pt x="350" y="658"/>
                  </a:cubicBezTo>
                  <a:cubicBezTo>
                    <a:pt x="520" y="658"/>
                    <a:pt x="659" y="519"/>
                    <a:pt x="659" y="349"/>
                  </a:cubicBezTo>
                  <a:cubicBezTo>
                    <a:pt x="659" y="179"/>
                    <a:pt x="520" y="40"/>
                    <a:pt x="35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37" name="Freeform 15"/>
            <p:cNvSpPr/>
            <p:nvPr>
              <p:custDataLst>
                <p:tags r:id="rId6"/>
              </p:custDataLst>
            </p:nvPr>
          </p:nvSpPr>
          <p:spPr bwMode="auto">
            <a:xfrm>
              <a:off x="3759" y="2204"/>
              <a:ext cx="233" cy="162"/>
            </a:xfrm>
            <a:custGeom>
              <a:avLst/>
              <a:gdLst>
                <a:gd name="T0" fmla="*/ 138 w 387"/>
                <a:gd name="T1" fmla="*/ 269 h 269"/>
                <a:gd name="T2" fmla="*/ 123 w 387"/>
                <a:gd name="T3" fmla="*/ 263 h 269"/>
                <a:gd name="T4" fmla="*/ 7 w 387"/>
                <a:gd name="T5" fmla="*/ 147 h 269"/>
                <a:gd name="T6" fmla="*/ 7 w 387"/>
                <a:gd name="T7" fmla="*/ 119 h 269"/>
                <a:gd name="T8" fmla="*/ 7 w 387"/>
                <a:gd name="T9" fmla="*/ 119 h 269"/>
                <a:gd name="T10" fmla="*/ 36 w 387"/>
                <a:gd name="T11" fmla="*/ 119 h 269"/>
                <a:gd name="T12" fmla="*/ 36 w 387"/>
                <a:gd name="T13" fmla="*/ 119 h 269"/>
                <a:gd name="T14" fmla="*/ 138 w 387"/>
                <a:gd name="T15" fmla="*/ 221 h 269"/>
                <a:gd name="T16" fmla="*/ 350 w 387"/>
                <a:gd name="T17" fmla="*/ 8 h 269"/>
                <a:gd name="T18" fmla="*/ 379 w 387"/>
                <a:gd name="T19" fmla="*/ 8 h 269"/>
                <a:gd name="T20" fmla="*/ 379 w 387"/>
                <a:gd name="T21" fmla="*/ 8 h 269"/>
                <a:gd name="T22" fmla="*/ 379 w 387"/>
                <a:gd name="T23" fmla="*/ 36 h 269"/>
                <a:gd name="T24" fmla="*/ 379 w 387"/>
                <a:gd name="T25" fmla="*/ 36 h 269"/>
                <a:gd name="T26" fmla="*/ 152 w 387"/>
                <a:gd name="T27" fmla="*/ 263 h 269"/>
                <a:gd name="T28" fmla="*/ 138 w 387"/>
                <a:gd name="T29"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7" h="269">
                  <a:moveTo>
                    <a:pt x="138" y="269"/>
                  </a:moveTo>
                  <a:cubicBezTo>
                    <a:pt x="132" y="269"/>
                    <a:pt x="127" y="267"/>
                    <a:pt x="123" y="263"/>
                  </a:cubicBezTo>
                  <a:cubicBezTo>
                    <a:pt x="7" y="147"/>
                    <a:pt x="7" y="147"/>
                    <a:pt x="7" y="147"/>
                  </a:cubicBezTo>
                  <a:cubicBezTo>
                    <a:pt x="0" y="139"/>
                    <a:pt x="0" y="127"/>
                    <a:pt x="7" y="119"/>
                  </a:cubicBezTo>
                  <a:cubicBezTo>
                    <a:pt x="7" y="119"/>
                    <a:pt x="7" y="119"/>
                    <a:pt x="7" y="119"/>
                  </a:cubicBezTo>
                  <a:cubicBezTo>
                    <a:pt x="15" y="111"/>
                    <a:pt x="28" y="111"/>
                    <a:pt x="36" y="119"/>
                  </a:cubicBezTo>
                  <a:cubicBezTo>
                    <a:pt x="36" y="119"/>
                    <a:pt x="36" y="119"/>
                    <a:pt x="36" y="119"/>
                  </a:cubicBezTo>
                  <a:cubicBezTo>
                    <a:pt x="138" y="221"/>
                    <a:pt x="138" y="221"/>
                    <a:pt x="138" y="221"/>
                  </a:cubicBezTo>
                  <a:cubicBezTo>
                    <a:pt x="350" y="8"/>
                    <a:pt x="350" y="8"/>
                    <a:pt x="350" y="8"/>
                  </a:cubicBezTo>
                  <a:cubicBezTo>
                    <a:pt x="358" y="0"/>
                    <a:pt x="371" y="0"/>
                    <a:pt x="379" y="8"/>
                  </a:cubicBezTo>
                  <a:cubicBezTo>
                    <a:pt x="379" y="8"/>
                    <a:pt x="379" y="8"/>
                    <a:pt x="379" y="8"/>
                  </a:cubicBezTo>
                  <a:cubicBezTo>
                    <a:pt x="387" y="16"/>
                    <a:pt x="387" y="28"/>
                    <a:pt x="379" y="36"/>
                  </a:cubicBezTo>
                  <a:cubicBezTo>
                    <a:pt x="379" y="36"/>
                    <a:pt x="379" y="36"/>
                    <a:pt x="379" y="36"/>
                  </a:cubicBezTo>
                  <a:cubicBezTo>
                    <a:pt x="152" y="263"/>
                    <a:pt x="152" y="263"/>
                    <a:pt x="152" y="263"/>
                  </a:cubicBezTo>
                  <a:cubicBezTo>
                    <a:pt x="148" y="267"/>
                    <a:pt x="143" y="269"/>
                    <a:pt x="138" y="2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sp>
        <p:nvSpPr>
          <p:cNvPr id="38" name="矩形 37"/>
          <p:cNvSpPr/>
          <p:nvPr>
            <p:custDataLst>
              <p:tags r:id="rId4"/>
            </p:custDataLst>
          </p:nvPr>
        </p:nvSpPr>
        <p:spPr>
          <a:xfrm>
            <a:off x="4534964" y="3554868"/>
            <a:ext cx="1301115" cy="398780"/>
          </a:xfrm>
          <a:prstGeom prst="rect">
            <a:avLst/>
          </a:prstGeom>
        </p:spPr>
        <p:txBody>
          <a:bodyPr wrap="none">
            <a:spAutoFit/>
          </a:bodyPr>
          <a:lstStyle/>
          <a:p>
            <a:r>
              <a:rPr lang="en-US" altLang="zh-CN" sz="2000" kern="100" dirty="0">
                <a:solidFill>
                  <a:schemeClr val="accent1"/>
                </a:solidFill>
                <a:latin typeface="+mn-ea"/>
                <a:cs typeface="Times New Roman" panose="02020603050405020304" pitchFamily="18" charset="0"/>
              </a:rPr>
              <a:t>Evaluation</a:t>
            </a:r>
          </a:p>
        </p:txBody>
      </p:sp>
      <p:grpSp>
        <p:nvGrpSpPr>
          <p:cNvPr id="14" name="组合 13"/>
          <p:cNvGrpSpPr/>
          <p:nvPr/>
        </p:nvGrpSpPr>
        <p:grpSpPr>
          <a:xfrm>
            <a:off x="1856805" y="2615775"/>
            <a:ext cx="1487548" cy="1487548"/>
            <a:chOff x="2473104" y="2145028"/>
            <a:chExt cx="359165" cy="359165"/>
          </a:xfrm>
          <a:solidFill>
            <a:sysClr val="window" lastClr="FFFFFF"/>
          </a:solidFill>
        </p:grpSpPr>
        <p:sp>
          <p:nvSpPr>
            <p:cNvPr id="16"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charset="0"/>
                <a:ea typeface="宋体" panose="02010600030101010101" pitchFamily="2" charset="-122"/>
                <a:sym typeface="Gill Sans" charset="0"/>
              </a:endParaRPr>
            </a:p>
          </p:txBody>
        </p:sp>
        <p:sp>
          <p:nvSpPr>
            <p:cNvPr id="17"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charset="0"/>
                <a:ea typeface="宋体" panose="02010600030101010101" pitchFamily="2" charset="-122"/>
                <a:sym typeface="Gill Sans" charset="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51D91E7F-84B6-4064-9D4E-CC7D244BCA04}" type="slidenum">
              <a:rPr lang="zh-CN" altLang="en-US" smtClean="0">
                <a:latin typeface="宋体" panose="02010600030101010101" pitchFamily="2" charset="-122"/>
                <a:ea typeface="宋体" panose="02010600030101010101" pitchFamily="2" charset="-122"/>
              </a:rPr>
              <a:t>3</a:t>
            </a:fld>
            <a:endParaRPr lang="zh-CN" altLang="en-US" dirty="0">
              <a:latin typeface="宋体" panose="02010600030101010101" pitchFamily="2" charset="-122"/>
              <a:ea typeface="宋体" panose="02010600030101010101" pitchFamily="2" charset="-122"/>
            </a:endParaRPr>
          </a:p>
        </p:txBody>
      </p:sp>
      <p:sp>
        <p:nvSpPr>
          <p:cNvPr id="13" name="矩形 12"/>
          <p:cNvSpPr/>
          <p:nvPr/>
        </p:nvSpPr>
        <p:spPr>
          <a:xfrm>
            <a:off x="263610" y="1104578"/>
            <a:ext cx="11239500" cy="4015105"/>
          </a:xfrm>
          <a:prstGeom prst="rect">
            <a:avLst/>
          </a:prstGeom>
          <a:noFill/>
        </p:spPr>
        <p:txBody>
          <a:bodyPr wrap="square">
            <a:spAutoFit/>
          </a:bodyPr>
          <a:lstStyle/>
          <a:p>
            <a:pPr>
              <a:lnSpc>
                <a:spcPct val="150000"/>
              </a:lnSpc>
              <a:buClr>
                <a:schemeClr val="accent5">
                  <a:lumMod val="75000"/>
                </a:schemeClr>
              </a:buClr>
              <a:buFont typeface="Wingdings" panose="05000000000000000000" pitchFamily="2" charset="2"/>
              <a:buChar char="p"/>
            </a:pPr>
            <a:r>
              <a:rPr lang="en-US" altLang="zh-CN" sz="2400" b="1" dirty="0">
                <a:latin typeface="+mn-ea"/>
              </a:rPr>
              <a:t> </a:t>
            </a:r>
            <a:r>
              <a:rPr lang="en-US" altLang="zh-CN" sz="2000" b="1" dirty="0">
                <a:latin typeface="+mn-ea"/>
              </a:rPr>
              <a:t>BackGround</a:t>
            </a:r>
          </a:p>
          <a:p>
            <a:pPr marL="742950" lvl="1" indent="-285750">
              <a:lnSpc>
                <a:spcPct val="150000"/>
              </a:lnSpc>
              <a:buClr>
                <a:schemeClr val="accent5">
                  <a:lumMod val="75000"/>
                </a:schemeClr>
              </a:buClr>
              <a:buFont typeface="Wingdings" panose="05000000000000000000" pitchFamily="2" charset="2"/>
              <a:buChar char="Ø"/>
            </a:pPr>
            <a:r>
              <a:rPr lang="en-US" altLang="zh-CN" dirty="0">
                <a:latin typeface="+mn-ea"/>
              </a:rPr>
              <a:t>Uncorrectable Errors (UE’s) of Dynamic Random Access Memory (DRAM) have been identified as a major failure cause in data centers.The multibit UE failure of high-bandwidth memory (HBM) poses a significant threat to the availability and reliability of servers and entire computing clusters. Forecasting UE’s before enacting preemptive maintenance measures has emerged as a viable strategy to minimize server outages</a:t>
            </a:r>
          </a:p>
          <a:p>
            <a:pPr marL="285750" indent="-285750">
              <a:lnSpc>
                <a:spcPct val="150000"/>
              </a:lnSpc>
              <a:buClr>
                <a:schemeClr val="accent5">
                  <a:lumMod val="75000"/>
                </a:schemeClr>
              </a:buClr>
              <a:buFont typeface="Wingdings" panose="05000000000000000000" pitchFamily="2" charset="2"/>
              <a:buChar char="p"/>
            </a:pPr>
            <a:r>
              <a:rPr lang="en-US" altLang="zh-CN" sz="2000" b="1" dirty="0">
                <a:latin typeface="+mn-ea"/>
              </a:rPr>
              <a:t>Goal</a:t>
            </a:r>
          </a:p>
          <a:p>
            <a:pPr marL="742950" lvl="1" indent="-285750">
              <a:lnSpc>
                <a:spcPct val="150000"/>
              </a:lnSpc>
              <a:buClr>
                <a:schemeClr val="accent5">
                  <a:lumMod val="75000"/>
                </a:schemeClr>
              </a:buClr>
              <a:buFont typeface="Wingdings" panose="05000000000000000000" pitchFamily="2" charset="2"/>
              <a:buChar char="Ø"/>
            </a:pPr>
            <a:r>
              <a:rPr lang="en-US" altLang="zh-CN" b="0" dirty="0">
                <a:latin typeface="+mn-ea"/>
              </a:rPr>
              <a:t>Our goal is to predict whether each DIMM with serial number (SN) will experience an Uncorrectable Error (UE) failure within the next k days. Thus, the problem is formulated as a binary classification problem</a:t>
            </a:r>
          </a:p>
        </p:txBody>
      </p:sp>
      <p:sp>
        <p:nvSpPr>
          <p:cNvPr id="27" name="圆角矩形 26"/>
          <p:cNvSpPr/>
          <p:nvPr/>
        </p:nvSpPr>
        <p:spPr>
          <a:xfrm>
            <a:off x="368303" y="952505"/>
            <a:ext cx="11239500" cy="45719"/>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4948"/>
    </mc:Choice>
    <mc:Fallback xmlns="">
      <p:transition spd="slow" advTm="7494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51D91E7F-84B6-4064-9D4E-CC7D244BCA04}" type="slidenum">
              <a:rPr lang="zh-CN" altLang="en-US" smtClean="0">
                <a:latin typeface="宋体" panose="02010600030101010101" pitchFamily="2" charset="-122"/>
                <a:ea typeface="宋体" panose="02010600030101010101" pitchFamily="2" charset="-122"/>
              </a:rPr>
              <a:t>4</a:t>
            </a:fld>
            <a:endParaRPr lang="zh-CN" altLang="en-US" dirty="0">
              <a:latin typeface="宋体" panose="02010600030101010101" pitchFamily="2" charset="-122"/>
              <a:ea typeface="宋体" panose="02010600030101010101" pitchFamily="2" charset="-122"/>
            </a:endParaRPr>
          </a:p>
        </p:txBody>
      </p:sp>
      <p:sp>
        <p:nvSpPr>
          <p:cNvPr id="13" name="矩形 12"/>
          <p:cNvSpPr/>
          <p:nvPr/>
        </p:nvSpPr>
        <p:spPr>
          <a:xfrm>
            <a:off x="368385" y="1237293"/>
            <a:ext cx="11239500" cy="4384675"/>
          </a:xfrm>
          <a:prstGeom prst="rect">
            <a:avLst/>
          </a:prstGeom>
          <a:noFill/>
        </p:spPr>
        <p:txBody>
          <a:bodyPr wrap="square">
            <a:spAutoFit/>
          </a:bodyPr>
          <a:lstStyle/>
          <a:p>
            <a:pPr>
              <a:lnSpc>
                <a:spcPct val="150000"/>
              </a:lnSpc>
              <a:buClr>
                <a:schemeClr val="accent5">
                  <a:lumMod val="75000"/>
                </a:schemeClr>
              </a:buClr>
              <a:buFont typeface="Wingdings" panose="05000000000000000000" pitchFamily="2" charset="2"/>
              <a:buChar char="p"/>
            </a:pPr>
            <a:r>
              <a:rPr lang="en-US" altLang="zh-CN" sz="2400" b="1" dirty="0">
                <a:latin typeface="+mn-ea"/>
              </a:rPr>
              <a:t> Evaluation</a:t>
            </a:r>
            <a:endParaRPr lang="en-US" altLang="zh-CN" sz="2000" b="1" dirty="0">
              <a:latin typeface="+mn-ea"/>
            </a:endParaRPr>
          </a:p>
          <a:p>
            <a:pPr marL="742950" lvl="1" indent="-285750">
              <a:lnSpc>
                <a:spcPct val="150000"/>
              </a:lnSpc>
              <a:buClr>
                <a:schemeClr val="accent5">
                  <a:lumMod val="75000"/>
                </a:schemeClr>
              </a:buClr>
              <a:buFont typeface="Wingdings" panose="05000000000000000000" pitchFamily="2" charset="2"/>
              <a:buChar char="Ø"/>
            </a:pPr>
            <a:r>
              <a:rPr lang="en-US" altLang="zh-CN" b="0" dirty="0">
                <a:latin typeface="+mn-ea"/>
              </a:rPr>
              <a:t>Figure 1 illustrates our evaluation protocol, which is designed tomeet production requirements with temporally rigorous constraints .Formally, at timestamp t, a predictive algorithm analyzes historical data from an observation window [</a:t>
            </a:r>
            <a:r>
              <a:rPr lang="zh-CN" altLang="en-US" b="0" dirty="0">
                <a:latin typeface="+mn-ea"/>
              </a:rPr>
              <a:t>𝑡</a:t>
            </a:r>
            <a:r>
              <a:rPr lang="en-US" altLang="zh-CN" b="0" dirty="0">
                <a:latin typeface="+mn-ea"/>
              </a:rPr>
              <a:t> − Δ</a:t>
            </a:r>
            <a:r>
              <a:rPr lang="zh-CN" altLang="en-US" b="0" dirty="0">
                <a:latin typeface="+mn-ea"/>
              </a:rPr>
              <a:t>𝑡𝑑</a:t>
            </a:r>
            <a:r>
              <a:rPr lang="en-US" altLang="zh-CN" b="0" dirty="0">
                <a:latin typeface="+mn-ea"/>
              </a:rPr>
              <a:t> : </a:t>
            </a:r>
            <a:r>
              <a:rPr lang="zh-CN" altLang="en-US" b="0" dirty="0">
                <a:latin typeface="+mn-ea"/>
              </a:rPr>
              <a:t>𝑡</a:t>
            </a:r>
            <a:r>
              <a:rPr lang="en-US" altLang="zh-CN" b="0" dirty="0">
                <a:latin typeface="+mn-ea"/>
              </a:rPr>
              <a:t>] to forecast potential failures within the prediction interval:</a:t>
            </a:r>
          </a:p>
          <a:p>
            <a:pPr marL="742950" lvl="1" indent="-285750">
              <a:lnSpc>
                <a:spcPct val="150000"/>
              </a:lnSpc>
              <a:buClr>
                <a:schemeClr val="accent5">
                  <a:lumMod val="75000"/>
                </a:schemeClr>
              </a:buClr>
              <a:buFont typeface="Wingdings" panose="05000000000000000000" pitchFamily="2" charset="2"/>
              <a:buChar char="Ø"/>
            </a:pPr>
            <a:endParaRPr lang="en-US" altLang="zh-CN" b="0" dirty="0">
              <a:latin typeface="+mn-ea"/>
            </a:endParaRPr>
          </a:p>
          <a:p>
            <a:pPr marL="3200400" lvl="7" indent="457200">
              <a:lnSpc>
                <a:spcPct val="150000"/>
              </a:lnSpc>
              <a:buClr>
                <a:schemeClr val="accent5">
                  <a:lumMod val="75000"/>
                </a:schemeClr>
              </a:buClr>
              <a:buFont typeface="Wingdings" panose="05000000000000000000" pitchFamily="2" charset="2"/>
              <a:buNone/>
            </a:pPr>
            <a:r>
              <a:rPr lang="en-US" altLang="zh-CN" b="0" dirty="0">
                <a:latin typeface="+mn-ea"/>
              </a:rPr>
              <a:t>P (</a:t>
            </a:r>
            <a:r>
              <a:rPr lang="zh-CN" altLang="en-US" b="0" dirty="0">
                <a:latin typeface="+mn-ea"/>
              </a:rPr>
              <a:t>𝑡</a:t>
            </a:r>
            <a:r>
              <a:rPr lang="en-US" altLang="zh-CN" b="0" dirty="0">
                <a:latin typeface="+mn-ea"/>
              </a:rPr>
              <a:t>) = [</a:t>
            </a:r>
            <a:r>
              <a:rPr lang="zh-CN" altLang="en-US" b="0" dirty="0">
                <a:latin typeface="+mn-ea"/>
              </a:rPr>
              <a:t>𝑡</a:t>
            </a:r>
            <a:r>
              <a:rPr lang="en-US" altLang="zh-CN" b="0" dirty="0">
                <a:latin typeface="+mn-ea"/>
              </a:rPr>
              <a:t> + Δ</a:t>
            </a:r>
            <a:r>
              <a:rPr lang="zh-CN" altLang="en-US" b="0" dirty="0">
                <a:latin typeface="+mn-ea"/>
              </a:rPr>
              <a:t>𝑡𝑙</a:t>
            </a:r>
            <a:r>
              <a:rPr lang="en-US" altLang="zh-CN" b="0" dirty="0">
                <a:latin typeface="+mn-ea"/>
              </a:rPr>
              <a:t> , </a:t>
            </a:r>
            <a:r>
              <a:rPr lang="zh-CN" altLang="en-US" b="0" dirty="0">
                <a:latin typeface="+mn-ea"/>
              </a:rPr>
              <a:t>𝑡</a:t>
            </a:r>
            <a:r>
              <a:rPr lang="en-US" altLang="zh-CN" b="0" dirty="0">
                <a:latin typeface="+mn-ea"/>
              </a:rPr>
              <a:t> + Δ</a:t>
            </a:r>
            <a:r>
              <a:rPr lang="zh-CN" altLang="en-US" b="0" dirty="0">
                <a:latin typeface="+mn-ea"/>
              </a:rPr>
              <a:t>𝑡𝑙</a:t>
            </a:r>
            <a:r>
              <a:rPr lang="en-US" altLang="zh-CN" b="0" dirty="0">
                <a:latin typeface="+mn-ea"/>
              </a:rPr>
              <a:t> + Δ</a:t>
            </a:r>
            <a:r>
              <a:rPr lang="zh-CN" altLang="en-US" b="0" dirty="0">
                <a:latin typeface="+mn-ea"/>
              </a:rPr>
              <a:t>𝑡𝑝</a:t>
            </a:r>
            <a:r>
              <a:rPr lang="en-US" altLang="zh-CN" b="0" dirty="0">
                <a:latin typeface="+mn-ea"/>
              </a:rPr>
              <a:t> ] </a:t>
            </a:r>
          </a:p>
          <a:p>
            <a:pPr lvl="3" indent="0">
              <a:lnSpc>
                <a:spcPct val="150000"/>
              </a:lnSpc>
              <a:buClr>
                <a:schemeClr val="accent5">
                  <a:lumMod val="75000"/>
                </a:schemeClr>
              </a:buClr>
              <a:buFont typeface="Wingdings" panose="05000000000000000000" pitchFamily="2" charset="2"/>
              <a:buNone/>
            </a:pPr>
            <a:endParaRPr lang="en-US" altLang="zh-CN" b="0" dirty="0">
              <a:latin typeface="+mn-ea"/>
            </a:endParaRPr>
          </a:p>
          <a:p>
            <a:pPr lvl="3" indent="0">
              <a:lnSpc>
                <a:spcPct val="150000"/>
              </a:lnSpc>
              <a:buClr>
                <a:schemeClr val="accent5">
                  <a:lumMod val="75000"/>
                </a:schemeClr>
              </a:buClr>
              <a:buFont typeface="Wingdings" panose="05000000000000000000" pitchFamily="2" charset="2"/>
              <a:buNone/>
            </a:pPr>
            <a:r>
              <a:rPr lang="en-US" altLang="zh-CN" b="0" dirty="0">
                <a:latin typeface="+mn-ea"/>
              </a:rPr>
              <a:t>• t</a:t>
            </a:r>
            <a:r>
              <a:rPr lang="zh-CN" altLang="en-US" b="0" dirty="0">
                <a:latin typeface="+mn-ea"/>
              </a:rPr>
              <a:t>𝑑</a:t>
            </a:r>
            <a:r>
              <a:rPr lang="en-US" altLang="zh-CN" b="0" dirty="0">
                <a:latin typeface="+mn-ea"/>
              </a:rPr>
              <a:t> : Duration of observation window (historical data scope)</a:t>
            </a:r>
          </a:p>
          <a:p>
            <a:pPr lvl="3" indent="0">
              <a:lnSpc>
                <a:spcPct val="150000"/>
              </a:lnSpc>
              <a:buClr>
                <a:schemeClr val="accent5">
                  <a:lumMod val="75000"/>
                </a:schemeClr>
              </a:buClr>
              <a:buFont typeface="Wingdings" panose="05000000000000000000" pitchFamily="2" charset="2"/>
              <a:buNone/>
            </a:pPr>
            <a:r>
              <a:rPr lang="en-US" altLang="zh-CN" b="0" dirty="0">
                <a:latin typeface="+mn-ea"/>
              </a:rPr>
              <a:t>• t</a:t>
            </a:r>
            <a:r>
              <a:rPr lang="zh-CN" altLang="en-US" b="0" dirty="0">
                <a:latin typeface="+mn-ea"/>
              </a:rPr>
              <a:t>𝑙</a:t>
            </a:r>
            <a:r>
              <a:rPr lang="en-US" altLang="zh-CN" b="0" dirty="0">
                <a:latin typeface="+mn-ea"/>
              </a:rPr>
              <a:t> : Minimum lead time between prediction and failure (15minutes)</a:t>
            </a:r>
          </a:p>
          <a:p>
            <a:pPr lvl="3" indent="0">
              <a:lnSpc>
                <a:spcPct val="150000"/>
              </a:lnSpc>
              <a:buClr>
                <a:schemeClr val="accent5">
                  <a:lumMod val="75000"/>
                </a:schemeClr>
              </a:buClr>
              <a:buFont typeface="Wingdings" panose="05000000000000000000" pitchFamily="2" charset="2"/>
              <a:buNone/>
            </a:pPr>
            <a:r>
              <a:rPr lang="en-US" altLang="zh-CN" b="0" dirty="0">
                <a:latin typeface="+mn-ea"/>
              </a:rPr>
              <a:t>• t</a:t>
            </a:r>
            <a:r>
              <a:rPr lang="zh-CN" altLang="en-US" b="0" dirty="0">
                <a:latin typeface="+mn-ea"/>
              </a:rPr>
              <a:t>𝑝</a:t>
            </a:r>
            <a:r>
              <a:rPr lang="en-US" altLang="zh-CN" b="0" dirty="0">
                <a:latin typeface="+mn-ea"/>
              </a:rPr>
              <a:t> : Prediction interval duration (7 days)</a:t>
            </a:r>
          </a:p>
        </p:txBody>
      </p:sp>
      <p:sp>
        <p:nvSpPr>
          <p:cNvPr id="27" name="圆角矩形 26"/>
          <p:cNvSpPr/>
          <p:nvPr/>
        </p:nvSpPr>
        <p:spPr>
          <a:xfrm>
            <a:off x="368303" y="952505"/>
            <a:ext cx="11239500" cy="45719"/>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4948"/>
    </mc:Choice>
    <mc:Fallback xmlns="">
      <p:transition spd="slow" advTm="74948"/>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731520" y="728472"/>
            <a:ext cx="10728960" cy="5465064"/>
          </a:xfrm>
          <a:prstGeom prst="rect">
            <a:avLst/>
          </a:prstGeom>
          <a:solidFill>
            <a:schemeClr val="bg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5" name="椭圆 14"/>
          <p:cNvSpPr/>
          <p:nvPr/>
        </p:nvSpPr>
        <p:spPr>
          <a:xfrm>
            <a:off x="1412399" y="2118102"/>
            <a:ext cx="2394908" cy="2394908"/>
          </a:xfrm>
          <a:prstGeom prst="ellipse">
            <a:avLst/>
          </a:prstGeom>
          <a:solidFill>
            <a:schemeClr val="accent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p>
        </p:txBody>
      </p:sp>
      <p:sp>
        <p:nvSpPr>
          <p:cNvPr id="23" name="矩形 22"/>
          <p:cNvSpPr/>
          <p:nvPr/>
        </p:nvSpPr>
        <p:spPr>
          <a:xfrm>
            <a:off x="4114038" y="2152469"/>
            <a:ext cx="4395755" cy="830997"/>
          </a:xfrm>
          <a:prstGeom prst="rect">
            <a:avLst/>
          </a:prstGeom>
        </p:spPr>
        <p:txBody>
          <a:bodyPr wrap="none">
            <a:spAutoFit/>
          </a:bodyPr>
          <a:lstStyle/>
          <a:p>
            <a:r>
              <a:rPr lang="en-US" altLang="zh-CN" sz="4800" b="1" kern="100" dirty="0">
                <a:solidFill>
                  <a:schemeClr val="accent1"/>
                </a:solidFill>
                <a:latin typeface="+mn-ea"/>
                <a:cs typeface="Times New Roman" panose="02020603050405020304" pitchFamily="18" charset="0"/>
              </a:rPr>
              <a:t>Methodology</a:t>
            </a:r>
          </a:p>
        </p:txBody>
      </p:sp>
      <p:grpSp>
        <p:nvGrpSpPr>
          <p:cNvPr id="31" name="Group 13"/>
          <p:cNvGrpSpPr>
            <a:grpSpLocks noChangeAspect="1"/>
          </p:cNvGrpSpPr>
          <p:nvPr/>
        </p:nvGrpSpPr>
        <p:grpSpPr bwMode="auto">
          <a:xfrm>
            <a:off x="4225466" y="3106249"/>
            <a:ext cx="328183" cy="327403"/>
            <a:chOff x="3665" y="2074"/>
            <a:chExt cx="421" cy="420"/>
          </a:xfrm>
          <a:solidFill>
            <a:schemeClr val="accent1"/>
          </a:solidFill>
        </p:grpSpPr>
        <p:sp>
          <p:nvSpPr>
            <p:cNvPr id="32" name="Freeform 14"/>
            <p:cNvSpPr>
              <a:spLocks noEditPoints="1"/>
            </p:cNvSpPr>
            <p:nvPr/>
          </p:nvSpPr>
          <p:spPr bwMode="auto">
            <a:xfrm>
              <a:off x="3665" y="2074"/>
              <a:ext cx="421" cy="420"/>
            </a:xfrm>
            <a:custGeom>
              <a:avLst/>
              <a:gdLst>
                <a:gd name="T0" fmla="*/ 350 w 699"/>
                <a:gd name="T1" fmla="*/ 698 h 698"/>
                <a:gd name="T2" fmla="*/ 0 w 699"/>
                <a:gd name="T3" fmla="*/ 349 h 698"/>
                <a:gd name="T4" fmla="*/ 350 w 699"/>
                <a:gd name="T5" fmla="*/ 0 h 698"/>
                <a:gd name="T6" fmla="*/ 699 w 699"/>
                <a:gd name="T7" fmla="*/ 349 h 698"/>
                <a:gd name="T8" fmla="*/ 350 w 699"/>
                <a:gd name="T9" fmla="*/ 698 h 698"/>
                <a:gd name="T10" fmla="*/ 350 w 699"/>
                <a:gd name="T11" fmla="*/ 40 h 698"/>
                <a:gd name="T12" fmla="*/ 40 w 699"/>
                <a:gd name="T13" fmla="*/ 349 h 698"/>
                <a:gd name="T14" fmla="*/ 350 w 699"/>
                <a:gd name="T15" fmla="*/ 658 h 698"/>
                <a:gd name="T16" fmla="*/ 659 w 699"/>
                <a:gd name="T17" fmla="*/ 349 h 698"/>
                <a:gd name="T18" fmla="*/ 350 w 699"/>
                <a:gd name="T19" fmla="*/ 4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9" h="698">
                  <a:moveTo>
                    <a:pt x="350" y="698"/>
                  </a:moveTo>
                  <a:cubicBezTo>
                    <a:pt x="157" y="698"/>
                    <a:pt x="0" y="542"/>
                    <a:pt x="0" y="349"/>
                  </a:cubicBezTo>
                  <a:cubicBezTo>
                    <a:pt x="0" y="156"/>
                    <a:pt x="157" y="0"/>
                    <a:pt x="350" y="0"/>
                  </a:cubicBezTo>
                  <a:cubicBezTo>
                    <a:pt x="542" y="0"/>
                    <a:pt x="699" y="156"/>
                    <a:pt x="699" y="349"/>
                  </a:cubicBezTo>
                  <a:cubicBezTo>
                    <a:pt x="699" y="542"/>
                    <a:pt x="542" y="698"/>
                    <a:pt x="350" y="698"/>
                  </a:cubicBezTo>
                  <a:close/>
                  <a:moveTo>
                    <a:pt x="350" y="40"/>
                  </a:moveTo>
                  <a:cubicBezTo>
                    <a:pt x="179" y="40"/>
                    <a:pt x="40" y="179"/>
                    <a:pt x="40" y="349"/>
                  </a:cubicBezTo>
                  <a:cubicBezTo>
                    <a:pt x="40" y="519"/>
                    <a:pt x="179" y="658"/>
                    <a:pt x="350" y="658"/>
                  </a:cubicBezTo>
                  <a:cubicBezTo>
                    <a:pt x="520" y="658"/>
                    <a:pt x="659" y="519"/>
                    <a:pt x="659" y="349"/>
                  </a:cubicBezTo>
                  <a:cubicBezTo>
                    <a:pt x="659" y="179"/>
                    <a:pt x="520" y="40"/>
                    <a:pt x="35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33" name="Freeform 15"/>
            <p:cNvSpPr/>
            <p:nvPr/>
          </p:nvSpPr>
          <p:spPr bwMode="auto">
            <a:xfrm>
              <a:off x="3759" y="2204"/>
              <a:ext cx="233" cy="162"/>
            </a:xfrm>
            <a:custGeom>
              <a:avLst/>
              <a:gdLst>
                <a:gd name="T0" fmla="*/ 138 w 387"/>
                <a:gd name="T1" fmla="*/ 269 h 269"/>
                <a:gd name="T2" fmla="*/ 123 w 387"/>
                <a:gd name="T3" fmla="*/ 263 h 269"/>
                <a:gd name="T4" fmla="*/ 7 w 387"/>
                <a:gd name="T5" fmla="*/ 147 h 269"/>
                <a:gd name="T6" fmla="*/ 7 w 387"/>
                <a:gd name="T7" fmla="*/ 119 h 269"/>
                <a:gd name="T8" fmla="*/ 7 w 387"/>
                <a:gd name="T9" fmla="*/ 119 h 269"/>
                <a:gd name="T10" fmla="*/ 36 w 387"/>
                <a:gd name="T11" fmla="*/ 119 h 269"/>
                <a:gd name="T12" fmla="*/ 36 w 387"/>
                <a:gd name="T13" fmla="*/ 119 h 269"/>
                <a:gd name="T14" fmla="*/ 138 w 387"/>
                <a:gd name="T15" fmla="*/ 221 h 269"/>
                <a:gd name="T16" fmla="*/ 350 w 387"/>
                <a:gd name="T17" fmla="*/ 8 h 269"/>
                <a:gd name="T18" fmla="*/ 379 w 387"/>
                <a:gd name="T19" fmla="*/ 8 h 269"/>
                <a:gd name="T20" fmla="*/ 379 w 387"/>
                <a:gd name="T21" fmla="*/ 8 h 269"/>
                <a:gd name="T22" fmla="*/ 379 w 387"/>
                <a:gd name="T23" fmla="*/ 36 h 269"/>
                <a:gd name="T24" fmla="*/ 379 w 387"/>
                <a:gd name="T25" fmla="*/ 36 h 269"/>
                <a:gd name="T26" fmla="*/ 152 w 387"/>
                <a:gd name="T27" fmla="*/ 263 h 269"/>
                <a:gd name="T28" fmla="*/ 138 w 387"/>
                <a:gd name="T29"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7" h="269">
                  <a:moveTo>
                    <a:pt x="138" y="269"/>
                  </a:moveTo>
                  <a:cubicBezTo>
                    <a:pt x="132" y="269"/>
                    <a:pt x="127" y="267"/>
                    <a:pt x="123" y="263"/>
                  </a:cubicBezTo>
                  <a:cubicBezTo>
                    <a:pt x="7" y="147"/>
                    <a:pt x="7" y="147"/>
                    <a:pt x="7" y="147"/>
                  </a:cubicBezTo>
                  <a:cubicBezTo>
                    <a:pt x="0" y="139"/>
                    <a:pt x="0" y="127"/>
                    <a:pt x="7" y="119"/>
                  </a:cubicBezTo>
                  <a:cubicBezTo>
                    <a:pt x="7" y="119"/>
                    <a:pt x="7" y="119"/>
                    <a:pt x="7" y="119"/>
                  </a:cubicBezTo>
                  <a:cubicBezTo>
                    <a:pt x="15" y="111"/>
                    <a:pt x="28" y="111"/>
                    <a:pt x="36" y="119"/>
                  </a:cubicBezTo>
                  <a:cubicBezTo>
                    <a:pt x="36" y="119"/>
                    <a:pt x="36" y="119"/>
                    <a:pt x="36" y="119"/>
                  </a:cubicBezTo>
                  <a:cubicBezTo>
                    <a:pt x="138" y="221"/>
                    <a:pt x="138" y="221"/>
                    <a:pt x="138" y="221"/>
                  </a:cubicBezTo>
                  <a:cubicBezTo>
                    <a:pt x="350" y="8"/>
                    <a:pt x="350" y="8"/>
                    <a:pt x="350" y="8"/>
                  </a:cubicBezTo>
                  <a:cubicBezTo>
                    <a:pt x="358" y="0"/>
                    <a:pt x="371" y="0"/>
                    <a:pt x="379" y="8"/>
                  </a:cubicBezTo>
                  <a:cubicBezTo>
                    <a:pt x="379" y="8"/>
                    <a:pt x="379" y="8"/>
                    <a:pt x="379" y="8"/>
                  </a:cubicBezTo>
                  <a:cubicBezTo>
                    <a:pt x="387" y="16"/>
                    <a:pt x="387" y="28"/>
                    <a:pt x="379" y="36"/>
                  </a:cubicBezTo>
                  <a:cubicBezTo>
                    <a:pt x="379" y="36"/>
                    <a:pt x="379" y="36"/>
                    <a:pt x="379" y="36"/>
                  </a:cubicBezTo>
                  <a:cubicBezTo>
                    <a:pt x="152" y="263"/>
                    <a:pt x="152" y="263"/>
                    <a:pt x="152" y="263"/>
                  </a:cubicBezTo>
                  <a:cubicBezTo>
                    <a:pt x="148" y="267"/>
                    <a:pt x="143" y="269"/>
                    <a:pt x="138" y="2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sp>
        <p:nvSpPr>
          <p:cNvPr id="34" name="矩形 33"/>
          <p:cNvSpPr/>
          <p:nvPr/>
        </p:nvSpPr>
        <p:spPr>
          <a:xfrm>
            <a:off x="4521314" y="3078086"/>
            <a:ext cx="4217571" cy="398780"/>
          </a:xfrm>
          <a:prstGeom prst="rect">
            <a:avLst/>
          </a:prstGeom>
        </p:spPr>
        <p:txBody>
          <a:bodyPr wrap="square">
            <a:spAutoFit/>
          </a:bodyPr>
          <a:lstStyle/>
          <a:p>
            <a:r>
              <a:rPr lang="en-US" altLang="zh-CN" sz="2000" kern="100" dirty="0">
                <a:solidFill>
                  <a:schemeClr val="accent1"/>
                </a:solidFill>
                <a:latin typeface="+mn-ea"/>
                <a:cs typeface="Times New Roman" panose="02020603050405020304" pitchFamily="18" charset="0"/>
              </a:rPr>
              <a:t>Problem Definition</a:t>
            </a:r>
          </a:p>
        </p:txBody>
      </p:sp>
      <p:grpSp>
        <p:nvGrpSpPr>
          <p:cNvPr id="35" name="Group 13"/>
          <p:cNvGrpSpPr>
            <a:grpSpLocks noChangeAspect="1"/>
          </p:cNvGrpSpPr>
          <p:nvPr/>
        </p:nvGrpSpPr>
        <p:grpSpPr bwMode="auto">
          <a:xfrm>
            <a:off x="4225466" y="3583031"/>
            <a:ext cx="328183" cy="327403"/>
            <a:chOff x="3665" y="2074"/>
            <a:chExt cx="421" cy="420"/>
          </a:xfrm>
          <a:solidFill>
            <a:schemeClr val="accent1"/>
          </a:solidFill>
        </p:grpSpPr>
        <p:sp>
          <p:nvSpPr>
            <p:cNvPr id="36" name="Freeform 14"/>
            <p:cNvSpPr>
              <a:spLocks noEditPoints="1"/>
            </p:cNvSpPr>
            <p:nvPr/>
          </p:nvSpPr>
          <p:spPr bwMode="auto">
            <a:xfrm>
              <a:off x="3665" y="2074"/>
              <a:ext cx="421" cy="420"/>
            </a:xfrm>
            <a:custGeom>
              <a:avLst/>
              <a:gdLst>
                <a:gd name="T0" fmla="*/ 350 w 699"/>
                <a:gd name="T1" fmla="*/ 698 h 698"/>
                <a:gd name="T2" fmla="*/ 0 w 699"/>
                <a:gd name="T3" fmla="*/ 349 h 698"/>
                <a:gd name="T4" fmla="*/ 350 w 699"/>
                <a:gd name="T5" fmla="*/ 0 h 698"/>
                <a:gd name="T6" fmla="*/ 699 w 699"/>
                <a:gd name="T7" fmla="*/ 349 h 698"/>
                <a:gd name="T8" fmla="*/ 350 w 699"/>
                <a:gd name="T9" fmla="*/ 698 h 698"/>
                <a:gd name="T10" fmla="*/ 350 w 699"/>
                <a:gd name="T11" fmla="*/ 40 h 698"/>
                <a:gd name="T12" fmla="*/ 40 w 699"/>
                <a:gd name="T13" fmla="*/ 349 h 698"/>
                <a:gd name="T14" fmla="*/ 350 w 699"/>
                <a:gd name="T15" fmla="*/ 658 h 698"/>
                <a:gd name="T16" fmla="*/ 659 w 699"/>
                <a:gd name="T17" fmla="*/ 349 h 698"/>
                <a:gd name="T18" fmla="*/ 350 w 699"/>
                <a:gd name="T19" fmla="*/ 4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9" h="698">
                  <a:moveTo>
                    <a:pt x="350" y="698"/>
                  </a:moveTo>
                  <a:cubicBezTo>
                    <a:pt x="157" y="698"/>
                    <a:pt x="0" y="542"/>
                    <a:pt x="0" y="349"/>
                  </a:cubicBezTo>
                  <a:cubicBezTo>
                    <a:pt x="0" y="156"/>
                    <a:pt x="157" y="0"/>
                    <a:pt x="350" y="0"/>
                  </a:cubicBezTo>
                  <a:cubicBezTo>
                    <a:pt x="542" y="0"/>
                    <a:pt x="699" y="156"/>
                    <a:pt x="699" y="349"/>
                  </a:cubicBezTo>
                  <a:cubicBezTo>
                    <a:pt x="699" y="542"/>
                    <a:pt x="542" y="698"/>
                    <a:pt x="350" y="698"/>
                  </a:cubicBezTo>
                  <a:close/>
                  <a:moveTo>
                    <a:pt x="350" y="40"/>
                  </a:moveTo>
                  <a:cubicBezTo>
                    <a:pt x="179" y="40"/>
                    <a:pt x="40" y="179"/>
                    <a:pt x="40" y="349"/>
                  </a:cubicBezTo>
                  <a:cubicBezTo>
                    <a:pt x="40" y="519"/>
                    <a:pt x="179" y="658"/>
                    <a:pt x="350" y="658"/>
                  </a:cubicBezTo>
                  <a:cubicBezTo>
                    <a:pt x="520" y="658"/>
                    <a:pt x="659" y="519"/>
                    <a:pt x="659" y="349"/>
                  </a:cubicBezTo>
                  <a:cubicBezTo>
                    <a:pt x="659" y="179"/>
                    <a:pt x="520" y="40"/>
                    <a:pt x="35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37" name="Freeform 15"/>
            <p:cNvSpPr/>
            <p:nvPr/>
          </p:nvSpPr>
          <p:spPr bwMode="auto">
            <a:xfrm>
              <a:off x="3759" y="2204"/>
              <a:ext cx="233" cy="162"/>
            </a:xfrm>
            <a:custGeom>
              <a:avLst/>
              <a:gdLst>
                <a:gd name="T0" fmla="*/ 138 w 387"/>
                <a:gd name="T1" fmla="*/ 269 h 269"/>
                <a:gd name="T2" fmla="*/ 123 w 387"/>
                <a:gd name="T3" fmla="*/ 263 h 269"/>
                <a:gd name="T4" fmla="*/ 7 w 387"/>
                <a:gd name="T5" fmla="*/ 147 h 269"/>
                <a:gd name="T6" fmla="*/ 7 w 387"/>
                <a:gd name="T7" fmla="*/ 119 h 269"/>
                <a:gd name="T8" fmla="*/ 7 w 387"/>
                <a:gd name="T9" fmla="*/ 119 h 269"/>
                <a:gd name="T10" fmla="*/ 36 w 387"/>
                <a:gd name="T11" fmla="*/ 119 h 269"/>
                <a:gd name="T12" fmla="*/ 36 w 387"/>
                <a:gd name="T13" fmla="*/ 119 h 269"/>
                <a:gd name="T14" fmla="*/ 138 w 387"/>
                <a:gd name="T15" fmla="*/ 221 h 269"/>
                <a:gd name="T16" fmla="*/ 350 w 387"/>
                <a:gd name="T17" fmla="*/ 8 h 269"/>
                <a:gd name="T18" fmla="*/ 379 w 387"/>
                <a:gd name="T19" fmla="*/ 8 h 269"/>
                <a:gd name="T20" fmla="*/ 379 w 387"/>
                <a:gd name="T21" fmla="*/ 8 h 269"/>
                <a:gd name="T22" fmla="*/ 379 w 387"/>
                <a:gd name="T23" fmla="*/ 36 h 269"/>
                <a:gd name="T24" fmla="*/ 379 w 387"/>
                <a:gd name="T25" fmla="*/ 36 h 269"/>
                <a:gd name="T26" fmla="*/ 152 w 387"/>
                <a:gd name="T27" fmla="*/ 263 h 269"/>
                <a:gd name="T28" fmla="*/ 138 w 387"/>
                <a:gd name="T29"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7" h="269">
                  <a:moveTo>
                    <a:pt x="138" y="269"/>
                  </a:moveTo>
                  <a:cubicBezTo>
                    <a:pt x="132" y="269"/>
                    <a:pt x="127" y="267"/>
                    <a:pt x="123" y="263"/>
                  </a:cubicBezTo>
                  <a:cubicBezTo>
                    <a:pt x="7" y="147"/>
                    <a:pt x="7" y="147"/>
                    <a:pt x="7" y="147"/>
                  </a:cubicBezTo>
                  <a:cubicBezTo>
                    <a:pt x="0" y="139"/>
                    <a:pt x="0" y="127"/>
                    <a:pt x="7" y="119"/>
                  </a:cubicBezTo>
                  <a:cubicBezTo>
                    <a:pt x="7" y="119"/>
                    <a:pt x="7" y="119"/>
                    <a:pt x="7" y="119"/>
                  </a:cubicBezTo>
                  <a:cubicBezTo>
                    <a:pt x="15" y="111"/>
                    <a:pt x="28" y="111"/>
                    <a:pt x="36" y="119"/>
                  </a:cubicBezTo>
                  <a:cubicBezTo>
                    <a:pt x="36" y="119"/>
                    <a:pt x="36" y="119"/>
                    <a:pt x="36" y="119"/>
                  </a:cubicBezTo>
                  <a:cubicBezTo>
                    <a:pt x="138" y="221"/>
                    <a:pt x="138" y="221"/>
                    <a:pt x="138" y="221"/>
                  </a:cubicBezTo>
                  <a:cubicBezTo>
                    <a:pt x="350" y="8"/>
                    <a:pt x="350" y="8"/>
                    <a:pt x="350" y="8"/>
                  </a:cubicBezTo>
                  <a:cubicBezTo>
                    <a:pt x="358" y="0"/>
                    <a:pt x="371" y="0"/>
                    <a:pt x="379" y="8"/>
                  </a:cubicBezTo>
                  <a:cubicBezTo>
                    <a:pt x="379" y="8"/>
                    <a:pt x="379" y="8"/>
                    <a:pt x="379" y="8"/>
                  </a:cubicBezTo>
                  <a:cubicBezTo>
                    <a:pt x="387" y="16"/>
                    <a:pt x="387" y="28"/>
                    <a:pt x="379" y="36"/>
                  </a:cubicBezTo>
                  <a:cubicBezTo>
                    <a:pt x="379" y="36"/>
                    <a:pt x="379" y="36"/>
                    <a:pt x="379" y="36"/>
                  </a:cubicBezTo>
                  <a:cubicBezTo>
                    <a:pt x="152" y="263"/>
                    <a:pt x="152" y="263"/>
                    <a:pt x="152" y="263"/>
                  </a:cubicBezTo>
                  <a:cubicBezTo>
                    <a:pt x="148" y="267"/>
                    <a:pt x="143" y="269"/>
                    <a:pt x="138" y="2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sp>
        <p:nvSpPr>
          <p:cNvPr id="38" name="矩形 37"/>
          <p:cNvSpPr/>
          <p:nvPr/>
        </p:nvSpPr>
        <p:spPr>
          <a:xfrm>
            <a:off x="4534964" y="3554868"/>
            <a:ext cx="1969770" cy="398780"/>
          </a:xfrm>
          <a:prstGeom prst="rect">
            <a:avLst/>
          </a:prstGeom>
        </p:spPr>
        <p:txBody>
          <a:bodyPr wrap="none">
            <a:spAutoFit/>
          </a:bodyPr>
          <a:lstStyle/>
          <a:p>
            <a:pPr algn="l"/>
            <a:r>
              <a:rPr lang="en-US" altLang="zh-CN" sz="2000" kern="100" dirty="0">
                <a:solidFill>
                  <a:schemeClr val="accent1"/>
                </a:solidFill>
                <a:latin typeface="+mn-ea"/>
                <a:cs typeface="Times New Roman" panose="02020603050405020304" pitchFamily="18" charset="0"/>
              </a:rPr>
              <a:t>Data Generation</a:t>
            </a:r>
          </a:p>
        </p:txBody>
      </p:sp>
      <p:grpSp>
        <p:nvGrpSpPr>
          <p:cNvPr id="14" name="组合 13"/>
          <p:cNvGrpSpPr/>
          <p:nvPr/>
        </p:nvGrpSpPr>
        <p:grpSpPr>
          <a:xfrm>
            <a:off x="1856805" y="2615775"/>
            <a:ext cx="1487548" cy="1487548"/>
            <a:chOff x="2473104" y="2145028"/>
            <a:chExt cx="359165" cy="359165"/>
          </a:xfrm>
          <a:solidFill>
            <a:sysClr val="window" lastClr="FFFFFF"/>
          </a:solidFill>
        </p:grpSpPr>
        <p:sp>
          <p:nvSpPr>
            <p:cNvPr id="16"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charset="0"/>
                <a:ea typeface="宋体" panose="02010600030101010101" pitchFamily="2" charset="-122"/>
                <a:sym typeface="Gill Sans" charset="0"/>
              </a:endParaRPr>
            </a:p>
          </p:txBody>
        </p:sp>
        <p:sp>
          <p:nvSpPr>
            <p:cNvPr id="17"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charset="0"/>
                <a:ea typeface="宋体" panose="02010600030101010101" pitchFamily="2" charset="-122"/>
                <a:sym typeface="Gill Sans" charset="0"/>
              </a:endParaRPr>
            </a:p>
          </p:txBody>
        </p:sp>
      </p:grpSp>
      <p:grpSp>
        <p:nvGrpSpPr>
          <p:cNvPr id="2" name="Group 13"/>
          <p:cNvGrpSpPr>
            <a:grpSpLocks noChangeAspect="1"/>
          </p:cNvGrpSpPr>
          <p:nvPr/>
        </p:nvGrpSpPr>
        <p:grpSpPr bwMode="auto">
          <a:xfrm>
            <a:off x="4225466" y="4056317"/>
            <a:ext cx="328183" cy="327403"/>
            <a:chOff x="3665" y="2074"/>
            <a:chExt cx="421" cy="420"/>
          </a:xfrm>
          <a:solidFill>
            <a:schemeClr val="accent1"/>
          </a:solidFill>
        </p:grpSpPr>
        <p:sp>
          <p:nvSpPr>
            <p:cNvPr id="3" name="Freeform 14"/>
            <p:cNvSpPr>
              <a:spLocks noEditPoints="1"/>
            </p:cNvSpPr>
            <p:nvPr/>
          </p:nvSpPr>
          <p:spPr bwMode="auto">
            <a:xfrm>
              <a:off x="3665" y="2074"/>
              <a:ext cx="421" cy="420"/>
            </a:xfrm>
            <a:custGeom>
              <a:avLst/>
              <a:gdLst>
                <a:gd name="T0" fmla="*/ 350 w 699"/>
                <a:gd name="T1" fmla="*/ 698 h 698"/>
                <a:gd name="T2" fmla="*/ 0 w 699"/>
                <a:gd name="T3" fmla="*/ 349 h 698"/>
                <a:gd name="T4" fmla="*/ 350 w 699"/>
                <a:gd name="T5" fmla="*/ 0 h 698"/>
                <a:gd name="T6" fmla="*/ 699 w 699"/>
                <a:gd name="T7" fmla="*/ 349 h 698"/>
                <a:gd name="T8" fmla="*/ 350 w 699"/>
                <a:gd name="T9" fmla="*/ 698 h 698"/>
                <a:gd name="T10" fmla="*/ 350 w 699"/>
                <a:gd name="T11" fmla="*/ 40 h 698"/>
                <a:gd name="T12" fmla="*/ 40 w 699"/>
                <a:gd name="T13" fmla="*/ 349 h 698"/>
                <a:gd name="T14" fmla="*/ 350 w 699"/>
                <a:gd name="T15" fmla="*/ 658 h 698"/>
                <a:gd name="T16" fmla="*/ 659 w 699"/>
                <a:gd name="T17" fmla="*/ 349 h 698"/>
                <a:gd name="T18" fmla="*/ 350 w 699"/>
                <a:gd name="T19" fmla="*/ 4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9" h="698">
                  <a:moveTo>
                    <a:pt x="350" y="698"/>
                  </a:moveTo>
                  <a:cubicBezTo>
                    <a:pt x="157" y="698"/>
                    <a:pt x="0" y="542"/>
                    <a:pt x="0" y="349"/>
                  </a:cubicBezTo>
                  <a:cubicBezTo>
                    <a:pt x="0" y="156"/>
                    <a:pt x="157" y="0"/>
                    <a:pt x="350" y="0"/>
                  </a:cubicBezTo>
                  <a:cubicBezTo>
                    <a:pt x="542" y="0"/>
                    <a:pt x="699" y="156"/>
                    <a:pt x="699" y="349"/>
                  </a:cubicBezTo>
                  <a:cubicBezTo>
                    <a:pt x="699" y="542"/>
                    <a:pt x="542" y="698"/>
                    <a:pt x="350" y="698"/>
                  </a:cubicBezTo>
                  <a:close/>
                  <a:moveTo>
                    <a:pt x="350" y="40"/>
                  </a:moveTo>
                  <a:cubicBezTo>
                    <a:pt x="179" y="40"/>
                    <a:pt x="40" y="179"/>
                    <a:pt x="40" y="349"/>
                  </a:cubicBezTo>
                  <a:cubicBezTo>
                    <a:pt x="40" y="519"/>
                    <a:pt x="179" y="658"/>
                    <a:pt x="350" y="658"/>
                  </a:cubicBezTo>
                  <a:cubicBezTo>
                    <a:pt x="520" y="658"/>
                    <a:pt x="659" y="519"/>
                    <a:pt x="659" y="349"/>
                  </a:cubicBezTo>
                  <a:cubicBezTo>
                    <a:pt x="659" y="179"/>
                    <a:pt x="520" y="40"/>
                    <a:pt x="35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4" name="Freeform 15"/>
            <p:cNvSpPr/>
            <p:nvPr/>
          </p:nvSpPr>
          <p:spPr bwMode="auto">
            <a:xfrm>
              <a:off x="3759" y="2204"/>
              <a:ext cx="233" cy="162"/>
            </a:xfrm>
            <a:custGeom>
              <a:avLst/>
              <a:gdLst>
                <a:gd name="T0" fmla="*/ 138 w 387"/>
                <a:gd name="T1" fmla="*/ 269 h 269"/>
                <a:gd name="T2" fmla="*/ 123 w 387"/>
                <a:gd name="T3" fmla="*/ 263 h 269"/>
                <a:gd name="T4" fmla="*/ 7 w 387"/>
                <a:gd name="T5" fmla="*/ 147 h 269"/>
                <a:gd name="T6" fmla="*/ 7 w 387"/>
                <a:gd name="T7" fmla="*/ 119 h 269"/>
                <a:gd name="T8" fmla="*/ 7 w 387"/>
                <a:gd name="T9" fmla="*/ 119 h 269"/>
                <a:gd name="T10" fmla="*/ 36 w 387"/>
                <a:gd name="T11" fmla="*/ 119 h 269"/>
                <a:gd name="T12" fmla="*/ 36 w 387"/>
                <a:gd name="T13" fmla="*/ 119 h 269"/>
                <a:gd name="T14" fmla="*/ 138 w 387"/>
                <a:gd name="T15" fmla="*/ 221 h 269"/>
                <a:gd name="T16" fmla="*/ 350 w 387"/>
                <a:gd name="T17" fmla="*/ 8 h 269"/>
                <a:gd name="T18" fmla="*/ 379 w 387"/>
                <a:gd name="T19" fmla="*/ 8 h 269"/>
                <a:gd name="T20" fmla="*/ 379 w 387"/>
                <a:gd name="T21" fmla="*/ 8 h 269"/>
                <a:gd name="T22" fmla="*/ 379 w 387"/>
                <a:gd name="T23" fmla="*/ 36 h 269"/>
                <a:gd name="T24" fmla="*/ 379 w 387"/>
                <a:gd name="T25" fmla="*/ 36 h 269"/>
                <a:gd name="T26" fmla="*/ 152 w 387"/>
                <a:gd name="T27" fmla="*/ 263 h 269"/>
                <a:gd name="T28" fmla="*/ 138 w 387"/>
                <a:gd name="T29"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7" h="269">
                  <a:moveTo>
                    <a:pt x="138" y="269"/>
                  </a:moveTo>
                  <a:cubicBezTo>
                    <a:pt x="132" y="269"/>
                    <a:pt x="127" y="267"/>
                    <a:pt x="123" y="263"/>
                  </a:cubicBezTo>
                  <a:cubicBezTo>
                    <a:pt x="7" y="147"/>
                    <a:pt x="7" y="147"/>
                    <a:pt x="7" y="147"/>
                  </a:cubicBezTo>
                  <a:cubicBezTo>
                    <a:pt x="0" y="139"/>
                    <a:pt x="0" y="127"/>
                    <a:pt x="7" y="119"/>
                  </a:cubicBezTo>
                  <a:cubicBezTo>
                    <a:pt x="7" y="119"/>
                    <a:pt x="7" y="119"/>
                    <a:pt x="7" y="119"/>
                  </a:cubicBezTo>
                  <a:cubicBezTo>
                    <a:pt x="15" y="111"/>
                    <a:pt x="28" y="111"/>
                    <a:pt x="36" y="119"/>
                  </a:cubicBezTo>
                  <a:cubicBezTo>
                    <a:pt x="36" y="119"/>
                    <a:pt x="36" y="119"/>
                    <a:pt x="36" y="119"/>
                  </a:cubicBezTo>
                  <a:cubicBezTo>
                    <a:pt x="138" y="221"/>
                    <a:pt x="138" y="221"/>
                    <a:pt x="138" y="221"/>
                  </a:cubicBezTo>
                  <a:cubicBezTo>
                    <a:pt x="350" y="8"/>
                    <a:pt x="350" y="8"/>
                    <a:pt x="350" y="8"/>
                  </a:cubicBezTo>
                  <a:cubicBezTo>
                    <a:pt x="358" y="0"/>
                    <a:pt x="371" y="0"/>
                    <a:pt x="379" y="8"/>
                  </a:cubicBezTo>
                  <a:cubicBezTo>
                    <a:pt x="379" y="8"/>
                    <a:pt x="379" y="8"/>
                    <a:pt x="379" y="8"/>
                  </a:cubicBezTo>
                  <a:cubicBezTo>
                    <a:pt x="387" y="16"/>
                    <a:pt x="387" y="28"/>
                    <a:pt x="379" y="36"/>
                  </a:cubicBezTo>
                  <a:cubicBezTo>
                    <a:pt x="379" y="36"/>
                    <a:pt x="379" y="36"/>
                    <a:pt x="379" y="36"/>
                  </a:cubicBezTo>
                  <a:cubicBezTo>
                    <a:pt x="152" y="263"/>
                    <a:pt x="152" y="263"/>
                    <a:pt x="152" y="263"/>
                  </a:cubicBezTo>
                  <a:cubicBezTo>
                    <a:pt x="148" y="267"/>
                    <a:pt x="143" y="269"/>
                    <a:pt x="138" y="2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sp>
        <p:nvSpPr>
          <p:cNvPr id="5" name="矩形 4"/>
          <p:cNvSpPr/>
          <p:nvPr/>
        </p:nvSpPr>
        <p:spPr>
          <a:xfrm>
            <a:off x="4534964" y="4028154"/>
            <a:ext cx="2275840" cy="398780"/>
          </a:xfrm>
          <a:prstGeom prst="rect">
            <a:avLst/>
          </a:prstGeom>
        </p:spPr>
        <p:txBody>
          <a:bodyPr wrap="none">
            <a:spAutoFit/>
          </a:bodyPr>
          <a:lstStyle/>
          <a:p>
            <a:pPr algn="l"/>
            <a:r>
              <a:rPr lang="en-US" altLang="zh-CN" sz="2000" kern="100" dirty="0">
                <a:solidFill>
                  <a:schemeClr val="accent1"/>
                </a:solidFill>
                <a:latin typeface="+mn-ea"/>
                <a:cs typeface="Times New Roman" panose="02020603050405020304" pitchFamily="18" charset="0"/>
              </a:rPr>
              <a:t>Feature Generation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695325" y="287665"/>
            <a:ext cx="6401511" cy="521970"/>
          </a:xfrm>
          <a:prstGeom prst="rect">
            <a:avLst/>
          </a:prstGeom>
          <a:noFill/>
        </p:spPr>
        <p:txBody>
          <a:bodyPr wrap="square" rtlCol="0">
            <a:spAutoFit/>
          </a:bodyPr>
          <a:lstStyle/>
          <a:p>
            <a:r>
              <a:rPr lang="en-US" altLang="zh-CN" sz="2800" b="1" dirty="0">
                <a:latin typeface="+mn-ea"/>
              </a:rPr>
              <a:t>Problem Definition</a:t>
            </a:r>
          </a:p>
        </p:txBody>
      </p:sp>
      <p:sp>
        <p:nvSpPr>
          <p:cNvPr id="4" name="灯片编号占位符 3"/>
          <p:cNvSpPr>
            <a:spLocks noGrp="1"/>
          </p:cNvSpPr>
          <p:nvPr>
            <p:ph type="sldNum" sz="quarter" idx="12"/>
          </p:nvPr>
        </p:nvSpPr>
        <p:spPr/>
        <p:txBody>
          <a:bodyPr/>
          <a:lstStyle/>
          <a:p>
            <a:fld id="{51D91E7F-84B6-4064-9D4E-CC7D244BCA04}" type="slidenum">
              <a:rPr lang="zh-CN" altLang="en-US" smtClean="0">
                <a:latin typeface="宋体" panose="02010600030101010101" pitchFamily="2" charset="-122"/>
                <a:ea typeface="宋体" panose="02010600030101010101" pitchFamily="2" charset="-122"/>
              </a:rPr>
              <a:t>6</a:t>
            </a:fld>
            <a:endParaRPr lang="zh-CN" altLang="en-US" dirty="0">
              <a:latin typeface="宋体" panose="02010600030101010101" pitchFamily="2" charset="-122"/>
              <a:ea typeface="宋体" panose="02010600030101010101" pitchFamily="2" charset="-122"/>
            </a:endParaRPr>
          </a:p>
        </p:txBody>
      </p:sp>
      <p:sp>
        <p:nvSpPr>
          <p:cNvPr id="27" name="圆角矩形 26"/>
          <p:cNvSpPr/>
          <p:nvPr/>
        </p:nvSpPr>
        <p:spPr>
          <a:xfrm>
            <a:off x="368303" y="952505"/>
            <a:ext cx="11239500" cy="45719"/>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2" name="矩形 1"/>
          <p:cNvSpPr/>
          <p:nvPr/>
        </p:nvSpPr>
        <p:spPr>
          <a:xfrm>
            <a:off x="695410" y="1196653"/>
            <a:ext cx="10169928" cy="1476375"/>
          </a:xfrm>
          <a:prstGeom prst="rect">
            <a:avLst/>
          </a:prstGeom>
          <a:noFill/>
        </p:spPr>
        <p:txBody>
          <a:bodyPr wrap="square">
            <a:spAutoFit/>
          </a:bodyPr>
          <a:lstStyle/>
          <a:p>
            <a:pPr>
              <a:lnSpc>
                <a:spcPct val="150000"/>
              </a:lnSpc>
              <a:buClr>
                <a:schemeClr val="accent5">
                  <a:lumMod val="75000"/>
                </a:schemeClr>
              </a:buClr>
              <a:buFont typeface="Wingdings" panose="05000000000000000000" pitchFamily="2" charset="2"/>
              <a:buChar char="p"/>
            </a:pPr>
            <a:r>
              <a:rPr lang="en-US" altLang="zh-CN" sz="2400" b="1" dirty="0">
                <a:latin typeface="+mn-ea"/>
              </a:rPr>
              <a:t> </a:t>
            </a:r>
            <a:r>
              <a:rPr lang="en-US" altLang="zh-CN" sz="2000" b="1" dirty="0">
                <a:latin typeface="+mn-ea"/>
              </a:rPr>
              <a:t>Practical Significance</a:t>
            </a:r>
          </a:p>
          <a:p>
            <a:pPr marL="742950" lvl="1" indent="-285750">
              <a:lnSpc>
                <a:spcPct val="150000"/>
              </a:lnSpc>
              <a:buClr>
                <a:schemeClr val="accent5">
                  <a:lumMod val="75000"/>
                </a:schemeClr>
              </a:buClr>
              <a:buFont typeface="Wingdings" panose="05000000000000000000" pitchFamily="2" charset="2"/>
              <a:buChar char="Ø"/>
            </a:pPr>
            <a:r>
              <a:rPr lang="en-US" altLang="zh-CN" dirty="0">
                <a:latin typeface="+mn-ea"/>
              </a:rPr>
              <a:t>UE is one of the main causes of server downtime. Predicting in advance can reduce downtime and opti-mize operation and maintenance costs</a:t>
            </a:r>
          </a:p>
        </p:txBody>
      </p:sp>
      <p:sp>
        <p:nvSpPr>
          <p:cNvPr id="3" name="矩形 2"/>
          <p:cNvSpPr/>
          <p:nvPr/>
        </p:nvSpPr>
        <p:spPr>
          <a:xfrm>
            <a:off x="694140" y="2871148"/>
            <a:ext cx="10169928" cy="2722880"/>
          </a:xfrm>
          <a:prstGeom prst="rect">
            <a:avLst/>
          </a:prstGeom>
          <a:noFill/>
        </p:spPr>
        <p:txBody>
          <a:bodyPr wrap="square">
            <a:spAutoFit/>
          </a:bodyPr>
          <a:lstStyle/>
          <a:p>
            <a:pPr>
              <a:lnSpc>
                <a:spcPct val="150000"/>
              </a:lnSpc>
              <a:buClr>
                <a:schemeClr val="accent5">
                  <a:lumMod val="75000"/>
                </a:schemeClr>
              </a:buClr>
              <a:buFont typeface="Wingdings" panose="05000000000000000000" pitchFamily="2" charset="2"/>
              <a:buChar char="p"/>
            </a:pPr>
            <a:r>
              <a:rPr lang="en-US" altLang="zh-CN" sz="2400" b="1" dirty="0">
                <a:latin typeface="+mn-ea"/>
              </a:rPr>
              <a:t> </a:t>
            </a:r>
            <a:r>
              <a:rPr lang="en-US" altLang="zh-CN" sz="2000" b="1" dirty="0">
                <a:latin typeface="+mn-ea"/>
              </a:rPr>
              <a:t>Limitations and Challenges</a:t>
            </a:r>
          </a:p>
          <a:p>
            <a:pPr marL="742950" lvl="1" indent="-285750">
              <a:lnSpc>
                <a:spcPct val="150000"/>
              </a:lnSpc>
              <a:buClr>
                <a:schemeClr val="accent5">
                  <a:lumMod val="75000"/>
                </a:schemeClr>
              </a:buClr>
              <a:buFont typeface="Wingdings" panose="05000000000000000000" pitchFamily="2" charset="2"/>
              <a:buChar char="Ø"/>
            </a:pPr>
            <a:r>
              <a:rPr lang="en-US" altLang="zh-CN" dirty="0">
                <a:latin typeface="+mn-ea"/>
              </a:rPr>
              <a:t>Data noise and extreme class imbalance</a:t>
            </a:r>
          </a:p>
          <a:p>
            <a:pPr marL="742950" lvl="1" indent="-285750">
              <a:lnSpc>
                <a:spcPct val="150000"/>
              </a:lnSpc>
              <a:buClr>
                <a:schemeClr val="accent5">
                  <a:lumMod val="75000"/>
                </a:schemeClr>
              </a:buClr>
              <a:buFont typeface="Wingdings" panose="05000000000000000000" pitchFamily="2" charset="2"/>
              <a:buChar char="Ø"/>
            </a:pPr>
            <a:r>
              <a:rPr lang="en-US" altLang="zh-CN" dirty="0">
                <a:latin typeface="+mn-ea"/>
              </a:rPr>
              <a:t>ncomplete Error Characterization</a:t>
            </a:r>
          </a:p>
          <a:p>
            <a:pPr marL="742950" lvl="1" indent="-285750">
              <a:lnSpc>
                <a:spcPct val="150000"/>
              </a:lnSpc>
              <a:buClr>
                <a:schemeClr val="accent5">
                  <a:lumMod val="75000"/>
                </a:schemeClr>
              </a:buClr>
              <a:buFont typeface="Wingdings" panose="05000000000000000000" pitchFamily="2" charset="2"/>
              <a:buChar char="Ø"/>
            </a:pPr>
            <a:r>
              <a:rPr lang="en-US" altLang="zh-CN" dirty="0">
                <a:latin typeface="+mn-ea"/>
              </a:rPr>
              <a:t>Hardware Heterogeneity Gap</a:t>
            </a:r>
          </a:p>
          <a:p>
            <a:pPr marL="742950" lvl="1" indent="-285750">
              <a:lnSpc>
                <a:spcPct val="150000"/>
              </a:lnSpc>
              <a:buClr>
                <a:schemeClr val="accent5">
                  <a:lumMod val="75000"/>
                </a:schemeClr>
              </a:buClr>
              <a:buFont typeface="Wingdings" panose="05000000000000000000" pitchFamily="2" charset="2"/>
              <a:buChar char="Ø"/>
            </a:pPr>
            <a:r>
              <a:rPr lang="en-US" altLang="zh-CN" dirty="0">
                <a:latin typeface="+mn-ea"/>
              </a:rPr>
              <a:t>ECC Degradation Challenge</a:t>
            </a:r>
          </a:p>
          <a:p>
            <a:pPr marL="742950" lvl="1" indent="-285750">
              <a:lnSpc>
                <a:spcPct val="150000"/>
              </a:lnSpc>
              <a:buClr>
                <a:schemeClr val="accent5">
                  <a:lumMod val="75000"/>
                </a:schemeClr>
              </a:buClr>
              <a:buFont typeface="Wingdings" panose="05000000000000000000" pitchFamily="2" charset="2"/>
              <a:buChar char="Ø"/>
            </a:pPr>
            <a:r>
              <a:rPr lang="en-US" altLang="zh-CN" dirty="0">
                <a:latin typeface="+mn-ea"/>
              </a:rPr>
              <a:t>Distribution offset caused by changes in operating environment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4948"/>
    </mc:Choice>
    <mc:Fallback xmlns="">
      <p:transition spd="slow" advTm="74948"/>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695325" y="287665"/>
            <a:ext cx="6401511" cy="521970"/>
          </a:xfrm>
          <a:prstGeom prst="rect">
            <a:avLst/>
          </a:prstGeom>
          <a:noFill/>
        </p:spPr>
        <p:txBody>
          <a:bodyPr wrap="square" rtlCol="0">
            <a:spAutoFit/>
          </a:bodyPr>
          <a:lstStyle/>
          <a:p>
            <a:r>
              <a:rPr lang="en-US" altLang="zh-CN" sz="2800" b="1" dirty="0">
                <a:latin typeface="+mn-ea"/>
              </a:rPr>
              <a:t>Data Generation</a:t>
            </a:r>
          </a:p>
        </p:txBody>
      </p:sp>
      <p:sp>
        <p:nvSpPr>
          <p:cNvPr id="4" name="灯片编号占位符 3"/>
          <p:cNvSpPr>
            <a:spLocks noGrp="1"/>
          </p:cNvSpPr>
          <p:nvPr>
            <p:ph type="sldNum" sz="quarter" idx="12"/>
          </p:nvPr>
        </p:nvSpPr>
        <p:spPr/>
        <p:txBody>
          <a:bodyPr/>
          <a:lstStyle/>
          <a:p>
            <a:fld id="{51D91E7F-84B6-4064-9D4E-CC7D244BCA04}" type="slidenum">
              <a:rPr lang="zh-CN" altLang="en-US" smtClean="0">
                <a:latin typeface="宋体" panose="02010600030101010101" pitchFamily="2" charset="-122"/>
                <a:ea typeface="宋体" panose="02010600030101010101" pitchFamily="2" charset="-122"/>
              </a:rPr>
              <a:t>7</a:t>
            </a:fld>
            <a:endParaRPr lang="zh-CN" altLang="en-US" dirty="0">
              <a:latin typeface="宋体" panose="02010600030101010101" pitchFamily="2" charset="-122"/>
              <a:ea typeface="宋体" panose="02010600030101010101" pitchFamily="2" charset="-122"/>
            </a:endParaRPr>
          </a:p>
        </p:txBody>
      </p:sp>
      <p:sp>
        <p:nvSpPr>
          <p:cNvPr id="27" name="圆角矩形 26"/>
          <p:cNvSpPr/>
          <p:nvPr/>
        </p:nvSpPr>
        <p:spPr>
          <a:xfrm>
            <a:off x="368303" y="952505"/>
            <a:ext cx="11239500" cy="45719"/>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3" name="矩形 2"/>
          <p:cNvSpPr/>
          <p:nvPr/>
        </p:nvSpPr>
        <p:spPr>
          <a:xfrm>
            <a:off x="695410" y="1141408"/>
            <a:ext cx="10169928" cy="3969385"/>
          </a:xfrm>
          <a:prstGeom prst="rect">
            <a:avLst/>
          </a:prstGeom>
          <a:noFill/>
        </p:spPr>
        <p:txBody>
          <a:bodyPr wrap="square">
            <a:spAutoFit/>
          </a:bodyPr>
          <a:lstStyle/>
          <a:p>
            <a:pPr>
              <a:lnSpc>
                <a:spcPct val="150000"/>
              </a:lnSpc>
              <a:buClr>
                <a:schemeClr val="accent5">
                  <a:lumMod val="75000"/>
                </a:schemeClr>
              </a:buClr>
              <a:buFont typeface="Wingdings" panose="05000000000000000000" pitchFamily="2" charset="2"/>
              <a:buChar char="p"/>
            </a:pPr>
            <a:r>
              <a:rPr lang="en-US" altLang="zh-CN" sz="2400" b="1" dirty="0">
                <a:latin typeface="+mn-ea"/>
              </a:rPr>
              <a:t> </a:t>
            </a:r>
            <a:r>
              <a:rPr lang="en-US" altLang="zh-CN" sz="2000" b="1" dirty="0">
                <a:latin typeface="+mn-ea"/>
              </a:rPr>
              <a:t>Error and Missing Data</a:t>
            </a:r>
          </a:p>
          <a:p>
            <a:pPr lvl="1" indent="0">
              <a:lnSpc>
                <a:spcPct val="150000"/>
              </a:lnSpc>
              <a:buClr>
                <a:schemeClr val="accent5">
                  <a:lumMod val="75000"/>
                </a:schemeClr>
              </a:buClr>
              <a:buFont typeface="Wingdings" panose="05000000000000000000" pitchFamily="2" charset="2"/>
              <a:buNone/>
            </a:pPr>
            <a:r>
              <a:rPr lang="en-US" altLang="zh-CN" dirty="0">
                <a:latin typeface="+mn-ea"/>
              </a:rPr>
              <a:t>• Over 40% duplicate rate in raw error logs</a:t>
            </a:r>
          </a:p>
          <a:p>
            <a:pPr lvl="1" indent="0">
              <a:lnSpc>
                <a:spcPct val="150000"/>
              </a:lnSpc>
              <a:buClr>
                <a:schemeClr val="accent5">
                  <a:lumMod val="75000"/>
                </a:schemeClr>
              </a:buClr>
              <a:buFont typeface="Wingdings" panose="05000000000000000000" pitchFamily="2" charset="2"/>
              <a:buNone/>
            </a:pPr>
            <a:r>
              <a:rPr lang="en-US" altLang="zh-CN" dirty="0">
                <a:latin typeface="+mn-ea"/>
              </a:rPr>
              <a:t>• high missing rates in critical temporal features</a:t>
            </a:r>
          </a:p>
          <a:p>
            <a:pPr lvl="1" indent="0">
              <a:lnSpc>
                <a:spcPct val="150000"/>
              </a:lnSpc>
              <a:buClr>
                <a:schemeClr val="accent5">
                  <a:lumMod val="75000"/>
                </a:schemeClr>
              </a:buClr>
              <a:buFont typeface="Wingdings" panose="05000000000000000000" pitchFamily="2" charset="2"/>
              <a:buNone/>
            </a:pPr>
            <a:r>
              <a:rPr lang="en-US" altLang="zh-CN" dirty="0">
                <a:latin typeface="+mn-ea"/>
              </a:rPr>
              <a:t>• Multi-Level Deduplication:</a:t>
            </a:r>
          </a:p>
          <a:p>
            <a:pPr lvl="1" indent="0">
              <a:lnSpc>
                <a:spcPct val="150000"/>
              </a:lnSpc>
              <a:buClr>
                <a:schemeClr val="accent5">
                  <a:lumMod val="75000"/>
                </a:schemeClr>
              </a:buClr>
              <a:buFont typeface="Wingdings" panose="05000000000000000000" pitchFamily="2" charset="2"/>
              <a:buNone/>
            </a:pPr>
            <a:r>
              <a:rPr lang="en-US" altLang="zh-CN" dirty="0">
                <a:latin typeface="+mn-ea"/>
              </a:rPr>
              <a:t>(1) Device-level duplicate removal (MD5 hashing)</a:t>
            </a:r>
          </a:p>
          <a:p>
            <a:pPr lvl="1" indent="0">
              <a:lnSpc>
                <a:spcPct val="150000"/>
              </a:lnSpc>
              <a:buClr>
                <a:schemeClr val="accent5">
                  <a:lumMod val="75000"/>
                </a:schemeClr>
              </a:buClr>
              <a:buFont typeface="Wingdings" panose="05000000000000000000" pitchFamily="2" charset="2"/>
              <a:buNone/>
            </a:pPr>
            <a:r>
              <a:rPr lang="en-US" altLang="zh-CN" dirty="0">
                <a:latin typeface="+mn-ea"/>
              </a:rPr>
              <a:t>(2) Sliding window filtering (Δ</a:t>
            </a:r>
            <a:r>
              <a:rPr lang="zh-CN" altLang="en-US" dirty="0">
                <a:latin typeface="+mn-ea"/>
              </a:rPr>
              <a:t>𝑡</a:t>
            </a:r>
            <a:r>
              <a:rPr lang="en-US" altLang="zh-CN" dirty="0">
                <a:latin typeface="+mn-ea"/>
              </a:rPr>
              <a:t> = 5min)</a:t>
            </a:r>
          </a:p>
          <a:p>
            <a:pPr lvl="1" indent="0">
              <a:lnSpc>
                <a:spcPct val="150000"/>
              </a:lnSpc>
              <a:buClr>
                <a:schemeClr val="accent5">
                  <a:lumMod val="75000"/>
                </a:schemeClr>
              </a:buClr>
              <a:buFont typeface="Wingdings" panose="05000000000000000000" pitchFamily="2" charset="2"/>
              <a:buNone/>
            </a:pPr>
            <a:r>
              <a:rPr lang="en-US" altLang="zh-CN" dirty="0">
                <a:latin typeface="+mn-ea"/>
              </a:rPr>
              <a:t>(3) Semantic deduplication via error code clustering</a:t>
            </a:r>
          </a:p>
          <a:p>
            <a:pPr lvl="1" indent="0">
              <a:lnSpc>
                <a:spcPct val="150000"/>
              </a:lnSpc>
              <a:buClr>
                <a:schemeClr val="accent5">
                  <a:lumMod val="75000"/>
                </a:schemeClr>
              </a:buClr>
              <a:buFont typeface="Wingdings" panose="05000000000000000000" pitchFamily="2" charset="2"/>
              <a:buNone/>
            </a:pPr>
            <a:r>
              <a:rPr lang="en-US" altLang="zh-CN" dirty="0">
                <a:latin typeface="+mn-ea"/>
              </a:rPr>
              <a:t>• Causal Imputation: Implement leakage-free filling using back-</a:t>
            </a:r>
          </a:p>
          <a:p>
            <a:pPr lvl="1" indent="0">
              <a:lnSpc>
                <a:spcPct val="150000"/>
              </a:lnSpc>
              <a:buClr>
                <a:schemeClr val="accent5">
                  <a:lumMod val="75000"/>
                </a:schemeClr>
              </a:buClr>
              <a:buFont typeface="Wingdings" panose="05000000000000000000" pitchFamily="2" charset="2"/>
              <a:buNone/>
            </a:pPr>
            <a:r>
              <a:rPr lang="en-US" altLang="zh-CN" dirty="0">
                <a:latin typeface="+mn-ea"/>
              </a:rPr>
              <a:t>ward window averaging:</a:t>
            </a:r>
          </a:p>
        </p:txBody>
      </p:sp>
      <p:pic>
        <p:nvPicPr>
          <p:cNvPr id="5" name="图片 4"/>
          <p:cNvPicPr>
            <a:picLocks noChangeAspect="1"/>
          </p:cNvPicPr>
          <p:nvPr/>
        </p:nvPicPr>
        <p:blipFill>
          <a:blip r:embed="rId4"/>
          <a:stretch>
            <a:fillRect/>
          </a:stretch>
        </p:blipFill>
        <p:spPr>
          <a:xfrm>
            <a:off x="2249170" y="5176520"/>
            <a:ext cx="5755005" cy="828675"/>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4948"/>
    </mc:Choice>
    <mc:Fallback xmlns="">
      <p:transition spd="slow" advTm="74948"/>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695325" y="287665"/>
            <a:ext cx="6401511" cy="521970"/>
          </a:xfrm>
          <a:prstGeom prst="rect">
            <a:avLst/>
          </a:prstGeom>
          <a:noFill/>
        </p:spPr>
        <p:txBody>
          <a:bodyPr wrap="square" rtlCol="0">
            <a:spAutoFit/>
          </a:bodyPr>
          <a:lstStyle/>
          <a:p>
            <a:r>
              <a:rPr lang="en-US" altLang="zh-CN" sz="2800" b="1" dirty="0">
                <a:latin typeface="+mn-ea"/>
              </a:rPr>
              <a:t>Data Generation</a:t>
            </a:r>
          </a:p>
        </p:txBody>
      </p:sp>
      <p:sp>
        <p:nvSpPr>
          <p:cNvPr id="4" name="灯片编号占位符 3"/>
          <p:cNvSpPr>
            <a:spLocks noGrp="1"/>
          </p:cNvSpPr>
          <p:nvPr>
            <p:ph type="sldNum" sz="quarter" idx="12"/>
          </p:nvPr>
        </p:nvSpPr>
        <p:spPr/>
        <p:txBody>
          <a:bodyPr/>
          <a:lstStyle/>
          <a:p>
            <a:fld id="{51D91E7F-84B6-4064-9D4E-CC7D244BCA04}" type="slidenum">
              <a:rPr lang="zh-CN" altLang="en-US" smtClean="0">
                <a:latin typeface="宋体" panose="02010600030101010101" pitchFamily="2" charset="-122"/>
                <a:ea typeface="宋体" panose="02010600030101010101" pitchFamily="2" charset="-122"/>
              </a:rPr>
              <a:t>8</a:t>
            </a:fld>
            <a:endParaRPr lang="zh-CN" altLang="en-US" dirty="0">
              <a:latin typeface="宋体" panose="02010600030101010101" pitchFamily="2" charset="-122"/>
              <a:ea typeface="宋体" panose="02010600030101010101" pitchFamily="2" charset="-122"/>
            </a:endParaRPr>
          </a:p>
        </p:txBody>
      </p:sp>
      <p:sp>
        <p:nvSpPr>
          <p:cNvPr id="27" name="圆角矩形 26"/>
          <p:cNvSpPr/>
          <p:nvPr/>
        </p:nvSpPr>
        <p:spPr>
          <a:xfrm>
            <a:off x="368303" y="952505"/>
            <a:ext cx="11239500" cy="45719"/>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3" name="矩形 2"/>
          <p:cNvSpPr/>
          <p:nvPr/>
        </p:nvSpPr>
        <p:spPr>
          <a:xfrm>
            <a:off x="695410" y="1141408"/>
            <a:ext cx="10169928" cy="1476375"/>
          </a:xfrm>
          <a:prstGeom prst="rect">
            <a:avLst/>
          </a:prstGeom>
          <a:noFill/>
        </p:spPr>
        <p:txBody>
          <a:bodyPr wrap="square">
            <a:spAutoFit/>
          </a:bodyPr>
          <a:lstStyle/>
          <a:p>
            <a:pPr>
              <a:lnSpc>
                <a:spcPct val="150000"/>
              </a:lnSpc>
              <a:buClr>
                <a:schemeClr val="accent5">
                  <a:lumMod val="75000"/>
                </a:schemeClr>
              </a:buClr>
              <a:buFont typeface="Wingdings" panose="05000000000000000000" pitchFamily="2" charset="2"/>
              <a:buChar char="p"/>
            </a:pPr>
            <a:r>
              <a:rPr lang="en-US" altLang="zh-CN" sz="2400" b="1" dirty="0">
                <a:latin typeface="+mn-ea"/>
              </a:rPr>
              <a:t> </a:t>
            </a:r>
            <a:r>
              <a:rPr lang="en-US" altLang="zh-CN" sz="2000" b="1" dirty="0">
                <a:latin typeface="+mn-ea"/>
              </a:rPr>
              <a:t>Distribution Characteristics</a:t>
            </a:r>
          </a:p>
          <a:p>
            <a:pPr lvl="1" indent="0">
              <a:lnSpc>
                <a:spcPct val="150000"/>
              </a:lnSpc>
              <a:buClr>
                <a:schemeClr val="accent5">
                  <a:lumMod val="75000"/>
                </a:schemeClr>
              </a:buClr>
              <a:buFont typeface="Wingdings" panose="05000000000000000000" pitchFamily="2" charset="2"/>
              <a:buNone/>
            </a:pPr>
            <a:r>
              <a:rPr lang="en-US" altLang="zh-CN" dirty="0">
                <a:latin typeface="+mn-ea"/>
              </a:rPr>
              <a:t>• Top 5% modules account for 71.2% of total logs (Gini coeffi-cient=0.68)</a:t>
            </a:r>
          </a:p>
          <a:p>
            <a:pPr lvl="1" indent="0">
              <a:lnSpc>
                <a:spcPct val="150000"/>
              </a:lnSpc>
              <a:buClr>
                <a:schemeClr val="accent5">
                  <a:lumMod val="75000"/>
                </a:schemeClr>
              </a:buClr>
              <a:buFont typeface="Wingdings" panose="05000000000000000000" pitchFamily="2" charset="2"/>
              <a:buNone/>
            </a:pPr>
            <a:r>
              <a:rPr lang="en-US" altLang="zh-CN" dirty="0">
                <a:latin typeface="+mn-ea"/>
              </a:rPr>
              <a:t>• Long-tail effect causes ≥3.2</a:t>
            </a:r>
            <a:r>
              <a:rPr lang="en-US" altLang="en-US" dirty="0">
                <a:latin typeface="+mn-ea"/>
              </a:rPr>
              <a:t>×</a:t>
            </a:r>
            <a:r>
              <a:rPr lang="en-US" altLang="zh-CN" dirty="0">
                <a:latin typeface="+mn-ea"/>
              </a:rPr>
              <a:t> increase in cross-entropy loss</a:t>
            </a:r>
          </a:p>
        </p:txBody>
      </p:sp>
      <p:sp>
        <p:nvSpPr>
          <p:cNvPr id="2" name="矩形 1"/>
          <p:cNvSpPr/>
          <p:nvPr/>
        </p:nvSpPr>
        <p:spPr>
          <a:xfrm>
            <a:off x="694140" y="2593018"/>
            <a:ext cx="10169928" cy="1476375"/>
          </a:xfrm>
          <a:prstGeom prst="rect">
            <a:avLst/>
          </a:prstGeom>
          <a:noFill/>
        </p:spPr>
        <p:txBody>
          <a:bodyPr wrap="square">
            <a:spAutoFit/>
          </a:bodyPr>
          <a:lstStyle/>
          <a:p>
            <a:pPr>
              <a:lnSpc>
                <a:spcPct val="150000"/>
              </a:lnSpc>
              <a:buClr>
                <a:schemeClr val="accent5">
                  <a:lumMod val="75000"/>
                </a:schemeClr>
              </a:buClr>
              <a:buFont typeface="Wingdings" panose="05000000000000000000" pitchFamily="2" charset="2"/>
              <a:buChar char="p"/>
            </a:pPr>
            <a:r>
              <a:rPr lang="en-US" altLang="zh-CN" sz="2400" b="1" dirty="0">
                <a:latin typeface="+mn-ea"/>
              </a:rPr>
              <a:t> </a:t>
            </a:r>
            <a:r>
              <a:rPr lang="en-US" altLang="zh-CN" sz="2000" b="1" dirty="0">
                <a:latin typeface="+mn-ea"/>
              </a:rPr>
              <a:t>Balancing Methodology</a:t>
            </a:r>
          </a:p>
          <a:p>
            <a:pPr lvl="1" indent="0">
              <a:lnSpc>
                <a:spcPct val="150000"/>
              </a:lnSpc>
              <a:buClr>
                <a:schemeClr val="accent5">
                  <a:lumMod val="75000"/>
                </a:schemeClr>
              </a:buClr>
              <a:buFont typeface="Wingdings" panose="05000000000000000000" pitchFamily="2" charset="2"/>
              <a:buNone/>
            </a:pPr>
            <a:r>
              <a:rPr lang="en-US" altLang="zh-CN" dirty="0">
                <a:latin typeface="+mn-ea"/>
              </a:rPr>
              <a:t>• Geometric Subsampling: Apply length-dependent sampling weights</a:t>
            </a:r>
          </a:p>
          <a:p>
            <a:pPr lvl="1" indent="0">
              <a:lnSpc>
                <a:spcPct val="150000"/>
              </a:lnSpc>
              <a:buClr>
                <a:schemeClr val="accent5">
                  <a:lumMod val="75000"/>
                </a:schemeClr>
              </a:buClr>
              <a:buFont typeface="Wingdings" panose="05000000000000000000" pitchFamily="2" charset="2"/>
              <a:buNone/>
            </a:pPr>
            <a:r>
              <a:rPr lang="en-US" altLang="zh-CN" dirty="0">
                <a:latin typeface="+mn-ea"/>
              </a:rPr>
              <a:t>• emporal Aggregation: Convert raw logs to daily statistica profiles</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4948"/>
    </mc:Choice>
    <mc:Fallback xmlns="">
      <p:transition spd="slow" advTm="7494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695325" y="287665"/>
            <a:ext cx="6401511" cy="521970"/>
          </a:xfrm>
          <a:prstGeom prst="rect">
            <a:avLst/>
          </a:prstGeom>
          <a:noFill/>
        </p:spPr>
        <p:txBody>
          <a:bodyPr wrap="square" rtlCol="0">
            <a:spAutoFit/>
          </a:bodyPr>
          <a:lstStyle/>
          <a:p>
            <a:r>
              <a:rPr lang="en-US" altLang="zh-CN" sz="2800" b="1" dirty="0">
                <a:latin typeface="+mn-ea"/>
              </a:rPr>
              <a:t>Data Generation</a:t>
            </a:r>
          </a:p>
        </p:txBody>
      </p:sp>
      <p:sp>
        <p:nvSpPr>
          <p:cNvPr id="4" name="灯片编号占位符 3"/>
          <p:cNvSpPr>
            <a:spLocks noGrp="1"/>
          </p:cNvSpPr>
          <p:nvPr>
            <p:ph type="sldNum" sz="quarter" idx="12"/>
          </p:nvPr>
        </p:nvSpPr>
        <p:spPr/>
        <p:txBody>
          <a:bodyPr/>
          <a:lstStyle/>
          <a:p>
            <a:fld id="{51D91E7F-84B6-4064-9D4E-CC7D244BCA04}" type="slidenum">
              <a:rPr lang="zh-CN" altLang="en-US" smtClean="0">
                <a:latin typeface="宋体" panose="02010600030101010101" pitchFamily="2" charset="-122"/>
                <a:ea typeface="宋体" panose="02010600030101010101" pitchFamily="2" charset="-122"/>
              </a:rPr>
              <a:t>9</a:t>
            </a:fld>
            <a:endParaRPr lang="zh-CN" altLang="en-US" dirty="0">
              <a:latin typeface="宋体" panose="02010600030101010101" pitchFamily="2" charset="-122"/>
              <a:ea typeface="宋体" panose="02010600030101010101" pitchFamily="2" charset="-122"/>
            </a:endParaRPr>
          </a:p>
        </p:txBody>
      </p:sp>
      <p:sp>
        <p:nvSpPr>
          <p:cNvPr id="27" name="圆角矩形 26"/>
          <p:cNvSpPr/>
          <p:nvPr/>
        </p:nvSpPr>
        <p:spPr>
          <a:xfrm>
            <a:off x="368303" y="952505"/>
            <a:ext cx="11239500" cy="45719"/>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3" name="矩形 2"/>
          <p:cNvSpPr/>
          <p:nvPr/>
        </p:nvSpPr>
        <p:spPr>
          <a:xfrm>
            <a:off x="695410" y="1141408"/>
            <a:ext cx="10169928" cy="1891665"/>
          </a:xfrm>
          <a:prstGeom prst="rect">
            <a:avLst/>
          </a:prstGeom>
          <a:noFill/>
        </p:spPr>
        <p:txBody>
          <a:bodyPr wrap="square">
            <a:spAutoFit/>
          </a:bodyPr>
          <a:lstStyle/>
          <a:p>
            <a:pPr>
              <a:lnSpc>
                <a:spcPct val="150000"/>
              </a:lnSpc>
              <a:buClr>
                <a:schemeClr val="accent5">
                  <a:lumMod val="75000"/>
                </a:schemeClr>
              </a:buClr>
              <a:buFont typeface="Wingdings" panose="05000000000000000000" pitchFamily="2" charset="2"/>
              <a:buChar char="p"/>
            </a:pPr>
            <a:r>
              <a:rPr lang="en-US" altLang="zh-CN" sz="2400" b="1" dirty="0">
                <a:latin typeface="+mn-ea"/>
              </a:rPr>
              <a:t> </a:t>
            </a:r>
            <a:r>
              <a:rPr lang="en-US" altLang="zh-CN" sz="2000" b="1" dirty="0">
                <a:latin typeface="+mn-ea"/>
              </a:rPr>
              <a:t>Data-Sparse Samples Empirical Observations</a:t>
            </a:r>
          </a:p>
          <a:p>
            <a:pPr lvl="1" indent="0">
              <a:lnSpc>
                <a:spcPct val="150000"/>
              </a:lnSpc>
              <a:buClr>
                <a:schemeClr val="accent5">
                  <a:lumMod val="75000"/>
                </a:schemeClr>
              </a:buClr>
              <a:buFont typeface="Wingdings" panose="05000000000000000000" pitchFamily="2" charset="2"/>
              <a:buNone/>
            </a:pPr>
            <a:r>
              <a:rPr lang="en-US" altLang="zh-CN" dirty="0">
                <a:latin typeface="+mn-ea"/>
              </a:rPr>
              <a:t>• Intrinsic Attribute Fusion: Combine static DRAM properties with dynamic error metrics:</a:t>
            </a:r>
          </a:p>
          <a:p>
            <a:pPr lvl="1" indent="0">
              <a:lnSpc>
                <a:spcPct val="150000"/>
              </a:lnSpc>
              <a:buClr>
                <a:schemeClr val="accent5">
                  <a:lumMod val="75000"/>
                </a:schemeClr>
              </a:buClr>
              <a:buFont typeface="Wingdings" panose="05000000000000000000" pitchFamily="2" charset="2"/>
              <a:buNone/>
            </a:pPr>
            <a:endParaRPr lang="en-US" altLang="zh-CN" dirty="0">
              <a:latin typeface="+mn-ea"/>
            </a:endParaRPr>
          </a:p>
          <a:p>
            <a:pPr lvl="1" indent="0">
              <a:lnSpc>
                <a:spcPct val="150000"/>
              </a:lnSpc>
              <a:buClr>
                <a:schemeClr val="accent5">
                  <a:lumMod val="75000"/>
                </a:schemeClr>
              </a:buClr>
              <a:buFont typeface="Wingdings" panose="05000000000000000000" pitchFamily="2" charset="2"/>
              <a:buNone/>
            </a:pPr>
            <a:endParaRPr lang="en-US" altLang="zh-CN" dirty="0">
              <a:latin typeface="+mn-ea"/>
            </a:endParaRPr>
          </a:p>
        </p:txBody>
      </p:sp>
      <p:sp>
        <p:nvSpPr>
          <p:cNvPr id="2" name="矩形 1"/>
          <p:cNvSpPr/>
          <p:nvPr/>
        </p:nvSpPr>
        <p:spPr>
          <a:xfrm>
            <a:off x="695410" y="3643308"/>
            <a:ext cx="10169928" cy="1476375"/>
          </a:xfrm>
          <a:prstGeom prst="rect">
            <a:avLst/>
          </a:prstGeom>
          <a:noFill/>
        </p:spPr>
        <p:txBody>
          <a:bodyPr wrap="square">
            <a:spAutoFit/>
          </a:bodyPr>
          <a:lstStyle/>
          <a:p>
            <a:pPr>
              <a:lnSpc>
                <a:spcPct val="150000"/>
              </a:lnSpc>
              <a:buClr>
                <a:schemeClr val="accent5">
                  <a:lumMod val="75000"/>
                </a:schemeClr>
              </a:buClr>
              <a:buFont typeface="Wingdings" panose="05000000000000000000" pitchFamily="2" charset="2"/>
              <a:buChar char="p"/>
            </a:pPr>
            <a:r>
              <a:rPr lang="en-US" altLang="zh-CN" sz="2400" b="1" dirty="0">
                <a:latin typeface="+mn-ea"/>
              </a:rPr>
              <a:t> </a:t>
            </a:r>
            <a:r>
              <a:rPr lang="en-US" altLang="zh-CN" sz="2000" b="1" dirty="0">
                <a:latin typeface="+mn-ea"/>
              </a:rPr>
              <a:t>Balancing Methodology</a:t>
            </a:r>
          </a:p>
          <a:p>
            <a:pPr lvl="1" indent="0">
              <a:lnSpc>
                <a:spcPct val="150000"/>
              </a:lnSpc>
              <a:buClr>
                <a:schemeClr val="accent5">
                  <a:lumMod val="75000"/>
                </a:schemeClr>
              </a:buClr>
              <a:buFont typeface="Wingdings" panose="05000000000000000000" pitchFamily="2" charset="2"/>
              <a:buNone/>
            </a:pPr>
            <a:r>
              <a:rPr lang="en-US" altLang="zh-CN" dirty="0">
                <a:latin typeface="+mn-ea"/>
              </a:rPr>
              <a:t>• Adaptive Quantile Filtering: Preserve failure precursors through error-type aware sampling</a:t>
            </a:r>
          </a:p>
          <a:p>
            <a:pPr lvl="1" indent="0">
              <a:lnSpc>
                <a:spcPct val="150000"/>
              </a:lnSpc>
              <a:buClr>
                <a:schemeClr val="accent5">
                  <a:lumMod val="75000"/>
                </a:schemeClr>
              </a:buClr>
              <a:buFont typeface="Wingdings" panose="05000000000000000000" pitchFamily="2" charset="2"/>
              <a:buNone/>
            </a:pPr>
            <a:r>
              <a:rPr lang="en-US" altLang="zh-CN" dirty="0">
                <a:latin typeface="+mn-ea"/>
              </a:rPr>
              <a:t>• emporal Aggregation: Convert raw logs to daily statistica profiles</a:t>
            </a:r>
          </a:p>
        </p:txBody>
      </p:sp>
      <p:grpSp>
        <p:nvGrpSpPr>
          <p:cNvPr id="7" name="组合 6"/>
          <p:cNvGrpSpPr/>
          <p:nvPr/>
        </p:nvGrpSpPr>
        <p:grpSpPr>
          <a:xfrm>
            <a:off x="2081530" y="2115820"/>
            <a:ext cx="6118860" cy="1421130"/>
            <a:chOff x="3278" y="3332"/>
            <a:chExt cx="9636" cy="2238"/>
          </a:xfrm>
        </p:grpSpPr>
        <p:pic>
          <p:nvPicPr>
            <p:cNvPr id="5" name="图片 4"/>
            <p:cNvPicPr>
              <a:picLocks noChangeAspect="1"/>
            </p:cNvPicPr>
            <p:nvPr/>
          </p:nvPicPr>
          <p:blipFill>
            <a:blip r:embed="rId4"/>
            <a:stretch>
              <a:fillRect/>
            </a:stretch>
          </p:blipFill>
          <p:spPr>
            <a:xfrm>
              <a:off x="3278" y="3332"/>
              <a:ext cx="9637" cy="2238"/>
            </a:xfrm>
            <a:prstGeom prst="snipRoundRect">
              <a:avLst/>
            </a:prstGeom>
          </p:spPr>
        </p:pic>
        <p:sp>
          <p:nvSpPr>
            <p:cNvPr id="6" name="矩形 5"/>
            <p:cNvSpPr/>
            <p:nvPr/>
          </p:nvSpPr>
          <p:spPr>
            <a:xfrm>
              <a:off x="12167" y="3635"/>
              <a:ext cx="507" cy="397"/>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pic>
        <p:nvPicPr>
          <p:cNvPr id="8" name="图片 7"/>
          <p:cNvPicPr>
            <a:picLocks noChangeAspect="1"/>
          </p:cNvPicPr>
          <p:nvPr/>
        </p:nvPicPr>
        <p:blipFill>
          <a:blip r:embed="rId5"/>
          <a:stretch>
            <a:fillRect/>
          </a:stretch>
        </p:blipFill>
        <p:spPr>
          <a:xfrm>
            <a:off x="2536825" y="5119370"/>
            <a:ext cx="4750435" cy="117602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4948"/>
    </mc:Choice>
    <mc:Fallback xmlns="">
      <p:transition spd="slow" advTm="74948"/>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695325" y="287665"/>
            <a:ext cx="6401511" cy="521970"/>
          </a:xfrm>
          <a:prstGeom prst="rect">
            <a:avLst/>
          </a:prstGeom>
          <a:noFill/>
        </p:spPr>
        <p:txBody>
          <a:bodyPr wrap="square" rtlCol="0">
            <a:spAutoFit/>
          </a:bodyPr>
          <a:lstStyle/>
          <a:p>
            <a:r>
              <a:rPr lang="en-US" altLang="zh-CN" sz="2800" b="1" dirty="0">
                <a:latin typeface="+mn-ea"/>
              </a:rPr>
              <a:t>Feature Generation</a:t>
            </a:r>
          </a:p>
        </p:txBody>
      </p:sp>
      <p:sp>
        <p:nvSpPr>
          <p:cNvPr id="4" name="灯片编号占位符 3"/>
          <p:cNvSpPr>
            <a:spLocks noGrp="1"/>
          </p:cNvSpPr>
          <p:nvPr>
            <p:ph type="sldNum" sz="quarter" idx="12"/>
          </p:nvPr>
        </p:nvSpPr>
        <p:spPr/>
        <p:txBody>
          <a:bodyPr/>
          <a:lstStyle/>
          <a:p>
            <a:fld id="{51D91E7F-84B6-4064-9D4E-CC7D244BCA04}" type="slidenum">
              <a:rPr lang="zh-CN" altLang="en-US" smtClean="0">
                <a:latin typeface="宋体" panose="02010600030101010101" pitchFamily="2" charset="-122"/>
                <a:ea typeface="宋体" panose="02010600030101010101" pitchFamily="2" charset="-122"/>
              </a:rPr>
              <a:t>10</a:t>
            </a:fld>
            <a:endParaRPr lang="zh-CN" altLang="en-US" dirty="0">
              <a:latin typeface="宋体" panose="02010600030101010101" pitchFamily="2" charset="-122"/>
              <a:ea typeface="宋体" panose="02010600030101010101" pitchFamily="2" charset="-122"/>
            </a:endParaRPr>
          </a:p>
        </p:txBody>
      </p:sp>
      <p:sp>
        <p:nvSpPr>
          <p:cNvPr id="27" name="圆角矩形 26"/>
          <p:cNvSpPr/>
          <p:nvPr/>
        </p:nvSpPr>
        <p:spPr>
          <a:xfrm>
            <a:off x="368303" y="952505"/>
            <a:ext cx="11239500" cy="45719"/>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3" name="矩形 2"/>
          <p:cNvSpPr/>
          <p:nvPr/>
        </p:nvSpPr>
        <p:spPr>
          <a:xfrm>
            <a:off x="695410" y="1141408"/>
            <a:ext cx="10169928" cy="1476375"/>
          </a:xfrm>
          <a:prstGeom prst="rect">
            <a:avLst/>
          </a:prstGeom>
          <a:noFill/>
        </p:spPr>
        <p:txBody>
          <a:bodyPr wrap="square">
            <a:spAutoFit/>
          </a:bodyPr>
          <a:lstStyle/>
          <a:p>
            <a:pPr>
              <a:lnSpc>
                <a:spcPct val="150000"/>
              </a:lnSpc>
              <a:buClr>
                <a:schemeClr val="accent5">
                  <a:lumMod val="75000"/>
                </a:schemeClr>
              </a:buClr>
              <a:buFont typeface="Wingdings" panose="05000000000000000000" pitchFamily="2" charset="2"/>
              <a:buChar char="p"/>
            </a:pPr>
            <a:r>
              <a:rPr lang="en-US" altLang="zh-CN" sz="2400" b="1" dirty="0">
                <a:latin typeface="+mn-ea"/>
              </a:rPr>
              <a:t> </a:t>
            </a:r>
            <a:r>
              <a:rPr lang="en-US" altLang="zh-CN" sz="2000" b="1" dirty="0">
                <a:latin typeface="+mn-ea"/>
              </a:rPr>
              <a:t>Data-Sparse Samples Empirical Observations</a:t>
            </a:r>
          </a:p>
          <a:p>
            <a:pPr lvl="1" indent="0">
              <a:lnSpc>
                <a:spcPct val="150000"/>
              </a:lnSpc>
              <a:buClr>
                <a:schemeClr val="accent5">
                  <a:lumMod val="75000"/>
                </a:schemeClr>
              </a:buClr>
              <a:buFont typeface="Wingdings" panose="05000000000000000000" pitchFamily="2" charset="2"/>
              <a:buNone/>
            </a:pPr>
            <a:r>
              <a:rPr lang="en-US" altLang="zh-CN" dirty="0">
                <a:latin typeface="+mn-ea"/>
              </a:rPr>
              <a:t>•Temporal Feature Engineering. For each DRAM module, we extract temporal patterns through configurable sliding windows  </a:t>
            </a:r>
            <a:r>
              <a:rPr lang="zh-CN" altLang="en-US" dirty="0">
                <a:latin typeface="+mn-ea"/>
              </a:rPr>
              <a:t>𝑊</a:t>
            </a:r>
            <a:r>
              <a:rPr lang="en-US" altLang="zh-CN" dirty="0">
                <a:latin typeface="+mn-ea"/>
              </a:rPr>
              <a:t> ∈ {5D,7D}:</a:t>
            </a:r>
          </a:p>
        </p:txBody>
      </p:sp>
      <p:grpSp>
        <p:nvGrpSpPr>
          <p:cNvPr id="13" name="组合 12"/>
          <p:cNvGrpSpPr/>
          <p:nvPr/>
        </p:nvGrpSpPr>
        <p:grpSpPr>
          <a:xfrm>
            <a:off x="2042160" y="2820670"/>
            <a:ext cx="7205980" cy="3183890"/>
            <a:chOff x="3216" y="4442"/>
            <a:chExt cx="11348" cy="5014"/>
          </a:xfrm>
        </p:grpSpPr>
        <p:pic>
          <p:nvPicPr>
            <p:cNvPr id="9" name="图片 8"/>
            <p:cNvPicPr>
              <a:picLocks noChangeAspect="1"/>
            </p:cNvPicPr>
            <p:nvPr/>
          </p:nvPicPr>
          <p:blipFill>
            <a:blip r:embed="rId4"/>
            <a:stretch>
              <a:fillRect/>
            </a:stretch>
          </p:blipFill>
          <p:spPr>
            <a:xfrm>
              <a:off x="3216" y="4442"/>
              <a:ext cx="11348" cy="5014"/>
            </a:xfrm>
            <a:prstGeom prst="rect">
              <a:avLst/>
            </a:prstGeom>
          </p:spPr>
        </p:pic>
        <p:sp>
          <p:nvSpPr>
            <p:cNvPr id="10" name="矩形 9"/>
            <p:cNvSpPr/>
            <p:nvPr/>
          </p:nvSpPr>
          <p:spPr>
            <a:xfrm>
              <a:off x="13589" y="4837"/>
              <a:ext cx="793" cy="563"/>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矩形 11"/>
            <p:cNvSpPr/>
            <p:nvPr/>
          </p:nvSpPr>
          <p:spPr>
            <a:xfrm>
              <a:off x="13589" y="8752"/>
              <a:ext cx="793" cy="563"/>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4948"/>
    </mc:Choice>
    <mc:Fallback xmlns="">
      <p:transition spd="slow" advTm="7494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695325" y="287665"/>
            <a:ext cx="6401511" cy="521970"/>
          </a:xfrm>
          <a:prstGeom prst="rect">
            <a:avLst/>
          </a:prstGeom>
          <a:noFill/>
        </p:spPr>
        <p:txBody>
          <a:bodyPr wrap="square" rtlCol="0">
            <a:spAutoFit/>
          </a:bodyPr>
          <a:lstStyle/>
          <a:p>
            <a:r>
              <a:rPr lang="en-US" altLang="zh-CN" sz="2800" b="1" dirty="0">
                <a:latin typeface="+mn-ea"/>
              </a:rPr>
              <a:t>Feature Generation</a:t>
            </a:r>
          </a:p>
        </p:txBody>
      </p:sp>
      <p:sp>
        <p:nvSpPr>
          <p:cNvPr id="4" name="灯片编号占位符 3"/>
          <p:cNvSpPr>
            <a:spLocks noGrp="1"/>
          </p:cNvSpPr>
          <p:nvPr>
            <p:ph type="sldNum" sz="quarter" idx="12"/>
          </p:nvPr>
        </p:nvSpPr>
        <p:spPr/>
        <p:txBody>
          <a:bodyPr/>
          <a:lstStyle/>
          <a:p>
            <a:fld id="{51D91E7F-84B6-4064-9D4E-CC7D244BCA04}" type="slidenum">
              <a:rPr lang="zh-CN" altLang="en-US" smtClean="0">
                <a:latin typeface="宋体" panose="02010600030101010101" pitchFamily="2" charset="-122"/>
                <a:ea typeface="宋体" panose="02010600030101010101" pitchFamily="2" charset="-122"/>
              </a:rPr>
              <a:t>11</a:t>
            </a:fld>
            <a:endParaRPr lang="zh-CN" altLang="en-US" dirty="0">
              <a:latin typeface="宋体" panose="02010600030101010101" pitchFamily="2" charset="-122"/>
              <a:ea typeface="宋体" panose="02010600030101010101" pitchFamily="2" charset="-122"/>
            </a:endParaRPr>
          </a:p>
        </p:txBody>
      </p:sp>
      <p:sp>
        <p:nvSpPr>
          <p:cNvPr id="27" name="圆角矩形 26"/>
          <p:cNvSpPr/>
          <p:nvPr/>
        </p:nvSpPr>
        <p:spPr>
          <a:xfrm>
            <a:off x="368303" y="952505"/>
            <a:ext cx="11239500" cy="45719"/>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3" name="矩形 2"/>
          <p:cNvSpPr/>
          <p:nvPr/>
        </p:nvSpPr>
        <p:spPr>
          <a:xfrm>
            <a:off x="695410" y="1141408"/>
            <a:ext cx="10169928" cy="3553460"/>
          </a:xfrm>
          <a:prstGeom prst="rect">
            <a:avLst/>
          </a:prstGeom>
          <a:noFill/>
        </p:spPr>
        <p:txBody>
          <a:bodyPr wrap="square">
            <a:spAutoFit/>
          </a:bodyPr>
          <a:lstStyle/>
          <a:p>
            <a:pPr>
              <a:lnSpc>
                <a:spcPct val="150000"/>
              </a:lnSpc>
              <a:buClr>
                <a:schemeClr val="accent5">
                  <a:lumMod val="75000"/>
                </a:schemeClr>
              </a:buClr>
              <a:buFont typeface="Wingdings" panose="05000000000000000000" pitchFamily="2" charset="2"/>
              <a:buChar char="p"/>
            </a:pPr>
            <a:r>
              <a:rPr lang="en-US" altLang="zh-CN" sz="2400" b="1" dirty="0">
                <a:latin typeface="+mn-ea"/>
              </a:rPr>
              <a:t> </a:t>
            </a:r>
            <a:r>
              <a:rPr lang="en-US" altLang="zh-CN" sz="2000" b="1" dirty="0">
                <a:latin typeface="+mn-ea"/>
              </a:rPr>
              <a:t>Categorical Attribute Encoding</a:t>
            </a:r>
          </a:p>
          <a:p>
            <a:pPr lvl="1" indent="0">
              <a:lnSpc>
                <a:spcPct val="150000"/>
              </a:lnSpc>
              <a:buClr>
                <a:schemeClr val="accent5">
                  <a:lumMod val="75000"/>
                </a:schemeClr>
              </a:buClr>
              <a:buFont typeface="Wingdings" panose="05000000000000000000" pitchFamily="2" charset="2"/>
              <a:buNone/>
            </a:pPr>
            <a:r>
              <a:rPr lang="en-US" altLang="zh-CN" dirty="0">
                <a:latin typeface="+mn-ea"/>
              </a:rPr>
              <a:t>• For categorical variables C ={vendor,rank, ...}, we implemen   </a:t>
            </a:r>
          </a:p>
          <a:p>
            <a:pPr lvl="1" indent="0">
              <a:lnSpc>
                <a:spcPct val="150000"/>
              </a:lnSpc>
              <a:buClr>
                <a:schemeClr val="accent5">
                  <a:lumMod val="75000"/>
                </a:schemeClr>
              </a:buClr>
              <a:buFont typeface="Wingdings" panose="05000000000000000000" pitchFamily="2" charset="2"/>
              <a:buNone/>
            </a:pPr>
            <a:endParaRPr lang="en-US" altLang="zh-CN" dirty="0">
              <a:latin typeface="+mn-ea"/>
            </a:endParaRPr>
          </a:p>
          <a:p>
            <a:pPr lvl="1" indent="0">
              <a:lnSpc>
                <a:spcPct val="150000"/>
              </a:lnSpc>
              <a:buClr>
                <a:schemeClr val="accent5">
                  <a:lumMod val="75000"/>
                </a:schemeClr>
              </a:buClr>
              <a:buFont typeface="Wingdings" panose="05000000000000000000" pitchFamily="2" charset="2"/>
              <a:buNone/>
            </a:pPr>
            <a:endParaRPr lang="en-US" altLang="zh-CN" dirty="0">
              <a:latin typeface="+mn-ea"/>
            </a:endParaRPr>
          </a:p>
          <a:p>
            <a:pPr lvl="2" indent="0">
              <a:lnSpc>
                <a:spcPct val="150000"/>
              </a:lnSpc>
              <a:buClr>
                <a:schemeClr val="accent5">
                  <a:lumMod val="75000"/>
                </a:schemeClr>
              </a:buClr>
              <a:buFont typeface="Wingdings" panose="05000000000000000000" pitchFamily="2" charset="2"/>
              <a:buNone/>
            </a:pPr>
            <a:r>
              <a:rPr lang="en-US" altLang="zh-CN" dirty="0">
                <a:latin typeface="+mn-ea"/>
              </a:rPr>
              <a:t>where ⊕ denotes concatenation of:</a:t>
            </a:r>
          </a:p>
          <a:p>
            <a:pPr lvl="2" indent="0">
              <a:lnSpc>
                <a:spcPct val="150000"/>
              </a:lnSpc>
              <a:buClr>
                <a:schemeClr val="accent5">
                  <a:lumMod val="75000"/>
                </a:schemeClr>
              </a:buClr>
              <a:buFont typeface="Wingdings" panose="05000000000000000000" pitchFamily="2" charset="2"/>
              <a:buNone/>
            </a:pPr>
            <a:r>
              <a:rPr lang="en-US" altLang="zh-CN" dirty="0">
                <a:latin typeface="+mn-ea"/>
              </a:rPr>
              <a:t>• Learned embeddings via matrix factorization</a:t>
            </a:r>
          </a:p>
          <a:p>
            <a:pPr lvl="2" indent="0">
              <a:lnSpc>
                <a:spcPct val="150000"/>
              </a:lnSpc>
              <a:buClr>
                <a:schemeClr val="accent5">
                  <a:lumMod val="75000"/>
                </a:schemeClr>
              </a:buClr>
              <a:buFont typeface="Wingdings" panose="05000000000000000000" pitchFamily="2" charset="2"/>
              <a:buNone/>
            </a:pPr>
            <a:r>
              <a:rPr lang="en-US" altLang="zh-CN" dirty="0">
                <a:latin typeface="+mn-ea"/>
              </a:rPr>
              <a:t>• Statistical aggregates per category:</a:t>
            </a:r>
          </a:p>
          <a:p>
            <a:pPr lvl="1" indent="0">
              <a:lnSpc>
                <a:spcPct val="150000"/>
              </a:lnSpc>
              <a:buClr>
                <a:schemeClr val="accent5">
                  <a:lumMod val="75000"/>
                </a:schemeClr>
              </a:buClr>
              <a:buFont typeface="Wingdings" panose="05000000000000000000" pitchFamily="2" charset="2"/>
              <a:buNone/>
            </a:pPr>
            <a:endParaRPr lang="en-US" altLang="zh-CN" dirty="0">
              <a:latin typeface="+mn-ea"/>
            </a:endParaRPr>
          </a:p>
        </p:txBody>
      </p:sp>
      <p:pic>
        <p:nvPicPr>
          <p:cNvPr id="2" name="图片 1"/>
          <p:cNvPicPr>
            <a:picLocks noChangeAspect="1"/>
          </p:cNvPicPr>
          <p:nvPr/>
        </p:nvPicPr>
        <p:blipFill>
          <a:blip r:embed="rId4"/>
          <a:stretch>
            <a:fillRect/>
          </a:stretch>
        </p:blipFill>
        <p:spPr>
          <a:xfrm>
            <a:off x="3714115" y="2306955"/>
            <a:ext cx="4548505" cy="570230"/>
          </a:xfrm>
          <a:prstGeom prst="rect">
            <a:avLst/>
          </a:prstGeom>
        </p:spPr>
      </p:pic>
      <p:pic>
        <p:nvPicPr>
          <p:cNvPr id="5" name="图片 4"/>
          <p:cNvPicPr>
            <a:picLocks noChangeAspect="1"/>
          </p:cNvPicPr>
          <p:nvPr/>
        </p:nvPicPr>
        <p:blipFill>
          <a:blip r:embed="rId5"/>
          <a:stretch>
            <a:fillRect/>
          </a:stretch>
        </p:blipFill>
        <p:spPr>
          <a:xfrm>
            <a:off x="3984625" y="4599305"/>
            <a:ext cx="3972560" cy="934085"/>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4948"/>
    </mc:Choice>
    <mc:Fallback xmlns="">
      <p:transition spd="slow" advTm="74948"/>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695325" y="287665"/>
            <a:ext cx="6401511" cy="521970"/>
          </a:xfrm>
          <a:prstGeom prst="rect">
            <a:avLst/>
          </a:prstGeom>
          <a:noFill/>
        </p:spPr>
        <p:txBody>
          <a:bodyPr wrap="square" rtlCol="0">
            <a:spAutoFit/>
          </a:bodyPr>
          <a:lstStyle/>
          <a:p>
            <a:r>
              <a:rPr lang="en-US" altLang="zh-CN" sz="2800" b="1" dirty="0">
                <a:latin typeface="+mn-ea"/>
              </a:rPr>
              <a:t>Feature Generation</a:t>
            </a:r>
          </a:p>
        </p:txBody>
      </p:sp>
      <p:sp>
        <p:nvSpPr>
          <p:cNvPr id="4" name="灯片编号占位符 3"/>
          <p:cNvSpPr>
            <a:spLocks noGrp="1"/>
          </p:cNvSpPr>
          <p:nvPr>
            <p:ph type="sldNum" sz="quarter" idx="12"/>
          </p:nvPr>
        </p:nvSpPr>
        <p:spPr/>
        <p:txBody>
          <a:bodyPr/>
          <a:lstStyle/>
          <a:p>
            <a:fld id="{51D91E7F-84B6-4064-9D4E-CC7D244BCA04}" type="slidenum">
              <a:rPr lang="zh-CN" altLang="en-US" smtClean="0">
                <a:latin typeface="宋体" panose="02010600030101010101" pitchFamily="2" charset="-122"/>
                <a:ea typeface="宋体" panose="02010600030101010101" pitchFamily="2" charset="-122"/>
              </a:rPr>
              <a:t>12</a:t>
            </a:fld>
            <a:endParaRPr lang="zh-CN" altLang="en-US" dirty="0">
              <a:latin typeface="宋体" panose="02010600030101010101" pitchFamily="2" charset="-122"/>
              <a:ea typeface="宋体" panose="02010600030101010101" pitchFamily="2" charset="-122"/>
            </a:endParaRPr>
          </a:p>
        </p:txBody>
      </p:sp>
      <p:sp>
        <p:nvSpPr>
          <p:cNvPr id="27" name="圆角矩形 26"/>
          <p:cNvSpPr/>
          <p:nvPr/>
        </p:nvSpPr>
        <p:spPr>
          <a:xfrm>
            <a:off x="368303" y="952505"/>
            <a:ext cx="11239500" cy="45719"/>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3" name="矩形 2"/>
          <p:cNvSpPr/>
          <p:nvPr/>
        </p:nvSpPr>
        <p:spPr>
          <a:xfrm>
            <a:off x="695410" y="1141408"/>
            <a:ext cx="10169928" cy="1060450"/>
          </a:xfrm>
          <a:prstGeom prst="rect">
            <a:avLst/>
          </a:prstGeom>
          <a:noFill/>
        </p:spPr>
        <p:txBody>
          <a:bodyPr wrap="square">
            <a:spAutoFit/>
          </a:bodyPr>
          <a:lstStyle/>
          <a:p>
            <a:pPr>
              <a:lnSpc>
                <a:spcPct val="150000"/>
              </a:lnSpc>
              <a:buClr>
                <a:schemeClr val="accent5">
                  <a:lumMod val="75000"/>
                </a:schemeClr>
              </a:buClr>
              <a:buFont typeface="Wingdings" panose="05000000000000000000" pitchFamily="2" charset="2"/>
              <a:buChar char="p"/>
            </a:pPr>
            <a:r>
              <a:rPr lang="en-US" altLang="zh-CN" sz="2400" b="1" dirty="0">
                <a:latin typeface="+mn-ea"/>
              </a:rPr>
              <a:t> </a:t>
            </a:r>
            <a:r>
              <a:rPr lang="en-US" altLang="zh-CN" sz="2000" b="1" dirty="0">
                <a:latin typeface="+mn-ea"/>
              </a:rPr>
              <a:t>Device ID Feature Generation.</a:t>
            </a:r>
          </a:p>
          <a:p>
            <a:pPr lvl="1" indent="0">
              <a:lnSpc>
                <a:spcPct val="150000"/>
              </a:lnSpc>
              <a:buClr>
                <a:schemeClr val="accent5">
                  <a:lumMod val="75000"/>
                </a:schemeClr>
              </a:buClr>
              <a:buFont typeface="Wingdings" panose="05000000000000000000" pitchFamily="2" charset="2"/>
              <a:buNone/>
            </a:pPr>
            <a:endParaRPr lang="en-US" altLang="zh-CN" dirty="0">
              <a:latin typeface="+mn-ea"/>
            </a:endParaRPr>
          </a:p>
        </p:txBody>
      </p:sp>
      <p:pic>
        <p:nvPicPr>
          <p:cNvPr id="6" name="图片 5"/>
          <p:cNvPicPr>
            <a:picLocks noChangeAspect="1"/>
          </p:cNvPicPr>
          <p:nvPr/>
        </p:nvPicPr>
        <p:blipFill>
          <a:blip r:embed="rId4"/>
          <a:stretch>
            <a:fillRect/>
          </a:stretch>
        </p:blipFill>
        <p:spPr>
          <a:xfrm>
            <a:off x="2510155" y="1757045"/>
            <a:ext cx="4617085" cy="1253490"/>
          </a:xfrm>
          <a:prstGeom prst="rect">
            <a:avLst/>
          </a:prstGeom>
        </p:spPr>
      </p:pic>
      <p:sp>
        <p:nvSpPr>
          <p:cNvPr id="9" name="矩形 8"/>
          <p:cNvSpPr/>
          <p:nvPr/>
        </p:nvSpPr>
        <p:spPr>
          <a:xfrm>
            <a:off x="730335" y="3165153"/>
            <a:ext cx="10169928" cy="1060450"/>
          </a:xfrm>
          <a:prstGeom prst="rect">
            <a:avLst/>
          </a:prstGeom>
          <a:noFill/>
        </p:spPr>
        <p:txBody>
          <a:bodyPr wrap="square">
            <a:spAutoFit/>
          </a:bodyPr>
          <a:lstStyle/>
          <a:p>
            <a:pPr>
              <a:lnSpc>
                <a:spcPct val="150000"/>
              </a:lnSpc>
              <a:buClr>
                <a:schemeClr val="accent5">
                  <a:lumMod val="75000"/>
                </a:schemeClr>
              </a:buClr>
              <a:buFont typeface="Wingdings" panose="05000000000000000000" pitchFamily="2" charset="2"/>
              <a:buChar char="p"/>
            </a:pPr>
            <a:r>
              <a:rPr lang="en-US" altLang="zh-CN" sz="2400" b="1" dirty="0">
                <a:latin typeface="+mn-ea"/>
              </a:rPr>
              <a:t> </a:t>
            </a:r>
            <a:r>
              <a:rPr lang="en-US" altLang="zh-CN" sz="2000" b="1" dirty="0">
                <a:latin typeface="+mn-ea"/>
              </a:rPr>
              <a:t>Parity Pattern Analysis</a:t>
            </a:r>
          </a:p>
          <a:p>
            <a:pPr lvl="1" indent="0">
              <a:lnSpc>
                <a:spcPct val="150000"/>
              </a:lnSpc>
              <a:buClr>
                <a:schemeClr val="accent5">
                  <a:lumMod val="75000"/>
                </a:schemeClr>
              </a:buClr>
              <a:buFont typeface="Wingdings" panose="05000000000000000000" pitchFamily="2" charset="2"/>
              <a:buNone/>
            </a:pPr>
            <a:endParaRPr lang="en-US" altLang="zh-CN" dirty="0">
              <a:latin typeface="+mn-ea"/>
            </a:endParaRPr>
          </a:p>
        </p:txBody>
      </p:sp>
      <p:pic>
        <p:nvPicPr>
          <p:cNvPr id="10" name="图片 9"/>
          <p:cNvPicPr>
            <a:picLocks noChangeAspect="1"/>
          </p:cNvPicPr>
          <p:nvPr/>
        </p:nvPicPr>
        <p:blipFill>
          <a:blip r:embed="rId5"/>
          <a:stretch>
            <a:fillRect/>
          </a:stretch>
        </p:blipFill>
        <p:spPr>
          <a:xfrm>
            <a:off x="2350135" y="4064000"/>
            <a:ext cx="4746625" cy="17526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4948"/>
    </mc:Choice>
    <mc:Fallback xmlns="">
      <p:transition spd="slow" advTm="74948"/>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731520" y="728472"/>
            <a:ext cx="10728960" cy="5465064"/>
          </a:xfrm>
          <a:prstGeom prst="rect">
            <a:avLst/>
          </a:prstGeom>
          <a:solidFill>
            <a:schemeClr val="bg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5" name="椭圆 14"/>
          <p:cNvSpPr/>
          <p:nvPr/>
        </p:nvSpPr>
        <p:spPr>
          <a:xfrm>
            <a:off x="1412399" y="2118102"/>
            <a:ext cx="2394908" cy="2394908"/>
          </a:xfrm>
          <a:prstGeom prst="ellipse">
            <a:avLst/>
          </a:prstGeom>
          <a:solidFill>
            <a:schemeClr val="accent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p>
        </p:txBody>
      </p:sp>
      <p:sp>
        <p:nvSpPr>
          <p:cNvPr id="23" name="矩形 22"/>
          <p:cNvSpPr/>
          <p:nvPr/>
        </p:nvSpPr>
        <p:spPr>
          <a:xfrm>
            <a:off x="4114038" y="2152469"/>
            <a:ext cx="4035592" cy="830997"/>
          </a:xfrm>
          <a:prstGeom prst="rect">
            <a:avLst/>
          </a:prstGeom>
        </p:spPr>
        <p:txBody>
          <a:bodyPr wrap="none">
            <a:spAutoFit/>
          </a:bodyPr>
          <a:lstStyle/>
          <a:p>
            <a:r>
              <a:rPr lang="en-US" altLang="zh-CN" sz="4800" b="1" kern="100" dirty="0">
                <a:solidFill>
                  <a:schemeClr val="accent1"/>
                </a:solidFill>
                <a:latin typeface="+mn-ea"/>
                <a:cs typeface="Times New Roman" panose="02020603050405020304" pitchFamily="18" charset="0"/>
              </a:rPr>
              <a:t>Experiments</a:t>
            </a:r>
          </a:p>
        </p:txBody>
      </p:sp>
      <p:grpSp>
        <p:nvGrpSpPr>
          <p:cNvPr id="31" name="Group 13"/>
          <p:cNvGrpSpPr>
            <a:grpSpLocks noChangeAspect="1"/>
          </p:cNvGrpSpPr>
          <p:nvPr/>
        </p:nvGrpSpPr>
        <p:grpSpPr bwMode="auto">
          <a:xfrm>
            <a:off x="4225466" y="3106249"/>
            <a:ext cx="328183" cy="327403"/>
            <a:chOff x="3665" y="2074"/>
            <a:chExt cx="421" cy="420"/>
          </a:xfrm>
          <a:solidFill>
            <a:schemeClr val="accent1"/>
          </a:solidFill>
        </p:grpSpPr>
        <p:sp>
          <p:nvSpPr>
            <p:cNvPr id="32" name="Freeform 14"/>
            <p:cNvSpPr>
              <a:spLocks noEditPoints="1"/>
            </p:cNvSpPr>
            <p:nvPr/>
          </p:nvSpPr>
          <p:spPr bwMode="auto">
            <a:xfrm>
              <a:off x="3665" y="2074"/>
              <a:ext cx="421" cy="420"/>
            </a:xfrm>
            <a:custGeom>
              <a:avLst/>
              <a:gdLst>
                <a:gd name="T0" fmla="*/ 350 w 699"/>
                <a:gd name="T1" fmla="*/ 698 h 698"/>
                <a:gd name="T2" fmla="*/ 0 w 699"/>
                <a:gd name="T3" fmla="*/ 349 h 698"/>
                <a:gd name="T4" fmla="*/ 350 w 699"/>
                <a:gd name="T5" fmla="*/ 0 h 698"/>
                <a:gd name="T6" fmla="*/ 699 w 699"/>
                <a:gd name="T7" fmla="*/ 349 h 698"/>
                <a:gd name="T8" fmla="*/ 350 w 699"/>
                <a:gd name="T9" fmla="*/ 698 h 698"/>
                <a:gd name="T10" fmla="*/ 350 w 699"/>
                <a:gd name="T11" fmla="*/ 40 h 698"/>
                <a:gd name="T12" fmla="*/ 40 w 699"/>
                <a:gd name="T13" fmla="*/ 349 h 698"/>
                <a:gd name="T14" fmla="*/ 350 w 699"/>
                <a:gd name="T15" fmla="*/ 658 h 698"/>
                <a:gd name="T16" fmla="*/ 659 w 699"/>
                <a:gd name="T17" fmla="*/ 349 h 698"/>
                <a:gd name="T18" fmla="*/ 350 w 699"/>
                <a:gd name="T19" fmla="*/ 4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9" h="698">
                  <a:moveTo>
                    <a:pt x="350" y="698"/>
                  </a:moveTo>
                  <a:cubicBezTo>
                    <a:pt x="157" y="698"/>
                    <a:pt x="0" y="542"/>
                    <a:pt x="0" y="349"/>
                  </a:cubicBezTo>
                  <a:cubicBezTo>
                    <a:pt x="0" y="156"/>
                    <a:pt x="157" y="0"/>
                    <a:pt x="350" y="0"/>
                  </a:cubicBezTo>
                  <a:cubicBezTo>
                    <a:pt x="542" y="0"/>
                    <a:pt x="699" y="156"/>
                    <a:pt x="699" y="349"/>
                  </a:cubicBezTo>
                  <a:cubicBezTo>
                    <a:pt x="699" y="542"/>
                    <a:pt x="542" y="698"/>
                    <a:pt x="350" y="698"/>
                  </a:cubicBezTo>
                  <a:close/>
                  <a:moveTo>
                    <a:pt x="350" y="40"/>
                  </a:moveTo>
                  <a:cubicBezTo>
                    <a:pt x="179" y="40"/>
                    <a:pt x="40" y="179"/>
                    <a:pt x="40" y="349"/>
                  </a:cubicBezTo>
                  <a:cubicBezTo>
                    <a:pt x="40" y="519"/>
                    <a:pt x="179" y="658"/>
                    <a:pt x="350" y="658"/>
                  </a:cubicBezTo>
                  <a:cubicBezTo>
                    <a:pt x="520" y="658"/>
                    <a:pt x="659" y="519"/>
                    <a:pt x="659" y="349"/>
                  </a:cubicBezTo>
                  <a:cubicBezTo>
                    <a:pt x="659" y="179"/>
                    <a:pt x="520" y="40"/>
                    <a:pt x="35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33" name="Freeform 15"/>
            <p:cNvSpPr/>
            <p:nvPr/>
          </p:nvSpPr>
          <p:spPr bwMode="auto">
            <a:xfrm>
              <a:off x="3759" y="2204"/>
              <a:ext cx="233" cy="162"/>
            </a:xfrm>
            <a:custGeom>
              <a:avLst/>
              <a:gdLst>
                <a:gd name="T0" fmla="*/ 138 w 387"/>
                <a:gd name="T1" fmla="*/ 269 h 269"/>
                <a:gd name="T2" fmla="*/ 123 w 387"/>
                <a:gd name="T3" fmla="*/ 263 h 269"/>
                <a:gd name="T4" fmla="*/ 7 w 387"/>
                <a:gd name="T5" fmla="*/ 147 h 269"/>
                <a:gd name="T6" fmla="*/ 7 w 387"/>
                <a:gd name="T7" fmla="*/ 119 h 269"/>
                <a:gd name="T8" fmla="*/ 7 w 387"/>
                <a:gd name="T9" fmla="*/ 119 h 269"/>
                <a:gd name="T10" fmla="*/ 36 w 387"/>
                <a:gd name="T11" fmla="*/ 119 h 269"/>
                <a:gd name="T12" fmla="*/ 36 w 387"/>
                <a:gd name="T13" fmla="*/ 119 h 269"/>
                <a:gd name="T14" fmla="*/ 138 w 387"/>
                <a:gd name="T15" fmla="*/ 221 h 269"/>
                <a:gd name="T16" fmla="*/ 350 w 387"/>
                <a:gd name="T17" fmla="*/ 8 h 269"/>
                <a:gd name="T18" fmla="*/ 379 w 387"/>
                <a:gd name="T19" fmla="*/ 8 h 269"/>
                <a:gd name="T20" fmla="*/ 379 w 387"/>
                <a:gd name="T21" fmla="*/ 8 h 269"/>
                <a:gd name="T22" fmla="*/ 379 w 387"/>
                <a:gd name="T23" fmla="*/ 36 h 269"/>
                <a:gd name="T24" fmla="*/ 379 w 387"/>
                <a:gd name="T25" fmla="*/ 36 h 269"/>
                <a:gd name="T26" fmla="*/ 152 w 387"/>
                <a:gd name="T27" fmla="*/ 263 h 269"/>
                <a:gd name="T28" fmla="*/ 138 w 387"/>
                <a:gd name="T29"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7" h="269">
                  <a:moveTo>
                    <a:pt x="138" y="269"/>
                  </a:moveTo>
                  <a:cubicBezTo>
                    <a:pt x="132" y="269"/>
                    <a:pt x="127" y="267"/>
                    <a:pt x="123" y="263"/>
                  </a:cubicBezTo>
                  <a:cubicBezTo>
                    <a:pt x="7" y="147"/>
                    <a:pt x="7" y="147"/>
                    <a:pt x="7" y="147"/>
                  </a:cubicBezTo>
                  <a:cubicBezTo>
                    <a:pt x="0" y="139"/>
                    <a:pt x="0" y="127"/>
                    <a:pt x="7" y="119"/>
                  </a:cubicBezTo>
                  <a:cubicBezTo>
                    <a:pt x="7" y="119"/>
                    <a:pt x="7" y="119"/>
                    <a:pt x="7" y="119"/>
                  </a:cubicBezTo>
                  <a:cubicBezTo>
                    <a:pt x="15" y="111"/>
                    <a:pt x="28" y="111"/>
                    <a:pt x="36" y="119"/>
                  </a:cubicBezTo>
                  <a:cubicBezTo>
                    <a:pt x="36" y="119"/>
                    <a:pt x="36" y="119"/>
                    <a:pt x="36" y="119"/>
                  </a:cubicBezTo>
                  <a:cubicBezTo>
                    <a:pt x="138" y="221"/>
                    <a:pt x="138" y="221"/>
                    <a:pt x="138" y="221"/>
                  </a:cubicBezTo>
                  <a:cubicBezTo>
                    <a:pt x="350" y="8"/>
                    <a:pt x="350" y="8"/>
                    <a:pt x="350" y="8"/>
                  </a:cubicBezTo>
                  <a:cubicBezTo>
                    <a:pt x="358" y="0"/>
                    <a:pt x="371" y="0"/>
                    <a:pt x="379" y="8"/>
                  </a:cubicBezTo>
                  <a:cubicBezTo>
                    <a:pt x="379" y="8"/>
                    <a:pt x="379" y="8"/>
                    <a:pt x="379" y="8"/>
                  </a:cubicBezTo>
                  <a:cubicBezTo>
                    <a:pt x="387" y="16"/>
                    <a:pt x="387" y="28"/>
                    <a:pt x="379" y="36"/>
                  </a:cubicBezTo>
                  <a:cubicBezTo>
                    <a:pt x="379" y="36"/>
                    <a:pt x="379" y="36"/>
                    <a:pt x="379" y="36"/>
                  </a:cubicBezTo>
                  <a:cubicBezTo>
                    <a:pt x="152" y="263"/>
                    <a:pt x="152" y="263"/>
                    <a:pt x="152" y="263"/>
                  </a:cubicBezTo>
                  <a:cubicBezTo>
                    <a:pt x="148" y="267"/>
                    <a:pt x="143" y="269"/>
                    <a:pt x="138" y="2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sp>
        <p:nvSpPr>
          <p:cNvPr id="34" name="矩形 33"/>
          <p:cNvSpPr/>
          <p:nvPr/>
        </p:nvSpPr>
        <p:spPr>
          <a:xfrm>
            <a:off x="4521314" y="3078086"/>
            <a:ext cx="4217571" cy="400110"/>
          </a:xfrm>
          <a:prstGeom prst="rect">
            <a:avLst/>
          </a:prstGeom>
        </p:spPr>
        <p:txBody>
          <a:bodyPr wrap="square">
            <a:spAutoFit/>
          </a:bodyPr>
          <a:lstStyle/>
          <a:p>
            <a:r>
              <a:rPr lang="en-US" altLang="zh-CN" sz="2000" kern="100" dirty="0">
                <a:solidFill>
                  <a:schemeClr val="accent1"/>
                </a:solidFill>
                <a:latin typeface="+mn-ea"/>
                <a:cs typeface="Times New Roman" panose="02020603050405020304" pitchFamily="18" charset="0"/>
              </a:rPr>
              <a:t>Model Training</a:t>
            </a:r>
          </a:p>
        </p:txBody>
      </p:sp>
      <p:grpSp>
        <p:nvGrpSpPr>
          <p:cNvPr id="35" name="Group 13"/>
          <p:cNvGrpSpPr>
            <a:grpSpLocks noChangeAspect="1"/>
          </p:cNvGrpSpPr>
          <p:nvPr/>
        </p:nvGrpSpPr>
        <p:grpSpPr bwMode="auto">
          <a:xfrm>
            <a:off x="4225466" y="3583031"/>
            <a:ext cx="328183" cy="327403"/>
            <a:chOff x="3665" y="2074"/>
            <a:chExt cx="421" cy="420"/>
          </a:xfrm>
          <a:solidFill>
            <a:schemeClr val="accent1"/>
          </a:solidFill>
        </p:grpSpPr>
        <p:sp>
          <p:nvSpPr>
            <p:cNvPr id="36" name="Freeform 14"/>
            <p:cNvSpPr>
              <a:spLocks noEditPoints="1"/>
            </p:cNvSpPr>
            <p:nvPr/>
          </p:nvSpPr>
          <p:spPr bwMode="auto">
            <a:xfrm>
              <a:off x="3665" y="2074"/>
              <a:ext cx="421" cy="420"/>
            </a:xfrm>
            <a:custGeom>
              <a:avLst/>
              <a:gdLst>
                <a:gd name="T0" fmla="*/ 350 w 699"/>
                <a:gd name="T1" fmla="*/ 698 h 698"/>
                <a:gd name="T2" fmla="*/ 0 w 699"/>
                <a:gd name="T3" fmla="*/ 349 h 698"/>
                <a:gd name="T4" fmla="*/ 350 w 699"/>
                <a:gd name="T5" fmla="*/ 0 h 698"/>
                <a:gd name="T6" fmla="*/ 699 w 699"/>
                <a:gd name="T7" fmla="*/ 349 h 698"/>
                <a:gd name="T8" fmla="*/ 350 w 699"/>
                <a:gd name="T9" fmla="*/ 698 h 698"/>
                <a:gd name="T10" fmla="*/ 350 w 699"/>
                <a:gd name="T11" fmla="*/ 40 h 698"/>
                <a:gd name="T12" fmla="*/ 40 w 699"/>
                <a:gd name="T13" fmla="*/ 349 h 698"/>
                <a:gd name="T14" fmla="*/ 350 w 699"/>
                <a:gd name="T15" fmla="*/ 658 h 698"/>
                <a:gd name="T16" fmla="*/ 659 w 699"/>
                <a:gd name="T17" fmla="*/ 349 h 698"/>
                <a:gd name="T18" fmla="*/ 350 w 699"/>
                <a:gd name="T19" fmla="*/ 4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9" h="698">
                  <a:moveTo>
                    <a:pt x="350" y="698"/>
                  </a:moveTo>
                  <a:cubicBezTo>
                    <a:pt x="157" y="698"/>
                    <a:pt x="0" y="542"/>
                    <a:pt x="0" y="349"/>
                  </a:cubicBezTo>
                  <a:cubicBezTo>
                    <a:pt x="0" y="156"/>
                    <a:pt x="157" y="0"/>
                    <a:pt x="350" y="0"/>
                  </a:cubicBezTo>
                  <a:cubicBezTo>
                    <a:pt x="542" y="0"/>
                    <a:pt x="699" y="156"/>
                    <a:pt x="699" y="349"/>
                  </a:cubicBezTo>
                  <a:cubicBezTo>
                    <a:pt x="699" y="542"/>
                    <a:pt x="542" y="698"/>
                    <a:pt x="350" y="698"/>
                  </a:cubicBezTo>
                  <a:close/>
                  <a:moveTo>
                    <a:pt x="350" y="40"/>
                  </a:moveTo>
                  <a:cubicBezTo>
                    <a:pt x="179" y="40"/>
                    <a:pt x="40" y="179"/>
                    <a:pt x="40" y="349"/>
                  </a:cubicBezTo>
                  <a:cubicBezTo>
                    <a:pt x="40" y="519"/>
                    <a:pt x="179" y="658"/>
                    <a:pt x="350" y="658"/>
                  </a:cubicBezTo>
                  <a:cubicBezTo>
                    <a:pt x="520" y="658"/>
                    <a:pt x="659" y="519"/>
                    <a:pt x="659" y="349"/>
                  </a:cubicBezTo>
                  <a:cubicBezTo>
                    <a:pt x="659" y="179"/>
                    <a:pt x="520" y="40"/>
                    <a:pt x="35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37" name="Freeform 15"/>
            <p:cNvSpPr/>
            <p:nvPr/>
          </p:nvSpPr>
          <p:spPr bwMode="auto">
            <a:xfrm>
              <a:off x="3759" y="2204"/>
              <a:ext cx="233" cy="162"/>
            </a:xfrm>
            <a:custGeom>
              <a:avLst/>
              <a:gdLst>
                <a:gd name="T0" fmla="*/ 138 w 387"/>
                <a:gd name="T1" fmla="*/ 269 h 269"/>
                <a:gd name="T2" fmla="*/ 123 w 387"/>
                <a:gd name="T3" fmla="*/ 263 h 269"/>
                <a:gd name="T4" fmla="*/ 7 w 387"/>
                <a:gd name="T5" fmla="*/ 147 h 269"/>
                <a:gd name="T6" fmla="*/ 7 w 387"/>
                <a:gd name="T7" fmla="*/ 119 h 269"/>
                <a:gd name="T8" fmla="*/ 7 w 387"/>
                <a:gd name="T9" fmla="*/ 119 h 269"/>
                <a:gd name="T10" fmla="*/ 36 w 387"/>
                <a:gd name="T11" fmla="*/ 119 h 269"/>
                <a:gd name="T12" fmla="*/ 36 w 387"/>
                <a:gd name="T13" fmla="*/ 119 h 269"/>
                <a:gd name="T14" fmla="*/ 138 w 387"/>
                <a:gd name="T15" fmla="*/ 221 h 269"/>
                <a:gd name="T16" fmla="*/ 350 w 387"/>
                <a:gd name="T17" fmla="*/ 8 h 269"/>
                <a:gd name="T18" fmla="*/ 379 w 387"/>
                <a:gd name="T19" fmla="*/ 8 h 269"/>
                <a:gd name="T20" fmla="*/ 379 w 387"/>
                <a:gd name="T21" fmla="*/ 8 h 269"/>
                <a:gd name="T22" fmla="*/ 379 w 387"/>
                <a:gd name="T23" fmla="*/ 36 h 269"/>
                <a:gd name="T24" fmla="*/ 379 w 387"/>
                <a:gd name="T25" fmla="*/ 36 h 269"/>
                <a:gd name="T26" fmla="*/ 152 w 387"/>
                <a:gd name="T27" fmla="*/ 263 h 269"/>
                <a:gd name="T28" fmla="*/ 138 w 387"/>
                <a:gd name="T29"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7" h="269">
                  <a:moveTo>
                    <a:pt x="138" y="269"/>
                  </a:moveTo>
                  <a:cubicBezTo>
                    <a:pt x="132" y="269"/>
                    <a:pt x="127" y="267"/>
                    <a:pt x="123" y="263"/>
                  </a:cubicBezTo>
                  <a:cubicBezTo>
                    <a:pt x="7" y="147"/>
                    <a:pt x="7" y="147"/>
                    <a:pt x="7" y="147"/>
                  </a:cubicBezTo>
                  <a:cubicBezTo>
                    <a:pt x="0" y="139"/>
                    <a:pt x="0" y="127"/>
                    <a:pt x="7" y="119"/>
                  </a:cubicBezTo>
                  <a:cubicBezTo>
                    <a:pt x="7" y="119"/>
                    <a:pt x="7" y="119"/>
                    <a:pt x="7" y="119"/>
                  </a:cubicBezTo>
                  <a:cubicBezTo>
                    <a:pt x="15" y="111"/>
                    <a:pt x="28" y="111"/>
                    <a:pt x="36" y="119"/>
                  </a:cubicBezTo>
                  <a:cubicBezTo>
                    <a:pt x="36" y="119"/>
                    <a:pt x="36" y="119"/>
                    <a:pt x="36" y="119"/>
                  </a:cubicBezTo>
                  <a:cubicBezTo>
                    <a:pt x="138" y="221"/>
                    <a:pt x="138" y="221"/>
                    <a:pt x="138" y="221"/>
                  </a:cubicBezTo>
                  <a:cubicBezTo>
                    <a:pt x="350" y="8"/>
                    <a:pt x="350" y="8"/>
                    <a:pt x="350" y="8"/>
                  </a:cubicBezTo>
                  <a:cubicBezTo>
                    <a:pt x="358" y="0"/>
                    <a:pt x="371" y="0"/>
                    <a:pt x="379" y="8"/>
                  </a:cubicBezTo>
                  <a:cubicBezTo>
                    <a:pt x="379" y="8"/>
                    <a:pt x="379" y="8"/>
                    <a:pt x="379" y="8"/>
                  </a:cubicBezTo>
                  <a:cubicBezTo>
                    <a:pt x="387" y="16"/>
                    <a:pt x="387" y="28"/>
                    <a:pt x="379" y="36"/>
                  </a:cubicBezTo>
                  <a:cubicBezTo>
                    <a:pt x="379" y="36"/>
                    <a:pt x="379" y="36"/>
                    <a:pt x="379" y="36"/>
                  </a:cubicBezTo>
                  <a:cubicBezTo>
                    <a:pt x="152" y="263"/>
                    <a:pt x="152" y="263"/>
                    <a:pt x="152" y="263"/>
                  </a:cubicBezTo>
                  <a:cubicBezTo>
                    <a:pt x="148" y="267"/>
                    <a:pt x="143" y="269"/>
                    <a:pt x="138" y="2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sp>
        <p:nvSpPr>
          <p:cNvPr id="38" name="矩形 37"/>
          <p:cNvSpPr/>
          <p:nvPr/>
        </p:nvSpPr>
        <p:spPr>
          <a:xfrm>
            <a:off x="4534964" y="3554868"/>
            <a:ext cx="2853666" cy="400110"/>
          </a:xfrm>
          <a:prstGeom prst="rect">
            <a:avLst/>
          </a:prstGeom>
        </p:spPr>
        <p:txBody>
          <a:bodyPr wrap="none">
            <a:spAutoFit/>
          </a:bodyPr>
          <a:lstStyle/>
          <a:p>
            <a:r>
              <a:rPr lang="en-US" altLang="zh-CN" sz="2000" kern="100" dirty="0">
                <a:solidFill>
                  <a:schemeClr val="accent1"/>
                </a:solidFill>
                <a:latin typeface="+mn-ea"/>
                <a:cs typeface="Times New Roman" panose="02020603050405020304" pitchFamily="18" charset="0"/>
              </a:rPr>
              <a:t>Experimental Settings</a:t>
            </a:r>
          </a:p>
        </p:txBody>
      </p:sp>
      <p:grpSp>
        <p:nvGrpSpPr>
          <p:cNvPr id="14" name="组合 13"/>
          <p:cNvGrpSpPr/>
          <p:nvPr/>
        </p:nvGrpSpPr>
        <p:grpSpPr>
          <a:xfrm>
            <a:off x="1856805" y="2615775"/>
            <a:ext cx="1487548" cy="1487548"/>
            <a:chOff x="2473104" y="2145028"/>
            <a:chExt cx="359165" cy="359165"/>
          </a:xfrm>
          <a:solidFill>
            <a:sysClr val="window" lastClr="FFFFFF"/>
          </a:solidFill>
        </p:grpSpPr>
        <p:sp>
          <p:nvSpPr>
            <p:cNvPr id="16"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charset="0"/>
                <a:ea typeface="宋体" panose="02010600030101010101" pitchFamily="2" charset="-122"/>
                <a:sym typeface="Gill Sans" charset="0"/>
              </a:endParaRPr>
            </a:p>
          </p:txBody>
        </p:sp>
        <p:sp>
          <p:nvSpPr>
            <p:cNvPr id="17"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charset="0"/>
                <a:ea typeface="宋体" panose="02010600030101010101" pitchFamily="2" charset="-122"/>
                <a:sym typeface="Gill Sans" charset="0"/>
              </a:endParaRPr>
            </a:p>
          </p:txBody>
        </p:sp>
      </p:grpSp>
      <p:grpSp>
        <p:nvGrpSpPr>
          <p:cNvPr id="2" name="Group 13"/>
          <p:cNvGrpSpPr>
            <a:grpSpLocks noChangeAspect="1"/>
          </p:cNvGrpSpPr>
          <p:nvPr/>
        </p:nvGrpSpPr>
        <p:grpSpPr bwMode="auto">
          <a:xfrm>
            <a:off x="4225466" y="4056317"/>
            <a:ext cx="328183" cy="327403"/>
            <a:chOff x="3665" y="2074"/>
            <a:chExt cx="421" cy="420"/>
          </a:xfrm>
          <a:solidFill>
            <a:schemeClr val="accent1"/>
          </a:solidFill>
        </p:grpSpPr>
        <p:sp>
          <p:nvSpPr>
            <p:cNvPr id="3" name="Freeform 14"/>
            <p:cNvSpPr>
              <a:spLocks noEditPoints="1"/>
            </p:cNvSpPr>
            <p:nvPr/>
          </p:nvSpPr>
          <p:spPr bwMode="auto">
            <a:xfrm>
              <a:off x="3665" y="2074"/>
              <a:ext cx="421" cy="420"/>
            </a:xfrm>
            <a:custGeom>
              <a:avLst/>
              <a:gdLst>
                <a:gd name="T0" fmla="*/ 350 w 699"/>
                <a:gd name="T1" fmla="*/ 698 h 698"/>
                <a:gd name="T2" fmla="*/ 0 w 699"/>
                <a:gd name="T3" fmla="*/ 349 h 698"/>
                <a:gd name="T4" fmla="*/ 350 w 699"/>
                <a:gd name="T5" fmla="*/ 0 h 698"/>
                <a:gd name="T6" fmla="*/ 699 w 699"/>
                <a:gd name="T7" fmla="*/ 349 h 698"/>
                <a:gd name="T8" fmla="*/ 350 w 699"/>
                <a:gd name="T9" fmla="*/ 698 h 698"/>
                <a:gd name="T10" fmla="*/ 350 w 699"/>
                <a:gd name="T11" fmla="*/ 40 h 698"/>
                <a:gd name="T12" fmla="*/ 40 w 699"/>
                <a:gd name="T13" fmla="*/ 349 h 698"/>
                <a:gd name="T14" fmla="*/ 350 w 699"/>
                <a:gd name="T15" fmla="*/ 658 h 698"/>
                <a:gd name="T16" fmla="*/ 659 w 699"/>
                <a:gd name="T17" fmla="*/ 349 h 698"/>
                <a:gd name="T18" fmla="*/ 350 w 699"/>
                <a:gd name="T19" fmla="*/ 4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9" h="698">
                  <a:moveTo>
                    <a:pt x="350" y="698"/>
                  </a:moveTo>
                  <a:cubicBezTo>
                    <a:pt x="157" y="698"/>
                    <a:pt x="0" y="542"/>
                    <a:pt x="0" y="349"/>
                  </a:cubicBezTo>
                  <a:cubicBezTo>
                    <a:pt x="0" y="156"/>
                    <a:pt x="157" y="0"/>
                    <a:pt x="350" y="0"/>
                  </a:cubicBezTo>
                  <a:cubicBezTo>
                    <a:pt x="542" y="0"/>
                    <a:pt x="699" y="156"/>
                    <a:pt x="699" y="349"/>
                  </a:cubicBezTo>
                  <a:cubicBezTo>
                    <a:pt x="699" y="542"/>
                    <a:pt x="542" y="698"/>
                    <a:pt x="350" y="698"/>
                  </a:cubicBezTo>
                  <a:close/>
                  <a:moveTo>
                    <a:pt x="350" y="40"/>
                  </a:moveTo>
                  <a:cubicBezTo>
                    <a:pt x="179" y="40"/>
                    <a:pt x="40" y="179"/>
                    <a:pt x="40" y="349"/>
                  </a:cubicBezTo>
                  <a:cubicBezTo>
                    <a:pt x="40" y="519"/>
                    <a:pt x="179" y="658"/>
                    <a:pt x="350" y="658"/>
                  </a:cubicBezTo>
                  <a:cubicBezTo>
                    <a:pt x="520" y="658"/>
                    <a:pt x="659" y="519"/>
                    <a:pt x="659" y="349"/>
                  </a:cubicBezTo>
                  <a:cubicBezTo>
                    <a:pt x="659" y="179"/>
                    <a:pt x="520" y="40"/>
                    <a:pt x="35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4" name="Freeform 15"/>
            <p:cNvSpPr/>
            <p:nvPr/>
          </p:nvSpPr>
          <p:spPr bwMode="auto">
            <a:xfrm>
              <a:off x="3759" y="2204"/>
              <a:ext cx="233" cy="162"/>
            </a:xfrm>
            <a:custGeom>
              <a:avLst/>
              <a:gdLst>
                <a:gd name="T0" fmla="*/ 138 w 387"/>
                <a:gd name="T1" fmla="*/ 269 h 269"/>
                <a:gd name="T2" fmla="*/ 123 w 387"/>
                <a:gd name="T3" fmla="*/ 263 h 269"/>
                <a:gd name="T4" fmla="*/ 7 w 387"/>
                <a:gd name="T5" fmla="*/ 147 h 269"/>
                <a:gd name="T6" fmla="*/ 7 w 387"/>
                <a:gd name="T7" fmla="*/ 119 h 269"/>
                <a:gd name="T8" fmla="*/ 7 w 387"/>
                <a:gd name="T9" fmla="*/ 119 h 269"/>
                <a:gd name="T10" fmla="*/ 36 w 387"/>
                <a:gd name="T11" fmla="*/ 119 h 269"/>
                <a:gd name="T12" fmla="*/ 36 w 387"/>
                <a:gd name="T13" fmla="*/ 119 h 269"/>
                <a:gd name="T14" fmla="*/ 138 w 387"/>
                <a:gd name="T15" fmla="*/ 221 h 269"/>
                <a:gd name="T16" fmla="*/ 350 w 387"/>
                <a:gd name="T17" fmla="*/ 8 h 269"/>
                <a:gd name="T18" fmla="*/ 379 w 387"/>
                <a:gd name="T19" fmla="*/ 8 h 269"/>
                <a:gd name="T20" fmla="*/ 379 w 387"/>
                <a:gd name="T21" fmla="*/ 8 h 269"/>
                <a:gd name="T22" fmla="*/ 379 w 387"/>
                <a:gd name="T23" fmla="*/ 36 h 269"/>
                <a:gd name="T24" fmla="*/ 379 w 387"/>
                <a:gd name="T25" fmla="*/ 36 h 269"/>
                <a:gd name="T26" fmla="*/ 152 w 387"/>
                <a:gd name="T27" fmla="*/ 263 h 269"/>
                <a:gd name="T28" fmla="*/ 138 w 387"/>
                <a:gd name="T29"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7" h="269">
                  <a:moveTo>
                    <a:pt x="138" y="269"/>
                  </a:moveTo>
                  <a:cubicBezTo>
                    <a:pt x="132" y="269"/>
                    <a:pt x="127" y="267"/>
                    <a:pt x="123" y="263"/>
                  </a:cubicBezTo>
                  <a:cubicBezTo>
                    <a:pt x="7" y="147"/>
                    <a:pt x="7" y="147"/>
                    <a:pt x="7" y="147"/>
                  </a:cubicBezTo>
                  <a:cubicBezTo>
                    <a:pt x="0" y="139"/>
                    <a:pt x="0" y="127"/>
                    <a:pt x="7" y="119"/>
                  </a:cubicBezTo>
                  <a:cubicBezTo>
                    <a:pt x="7" y="119"/>
                    <a:pt x="7" y="119"/>
                    <a:pt x="7" y="119"/>
                  </a:cubicBezTo>
                  <a:cubicBezTo>
                    <a:pt x="15" y="111"/>
                    <a:pt x="28" y="111"/>
                    <a:pt x="36" y="119"/>
                  </a:cubicBezTo>
                  <a:cubicBezTo>
                    <a:pt x="36" y="119"/>
                    <a:pt x="36" y="119"/>
                    <a:pt x="36" y="119"/>
                  </a:cubicBezTo>
                  <a:cubicBezTo>
                    <a:pt x="138" y="221"/>
                    <a:pt x="138" y="221"/>
                    <a:pt x="138" y="221"/>
                  </a:cubicBezTo>
                  <a:cubicBezTo>
                    <a:pt x="350" y="8"/>
                    <a:pt x="350" y="8"/>
                    <a:pt x="350" y="8"/>
                  </a:cubicBezTo>
                  <a:cubicBezTo>
                    <a:pt x="358" y="0"/>
                    <a:pt x="371" y="0"/>
                    <a:pt x="379" y="8"/>
                  </a:cubicBezTo>
                  <a:cubicBezTo>
                    <a:pt x="379" y="8"/>
                    <a:pt x="379" y="8"/>
                    <a:pt x="379" y="8"/>
                  </a:cubicBezTo>
                  <a:cubicBezTo>
                    <a:pt x="387" y="16"/>
                    <a:pt x="387" y="28"/>
                    <a:pt x="379" y="36"/>
                  </a:cubicBezTo>
                  <a:cubicBezTo>
                    <a:pt x="379" y="36"/>
                    <a:pt x="379" y="36"/>
                    <a:pt x="379" y="36"/>
                  </a:cubicBezTo>
                  <a:cubicBezTo>
                    <a:pt x="152" y="263"/>
                    <a:pt x="152" y="263"/>
                    <a:pt x="152" y="263"/>
                  </a:cubicBezTo>
                  <a:cubicBezTo>
                    <a:pt x="148" y="267"/>
                    <a:pt x="143" y="269"/>
                    <a:pt x="138" y="2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sp>
        <p:nvSpPr>
          <p:cNvPr id="5" name="矩形 4"/>
          <p:cNvSpPr/>
          <p:nvPr/>
        </p:nvSpPr>
        <p:spPr>
          <a:xfrm>
            <a:off x="4534964" y="4028154"/>
            <a:ext cx="1050544" cy="400110"/>
          </a:xfrm>
          <a:prstGeom prst="rect">
            <a:avLst/>
          </a:prstGeom>
        </p:spPr>
        <p:txBody>
          <a:bodyPr wrap="none">
            <a:spAutoFit/>
          </a:bodyPr>
          <a:lstStyle/>
          <a:p>
            <a:r>
              <a:rPr lang="en-US" altLang="zh-CN" sz="2000" kern="100" dirty="0">
                <a:solidFill>
                  <a:schemeClr val="accent1"/>
                </a:solidFill>
                <a:latin typeface="+mn-ea"/>
                <a:cs typeface="Times New Roman" panose="02020603050405020304" pitchFamily="18" charset="0"/>
              </a:rPr>
              <a:t>Results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695325" y="287665"/>
            <a:ext cx="9580789" cy="523220"/>
          </a:xfrm>
          <a:prstGeom prst="rect">
            <a:avLst/>
          </a:prstGeom>
          <a:noFill/>
        </p:spPr>
        <p:txBody>
          <a:bodyPr wrap="square" rtlCol="0">
            <a:spAutoFit/>
          </a:bodyPr>
          <a:lstStyle/>
          <a:p>
            <a:r>
              <a:rPr lang="en-US" altLang="zh-CN" sz="2800" b="1" dirty="0">
                <a:latin typeface="+mn-ea"/>
              </a:rPr>
              <a:t>Model Training</a:t>
            </a:r>
            <a:endParaRPr lang="zh-CN" altLang="en-US" sz="2800" b="1" dirty="0">
              <a:latin typeface="+mn-ea"/>
            </a:endParaRPr>
          </a:p>
        </p:txBody>
      </p:sp>
      <p:sp>
        <p:nvSpPr>
          <p:cNvPr id="4" name="灯片编号占位符 3"/>
          <p:cNvSpPr>
            <a:spLocks noGrp="1"/>
          </p:cNvSpPr>
          <p:nvPr>
            <p:ph type="sldNum" sz="quarter" idx="12"/>
          </p:nvPr>
        </p:nvSpPr>
        <p:spPr/>
        <p:txBody>
          <a:bodyPr/>
          <a:lstStyle/>
          <a:p>
            <a:fld id="{51D91E7F-84B6-4064-9D4E-CC7D244BCA04}" type="slidenum">
              <a:rPr lang="zh-CN" altLang="en-US" smtClean="0">
                <a:latin typeface="宋体" panose="02010600030101010101" pitchFamily="2" charset="-122"/>
                <a:ea typeface="宋体" panose="02010600030101010101" pitchFamily="2" charset="-122"/>
              </a:rPr>
              <a:t>14</a:t>
            </a:fld>
            <a:endParaRPr lang="zh-CN" altLang="en-US" dirty="0">
              <a:latin typeface="宋体" panose="02010600030101010101" pitchFamily="2" charset="-122"/>
              <a:ea typeface="宋体" panose="02010600030101010101" pitchFamily="2" charset="-122"/>
            </a:endParaRPr>
          </a:p>
        </p:txBody>
      </p:sp>
      <p:sp>
        <p:nvSpPr>
          <p:cNvPr id="27" name="圆角矩形 26"/>
          <p:cNvSpPr/>
          <p:nvPr/>
        </p:nvSpPr>
        <p:spPr>
          <a:xfrm>
            <a:off x="368303" y="952505"/>
            <a:ext cx="11239500" cy="45719"/>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2" name="矩形 1"/>
          <p:cNvSpPr/>
          <p:nvPr/>
        </p:nvSpPr>
        <p:spPr>
          <a:xfrm>
            <a:off x="263609" y="1104578"/>
            <a:ext cx="11239500" cy="1660525"/>
          </a:xfrm>
          <a:prstGeom prst="rect">
            <a:avLst/>
          </a:prstGeom>
          <a:noFill/>
        </p:spPr>
        <p:txBody>
          <a:bodyPr wrap="square">
            <a:spAutoFit/>
          </a:bodyPr>
          <a:lstStyle/>
          <a:p>
            <a:pPr>
              <a:lnSpc>
                <a:spcPct val="150000"/>
              </a:lnSpc>
              <a:buClr>
                <a:schemeClr val="accent5">
                  <a:lumMod val="75000"/>
                </a:schemeClr>
              </a:buClr>
              <a:buFont typeface="Wingdings" panose="05000000000000000000" pitchFamily="2" charset="2"/>
              <a:buChar char="p"/>
            </a:pPr>
            <a:r>
              <a:rPr lang="en-US" altLang="zh-CN" sz="2000" b="1" dirty="0">
                <a:latin typeface="+mn-ea"/>
              </a:rPr>
              <a:t> Problem Analysis</a:t>
            </a:r>
          </a:p>
          <a:p>
            <a:pPr lvl="1" indent="0">
              <a:lnSpc>
                <a:spcPct val="150000"/>
              </a:lnSpc>
              <a:buClr>
                <a:schemeClr val="accent5">
                  <a:lumMod val="75000"/>
                </a:schemeClr>
              </a:buClr>
              <a:buFont typeface="Wingdings" panose="05000000000000000000" pitchFamily="2" charset="2"/>
              <a:buNone/>
            </a:pPr>
            <a:r>
              <a:rPr lang="en-US" altLang="zh-CN" sz="1600" dirty="0">
                <a:latin typeface="+mn-ea"/>
              </a:rPr>
              <a:t>• UE prevalence exhibits extreme rarity with </a:t>
            </a:r>
            <a:r>
              <a:rPr lang="zh-CN" altLang="en-US" sz="1600" dirty="0">
                <a:latin typeface="+mn-ea"/>
              </a:rPr>
              <a:t>𝑃</a:t>
            </a:r>
            <a:r>
              <a:rPr lang="en-US" altLang="zh-CN" sz="1600" dirty="0">
                <a:latin typeface="+mn-ea"/>
              </a:rPr>
              <a:t> (</a:t>
            </a:r>
            <a:r>
              <a:rPr lang="zh-CN" altLang="en-US" sz="1600" dirty="0">
                <a:latin typeface="+mn-ea"/>
              </a:rPr>
              <a:t>𝑦</a:t>
            </a:r>
            <a:r>
              <a:rPr lang="en-US" altLang="zh-CN" sz="1600" dirty="0">
                <a:latin typeface="+mn-ea"/>
              </a:rPr>
              <a:t> = 1) &lt; 10−3 in our dataset</a:t>
            </a:r>
          </a:p>
          <a:p>
            <a:pPr lvl="1" indent="0">
              <a:lnSpc>
                <a:spcPct val="150000"/>
              </a:lnSpc>
              <a:buClr>
                <a:schemeClr val="accent5">
                  <a:lumMod val="75000"/>
                </a:schemeClr>
              </a:buClr>
              <a:buFont typeface="Wingdings" panose="05000000000000000000" pitchFamily="2" charset="2"/>
              <a:buNone/>
            </a:pPr>
            <a:r>
              <a:rPr lang="en-US" altLang="zh-CN" sz="1600" dirty="0">
                <a:latin typeface="+mn-ea"/>
              </a:rPr>
              <a:t>• Naive models degenerate to trivial all-negative predictions (AUC-ROC = 0.5)</a:t>
            </a:r>
          </a:p>
          <a:p>
            <a:pPr lvl="1" indent="0">
              <a:lnSpc>
                <a:spcPct val="150000"/>
              </a:lnSpc>
              <a:buClr>
                <a:schemeClr val="accent5">
                  <a:lumMod val="75000"/>
                </a:schemeClr>
              </a:buClr>
              <a:buFont typeface="Wingdings" panose="05000000000000000000" pitchFamily="2" charset="2"/>
              <a:buNone/>
            </a:pPr>
            <a:r>
              <a:rPr lang="en-US" altLang="zh-CN" sz="1600" dirty="0">
                <a:latin typeface="+mn-ea"/>
              </a:rPr>
              <a:t>• Noise-dominated loss landscapes impede gradient signal propagation</a:t>
            </a:r>
          </a:p>
        </p:txBody>
      </p:sp>
      <p:sp>
        <p:nvSpPr>
          <p:cNvPr id="3" name="矩形 2"/>
          <p:cNvSpPr/>
          <p:nvPr/>
        </p:nvSpPr>
        <p:spPr>
          <a:xfrm>
            <a:off x="263609" y="2871148"/>
            <a:ext cx="11239500" cy="553085"/>
          </a:xfrm>
          <a:prstGeom prst="rect">
            <a:avLst/>
          </a:prstGeom>
          <a:noFill/>
        </p:spPr>
        <p:txBody>
          <a:bodyPr wrap="square">
            <a:spAutoFit/>
          </a:bodyPr>
          <a:lstStyle/>
          <a:p>
            <a:pPr>
              <a:lnSpc>
                <a:spcPct val="150000"/>
              </a:lnSpc>
              <a:buClr>
                <a:schemeClr val="accent5">
                  <a:lumMod val="75000"/>
                </a:schemeClr>
              </a:buClr>
              <a:buFont typeface="Wingdings" panose="05000000000000000000" pitchFamily="2" charset="2"/>
              <a:buChar char="p"/>
            </a:pPr>
            <a:r>
              <a:rPr lang="en-US" altLang="zh-CN" sz="2000" b="1" dirty="0">
                <a:latin typeface="+mn-ea"/>
              </a:rPr>
              <a:t> Technical Solution</a:t>
            </a:r>
            <a:endParaRPr lang="en-US" altLang="zh-CN" sz="1600" dirty="0">
              <a:latin typeface="+mn-ea"/>
            </a:endParaRPr>
          </a:p>
        </p:txBody>
      </p:sp>
      <p:grpSp>
        <p:nvGrpSpPr>
          <p:cNvPr id="8" name="组合 7"/>
          <p:cNvGrpSpPr/>
          <p:nvPr/>
        </p:nvGrpSpPr>
        <p:grpSpPr>
          <a:xfrm>
            <a:off x="1739265" y="3423920"/>
            <a:ext cx="6038850" cy="3018790"/>
            <a:chOff x="2739" y="5392"/>
            <a:chExt cx="9510" cy="4754"/>
          </a:xfrm>
        </p:grpSpPr>
        <p:pic>
          <p:nvPicPr>
            <p:cNvPr id="5" name="图片 4"/>
            <p:cNvPicPr>
              <a:picLocks noChangeAspect="1"/>
            </p:cNvPicPr>
            <p:nvPr/>
          </p:nvPicPr>
          <p:blipFill>
            <a:blip r:embed="rId4"/>
            <a:srcRect b="32611"/>
            <a:stretch>
              <a:fillRect/>
            </a:stretch>
          </p:blipFill>
          <p:spPr>
            <a:xfrm>
              <a:off x="2739" y="5392"/>
              <a:ext cx="9510" cy="4755"/>
            </a:xfrm>
            <a:prstGeom prst="rect">
              <a:avLst/>
            </a:prstGeom>
          </p:spPr>
        </p:pic>
        <p:sp>
          <p:nvSpPr>
            <p:cNvPr id="6" name="矩形 5"/>
            <p:cNvSpPr/>
            <p:nvPr/>
          </p:nvSpPr>
          <p:spPr>
            <a:xfrm>
              <a:off x="11539" y="6974"/>
              <a:ext cx="710" cy="441"/>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矩形 6"/>
            <p:cNvSpPr/>
            <p:nvPr/>
          </p:nvSpPr>
          <p:spPr>
            <a:xfrm>
              <a:off x="11539" y="9147"/>
              <a:ext cx="710" cy="441"/>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4948"/>
    </mc:Choice>
    <mc:Fallback xmlns="">
      <p:transition spd="slow" advTm="74948"/>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695325" y="287665"/>
            <a:ext cx="9580789" cy="523220"/>
          </a:xfrm>
          <a:prstGeom prst="rect">
            <a:avLst/>
          </a:prstGeom>
          <a:noFill/>
        </p:spPr>
        <p:txBody>
          <a:bodyPr wrap="square" rtlCol="0">
            <a:spAutoFit/>
          </a:bodyPr>
          <a:lstStyle/>
          <a:p>
            <a:r>
              <a:rPr lang="en-US" altLang="zh-CN" sz="2800" b="1" dirty="0">
                <a:latin typeface="+mn-ea"/>
              </a:rPr>
              <a:t>Experimental Settings</a:t>
            </a:r>
            <a:endParaRPr lang="zh-CN" altLang="en-US" sz="2800" b="1" dirty="0">
              <a:latin typeface="+mn-ea"/>
            </a:endParaRPr>
          </a:p>
        </p:txBody>
      </p:sp>
      <p:sp>
        <p:nvSpPr>
          <p:cNvPr id="4" name="灯片编号占位符 3"/>
          <p:cNvSpPr>
            <a:spLocks noGrp="1"/>
          </p:cNvSpPr>
          <p:nvPr>
            <p:ph type="sldNum" sz="quarter" idx="12"/>
          </p:nvPr>
        </p:nvSpPr>
        <p:spPr/>
        <p:txBody>
          <a:bodyPr/>
          <a:lstStyle/>
          <a:p>
            <a:fld id="{51D91E7F-84B6-4064-9D4E-CC7D244BCA04}" type="slidenum">
              <a:rPr lang="zh-CN" altLang="en-US" smtClean="0">
                <a:latin typeface="宋体" panose="02010600030101010101" pitchFamily="2" charset="-122"/>
                <a:ea typeface="宋体" panose="02010600030101010101" pitchFamily="2" charset="-122"/>
              </a:rPr>
              <a:t>15</a:t>
            </a:fld>
            <a:endParaRPr lang="zh-CN" altLang="en-US" dirty="0">
              <a:latin typeface="宋体" panose="02010600030101010101" pitchFamily="2" charset="-122"/>
              <a:ea typeface="宋体" panose="02010600030101010101" pitchFamily="2" charset="-122"/>
            </a:endParaRPr>
          </a:p>
        </p:txBody>
      </p:sp>
      <p:sp>
        <p:nvSpPr>
          <p:cNvPr id="27" name="圆角矩形 26"/>
          <p:cNvSpPr/>
          <p:nvPr/>
        </p:nvSpPr>
        <p:spPr>
          <a:xfrm>
            <a:off x="368303" y="952505"/>
            <a:ext cx="11239500" cy="45719"/>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2" name="矩形 1"/>
          <p:cNvSpPr/>
          <p:nvPr/>
        </p:nvSpPr>
        <p:spPr>
          <a:xfrm>
            <a:off x="263609" y="1104578"/>
            <a:ext cx="11239500" cy="4500245"/>
          </a:xfrm>
          <a:prstGeom prst="rect">
            <a:avLst/>
          </a:prstGeom>
          <a:noFill/>
        </p:spPr>
        <p:txBody>
          <a:bodyPr wrap="square">
            <a:spAutoFit/>
          </a:bodyPr>
          <a:lstStyle/>
          <a:p>
            <a:pPr>
              <a:lnSpc>
                <a:spcPct val="150000"/>
              </a:lnSpc>
              <a:buClr>
                <a:schemeClr val="accent5">
                  <a:lumMod val="75000"/>
                </a:schemeClr>
              </a:buClr>
              <a:buFont typeface="Wingdings" panose="05000000000000000000" pitchFamily="2" charset="2"/>
              <a:buChar char="p"/>
            </a:pPr>
            <a:r>
              <a:rPr lang="en-US" altLang="zh-CN" sz="2000" b="1" dirty="0">
                <a:latin typeface="+mn-ea"/>
              </a:rPr>
              <a:t> Parameter Settings</a:t>
            </a:r>
          </a:p>
          <a:p>
            <a:pPr lvl="2">
              <a:lnSpc>
                <a:spcPct val="150000"/>
              </a:lnSpc>
              <a:buClr>
                <a:schemeClr val="accent5">
                  <a:lumMod val="75000"/>
                </a:schemeClr>
              </a:buClr>
            </a:pPr>
            <a:endParaRPr lang="en-US" altLang="zh-CN" sz="2000" dirty="0">
              <a:latin typeface="+mn-ea"/>
            </a:endParaRPr>
          </a:p>
          <a:p>
            <a:pPr lvl="1">
              <a:lnSpc>
                <a:spcPct val="150000"/>
              </a:lnSpc>
              <a:buClr>
                <a:schemeClr val="accent5">
                  <a:lumMod val="75000"/>
                </a:schemeClr>
              </a:buClr>
            </a:pPr>
            <a:endParaRPr lang="en-US" altLang="zh-CN" sz="2000" b="1" dirty="0">
              <a:latin typeface="+mn-ea"/>
            </a:endParaRPr>
          </a:p>
          <a:p>
            <a:pPr lvl="1">
              <a:lnSpc>
                <a:spcPct val="150000"/>
              </a:lnSpc>
              <a:buClr>
                <a:schemeClr val="accent5">
                  <a:lumMod val="75000"/>
                </a:schemeClr>
              </a:buClr>
            </a:pPr>
            <a:endParaRPr lang="en-US" altLang="zh-CN" sz="2000" b="1" dirty="0">
              <a:latin typeface="+mn-ea"/>
            </a:endParaRPr>
          </a:p>
          <a:p>
            <a:pPr lvl="1">
              <a:lnSpc>
                <a:spcPct val="150000"/>
              </a:lnSpc>
              <a:buClr>
                <a:schemeClr val="accent5">
                  <a:lumMod val="75000"/>
                </a:schemeClr>
              </a:buClr>
            </a:pPr>
            <a:endParaRPr lang="en-US" altLang="zh-CN" sz="1100" b="1" dirty="0">
              <a:latin typeface="+mn-ea"/>
            </a:endParaRPr>
          </a:p>
          <a:p>
            <a:pPr>
              <a:lnSpc>
                <a:spcPct val="150000"/>
              </a:lnSpc>
              <a:buClr>
                <a:schemeClr val="accent5">
                  <a:lumMod val="75000"/>
                </a:schemeClr>
              </a:buClr>
              <a:buFont typeface="Wingdings" panose="05000000000000000000" pitchFamily="2" charset="2"/>
              <a:buChar char="p"/>
            </a:pPr>
            <a:r>
              <a:rPr lang="en-US" altLang="zh-CN" sz="2000" b="1" dirty="0">
                <a:latin typeface="+mn-ea"/>
              </a:rPr>
              <a:t> Other Experimental Settings</a:t>
            </a:r>
          </a:p>
          <a:p>
            <a:pPr lvl="1" indent="0">
              <a:lnSpc>
                <a:spcPct val="150000"/>
              </a:lnSpc>
              <a:buClr>
                <a:schemeClr val="accent5">
                  <a:lumMod val="75000"/>
                </a:schemeClr>
              </a:buClr>
              <a:buFont typeface="Wingdings" panose="05000000000000000000" pitchFamily="2" charset="2"/>
              <a:buNone/>
            </a:pPr>
            <a:r>
              <a:rPr lang="en-US" altLang="zh-CN" sz="1600" dirty="0">
                <a:latin typeface="+mn-ea"/>
              </a:rPr>
              <a:t>Feature Engineering:</a:t>
            </a:r>
          </a:p>
          <a:p>
            <a:pPr lvl="1" indent="0">
              <a:lnSpc>
                <a:spcPct val="150000"/>
              </a:lnSpc>
              <a:buClr>
                <a:schemeClr val="accent5">
                  <a:lumMod val="75000"/>
                </a:schemeClr>
              </a:buClr>
              <a:buFont typeface="Wingdings" panose="05000000000000000000" pitchFamily="2" charset="2"/>
              <a:buNone/>
            </a:pPr>
            <a:r>
              <a:rPr lang="en-US" altLang="zh-CN" sz="1600" dirty="0">
                <a:latin typeface="+mn-ea"/>
              </a:rPr>
              <a:t>     – Temporal window: 5D/7D with mean/sum aggregation</a:t>
            </a:r>
          </a:p>
          <a:p>
            <a:pPr lvl="1" indent="0">
              <a:lnSpc>
                <a:spcPct val="150000"/>
              </a:lnSpc>
              <a:buClr>
                <a:schemeClr val="accent5">
                  <a:lumMod val="75000"/>
                </a:schemeClr>
              </a:buClr>
              <a:buFont typeface="Wingdings" panose="05000000000000000000" pitchFamily="2" charset="2"/>
              <a:buNone/>
            </a:pPr>
            <a:r>
              <a:rPr lang="en-US" altLang="zh-CN" sz="1600" dirty="0">
                <a:latin typeface="+mn-ea"/>
              </a:rPr>
              <a:t>     – Variance threshold: 0.05 for feature selection</a:t>
            </a:r>
          </a:p>
          <a:p>
            <a:pPr marL="0" lvl="1" indent="457200">
              <a:lnSpc>
                <a:spcPct val="150000"/>
              </a:lnSpc>
              <a:buClr>
                <a:schemeClr val="accent5">
                  <a:lumMod val="75000"/>
                </a:schemeClr>
              </a:buClr>
              <a:buFont typeface="Wingdings" panose="05000000000000000000" pitchFamily="2" charset="2"/>
              <a:buNone/>
            </a:pPr>
            <a:r>
              <a:rPr lang="en-US" altLang="zh-CN" sz="1600" dirty="0">
                <a:latin typeface="+mn-ea"/>
                <a:sym typeface="+mn-ea"/>
              </a:rPr>
              <a:t>Cross-Validation:   </a:t>
            </a:r>
            <a:r>
              <a:rPr lang="en-US" altLang="zh-CN" sz="1600" dirty="0">
                <a:latin typeface="+mn-ea"/>
              </a:rPr>
              <a:t>K-Fold (</a:t>
            </a:r>
            <a:r>
              <a:rPr lang="zh-CN" altLang="en-US" sz="1600" dirty="0">
                <a:latin typeface="+mn-ea"/>
              </a:rPr>
              <a:t>𝑛</a:t>
            </a:r>
            <a:r>
              <a:rPr lang="en-US" altLang="zh-CN" sz="1600" dirty="0">
                <a:latin typeface="+mn-ea"/>
              </a:rPr>
              <a:t>_splits=5)</a:t>
            </a:r>
          </a:p>
          <a:p>
            <a:pPr marL="0" lvl="1" indent="457200">
              <a:lnSpc>
                <a:spcPct val="150000"/>
              </a:lnSpc>
              <a:buClr>
                <a:schemeClr val="accent5">
                  <a:lumMod val="75000"/>
                </a:schemeClr>
              </a:buClr>
              <a:buFont typeface="Wingdings" panose="05000000000000000000" pitchFamily="2" charset="2"/>
              <a:buNone/>
            </a:pPr>
            <a:r>
              <a:rPr lang="en-US" altLang="zh-CN" sz="1600" dirty="0">
                <a:latin typeface="+mn-ea"/>
              </a:rPr>
              <a:t>Bayesian optimization with 100 iterations for hyperparame-ter tuning</a:t>
            </a:r>
          </a:p>
        </p:txBody>
      </p:sp>
      <p:graphicFrame>
        <p:nvGraphicFramePr>
          <p:cNvPr id="3" name="表格 6"/>
          <p:cNvGraphicFramePr>
            <a:graphicFrameLocks noGrp="1"/>
          </p:cNvGraphicFramePr>
          <p:nvPr>
            <p:custDataLst>
              <p:tags r:id="rId2"/>
            </p:custDataLst>
          </p:nvPr>
        </p:nvGraphicFramePr>
        <p:xfrm>
          <a:off x="364490" y="1736090"/>
          <a:ext cx="10436225" cy="1014095"/>
        </p:xfrm>
        <a:graphic>
          <a:graphicData uri="http://schemas.openxmlformats.org/drawingml/2006/table">
            <a:tbl>
              <a:tblPr firstRow="1" bandRow="1">
                <a:tableStyleId>{5C22544A-7EE6-4342-B048-85BDC9FD1C3A}</a:tableStyleId>
              </a:tblPr>
              <a:tblGrid>
                <a:gridCol w="1478280">
                  <a:extLst>
                    <a:ext uri="{9D8B030D-6E8A-4147-A177-3AD203B41FA5}">
                      <a16:colId xmlns:a16="http://schemas.microsoft.com/office/drawing/2014/main" val="20000"/>
                    </a:ext>
                  </a:extLst>
                </a:gridCol>
                <a:gridCol w="1492885">
                  <a:extLst>
                    <a:ext uri="{9D8B030D-6E8A-4147-A177-3AD203B41FA5}">
                      <a16:colId xmlns:a16="http://schemas.microsoft.com/office/drawing/2014/main" val="20001"/>
                    </a:ext>
                  </a:extLst>
                </a:gridCol>
                <a:gridCol w="1492250">
                  <a:extLst>
                    <a:ext uri="{9D8B030D-6E8A-4147-A177-3AD203B41FA5}">
                      <a16:colId xmlns:a16="http://schemas.microsoft.com/office/drawing/2014/main" val="20002"/>
                    </a:ext>
                  </a:extLst>
                </a:gridCol>
                <a:gridCol w="1493520">
                  <a:extLst>
                    <a:ext uri="{9D8B030D-6E8A-4147-A177-3AD203B41FA5}">
                      <a16:colId xmlns:a16="http://schemas.microsoft.com/office/drawing/2014/main" val="20003"/>
                    </a:ext>
                  </a:extLst>
                </a:gridCol>
                <a:gridCol w="1492885">
                  <a:extLst>
                    <a:ext uri="{9D8B030D-6E8A-4147-A177-3AD203B41FA5}">
                      <a16:colId xmlns:a16="http://schemas.microsoft.com/office/drawing/2014/main" val="20004"/>
                    </a:ext>
                  </a:extLst>
                </a:gridCol>
                <a:gridCol w="1493520">
                  <a:extLst>
                    <a:ext uri="{9D8B030D-6E8A-4147-A177-3AD203B41FA5}">
                      <a16:colId xmlns:a16="http://schemas.microsoft.com/office/drawing/2014/main" val="20005"/>
                    </a:ext>
                  </a:extLst>
                </a:gridCol>
                <a:gridCol w="1492885">
                  <a:extLst>
                    <a:ext uri="{9D8B030D-6E8A-4147-A177-3AD203B41FA5}">
                      <a16:colId xmlns:a16="http://schemas.microsoft.com/office/drawing/2014/main" val="20006"/>
                    </a:ext>
                  </a:extLst>
                </a:gridCol>
              </a:tblGrid>
              <a:tr h="616585">
                <a:tc>
                  <a:txBody>
                    <a:bodyPr/>
                    <a:lstStyle/>
                    <a:p>
                      <a:pPr marL="0" indent="0" algn="ctr" fontAlgn="ctr">
                        <a:spcBef>
                          <a:spcPct val="0"/>
                        </a:spcBef>
                        <a:spcAft>
                          <a:spcPct val="0"/>
                        </a:spcAft>
                      </a:pPr>
                      <a:r>
                        <a:rPr lang="en-US" altLang="zh-CN" sz="1100" b="1" i="0">
                          <a:latin typeface="pingfang sc"/>
                          <a:ea typeface="pingfang sc"/>
                        </a:rPr>
                        <a:t>Para</a:t>
                      </a:r>
                    </a:p>
                  </a:txBody>
                  <a:tcPr marL="152717" marR="152717" marT="114617" marB="114617" anchor="ctr"/>
                </a:tc>
                <a:tc>
                  <a:txBody>
                    <a:bodyPr/>
                    <a:lstStyle/>
                    <a:p>
                      <a:pPr marL="0" indent="0" algn="ctr" fontAlgn="ctr">
                        <a:spcBef>
                          <a:spcPct val="0"/>
                        </a:spcBef>
                        <a:spcAft>
                          <a:spcPct val="0"/>
                        </a:spcAft>
                      </a:pPr>
                      <a:r>
                        <a:rPr lang="en-US" altLang="zh-CN" sz="1100" b="1" i="0">
                          <a:latin typeface="pingfang sc"/>
                          <a:ea typeface="pingfang sc"/>
                        </a:rPr>
                        <a:t>learning_rate</a:t>
                      </a:r>
                    </a:p>
                  </a:txBody>
                  <a:tcPr marL="152717" marR="152717" marT="114617" marB="114617" anchor="ctr"/>
                </a:tc>
                <a:tc>
                  <a:txBody>
                    <a:bodyPr/>
                    <a:lstStyle/>
                    <a:p>
                      <a:pPr marL="0" indent="0" algn="ctr" fontAlgn="ctr">
                        <a:spcBef>
                          <a:spcPct val="0"/>
                        </a:spcBef>
                        <a:spcAft>
                          <a:spcPct val="0"/>
                        </a:spcAft>
                      </a:pPr>
                      <a:r>
                        <a:rPr lang="en-US" altLang="zh-CN" sz="1100" b="1" i="0">
                          <a:latin typeface="pingfang sc"/>
                          <a:ea typeface="pingfang sc"/>
                        </a:rPr>
                        <a:t>max_depth</a:t>
                      </a:r>
                    </a:p>
                  </a:txBody>
                  <a:tcPr marL="152717" marR="152717" marT="114617" marB="114617" anchor="ctr"/>
                </a:tc>
                <a:tc>
                  <a:txBody>
                    <a:bodyPr/>
                    <a:lstStyle/>
                    <a:p>
                      <a:pPr marL="0" indent="0" algn="ctr" fontAlgn="ctr">
                        <a:spcBef>
                          <a:spcPct val="0"/>
                        </a:spcBef>
                        <a:spcAft>
                          <a:spcPct val="0"/>
                        </a:spcAft>
                      </a:pPr>
                      <a:r>
                        <a:rPr lang="en-US" altLang="zh-CN" sz="1100" b="1" i="0">
                          <a:latin typeface="pingfang sc"/>
                          <a:ea typeface="pingfang sc"/>
                        </a:rPr>
                        <a:t>bagging_fraction</a:t>
                      </a:r>
                    </a:p>
                  </a:txBody>
                  <a:tcPr marL="152717" marR="152717" marT="114617" marB="114617" anchor="ctr"/>
                </a:tc>
                <a:tc>
                  <a:txBody>
                    <a:bodyPr/>
                    <a:lstStyle/>
                    <a:p>
                      <a:pPr marL="0" indent="0" algn="ctr" fontAlgn="ctr">
                        <a:spcBef>
                          <a:spcPct val="0"/>
                        </a:spcBef>
                        <a:spcAft>
                          <a:spcPct val="0"/>
                        </a:spcAft>
                      </a:pPr>
                      <a:r>
                        <a:rPr lang="en-US" altLang="zh-CN" sz="1100" b="1" i="0">
                          <a:latin typeface="pingfang sc"/>
                          <a:ea typeface="pingfang sc"/>
                        </a:rPr>
                        <a:t>bagging_freq</a:t>
                      </a:r>
                    </a:p>
                  </a:txBody>
                  <a:tcPr marL="152717" marR="152717" marT="114617" marB="114617" anchor="ctr"/>
                </a:tc>
                <a:tc>
                  <a:txBody>
                    <a:bodyPr/>
                    <a:lstStyle/>
                    <a:p>
                      <a:pPr marL="0" indent="0" algn="ctr" fontAlgn="ctr">
                        <a:spcBef>
                          <a:spcPct val="0"/>
                        </a:spcBef>
                        <a:spcAft>
                          <a:spcPct val="0"/>
                        </a:spcAft>
                      </a:pPr>
                      <a:r>
                        <a:rPr lang="en-US" altLang="zh-CN" sz="1100" b="1" i="0">
                          <a:latin typeface="pingfang sc"/>
                          <a:ea typeface="pingfang sc"/>
                        </a:rPr>
                        <a:t>feature_fraction</a:t>
                      </a:r>
                    </a:p>
                  </a:txBody>
                  <a:tcPr marL="152717" marR="152717" marT="114617" marB="114617" anchor="ctr"/>
                </a:tc>
                <a:tc>
                  <a:txBody>
                    <a:bodyPr/>
                    <a:lstStyle/>
                    <a:p>
                      <a:pPr marL="0" indent="0" algn="ctr" fontAlgn="ctr">
                        <a:spcBef>
                          <a:spcPct val="0"/>
                        </a:spcBef>
                        <a:spcAft>
                          <a:spcPct val="0"/>
                        </a:spcAft>
                      </a:pPr>
                      <a:r>
                        <a:rPr lang="en-US" altLang="zh-CN" sz="1100" b="1" i="0">
                          <a:latin typeface="pingfang sc"/>
                          <a:ea typeface="pingfang sc"/>
                        </a:rPr>
                        <a:t>early_stopping_rounds</a:t>
                      </a:r>
                    </a:p>
                  </a:txBody>
                  <a:tcPr marL="152717" marR="152717" marT="114617" marB="114617" anchor="ctr"/>
                </a:tc>
                <a:extLst>
                  <a:ext uri="{0D108BD9-81ED-4DB2-BD59-A6C34878D82A}">
                    <a16:rowId xmlns:a16="http://schemas.microsoft.com/office/drawing/2014/main" val="10000"/>
                  </a:ext>
                </a:extLst>
              </a:tr>
              <a:tr h="397510">
                <a:tc>
                  <a:txBody>
                    <a:bodyPr/>
                    <a:lstStyle/>
                    <a:p>
                      <a:pPr marL="0" indent="0" algn="ctr" fontAlgn="ctr">
                        <a:spcBef>
                          <a:spcPct val="0"/>
                        </a:spcBef>
                        <a:spcAft>
                          <a:spcPct val="0"/>
                        </a:spcAft>
                      </a:pPr>
                      <a:r>
                        <a:rPr lang="en-US" altLang="zh-CN" sz="1100" b="0" i="0">
                          <a:latin typeface="pingfang sc"/>
                          <a:ea typeface="pingfang sc"/>
                        </a:rPr>
                        <a:t>​​value​​</a:t>
                      </a:r>
                    </a:p>
                  </a:txBody>
                  <a:tcPr marL="152717" marR="152717" marT="114617" marB="114617" anchor="ctr"/>
                </a:tc>
                <a:tc>
                  <a:txBody>
                    <a:bodyPr/>
                    <a:lstStyle/>
                    <a:p>
                      <a:pPr marL="0" indent="0" algn="ctr" fontAlgn="ctr">
                        <a:spcBef>
                          <a:spcPct val="0"/>
                        </a:spcBef>
                        <a:spcAft>
                          <a:spcPct val="0"/>
                        </a:spcAft>
                      </a:pPr>
                      <a:r>
                        <a:rPr lang="en-US" altLang="zh-CN" sz="1100" b="0" i="0">
                          <a:latin typeface="pingfang sc"/>
                          <a:ea typeface="pingfang sc"/>
                        </a:rPr>
                        <a:t>0.02</a:t>
                      </a:r>
                    </a:p>
                  </a:txBody>
                  <a:tcPr marL="152717" marR="152717" marT="114617" marB="114617" anchor="ctr"/>
                </a:tc>
                <a:tc>
                  <a:txBody>
                    <a:bodyPr/>
                    <a:lstStyle/>
                    <a:p>
                      <a:pPr marL="0" indent="0" algn="ctr" fontAlgn="ctr">
                        <a:spcBef>
                          <a:spcPct val="0"/>
                        </a:spcBef>
                        <a:spcAft>
                          <a:spcPct val="0"/>
                        </a:spcAft>
                      </a:pPr>
                      <a:r>
                        <a:rPr lang="en-US" altLang="zh-CN" sz="1100" b="0" i="0">
                          <a:latin typeface="pingfang sc"/>
                          <a:ea typeface="pingfang sc"/>
                        </a:rPr>
                        <a:t>8</a:t>
                      </a:r>
                    </a:p>
                  </a:txBody>
                  <a:tcPr marL="152717" marR="152717" marT="114617" marB="114617" anchor="ctr"/>
                </a:tc>
                <a:tc>
                  <a:txBody>
                    <a:bodyPr/>
                    <a:lstStyle/>
                    <a:p>
                      <a:pPr marL="0" indent="0" algn="ctr" fontAlgn="ctr">
                        <a:spcBef>
                          <a:spcPct val="0"/>
                        </a:spcBef>
                        <a:spcAft>
                          <a:spcPct val="0"/>
                        </a:spcAft>
                      </a:pPr>
                      <a:r>
                        <a:rPr lang="en-US" altLang="zh-CN" sz="1100" b="0" i="0">
                          <a:latin typeface="pingfang sc"/>
                          <a:ea typeface="pingfang sc"/>
                        </a:rPr>
                        <a:t>0.8</a:t>
                      </a:r>
                    </a:p>
                  </a:txBody>
                  <a:tcPr marL="152717" marR="152717" marT="114617" marB="114617" anchor="ctr"/>
                </a:tc>
                <a:tc>
                  <a:txBody>
                    <a:bodyPr/>
                    <a:lstStyle/>
                    <a:p>
                      <a:pPr marL="0" indent="0" algn="ctr" fontAlgn="ctr">
                        <a:spcBef>
                          <a:spcPct val="0"/>
                        </a:spcBef>
                        <a:spcAft>
                          <a:spcPct val="0"/>
                        </a:spcAft>
                      </a:pPr>
                      <a:r>
                        <a:rPr lang="en-US" altLang="zh-CN" sz="1100" b="0" i="0">
                          <a:latin typeface="pingfang sc"/>
                          <a:ea typeface="pingfang sc"/>
                        </a:rPr>
                        <a:t>1</a:t>
                      </a:r>
                    </a:p>
                  </a:txBody>
                  <a:tcPr marL="152717" marR="152717" marT="114617" marB="114617" anchor="ctr"/>
                </a:tc>
                <a:tc>
                  <a:txBody>
                    <a:bodyPr/>
                    <a:lstStyle/>
                    <a:p>
                      <a:pPr marL="0" indent="0" algn="ctr" fontAlgn="ctr">
                        <a:spcBef>
                          <a:spcPct val="0"/>
                        </a:spcBef>
                        <a:spcAft>
                          <a:spcPct val="0"/>
                        </a:spcAft>
                      </a:pPr>
                      <a:r>
                        <a:rPr lang="en-US" altLang="zh-CN" sz="1100" b="0" i="0">
                          <a:latin typeface="pingfang sc"/>
                          <a:ea typeface="pingfang sc"/>
                        </a:rPr>
                        <a:t>0.8</a:t>
                      </a:r>
                    </a:p>
                  </a:txBody>
                  <a:tcPr marL="152717" marR="152717" marT="114617" marB="114617" anchor="ctr"/>
                </a:tc>
                <a:tc>
                  <a:txBody>
                    <a:bodyPr/>
                    <a:lstStyle/>
                    <a:p>
                      <a:pPr marL="0" indent="0" algn="ctr" fontAlgn="ctr">
                        <a:spcBef>
                          <a:spcPct val="0"/>
                        </a:spcBef>
                        <a:spcAft>
                          <a:spcPct val="0"/>
                        </a:spcAft>
                      </a:pPr>
                      <a:r>
                        <a:rPr lang="en-US" altLang="zh-CN" sz="1100" b="0" i="0">
                          <a:latin typeface="pingfang sc"/>
                          <a:ea typeface="pingfang sc"/>
                        </a:rPr>
                        <a:t>100</a:t>
                      </a:r>
                    </a:p>
                  </a:txBody>
                  <a:tcPr marL="152717" marR="152717" marT="114617" marB="114617" anchor="ctr"/>
                </a:tc>
                <a:extLst>
                  <a:ext uri="{0D108BD9-81ED-4DB2-BD59-A6C34878D82A}">
                    <a16:rowId xmlns:a16="http://schemas.microsoft.com/office/drawing/2014/main" val="10001"/>
                  </a:ext>
                </a:extLst>
              </a:tr>
            </a:tbl>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4948"/>
    </mc:Choice>
    <mc:Fallback xmlns="">
      <p:transition spd="slow" advTm="74948"/>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731520" y="728472"/>
            <a:ext cx="10728960" cy="5465064"/>
          </a:xfrm>
          <a:prstGeom prst="rect">
            <a:avLst/>
          </a:prstGeom>
          <a:solidFill>
            <a:schemeClr val="bg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5" name="椭圆 14"/>
          <p:cNvSpPr/>
          <p:nvPr/>
        </p:nvSpPr>
        <p:spPr>
          <a:xfrm>
            <a:off x="1412399" y="2118102"/>
            <a:ext cx="2394908" cy="2394908"/>
          </a:xfrm>
          <a:prstGeom prst="ellipse">
            <a:avLst/>
          </a:prstGeom>
          <a:solidFill>
            <a:schemeClr val="accent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p>
        </p:txBody>
      </p:sp>
      <p:sp>
        <p:nvSpPr>
          <p:cNvPr id="23" name="矩形 22"/>
          <p:cNvSpPr/>
          <p:nvPr/>
        </p:nvSpPr>
        <p:spPr>
          <a:xfrm>
            <a:off x="4147389" y="2900057"/>
            <a:ext cx="3897221" cy="830997"/>
          </a:xfrm>
          <a:prstGeom prst="rect">
            <a:avLst/>
          </a:prstGeom>
        </p:spPr>
        <p:txBody>
          <a:bodyPr wrap="none">
            <a:spAutoFit/>
          </a:bodyPr>
          <a:lstStyle/>
          <a:p>
            <a:r>
              <a:rPr lang="en-US" altLang="zh-CN" sz="4800" b="1" kern="100" dirty="0">
                <a:solidFill>
                  <a:schemeClr val="accent1"/>
                </a:solidFill>
                <a:latin typeface="+mn-ea"/>
                <a:cs typeface="Times New Roman" panose="02020603050405020304" pitchFamily="18" charset="0"/>
              </a:rPr>
              <a:t>Conclusions</a:t>
            </a:r>
          </a:p>
        </p:txBody>
      </p:sp>
      <p:grpSp>
        <p:nvGrpSpPr>
          <p:cNvPr id="14" name="组合 13"/>
          <p:cNvGrpSpPr/>
          <p:nvPr/>
        </p:nvGrpSpPr>
        <p:grpSpPr>
          <a:xfrm>
            <a:off x="1856805" y="2615775"/>
            <a:ext cx="1487548" cy="1487548"/>
            <a:chOff x="2473104" y="2145028"/>
            <a:chExt cx="359165" cy="359165"/>
          </a:xfrm>
          <a:solidFill>
            <a:sysClr val="window" lastClr="FFFFFF"/>
          </a:solidFill>
        </p:grpSpPr>
        <p:sp>
          <p:nvSpPr>
            <p:cNvPr id="16"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charset="0"/>
                <a:ea typeface="宋体" panose="02010600030101010101" pitchFamily="2" charset="-122"/>
                <a:sym typeface="Gill Sans" charset="0"/>
              </a:endParaRPr>
            </a:p>
          </p:txBody>
        </p:sp>
        <p:sp>
          <p:nvSpPr>
            <p:cNvPr id="17"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charset="0"/>
                <a:ea typeface="宋体" panose="02010600030101010101" pitchFamily="2" charset="-122"/>
                <a:sym typeface="Gill Sans" charset="0"/>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51D91E7F-84B6-4064-9D4E-CC7D244BCA04}" type="slidenum">
              <a:rPr lang="zh-CN" altLang="en-US" smtClean="0">
                <a:latin typeface="宋体" panose="02010600030101010101" pitchFamily="2" charset="-122"/>
                <a:ea typeface="宋体" panose="02010600030101010101" pitchFamily="2" charset="-122"/>
              </a:rPr>
              <a:t>17</a:t>
            </a:fld>
            <a:endParaRPr lang="zh-CN" altLang="en-US" dirty="0">
              <a:latin typeface="宋体" panose="02010600030101010101" pitchFamily="2" charset="-122"/>
              <a:ea typeface="宋体" panose="02010600030101010101" pitchFamily="2" charset="-122"/>
            </a:endParaRPr>
          </a:p>
        </p:txBody>
      </p:sp>
      <p:sp>
        <p:nvSpPr>
          <p:cNvPr id="27" name="圆角矩形 26"/>
          <p:cNvSpPr/>
          <p:nvPr/>
        </p:nvSpPr>
        <p:spPr>
          <a:xfrm>
            <a:off x="368303" y="952505"/>
            <a:ext cx="11239500" cy="45719"/>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2" name="矩形 1"/>
          <p:cNvSpPr/>
          <p:nvPr/>
        </p:nvSpPr>
        <p:spPr>
          <a:xfrm>
            <a:off x="263525" y="1104265"/>
            <a:ext cx="5584190" cy="3022600"/>
          </a:xfrm>
          <a:prstGeom prst="rect">
            <a:avLst/>
          </a:prstGeom>
          <a:noFill/>
        </p:spPr>
        <p:txBody>
          <a:bodyPr wrap="square">
            <a:spAutoFit/>
          </a:bodyPr>
          <a:lstStyle/>
          <a:p>
            <a:pPr>
              <a:lnSpc>
                <a:spcPct val="150000"/>
              </a:lnSpc>
              <a:buClr>
                <a:schemeClr val="accent5">
                  <a:lumMod val="75000"/>
                </a:schemeClr>
              </a:buClr>
              <a:buFont typeface="Wingdings" panose="05000000000000000000" pitchFamily="2" charset="2"/>
              <a:buChar char="p"/>
            </a:pPr>
            <a:r>
              <a:rPr lang="en-US" altLang="zh-CN" sz="2000" b="1" dirty="0">
                <a:latin typeface="+mn-ea"/>
              </a:rPr>
              <a:t> </a:t>
            </a:r>
            <a:r>
              <a:rPr lang="en-US" altLang="zh-CN" sz="2000" b="1" dirty="0">
                <a:latin typeface="+mn-ea"/>
                <a:sym typeface="+mn-ea"/>
              </a:rPr>
              <a:t>Results</a:t>
            </a:r>
            <a:endParaRPr lang="en-US" altLang="zh-CN" sz="2000" b="1" dirty="0">
              <a:latin typeface="+mn-ea"/>
            </a:endParaRPr>
          </a:p>
          <a:p>
            <a:pPr lvl="2">
              <a:lnSpc>
                <a:spcPct val="150000"/>
              </a:lnSpc>
              <a:buClr>
                <a:schemeClr val="accent5">
                  <a:lumMod val="75000"/>
                </a:schemeClr>
              </a:buClr>
            </a:pPr>
            <a:r>
              <a:rPr lang="zh-CN" altLang="en-US" sz="2000">
                <a:latin typeface="Times New Roman Regular" panose="02020503050405090304" charset="0"/>
                <a:cs typeface="Times New Roman Regular" panose="02020503050405090304" charset="0"/>
                <a:sym typeface="+mn-ea"/>
              </a:rPr>
              <a:t>We experimented with various labeling windows </a:t>
            </a:r>
            <a:r>
              <a:rPr lang="en-US" altLang="zh-CN" sz="2000">
                <a:latin typeface="Times New Roman Regular" panose="02020503050405090304" charset="0"/>
                <a:cs typeface="Times New Roman Regular" panose="02020503050405090304" charset="0"/>
                <a:sym typeface="+mn-ea"/>
              </a:rPr>
              <a:t>and </a:t>
            </a:r>
            <a:r>
              <a:rPr sz="2000">
                <a:latin typeface="Times New Roman Regular" panose="02020503050405090304" charset="0"/>
                <a:cs typeface="Times New Roman Regular" panose="02020503050405090304" charset="0"/>
                <a:sym typeface="+mn-ea"/>
              </a:rPr>
              <a:t>different validation strategies</a:t>
            </a:r>
            <a:endParaRPr lang="en-US" altLang="zh-CN" sz="2000" dirty="0">
              <a:latin typeface="+mn-ea"/>
            </a:endParaRPr>
          </a:p>
          <a:p>
            <a:pPr lvl="1">
              <a:lnSpc>
                <a:spcPct val="150000"/>
              </a:lnSpc>
              <a:buClr>
                <a:schemeClr val="accent5">
                  <a:lumMod val="75000"/>
                </a:schemeClr>
              </a:buClr>
            </a:pPr>
            <a:endParaRPr lang="en-US" altLang="zh-CN" sz="2000" b="1" dirty="0">
              <a:latin typeface="+mn-ea"/>
            </a:endParaRPr>
          </a:p>
          <a:p>
            <a:pPr lvl="1">
              <a:lnSpc>
                <a:spcPct val="150000"/>
              </a:lnSpc>
              <a:buClr>
                <a:schemeClr val="accent5">
                  <a:lumMod val="75000"/>
                </a:schemeClr>
              </a:buClr>
            </a:pPr>
            <a:endParaRPr lang="en-US" altLang="zh-CN" sz="2000" b="1" dirty="0">
              <a:latin typeface="+mn-ea"/>
            </a:endParaRPr>
          </a:p>
          <a:p>
            <a:pPr lvl="1">
              <a:lnSpc>
                <a:spcPct val="150000"/>
              </a:lnSpc>
              <a:buClr>
                <a:schemeClr val="accent5">
                  <a:lumMod val="75000"/>
                </a:schemeClr>
              </a:buClr>
            </a:pPr>
            <a:endParaRPr lang="en-US" altLang="zh-CN" sz="1100" b="1" dirty="0">
              <a:latin typeface="+mn-ea"/>
            </a:endParaRPr>
          </a:p>
          <a:p>
            <a:pPr indent="0">
              <a:lnSpc>
                <a:spcPct val="150000"/>
              </a:lnSpc>
              <a:buClr>
                <a:schemeClr val="accent5">
                  <a:lumMod val="75000"/>
                </a:schemeClr>
              </a:buClr>
              <a:buFont typeface="Wingdings" panose="05000000000000000000" pitchFamily="2" charset="2"/>
              <a:buNone/>
            </a:pPr>
            <a:endParaRPr lang="en-US" altLang="zh-CN" sz="1600" dirty="0">
              <a:latin typeface="+mn-ea"/>
            </a:endParaRPr>
          </a:p>
        </p:txBody>
      </p:sp>
      <p:graphicFrame>
        <p:nvGraphicFramePr>
          <p:cNvPr id="5" name="表格 4"/>
          <p:cNvGraphicFramePr/>
          <p:nvPr/>
        </p:nvGraphicFramePr>
        <p:xfrm>
          <a:off x="6254750" y="1308100"/>
          <a:ext cx="5029200" cy="3556000"/>
        </p:xfrm>
        <a:graphic>
          <a:graphicData uri="http://schemas.openxmlformats.org/drawingml/2006/table">
            <a:tbl>
              <a:tblPr/>
              <a:tblGrid>
                <a:gridCol w="1676400">
                  <a:extLst>
                    <a:ext uri="{9D8B030D-6E8A-4147-A177-3AD203B41FA5}">
                      <a16:colId xmlns:a16="http://schemas.microsoft.com/office/drawing/2014/main" val="20000"/>
                    </a:ext>
                  </a:extLst>
                </a:gridCol>
                <a:gridCol w="1998345">
                  <a:extLst>
                    <a:ext uri="{9D8B030D-6E8A-4147-A177-3AD203B41FA5}">
                      <a16:colId xmlns:a16="http://schemas.microsoft.com/office/drawing/2014/main" val="20001"/>
                    </a:ext>
                  </a:extLst>
                </a:gridCol>
                <a:gridCol w="1354455">
                  <a:extLst>
                    <a:ext uri="{9D8B030D-6E8A-4147-A177-3AD203B41FA5}">
                      <a16:colId xmlns:a16="http://schemas.microsoft.com/office/drawing/2014/main" val="20002"/>
                    </a:ext>
                  </a:extLst>
                </a:gridCol>
              </a:tblGrid>
              <a:tr h="355600">
                <a:tc>
                  <a:txBody>
                    <a:bodyPr/>
                    <a:lstStyle/>
                    <a:p>
                      <a:pPr algn="ctr" eaLnBrk="1" fontAlgn="t" latinLnBrk="0" hangingPunct="1"/>
                      <a:r>
                        <a:rPr lang="en-US" altLang="zh-CN" sz="1300" b="1">
                          <a:solidFill>
                            <a:srgbClr val="FFFFFF"/>
                          </a:solidFill>
                        </a:rPr>
                        <a:t>Window Length</a:t>
                      </a: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952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4472C4"/>
                    </a:solidFill>
                  </a:tcPr>
                </a:tc>
                <a:tc>
                  <a:txBody>
                    <a:bodyPr/>
                    <a:lstStyle/>
                    <a:p>
                      <a:pPr algn="ctr" eaLnBrk="1" fontAlgn="t" latinLnBrk="0" hangingPunct="1">
                        <a:buNone/>
                      </a:pPr>
                      <a:r>
                        <a:rPr lang="en-US" altLang="zh-CN" sz="1300" b="1">
                          <a:solidFill>
                            <a:srgbClr val="FFFFFF"/>
                          </a:solidFill>
                        </a:rPr>
                        <a:t>Validation Method</a:t>
                      </a: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952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4472C4"/>
                    </a:solidFill>
                  </a:tcPr>
                </a:tc>
                <a:tc>
                  <a:txBody>
                    <a:bodyPr/>
                    <a:lstStyle/>
                    <a:p>
                      <a:pPr algn="ctr" eaLnBrk="1" fontAlgn="t" latinLnBrk="0" hangingPunct="1"/>
                      <a:r>
                        <a:rPr lang="en-US" altLang="zh-CN" sz="1300" b="1">
                          <a:solidFill>
                            <a:srgbClr val="FFFFFF"/>
                          </a:solidFill>
                        </a:rPr>
                        <a:t>F1-Score</a:t>
                      </a: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952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4472C4"/>
                    </a:solidFill>
                  </a:tcPr>
                </a:tc>
                <a:extLst>
                  <a:ext uri="{0D108BD9-81ED-4DB2-BD59-A6C34878D82A}">
                    <a16:rowId xmlns:a16="http://schemas.microsoft.com/office/drawing/2014/main" val="10000"/>
                  </a:ext>
                </a:extLst>
              </a:tr>
              <a:tr h="355600">
                <a:tc>
                  <a:txBody>
                    <a:bodyPr/>
                    <a:lstStyle/>
                    <a:p>
                      <a:pPr algn="ctr" eaLnBrk="1" fontAlgn="t" latinLnBrk="0" hangingPunct="1"/>
                      <a:r>
                        <a:rPr lang="en-US" altLang="zh-CN" sz="1300">
                          <a:solidFill>
                            <a:srgbClr val="000000"/>
                          </a:solidFill>
                        </a:rPr>
                        <a:t>3days</a:t>
                      </a: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CFD5EA"/>
                    </a:solidFill>
                  </a:tcPr>
                </a:tc>
                <a:tc>
                  <a:txBody>
                    <a:bodyPr/>
                    <a:lstStyle/>
                    <a:p>
                      <a:pPr algn="ctr" eaLnBrk="1" fontAlgn="t" latinLnBrk="0" hangingPunct="1">
                        <a:buNone/>
                      </a:pPr>
                      <a:r>
                        <a:rPr lang="en-US" altLang="zh-CN" sz="1300">
                          <a:solidFill>
                            <a:srgbClr val="000000"/>
                          </a:solidFill>
                        </a:rPr>
                        <a:t>Full Training</a:t>
                      </a: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CFD5EA"/>
                    </a:solidFill>
                  </a:tcPr>
                </a:tc>
                <a:tc>
                  <a:txBody>
                    <a:bodyPr/>
                    <a:lstStyle/>
                    <a:p>
                      <a:pPr algn="ctr" eaLnBrk="1" fontAlgn="t" latinLnBrk="0" hangingPunct="1"/>
                      <a:r>
                        <a:rPr lang="en-US" altLang="zh-CN" sz="1300">
                          <a:solidFill>
                            <a:srgbClr val="000000"/>
                          </a:solidFill>
                        </a:rPr>
                        <a:t>0.212</a:t>
                      </a: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CFD5EA"/>
                    </a:solidFill>
                  </a:tcPr>
                </a:tc>
                <a:extLst>
                  <a:ext uri="{0D108BD9-81ED-4DB2-BD59-A6C34878D82A}">
                    <a16:rowId xmlns:a16="http://schemas.microsoft.com/office/drawing/2014/main" val="10001"/>
                  </a:ext>
                </a:extLst>
              </a:tr>
              <a:tr h="355600">
                <a:tc>
                  <a:txBody>
                    <a:bodyPr/>
                    <a:lstStyle/>
                    <a:p>
                      <a:pPr algn="ctr" eaLnBrk="1" fontAlgn="t" latinLnBrk="0" hangingPunct="1"/>
                      <a:r>
                        <a:rPr lang="en-US" altLang="zh-CN" sz="1300">
                          <a:solidFill>
                            <a:srgbClr val="000000"/>
                          </a:solidFill>
                          <a:sym typeface="+mn-ea"/>
                        </a:rPr>
                        <a:t>3days</a:t>
                      </a:r>
                      <a:endParaRPr lang="en-US" altLang="zh-CN" sz="1300">
                        <a:solidFill>
                          <a:srgbClr val="000000"/>
                        </a:solidFill>
                      </a:endParaRP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E9EBF5"/>
                    </a:solidFill>
                  </a:tcPr>
                </a:tc>
                <a:tc>
                  <a:txBody>
                    <a:bodyPr/>
                    <a:lstStyle/>
                    <a:p>
                      <a:pPr algn="ctr" eaLnBrk="1" fontAlgn="t" latinLnBrk="0" hangingPunct="1">
                        <a:buNone/>
                      </a:pPr>
                      <a:r>
                        <a:rPr lang="en-US" altLang="zh-CN" sz="1300">
                          <a:solidFill>
                            <a:srgbClr val="000000"/>
                          </a:solidFill>
                        </a:rPr>
                        <a:t>K-fold(n = 5)</a:t>
                      </a: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E9EBF5"/>
                    </a:solidFill>
                  </a:tcPr>
                </a:tc>
                <a:tc>
                  <a:txBody>
                    <a:bodyPr/>
                    <a:lstStyle/>
                    <a:p>
                      <a:pPr algn="ctr" eaLnBrk="1" fontAlgn="t" latinLnBrk="0" hangingPunct="1"/>
                      <a:r>
                        <a:rPr lang="en-US" altLang="zh-CN" sz="1300">
                          <a:solidFill>
                            <a:srgbClr val="000000"/>
                          </a:solidFill>
                        </a:rPr>
                        <a:t>0.231</a:t>
                      </a: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E9EBF5"/>
                    </a:solidFill>
                  </a:tcPr>
                </a:tc>
                <a:extLst>
                  <a:ext uri="{0D108BD9-81ED-4DB2-BD59-A6C34878D82A}">
                    <a16:rowId xmlns:a16="http://schemas.microsoft.com/office/drawing/2014/main" val="10002"/>
                  </a:ext>
                </a:extLst>
              </a:tr>
              <a:tr h="355600">
                <a:tc>
                  <a:txBody>
                    <a:bodyPr/>
                    <a:lstStyle/>
                    <a:p>
                      <a:pPr algn="ctr" eaLnBrk="1" fontAlgn="t" latinLnBrk="0" hangingPunct="1"/>
                      <a:r>
                        <a:rPr lang="en-US" altLang="zh-CN" sz="1300">
                          <a:solidFill>
                            <a:srgbClr val="000000"/>
                          </a:solidFill>
                          <a:sym typeface="+mn-ea"/>
                        </a:rPr>
                        <a:t>3days</a:t>
                      </a:r>
                      <a:endParaRPr lang="en-US" altLang="zh-CN" sz="1300">
                        <a:solidFill>
                          <a:srgbClr val="000000"/>
                        </a:solidFill>
                      </a:endParaRP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CFD5EA"/>
                    </a:solidFill>
                  </a:tcPr>
                </a:tc>
                <a:tc>
                  <a:txBody>
                    <a:bodyPr/>
                    <a:lstStyle/>
                    <a:p>
                      <a:pPr algn="ctr" eaLnBrk="1" fontAlgn="t" latinLnBrk="0" hangingPunct="1">
                        <a:buNone/>
                      </a:pPr>
                      <a:r>
                        <a:rPr lang="en-US" altLang="zh-CN" sz="1300">
                          <a:solidFill>
                            <a:srgbClr val="000000"/>
                          </a:solidFill>
                        </a:rPr>
                        <a:t>Stratified Kfold</a:t>
                      </a:r>
                      <a:r>
                        <a:rPr lang="en-US" altLang="zh-CN" sz="1300">
                          <a:solidFill>
                            <a:srgbClr val="000000"/>
                          </a:solidFill>
                          <a:sym typeface="+mn-ea"/>
                        </a:rPr>
                        <a:t>(n = 5)</a:t>
                      </a:r>
                      <a:endParaRPr lang="en-US" altLang="zh-CN" sz="1300">
                        <a:solidFill>
                          <a:srgbClr val="000000"/>
                        </a:solidFill>
                      </a:endParaRP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CFD5EA"/>
                    </a:solidFill>
                  </a:tcPr>
                </a:tc>
                <a:tc>
                  <a:txBody>
                    <a:bodyPr/>
                    <a:lstStyle/>
                    <a:p>
                      <a:pPr algn="ctr" eaLnBrk="1" fontAlgn="t" latinLnBrk="0" hangingPunct="1"/>
                      <a:r>
                        <a:rPr lang="en-US" altLang="zh-CN" sz="1300">
                          <a:solidFill>
                            <a:srgbClr val="000000"/>
                          </a:solidFill>
                        </a:rPr>
                        <a:t>0.228</a:t>
                      </a: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CFD5EA"/>
                    </a:solidFill>
                  </a:tcPr>
                </a:tc>
                <a:extLst>
                  <a:ext uri="{0D108BD9-81ED-4DB2-BD59-A6C34878D82A}">
                    <a16:rowId xmlns:a16="http://schemas.microsoft.com/office/drawing/2014/main" val="10003"/>
                  </a:ext>
                </a:extLst>
              </a:tr>
              <a:tr h="355600">
                <a:tc>
                  <a:txBody>
                    <a:bodyPr/>
                    <a:lstStyle/>
                    <a:p>
                      <a:pPr algn="ctr" eaLnBrk="1" fontAlgn="t" latinLnBrk="0" hangingPunct="1"/>
                      <a:r>
                        <a:rPr lang="en-US" altLang="zh-CN" sz="1300">
                          <a:solidFill>
                            <a:srgbClr val="000000"/>
                          </a:solidFill>
                          <a:sym typeface="+mn-ea"/>
                        </a:rPr>
                        <a:t>5days</a:t>
                      </a:r>
                      <a:endParaRPr lang="en-US" altLang="zh-CN" sz="1300">
                        <a:solidFill>
                          <a:srgbClr val="000000"/>
                        </a:solidFill>
                      </a:endParaRP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E9EBF5"/>
                    </a:solidFill>
                  </a:tcPr>
                </a:tc>
                <a:tc>
                  <a:txBody>
                    <a:bodyPr/>
                    <a:lstStyle/>
                    <a:p>
                      <a:pPr algn="ctr" eaLnBrk="1" fontAlgn="t" latinLnBrk="0" hangingPunct="1">
                        <a:buNone/>
                      </a:pPr>
                      <a:r>
                        <a:rPr lang="en-US" altLang="zh-CN" sz="1300">
                          <a:solidFill>
                            <a:srgbClr val="000000"/>
                          </a:solidFill>
                        </a:rPr>
                        <a:t>Full Training</a:t>
                      </a: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E9EBF5"/>
                    </a:solidFill>
                  </a:tcPr>
                </a:tc>
                <a:tc>
                  <a:txBody>
                    <a:bodyPr/>
                    <a:lstStyle/>
                    <a:p>
                      <a:pPr algn="ctr" eaLnBrk="1" fontAlgn="t" latinLnBrk="0" hangingPunct="1"/>
                      <a:r>
                        <a:rPr lang="en-US" altLang="zh-CN" sz="1300">
                          <a:solidFill>
                            <a:srgbClr val="000000"/>
                          </a:solidFill>
                        </a:rPr>
                        <a:t>0.243</a:t>
                      </a: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E9EBF5"/>
                    </a:solidFill>
                  </a:tcPr>
                </a:tc>
                <a:extLst>
                  <a:ext uri="{0D108BD9-81ED-4DB2-BD59-A6C34878D82A}">
                    <a16:rowId xmlns:a16="http://schemas.microsoft.com/office/drawing/2014/main" val="10004"/>
                  </a:ext>
                </a:extLst>
              </a:tr>
              <a:tr h="355600">
                <a:tc>
                  <a:txBody>
                    <a:bodyPr/>
                    <a:lstStyle/>
                    <a:p>
                      <a:pPr algn="ctr" eaLnBrk="1" fontAlgn="t" latinLnBrk="0" hangingPunct="1"/>
                      <a:r>
                        <a:rPr lang="en-US" altLang="zh-CN" sz="1300">
                          <a:solidFill>
                            <a:srgbClr val="000000"/>
                          </a:solidFill>
                          <a:sym typeface="+mn-ea"/>
                        </a:rPr>
                        <a:t>5days</a:t>
                      </a:r>
                      <a:endParaRPr lang="en-US" altLang="zh-CN" sz="1300">
                        <a:solidFill>
                          <a:srgbClr val="000000"/>
                        </a:solidFill>
                      </a:endParaRP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E9EBF5"/>
                    </a:solidFill>
                  </a:tcPr>
                </a:tc>
                <a:tc>
                  <a:txBody>
                    <a:bodyPr/>
                    <a:lstStyle/>
                    <a:p>
                      <a:pPr algn="ctr" eaLnBrk="1" fontAlgn="t" latinLnBrk="0" hangingPunct="1">
                        <a:buNone/>
                      </a:pPr>
                      <a:r>
                        <a:rPr lang="en-US" altLang="zh-CN" sz="1300">
                          <a:solidFill>
                            <a:srgbClr val="000000"/>
                          </a:solidFill>
                        </a:rPr>
                        <a:t>K-fold(n = 5)</a:t>
                      </a: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E9EBF5"/>
                    </a:solidFill>
                  </a:tcPr>
                </a:tc>
                <a:tc>
                  <a:txBody>
                    <a:bodyPr/>
                    <a:lstStyle/>
                    <a:p>
                      <a:pPr algn="ctr" eaLnBrk="1" fontAlgn="t" latinLnBrk="0" hangingPunct="1"/>
                      <a:r>
                        <a:rPr lang="en-US" altLang="zh-CN" sz="1300">
                          <a:solidFill>
                            <a:srgbClr val="000000"/>
                          </a:solidFill>
                        </a:rPr>
                        <a:t>0.249</a:t>
                      </a: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E9EBF5"/>
                    </a:solidFill>
                  </a:tcPr>
                </a:tc>
                <a:extLst>
                  <a:ext uri="{0D108BD9-81ED-4DB2-BD59-A6C34878D82A}">
                    <a16:rowId xmlns:a16="http://schemas.microsoft.com/office/drawing/2014/main" val="10005"/>
                  </a:ext>
                </a:extLst>
              </a:tr>
              <a:tr h="355600">
                <a:tc>
                  <a:txBody>
                    <a:bodyPr/>
                    <a:lstStyle/>
                    <a:p>
                      <a:pPr algn="ctr" eaLnBrk="1" fontAlgn="t" latinLnBrk="0" hangingPunct="1"/>
                      <a:r>
                        <a:rPr lang="en-US" altLang="zh-CN" sz="1300">
                          <a:solidFill>
                            <a:srgbClr val="000000"/>
                          </a:solidFill>
                          <a:sym typeface="+mn-ea"/>
                        </a:rPr>
                        <a:t>5days</a:t>
                      </a:r>
                      <a:endParaRPr lang="en-US" altLang="zh-CN" sz="1300">
                        <a:solidFill>
                          <a:srgbClr val="000000"/>
                        </a:solidFill>
                      </a:endParaRP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E9EBF5"/>
                    </a:solidFill>
                  </a:tcPr>
                </a:tc>
                <a:tc>
                  <a:txBody>
                    <a:bodyPr/>
                    <a:lstStyle/>
                    <a:p>
                      <a:pPr algn="ctr" eaLnBrk="1" fontAlgn="t" latinLnBrk="0" hangingPunct="1">
                        <a:buNone/>
                      </a:pPr>
                      <a:r>
                        <a:rPr lang="en-US" altLang="zh-CN" sz="1300">
                          <a:solidFill>
                            <a:srgbClr val="000000"/>
                          </a:solidFill>
                        </a:rPr>
                        <a:t>Stratified Kfold</a:t>
                      </a:r>
                      <a:r>
                        <a:rPr lang="en-US" altLang="zh-CN" sz="1300">
                          <a:solidFill>
                            <a:srgbClr val="000000"/>
                          </a:solidFill>
                          <a:sym typeface="+mn-ea"/>
                        </a:rPr>
                        <a:t>(n = 5)</a:t>
                      </a:r>
                      <a:endParaRPr lang="en-US" altLang="zh-CN" sz="1300">
                        <a:solidFill>
                          <a:srgbClr val="000000"/>
                        </a:solidFill>
                      </a:endParaRP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E9EBF5"/>
                    </a:solidFill>
                  </a:tcPr>
                </a:tc>
                <a:tc>
                  <a:txBody>
                    <a:bodyPr/>
                    <a:lstStyle/>
                    <a:p>
                      <a:pPr algn="ctr" eaLnBrk="1" fontAlgn="t" latinLnBrk="0" hangingPunct="1"/>
                      <a:r>
                        <a:rPr lang="en-US" altLang="zh-CN" sz="1300">
                          <a:solidFill>
                            <a:srgbClr val="000000"/>
                          </a:solidFill>
                        </a:rPr>
                        <a:t>0.251</a:t>
                      </a: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E9EBF5"/>
                    </a:solidFill>
                  </a:tcPr>
                </a:tc>
                <a:extLst>
                  <a:ext uri="{0D108BD9-81ED-4DB2-BD59-A6C34878D82A}">
                    <a16:rowId xmlns:a16="http://schemas.microsoft.com/office/drawing/2014/main" val="10006"/>
                  </a:ext>
                </a:extLst>
              </a:tr>
              <a:tr h="355600">
                <a:tc>
                  <a:txBody>
                    <a:bodyPr/>
                    <a:lstStyle/>
                    <a:p>
                      <a:pPr algn="ctr" eaLnBrk="1" fontAlgn="t" latinLnBrk="0" hangingPunct="1">
                        <a:buNone/>
                      </a:pPr>
                      <a:r>
                        <a:rPr lang="en-US" altLang="zh-CN" sz="1300">
                          <a:solidFill>
                            <a:srgbClr val="000000"/>
                          </a:solidFill>
                          <a:sym typeface="+mn-ea"/>
                        </a:rPr>
                        <a:t>7days</a:t>
                      </a:r>
                      <a:endParaRPr lang="en-US" altLang="zh-CN" sz="1300">
                        <a:solidFill>
                          <a:srgbClr val="000000"/>
                        </a:solidFill>
                      </a:endParaRP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E9EBF5"/>
                    </a:solidFill>
                  </a:tcPr>
                </a:tc>
                <a:tc>
                  <a:txBody>
                    <a:bodyPr/>
                    <a:lstStyle/>
                    <a:p>
                      <a:pPr algn="ctr" eaLnBrk="1" fontAlgn="t" latinLnBrk="0" hangingPunct="1">
                        <a:buNone/>
                      </a:pPr>
                      <a:r>
                        <a:rPr lang="en-US" altLang="zh-CN" sz="1300">
                          <a:solidFill>
                            <a:srgbClr val="000000"/>
                          </a:solidFill>
                        </a:rPr>
                        <a:t>Full Training</a:t>
                      </a: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E9EBF5"/>
                    </a:solidFill>
                  </a:tcPr>
                </a:tc>
                <a:tc>
                  <a:txBody>
                    <a:bodyPr/>
                    <a:lstStyle/>
                    <a:p>
                      <a:pPr algn="ctr" eaLnBrk="1" fontAlgn="t" latinLnBrk="0" hangingPunct="1">
                        <a:buNone/>
                      </a:pPr>
                      <a:r>
                        <a:rPr lang="en-US" altLang="zh-CN" sz="1300">
                          <a:solidFill>
                            <a:srgbClr val="000000"/>
                          </a:solidFill>
                        </a:rPr>
                        <a:t>0.253</a:t>
                      </a: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E9EBF5"/>
                    </a:solidFill>
                  </a:tcPr>
                </a:tc>
                <a:extLst>
                  <a:ext uri="{0D108BD9-81ED-4DB2-BD59-A6C34878D82A}">
                    <a16:rowId xmlns:a16="http://schemas.microsoft.com/office/drawing/2014/main" val="10007"/>
                  </a:ext>
                </a:extLst>
              </a:tr>
              <a:tr h="355600">
                <a:tc>
                  <a:txBody>
                    <a:bodyPr/>
                    <a:lstStyle/>
                    <a:p>
                      <a:pPr algn="ctr" eaLnBrk="1" fontAlgn="t" latinLnBrk="0" hangingPunct="1">
                        <a:buNone/>
                      </a:pPr>
                      <a:r>
                        <a:rPr lang="en-US" altLang="zh-CN" sz="1300">
                          <a:solidFill>
                            <a:srgbClr val="000000"/>
                          </a:solidFill>
                          <a:sym typeface="+mn-ea"/>
                        </a:rPr>
                        <a:t>7days</a:t>
                      </a:r>
                      <a:endParaRPr lang="en-US" altLang="zh-CN" sz="1300">
                        <a:solidFill>
                          <a:srgbClr val="000000"/>
                        </a:solidFill>
                      </a:endParaRP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E9EBF5"/>
                    </a:solidFill>
                  </a:tcPr>
                </a:tc>
                <a:tc>
                  <a:txBody>
                    <a:bodyPr/>
                    <a:lstStyle/>
                    <a:p>
                      <a:pPr algn="ctr" eaLnBrk="1" fontAlgn="t" latinLnBrk="0" hangingPunct="1">
                        <a:buNone/>
                      </a:pPr>
                      <a:r>
                        <a:rPr lang="en-US" altLang="zh-CN" sz="1300">
                          <a:solidFill>
                            <a:srgbClr val="000000"/>
                          </a:solidFill>
                        </a:rPr>
                        <a:t>K-fold(n = 5)</a:t>
                      </a: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E9EBF5"/>
                    </a:solidFill>
                  </a:tcPr>
                </a:tc>
                <a:tc>
                  <a:txBody>
                    <a:bodyPr/>
                    <a:lstStyle/>
                    <a:p>
                      <a:pPr algn="ctr" eaLnBrk="1" fontAlgn="t" latinLnBrk="0" hangingPunct="1">
                        <a:buNone/>
                      </a:pPr>
                      <a:r>
                        <a:rPr lang="en-US" altLang="zh-CN" sz="1300">
                          <a:solidFill>
                            <a:srgbClr val="000000"/>
                          </a:solidFill>
                          <a:sym typeface="+mn-ea"/>
                        </a:rPr>
                        <a:t>0.263</a:t>
                      </a:r>
                      <a:endParaRPr lang="en-US" altLang="zh-CN" sz="1300">
                        <a:solidFill>
                          <a:srgbClr val="000000"/>
                        </a:solidFill>
                      </a:endParaRP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E9EBF5"/>
                    </a:solidFill>
                  </a:tcPr>
                </a:tc>
                <a:extLst>
                  <a:ext uri="{0D108BD9-81ED-4DB2-BD59-A6C34878D82A}">
                    <a16:rowId xmlns:a16="http://schemas.microsoft.com/office/drawing/2014/main" val="10008"/>
                  </a:ext>
                </a:extLst>
              </a:tr>
              <a:tr h="355600">
                <a:tc>
                  <a:txBody>
                    <a:bodyPr/>
                    <a:lstStyle/>
                    <a:p>
                      <a:pPr algn="ctr" eaLnBrk="1" fontAlgn="t" latinLnBrk="0" hangingPunct="1">
                        <a:buNone/>
                      </a:pPr>
                      <a:r>
                        <a:rPr lang="en-US" altLang="zh-CN" sz="1300">
                          <a:solidFill>
                            <a:srgbClr val="000000"/>
                          </a:solidFill>
                          <a:sym typeface="+mn-ea"/>
                        </a:rPr>
                        <a:t>7days</a:t>
                      </a:r>
                      <a:endParaRPr lang="en-US" altLang="zh-CN" sz="1300">
                        <a:solidFill>
                          <a:srgbClr val="000000"/>
                        </a:solidFill>
                      </a:endParaRP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E9EBF5"/>
                    </a:solidFill>
                  </a:tcPr>
                </a:tc>
                <a:tc>
                  <a:txBody>
                    <a:bodyPr/>
                    <a:lstStyle/>
                    <a:p>
                      <a:pPr algn="ctr" eaLnBrk="1" fontAlgn="t" latinLnBrk="0" hangingPunct="1">
                        <a:buNone/>
                      </a:pPr>
                      <a:r>
                        <a:rPr lang="en-US" altLang="zh-CN" sz="1300">
                          <a:solidFill>
                            <a:srgbClr val="000000"/>
                          </a:solidFill>
                        </a:rPr>
                        <a:t>Stratified Kfold</a:t>
                      </a:r>
                      <a:r>
                        <a:rPr lang="en-US" altLang="zh-CN" sz="1300">
                          <a:solidFill>
                            <a:srgbClr val="000000"/>
                          </a:solidFill>
                          <a:sym typeface="+mn-ea"/>
                        </a:rPr>
                        <a:t>(n = 5)</a:t>
                      </a:r>
                      <a:endParaRPr lang="en-US" altLang="zh-CN" sz="1300">
                        <a:solidFill>
                          <a:srgbClr val="000000"/>
                        </a:solidFill>
                      </a:endParaRP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E9EBF5"/>
                    </a:solidFill>
                  </a:tcPr>
                </a:tc>
                <a:tc>
                  <a:txBody>
                    <a:bodyPr/>
                    <a:lstStyle/>
                    <a:p>
                      <a:pPr algn="ctr" eaLnBrk="1" fontAlgn="t" latinLnBrk="0" hangingPunct="1">
                        <a:buNone/>
                      </a:pPr>
                      <a:r>
                        <a:rPr lang="en-US" altLang="zh-CN" sz="1300">
                          <a:solidFill>
                            <a:srgbClr val="000000"/>
                          </a:solidFill>
                        </a:rPr>
                        <a:t>0.281</a:t>
                      </a:r>
                    </a:p>
                  </a:txBody>
                  <a:tcPr>
                    <a:lnL w="9525" cap="flat" cmpd="sng">
                      <a:solidFill>
                        <a:srgbClr val="FFFFFF"/>
                      </a:solidFill>
                      <a:prstDash val="solid"/>
                      <a:headEnd type="none" w="med" len="med"/>
                      <a:tailEnd type="none" w="med" len="med"/>
                    </a:lnL>
                    <a:lnR w="9525" cap="flat" cmpd="sng">
                      <a:solidFill>
                        <a:srgbClr val="FFFFFF"/>
                      </a:solidFill>
                      <a:prstDash val="solid"/>
                      <a:headEnd type="none" w="med" len="med"/>
                      <a:tailEnd type="none" w="med" len="med"/>
                    </a:lnR>
                    <a:lnT w="28575" cap="flat" cmpd="sng">
                      <a:solidFill>
                        <a:srgbClr val="FFFFFF"/>
                      </a:solidFill>
                      <a:prstDash val="solid"/>
                      <a:headEnd type="none" w="med" len="med"/>
                      <a:tailEnd type="none" w="med" len="med"/>
                    </a:lnT>
                    <a:lnB w="28575" cap="flat" cmpd="sng">
                      <a:solidFill>
                        <a:srgbClr val="FFFFFF"/>
                      </a:solidFill>
                      <a:prstDash val="solid"/>
                      <a:headEnd type="none" w="med" len="med"/>
                      <a:tailEnd type="none" w="med" len="med"/>
                    </a:lnB>
                    <a:solidFill>
                      <a:srgbClr val="E9EBF5"/>
                    </a:solidFill>
                  </a:tcPr>
                </a:tc>
                <a:extLst>
                  <a:ext uri="{0D108BD9-81ED-4DB2-BD59-A6C34878D82A}">
                    <a16:rowId xmlns:a16="http://schemas.microsoft.com/office/drawing/2014/main" val="10009"/>
                  </a:ext>
                </a:extLst>
              </a:tr>
            </a:tbl>
          </a:graphicData>
        </a:graphic>
      </p:graphicFrame>
      <p:sp>
        <p:nvSpPr>
          <p:cNvPr id="14" name="文本框 13"/>
          <p:cNvSpPr txBox="1"/>
          <p:nvPr/>
        </p:nvSpPr>
        <p:spPr>
          <a:xfrm>
            <a:off x="256540" y="4864100"/>
            <a:ext cx="11246485" cy="1772920"/>
          </a:xfrm>
          <a:prstGeom prst="rect">
            <a:avLst/>
          </a:prstGeom>
          <a:noFill/>
        </p:spPr>
        <p:txBody>
          <a:bodyPr wrap="square" rtlCol="0" anchor="t">
            <a:noAutofit/>
          </a:bodyPr>
          <a:lstStyle/>
          <a:p>
            <a:pPr lvl="1" indent="0">
              <a:lnSpc>
                <a:spcPct val="150000"/>
              </a:lnSpc>
              <a:buClr>
                <a:schemeClr val="accent5">
                  <a:lumMod val="75000"/>
                </a:schemeClr>
              </a:buClr>
              <a:buFont typeface="Wingdings" panose="05000000000000000000" pitchFamily="2" charset="2"/>
              <a:buNone/>
            </a:pPr>
            <a:r>
              <a:rPr lang="en-US" altLang="zh-CN" sz="1600" dirty="0">
                <a:latin typeface="+mn-ea"/>
                <a:sym typeface="+mn-ea"/>
              </a:rPr>
              <a:t>• Interpretability-Complexity Balance: LightGBM’s feature importance scores enable root cause analysis while maintaining sub-second inference latency</a:t>
            </a:r>
          </a:p>
          <a:p>
            <a:pPr lvl="1" indent="0">
              <a:lnSpc>
                <a:spcPct val="150000"/>
              </a:lnSpc>
              <a:buClr>
                <a:schemeClr val="accent5">
                  <a:lumMod val="75000"/>
                </a:schemeClr>
              </a:buClr>
              <a:buFont typeface="Wingdings" panose="05000000000000000000" pitchFamily="2" charset="2"/>
              <a:buNone/>
            </a:pPr>
            <a:r>
              <a:rPr lang="en-US" altLang="zh-CN" sz="1600" dirty="0">
                <a:latin typeface="+mn-ea"/>
                <a:sym typeface="+mn-ea"/>
              </a:rPr>
              <a:t>• Hardware Heterogeneity Robustness: Vendor-specificembeddings improve cross-architecture generalization</a:t>
            </a:r>
          </a:p>
          <a:p>
            <a:pPr lvl="1" indent="0">
              <a:lnSpc>
                <a:spcPct val="150000"/>
              </a:lnSpc>
              <a:buClr>
                <a:schemeClr val="accent5">
                  <a:lumMod val="75000"/>
                </a:schemeClr>
              </a:buClr>
              <a:buFont typeface="Wingdings" panose="05000000000000000000" pitchFamily="2" charset="2"/>
              <a:buNone/>
            </a:pPr>
            <a:r>
              <a:rPr lang="en-US" altLang="zh-CN" sz="1600" dirty="0">
                <a:latin typeface="+mn-ea"/>
                <a:sym typeface="+mn-ea"/>
              </a:rPr>
              <a:t>• Operational Feasibility: Daily feature aggregation reduces compute overhead by 82% versus raw sequence processing</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4948"/>
    </mc:Choice>
    <mc:Fallback xmlns="">
      <p:transition spd="slow" advTm="74948"/>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3144301" y="2551100"/>
            <a:ext cx="5584420" cy="175580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69.04661417322836,&quot;left&quot;:332.71385826771655,&quot;top&quot;:242.36897637795272,&quot;width&quot;:355.38732283464566}"/>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69.04661417322836,&quot;left&quot;:332.71385826771655,&quot;top&quot;:242.36897637795272,&quot;width&quot;:355.3873228346456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69.04661417322836,&quot;left&quot;:332.71385826771655,&quot;top&quot;:242.36897637795272,&quot;width&quot;:355.3873228346456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69.04661417322836,&quot;left&quot;:332.71385826771655,&quot;top&quot;:242.36897637795272,&quot;width&quot;:355.38732283464566}"/>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69.04661417322836,&quot;left&quot;:332.71385826771655,&quot;top&quot;:242.36897637795272,&quot;width&quot;:355.38732283464566}"/>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69.04661417322836,&quot;left&quot;:332.71385826771655,&quot;top&quot;:242.36897637795272,&quot;width&quot;:355.38732283464566}"/>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69.04661417322836,&quot;left&quot;:332.71385826771655,&quot;top&quot;:242.36897637795272,&quot;width&quot;:355.38732283464566}"/>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69.04661417322836,&quot;left&quot;:332.71385826771655,&quot;top&quot;:242.36897637795272,&quot;width&quot;:355.38732283464566}"/>
</p:tagLst>
</file>

<file path=ppt/tags/tag9.xml><?xml version="1.0" encoding="utf-8"?>
<p:tagLst xmlns:a="http://schemas.openxmlformats.org/drawingml/2006/main" xmlns:r="http://schemas.openxmlformats.org/officeDocument/2006/relationships" xmlns:p="http://schemas.openxmlformats.org/presentationml/2006/main">
  <p:tag name="TIMING" val="|3.9"/>
</p:tagLst>
</file>

<file path=ppt/tags/tag10.xml><?xml version="1.0" encoding="utf-8"?>
<p:tagLst xmlns:a="http://schemas.openxmlformats.org/drawingml/2006/main" xmlns:r="http://schemas.openxmlformats.org/officeDocument/2006/relationships" xmlns:p="http://schemas.openxmlformats.org/presentationml/2006/main">
  <p:tag name="TIMING" val="|3.9"/>
</p:tagLst>
</file>

<file path=ppt/tags/tag11.xml><?xml version="1.0" encoding="utf-8"?>
<p:tagLst xmlns:a="http://schemas.openxmlformats.org/drawingml/2006/main" xmlns:r="http://schemas.openxmlformats.org/officeDocument/2006/relationships" xmlns:p="http://schemas.openxmlformats.org/presentationml/2006/main">
  <p:tag name="TIMING" val="|3.9"/>
</p:tagLst>
</file>

<file path=ppt/tags/tag12.xml><?xml version="1.0" encoding="utf-8"?>
<p:tagLst xmlns:a="http://schemas.openxmlformats.org/drawingml/2006/main" xmlns:r="http://schemas.openxmlformats.org/officeDocument/2006/relationships" xmlns:p="http://schemas.openxmlformats.org/presentationml/2006/main">
  <p:tag name="TIMING" val="|3.9"/>
</p:tagLst>
</file>

<file path=ppt/tags/tag13.xml><?xml version="1.0" encoding="utf-8"?>
<p:tagLst xmlns:a="http://schemas.openxmlformats.org/drawingml/2006/main" xmlns:r="http://schemas.openxmlformats.org/officeDocument/2006/relationships" xmlns:p="http://schemas.openxmlformats.org/presentationml/2006/main">
  <p:tag name="TIMING" val="|3.9"/>
</p:tagLst>
</file>

<file path=ppt/tags/tag14.xml><?xml version="1.0" encoding="utf-8"?>
<p:tagLst xmlns:a="http://schemas.openxmlformats.org/drawingml/2006/main" xmlns:r="http://schemas.openxmlformats.org/officeDocument/2006/relationships" xmlns:p="http://schemas.openxmlformats.org/presentationml/2006/main">
  <p:tag name="TIMING" val="|3.9"/>
</p:tagLst>
</file>

<file path=ppt/tags/tag15.xml><?xml version="1.0" encoding="utf-8"?>
<p:tagLst xmlns:a="http://schemas.openxmlformats.org/drawingml/2006/main" xmlns:r="http://schemas.openxmlformats.org/officeDocument/2006/relationships" xmlns:p="http://schemas.openxmlformats.org/presentationml/2006/main">
  <p:tag name="TIMING" val="|3.9"/>
</p:tagLst>
</file>

<file path=ppt/tags/tag16.xml><?xml version="1.0" encoding="utf-8"?>
<p:tagLst xmlns:a="http://schemas.openxmlformats.org/drawingml/2006/main" xmlns:r="http://schemas.openxmlformats.org/officeDocument/2006/relationships" xmlns:p="http://schemas.openxmlformats.org/presentationml/2006/main">
  <p:tag name="TIMING" val="|3.9"/>
</p:tagLst>
</file>

<file path=ppt/tags/tag17.xml><?xml version="1.0" encoding="utf-8"?>
<p:tagLst xmlns:a="http://schemas.openxmlformats.org/drawingml/2006/main" xmlns:r="http://schemas.openxmlformats.org/officeDocument/2006/relationships" xmlns:p="http://schemas.openxmlformats.org/presentationml/2006/main">
  <p:tag name="TIMING" val="|3.9"/>
</p:tagLst>
</file>

<file path=ppt/tags/tag18.xml><?xml version="1.0" encoding="utf-8"?>
<p:tagLst xmlns:a="http://schemas.openxmlformats.org/drawingml/2006/main" xmlns:r="http://schemas.openxmlformats.org/officeDocument/2006/relationships" xmlns:p="http://schemas.openxmlformats.org/presentationml/2006/main">
  <p:tag name="TIMING" val="|3.9"/>
</p:tagLst>
</file>

<file path=ppt/tags/tag19.xml><?xml version="1.0" encoding="utf-8"?>
<p:tagLst xmlns:a="http://schemas.openxmlformats.org/drawingml/2006/main" xmlns:r="http://schemas.openxmlformats.org/officeDocument/2006/relationships" xmlns:p="http://schemas.openxmlformats.org/presentationml/2006/main">
  <p:tag name="TIMING" val="|3.9"/>
</p:tagLst>
</file>

<file path=ppt/tags/tag20.xml><?xml version="1.0" encoding="utf-8"?>
<p:tagLst xmlns:a="http://schemas.openxmlformats.org/drawingml/2006/main" xmlns:r="http://schemas.openxmlformats.org/officeDocument/2006/relationships" xmlns:p="http://schemas.openxmlformats.org/presentationml/2006/main">
  <p:tag name="TABLE_ENDDRAG_ORIGIN_RECT" val="821*164"/>
  <p:tag name="TABLE_ENDDRAG_RECT" val="28*136*821*164"/>
</p:tagLst>
</file>

<file path=ppt/tags/tag21.xml><?xml version="1.0" encoding="utf-8"?>
<p:tagLst xmlns:a="http://schemas.openxmlformats.org/drawingml/2006/main" xmlns:r="http://schemas.openxmlformats.org/officeDocument/2006/relationships" xmlns:p="http://schemas.openxmlformats.org/presentationml/2006/main">
  <p:tag name="TIMING" val="|3.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1380</Words>
  <Application>Microsoft Office PowerPoint</Application>
  <PresentationFormat>宽屏</PresentationFormat>
  <Paragraphs>222</Paragraphs>
  <Slides>18</Slides>
  <Notes>18</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18</vt:i4>
      </vt:variant>
    </vt:vector>
  </HeadingPairs>
  <TitlesOfParts>
    <vt:vector size="29" baseType="lpstr">
      <vt:lpstr>Gill Sans</vt:lpstr>
      <vt:lpstr>Lucida Grande</vt:lpstr>
      <vt:lpstr>pingfang sc</vt:lpstr>
      <vt:lpstr>Times New Roman Regular</vt:lpstr>
      <vt:lpstr>宋体</vt:lpstr>
      <vt:lpstr>Arial</vt:lpstr>
      <vt:lpstr>Calibri</vt:lpstr>
      <vt:lpstr>Candara</vt:lpstr>
      <vt:lpstr>Wingdings</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YANG, Menglin</dc:creator>
  <cp:lastModifiedBy>Hongyi Xie</cp:lastModifiedBy>
  <cp:revision>15</cp:revision>
  <dcterms:created xsi:type="dcterms:W3CDTF">2024-08-12T00:43:00Z</dcterms:created>
  <dcterms:modified xsi:type="dcterms:W3CDTF">2025-05-06T06:49:25Z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(2)+pvTOeuSSWkLCNKegJkdyToWwwhF/G3/epmj/ZrjqmIRGNbgrRaTzKZRz6IPic3Q/MsDdjEV
Pp8rzkUjkUQcl8n7gVXMSe/UkybsM2c5qRPQIpXfTjyUJQZDUAq+X8njzQU6V5iZ+pnbB3zf
SSjhUWx8/jUcAkI5nguoQIAG1ziun/aYE+5pdKmnoagJ8f+PeMzNUfJeMRGTli+gX5rbdBaK
TYC/6ZPi7dXfOzX6HC</vt:lpwstr>
  </property>
  <property fmtid="{D5CDD505-2E9C-101B-9397-08002B2CF9AE}" pid="3" name="_2015_ms_pID_7253431">
    <vt:lpwstr>4Mx6C8o6lYYRvLlr6qXq9aWMPtsfQ9etLA6kj0r8IwOFaTLFh1QQzt
rFMfarMsc1s/eUEeHtAy8IUyzX+ynGt7OyTcUrQM24xAB+zt3GVguijXcdqecPEMU6c2mRBv
H4NjZ5tX+LCmZXio7BAeO7sKhLiC+XijIhGv4rJxVx0Ei8Oui9C22yuftsL9Yf7+Nts=</vt:lpwstr>
  </property>
  <property fmtid="{D5CDD505-2E9C-101B-9397-08002B2CF9AE}" pid="4" name="ICV">
    <vt:lpwstr>06282BCEAC944B14B3BAD8C2721A2AEE_12</vt:lpwstr>
  </property>
  <property fmtid="{D5CDD505-2E9C-101B-9397-08002B2CF9AE}" pid="5" name="KSOProductBuildVer">
    <vt:lpwstr>2052-12.1.0.20784</vt:lpwstr>
  </property>
</Properties>
</file>
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4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5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6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7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8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9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0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2"/>
  </p:sldMasterIdLst>
  <p:notesMasterIdLst>
    <p:notesMasterId r:id="rId19"/>
  </p:notesMasterIdLst>
  <p:handoutMasterIdLst>
    <p:handoutMasterId r:id="rId20"/>
  </p:handoutMasterIdLst>
  <p:sldIdLst>
    <p:sldId id="1519" r:id="rId3"/>
    <p:sldId id="1983" r:id="rId4"/>
    <p:sldId id="1989" r:id="rId5"/>
    <p:sldId id="1993" r:id="rId6"/>
    <p:sldId id="1992" r:id="rId7"/>
    <p:sldId id="1994" r:id="rId8"/>
    <p:sldId id="1995" r:id="rId9"/>
    <p:sldId id="1996" r:id="rId10"/>
    <p:sldId id="1997" r:id="rId11"/>
    <p:sldId id="1998" r:id="rId12"/>
    <p:sldId id="2001" r:id="rId13"/>
    <p:sldId id="2002" r:id="rId14"/>
    <p:sldId id="2003" r:id="rId15"/>
    <p:sldId id="1999" r:id="rId16"/>
    <p:sldId id="2000" r:id="rId17"/>
    <p:sldId id="1982" r:id="rId18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AD8F"/>
    <a:srgbClr val="C72F32"/>
    <a:srgbClr val="FFFFFF"/>
    <a:srgbClr val="064C85"/>
    <a:srgbClr val="DC5E47"/>
    <a:srgbClr val="DF9D82"/>
    <a:srgbClr val="81A4FA"/>
    <a:srgbClr val="567AE3"/>
    <a:srgbClr val="94C076"/>
    <a:srgbClr val="2332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29" autoAdjust="0"/>
    <p:restoredTop sz="79528" autoAdjust="0"/>
  </p:normalViewPr>
  <p:slideViewPr>
    <p:cSldViewPr snapToGrid="0" snapToObjects="1" showGuides="1">
      <p:cViewPr varScale="1">
        <p:scale>
          <a:sx n="66" d="100"/>
          <a:sy n="66" d="100"/>
        </p:scale>
        <p:origin x="1142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296"/>
    </p:cViewPr>
  </p:outlineViewPr>
  <p:notesTextViewPr>
    <p:cViewPr>
      <p:scale>
        <a:sx n="155" d="100"/>
        <a:sy n="155" d="100"/>
      </p:scale>
      <p:origin x="0" y="0"/>
    </p:cViewPr>
  </p:notesTextViewPr>
  <p:notesViewPr>
    <p:cSldViewPr snapToGrid="0" snapToObjects="1">
      <p:cViewPr varScale="1">
        <p:scale>
          <a:sx n="118" d="100"/>
          <a:sy n="118" d="100"/>
        </p:scale>
        <p:origin x="42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3E8D5-F0E7-403B-AAA9-FDB7ED172D4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9E22B-5E0F-454F-9BF0-C70D08ED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ADD3D-D7A5-B14B-BE07-5D181AE43AF2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DA7C1-09EB-C742-909D-6754DCC5DD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DA7C1-09EB-C742-909D-6754DCC5DD3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competition provided datasets of three cities.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city, given a directed road graph, including the sets of nodes, edges and super-segments.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each super-segment is composed of a set of adjacent nodes.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data is vehicle counter data, which aggregates the traffic volume of each node during 15-minutes timeslot.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extreme sparsity of this data is one of the difficulties of this competition.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static attributes of nodes and edges are also provided.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DA7C1-09EB-C742-909D-6754DCC5DD36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9"/>
          <p:cNvSpPr/>
          <p:nvPr userDrawn="1"/>
        </p:nvSpPr>
        <p:spPr>
          <a:xfrm>
            <a:off x="0" y="-2363"/>
            <a:ext cx="12192000" cy="66985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93" y="-7385"/>
            <a:ext cx="10672707" cy="668545"/>
          </a:xfrm>
        </p:spPr>
        <p:txBody>
          <a:bodyPr>
            <a:normAutofit/>
          </a:bodyPr>
          <a:lstStyle>
            <a:lvl1pPr>
              <a:defRPr sz="3000">
                <a:solidFill>
                  <a:srgbClr val="064C85"/>
                </a:solidFill>
                <a:latin typeface="Candara" panose="020E0502030303020204" pitchFamily="34" charset="0"/>
                <a:ea typeface="Microsoft YaHei UI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65" y="950981"/>
            <a:ext cx="11467512" cy="5310302"/>
          </a:xfrm>
        </p:spPr>
        <p:txBody>
          <a:bodyPr/>
          <a:lstStyle>
            <a:lvl1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1pPr>
            <a:lvl2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2pPr>
            <a:lvl3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3pPr>
            <a:lvl4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4pPr>
            <a:lvl5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6" name="Footer Placeholder 4"/>
          <p:cNvSpPr txBox="1"/>
          <p:nvPr userDrawn="1"/>
        </p:nvSpPr>
        <p:spPr>
          <a:xfrm>
            <a:off x="3188293" y="6526111"/>
            <a:ext cx="5943203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rgbClr val="740F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>
              <a:latin typeface="Candara" panose="020E0502030303020204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321365" y="6291353"/>
            <a:ext cx="11467512" cy="259752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9" name="AutoShape 2"/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9"/>
          <p:cNvSpPr/>
          <p:nvPr userDrawn="1"/>
        </p:nvSpPr>
        <p:spPr>
          <a:xfrm>
            <a:off x="0" y="-2363"/>
            <a:ext cx="12192000" cy="66985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93" y="-7385"/>
            <a:ext cx="10672707" cy="668545"/>
          </a:xfrm>
        </p:spPr>
        <p:txBody>
          <a:bodyPr>
            <a:normAutofit/>
          </a:bodyPr>
          <a:lstStyle>
            <a:lvl1pPr>
              <a:defRPr sz="3000">
                <a:solidFill>
                  <a:srgbClr val="064C85"/>
                </a:solidFill>
                <a:latin typeface="Candara" panose="020E0502030303020204" pitchFamily="34" charset="0"/>
                <a:ea typeface="Microsoft YaHei UI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65" y="950981"/>
            <a:ext cx="11467512" cy="5310302"/>
          </a:xfrm>
        </p:spPr>
        <p:txBody>
          <a:bodyPr/>
          <a:lstStyle>
            <a:lvl1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1pPr>
            <a:lvl2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2pPr>
            <a:lvl3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3pPr>
            <a:lvl4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4pPr>
            <a:lvl5pPr>
              <a:defRPr>
                <a:latin typeface="Candara" panose="020E0502030303020204" pitchFamily="34" charset="0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6" name="Footer Placeholder 4"/>
          <p:cNvSpPr txBox="1"/>
          <p:nvPr userDrawn="1"/>
        </p:nvSpPr>
        <p:spPr>
          <a:xfrm>
            <a:off x="3188293" y="6526111"/>
            <a:ext cx="5943203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rgbClr val="740F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>
              <a:latin typeface="Candara" panose="020E0502030303020204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321365" y="6291353"/>
            <a:ext cx="11467512" cy="259752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9" name="AutoShape 2"/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en-US" sz="13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71325" y="387275"/>
            <a:ext cx="324000" cy="32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/>
          <p:cNvSpPr/>
          <p:nvPr userDrawn="1"/>
        </p:nvSpPr>
        <p:spPr>
          <a:xfrm>
            <a:off x="119325" y="135275"/>
            <a:ext cx="252000" cy="25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矩形 8"/>
          <p:cNvSpPr/>
          <p:nvPr userDrawn="1"/>
        </p:nvSpPr>
        <p:spPr>
          <a:xfrm>
            <a:off x="11226675" y="6318000"/>
            <a:ext cx="5400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49" y="6405444"/>
            <a:ext cx="1390651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569825"/>
            <a:ext cx="3196607" cy="288175"/>
          </a:xfrm>
          <a:prstGeom prst="rect">
            <a:avLst/>
          </a:prstGeom>
          <a:solidFill>
            <a:srgbClr val="06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8" name="矩形 7"/>
          <p:cNvSpPr/>
          <p:nvPr userDrawn="1"/>
        </p:nvSpPr>
        <p:spPr>
          <a:xfrm>
            <a:off x="3196607" y="6569825"/>
            <a:ext cx="5943203" cy="2881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0" dirty="0" err="1">
                <a:solidFill>
                  <a:srgbClr val="064C85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SmartMem</a:t>
            </a:r>
            <a:r>
              <a:rPr lang="en-US" altLang="zh-CN" sz="1400" b="0" dirty="0">
                <a:solidFill>
                  <a:srgbClr val="064C85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Competition 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9139810" y="6569825"/>
            <a:ext cx="3052189" cy="304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9212945" y="6526920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0" kern="1200">
                <a:solidFill>
                  <a:srgbClr val="740F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aseline="0" dirty="0">
                <a:solidFill>
                  <a:srgbClr val="064C85"/>
                </a:solidFill>
                <a:latin typeface="Candara" panose="020E0502030303020204" pitchFamily="34" charset="0"/>
              </a:rPr>
              <a:t>Page </a:t>
            </a:r>
            <a:fld id="{021F6442-7586-9541-B2EE-92373E6CA02B}" type="slidenum">
              <a:rPr lang="en-US" sz="1400" smtClean="0">
                <a:solidFill>
                  <a:srgbClr val="064C85"/>
                </a:solidFill>
                <a:latin typeface="Candara" panose="020E0502030303020204" pitchFamily="34" charset="0"/>
              </a:rPr>
              <a:t>‹#›</a:t>
            </a:fld>
            <a:r>
              <a:rPr lang="en-US" sz="1400" dirty="0">
                <a:solidFill>
                  <a:srgbClr val="064C85"/>
                </a:solidFill>
                <a:latin typeface="Candara" panose="020E0502030303020204" pitchFamily="34" charset="0"/>
              </a:rPr>
              <a:t> </a:t>
            </a:r>
          </a:p>
        </p:txBody>
      </p:sp>
      <p:sp>
        <p:nvSpPr>
          <p:cNvPr id="12" name="Date Placeholder 3"/>
          <p:cNvSpPr txBox="1"/>
          <p:nvPr userDrawn="1"/>
        </p:nvSpPr>
        <p:spPr>
          <a:xfrm>
            <a:off x="217553" y="6526919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cs typeface="Arial" panose="020B0604020202090204" pitchFamily="34" charset="0"/>
              </a:rPr>
              <a:t>WWW 2025, Sydney, Australia</a:t>
            </a:r>
            <a:endParaRPr lang="en-US" sz="1100" dirty="0">
              <a:solidFill>
                <a:schemeClr val="bg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569825"/>
            <a:ext cx="3196607" cy="288175"/>
          </a:xfrm>
          <a:prstGeom prst="rect">
            <a:avLst/>
          </a:prstGeom>
          <a:solidFill>
            <a:srgbClr val="06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8" name="矩形 7"/>
          <p:cNvSpPr/>
          <p:nvPr userDrawn="1"/>
        </p:nvSpPr>
        <p:spPr>
          <a:xfrm>
            <a:off x="3196607" y="6569825"/>
            <a:ext cx="5943203" cy="28817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0" dirty="0" err="1">
                <a:solidFill>
                  <a:srgbClr val="064C85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SmartMem</a:t>
            </a:r>
            <a:r>
              <a:rPr lang="en-US" altLang="zh-CN" sz="1400" b="0" dirty="0">
                <a:solidFill>
                  <a:srgbClr val="064C85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Competition 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9139810" y="6569825"/>
            <a:ext cx="3052189" cy="304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9212945" y="6526920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0" kern="1200">
                <a:solidFill>
                  <a:srgbClr val="740F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aseline="0" dirty="0">
                <a:solidFill>
                  <a:srgbClr val="064C85"/>
                </a:solidFill>
                <a:latin typeface="Candara" panose="020E0502030303020204" pitchFamily="34" charset="0"/>
              </a:rPr>
              <a:t>Page </a:t>
            </a:r>
            <a:fld id="{021F6442-7586-9541-B2EE-92373E6CA02B}" type="slidenum">
              <a:rPr lang="en-US" sz="1400" smtClean="0">
                <a:solidFill>
                  <a:srgbClr val="064C85"/>
                </a:solidFill>
                <a:latin typeface="Candara" panose="020E0502030303020204" pitchFamily="34" charset="0"/>
              </a:rPr>
              <a:t>‹#›</a:t>
            </a:fld>
            <a:r>
              <a:rPr lang="en-US" sz="1400" dirty="0">
                <a:solidFill>
                  <a:srgbClr val="064C85"/>
                </a:solidFill>
                <a:latin typeface="Candara" panose="020E0502030303020204" pitchFamily="34" charset="0"/>
              </a:rPr>
              <a:t> </a:t>
            </a:r>
          </a:p>
        </p:txBody>
      </p:sp>
      <p:sp>
        <p:nvSpPr>
          <p:cNvPr id="12" name="Date Placeholder 3"/>
          <p:cNvSpPr txBox="1"/>
          <p:nvPr userDrawn="1"/>
        </p:nvSpPr>
        <p:spPr>
          <a:xfrm>
            <a:off x="217553" y="6526919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4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cs typeface="Arial" panose="020B0604020202090204" pitchFamily="34" charset="0"/>
              </a:rPr>
              <a:t>WWW 2025, Sydney, Australia</a:t>
            </a:r>
            <a:endParaRPr lang="en-US" sz="1100" dirty="0">
              <a:solidFill>
                <a:schemeClr val="bg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notesSlide" Target="../notesSlides/notesSlide2.xml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slideLayout" Target="../slideLayouts/slideLayout6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29" Type="http://schemas.openxmlformats.org/officeDocument/2006/relationships/image" Target="../media/image4.jpe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image" Target="../media/image3.jpeg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image" Target="../media/image2.jpeg"/><Relationship Id="rId30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7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image" Target="../media/image10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59.xml"/><Relationship Id="rId9" Type="http://schemas.openxmlformats.org/officeDocument/2006/relationships/tags" Target="../tags/tag6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101"/>
            <a:ext cx="12192000" cy="285610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540403"/>
            <a:ext cx="12192000" cy="324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副标题 2"/>
          <p:cNvSpPr txBox="1"/>
          <p:nvPr/>
        </p:nvSpPr>
        <p:spPr>
          <a:xfrm>
            <a:off x="391366" y="4103579"/>
            <a:ext cx="11108055" cy="205182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CN" sz="1800" b="1" dirty="0">
                <a:latin typeface="Arial" panose="020B0604020202090204" pitchFamily="34" charset="0"/>
                <a:cs typeface="Arial" panose="020B0604020202090204" pitchFamily="34" charset="0"/>
              </a:rPr>
              <a:t>Team: Choosing a name is such a headache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cs typeface="Arial" panose="020B0604020202090204" pitchFamily="34" charset="0"/>
              </a:rPr>
              <a:t>Member: Qianli Ma</a:t>
            </a:r>
            <a:r>
              <a:rPr lang="en-US" altLang="zh-CN" sz="1800" baseline="30000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1</a:t>
            </a:r>
            <a:r>
              <a:rPr lang="en-US" altLang="zh-CN" sz="1800" dirty="0">
                <a:latin typeface="Arial" panose="020B0604020202090204" pitchFamily="34" charset="0"/>
                <a:cs typeface="Arial" panose="020B0604020202090204" pitchFamily="34" charset="0"/>
              </a:rPr>
              <a:t>, Xinyi Peng</a:t>
            </a:r>
            <a:r>
              <a:rPr lang="en-US" altLang="zh-CN" sz="1800" baseline="30000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1</a:t>
            </a:r>
            <a:r>
              <a:rPr lang="en-US" altLang="zh-CN" sz="1800" dirty="0">
                <a:latin typeface="Arial" panose="020B0604020202090204" pitchFamily="34" charset="0"/>
                <a:cs typeface="Arial" panose="020B0604020202090204" pitchFamily="34" charset="0"/>
              </a:rPr>
              <a:t>, Congcong Gu</a:t>
            </a:r>
            <a:r>
              <a:rPr lang="en-US" altLang="zh-CN" sz="1800" baseline="30000" dirty="0">
                <a:latin typeface="Arial" panose="020B0604020202090204" pitchFamily="34" charset="0"/>
                <a:cs typeface="Arial" panose="020B0604020202090204" pitchFamily="34" charset="0"/>
              </a:rPr>
              <a:t>2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1800" baseline="30000" dirty="0">
                <a:latin typeface="Arial" panose="020B0604020202090204" pitchFamily="34" charset="0"/>
                <a:cs typeface="Arial" panose="020B0604020202090204" pitchFamily="34" charset="0"/>
              </a:rPr>
              <a:t>1</a:t>
            </a:r>
            <a:r>
              <a:rPr lang="en-US" altLang="zh-CN" sz="1800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East China Normal University</a:t>
            </a:r>
            <a:endParaRPr lang="en-US" altLang="zh-CN" sz="18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1800" baseline="30000" dirty="0">
                <a:latin typeface="Arial" panose="020B0604020202090204" pitchFamily="34" charset="0"/>
                <a:cs typeface="Arial" panose="020B0604020202090204" pitchFamily="34" charset="0"/>
              </a:rPr>
              <a:t>2</a:t>
            </a:r>
            <a:r>
              <a:rPr lang="en-US" altLang="zh-CN" sz="1800" dirty="0">
                <a:latin typeface="Arial" panose="020B0604020202090204" pitchFamily="34" charset="0"/>
                <a:cs typeface="Arial" panose="020B0604020202090204" pitchFamily="34" charset="0"/>
              </a:rPr>
              <a:t>Pingan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  <a:cs typeface="Arial" panose="020B0604020202090204" pitchFamily="34" charset="0"/>
              </a:rPr>
              <a:t>28</a:t>
            </a:r>
            <a:r>
              <a:rPr lang="en-US" altLang="zh-CN" sz="1800" baseline="30000" dirty="0">
                <a:latin typeface="Arial" panose="020B0604020202090204" pitchFamily="34" charset="0"/>
                <a:cs typeface="Arial" panose="020B0604020202090204" pitchFamily="34" charset="0"/>
              </a:rPr>
              <a:t>th</a:t>
            </a:r>
            <a:r>
              <a:rPr lang="en-US" altLang="zh-CN" sz="1800" dirty="0">
                <a:latin typeface="Arial" panose="020B0604020202090204" pitchFamily="34" charset="0"/>
                <a:cs typeface="Arial" panose="020B0604020202090204" pitchFamily="34" charset="0"/>
              </a:rPr>
              <a:t> April, 2025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-127000" y="2139622"/>
            <a:ext cx="12446000" cy="1741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64C85"/>
                </a:solidFill>
                <a:latin typeface="Lucida Grande" panose="020B0600040502020204" pitchFamily="34" charset="0"/>
              </a:rPr>
              <a:t>WWW 2025 </a:t>
            </a:r>
            <a:r>
              <a:rPr lang="en-US" sz="3200" b="1" dirty="0" err="1">
                <a:solidFill>
                  <a:srgbClr val="064C85"/>
                </a:solidFill>
                <a:latin typeface="Lucida Grande" panose="020B0600040502020204" pitchFamily="34" charset="0"/>
              </a:rPr>
              <a:t>SmartMem</a:t>
            </a:r>
            <a:r>
              <a:rPr lang="en-US" sz="3200" b="1" dirty="0">
                <a:solidFill>
                  <a:srgbClr val="064C85"/>
                </a:solidFill>
                <a:latin typeface="Lucida Grande" panose="020B0600040502020204" pitchFamily="34" charset="0"/>
              </a:rPr>
              <a:t> </a:t>
            </a:r>
            <a:r>
              <a:rPr lang="en-US" altLang="zh-CN" sz="3200" b="1" dirty="0">
                <a:solidFill>
                  <a:srgbClr val="064C85"/>
                </a:solidFill>
                <a:latin typeface="Lucida Grande" panose="020B0600040502020204" pitchFamily="34" charset="0"/>
              </a:rPr>
              <a:t>Competition</a:t>
            </a:r>
            <a:endParaRPr lang="en-US" sz="3200" b="1" i="0" dirty="0">
              <a:solidFill>
                <a:srgbClr val="064C85"/>
              </a:solidFill>
              <a:effectLst/>
              <a:latin typeface="Lucida Grande" panose="020B06000405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412399" y="1717992"/>
            <a:ext cx="2394908" cy="23949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14038" y="1752359"/>
            <a:ext cx="36695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800" b="1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Introduction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856805" y="2215665"/>
            <a:ext cx="1487548" cy="1487548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14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Gill Sans" panose="020B0502020104020203" charset="0"/>
              </a:endParaRPr>
            </a:p>
          </p:txBody>
        </p:sp>
        <p:sp>
          <p:nvSpPr>
            <p:cNvPr id="15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Gill Sans" panose="020B0502020104020203" charset="0"/>
              </a:endParaRPr>
            </a:p>
          </p:txBody>
        </p:sp>
      </p:grpSp>
      <p:grpSp>
        <p:nvGrpSpPr>
          <p:cNvPr id="31" name="Group 13"/>
          <p:cNvGrpSpPr>
            <a:grpSpLocks noChangeAspect="1"/>
          </p:cNvGrpSpPr>
          <p:nvPr/>
        </p:nvGrpSpPr>
        <p:grpSpPr bwMode="auto">
          <a:xfrm>
            <a:off x="4225466" y="2759539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32" name="Freeform 14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33" name="Freeform 15"/>
            <p:cNvSpPr/>
            <p:nvPr>
              <p:custDataLst>
                <p:tags r:id="rId6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34" name="矩形 33"/>
          <p:cNvSpPr/>
          <p:nvPr>
            <p:custDataLst>
              <p:tags r:id="rId1"/>
            </p:custDataLst>
          </p:nvPr>
        </p:nvSpPr>
        <p:spPr>
          <a:xfrm>
            <a:off x="4521314" y="2731376"/>
            <a:ext cx="421757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Team Introduction</a:t>
            </a:r>
          </a:p>
        </p:txBody>
      </p:sp>
      <p:grpSp>
        <p:nvGrpSpPr>
          <p:cNvPr id="35" name="Group 13"/>
          <p:cNvGrpSpPr>
            <a:grpSpLocks noChangeAspect="1"/>
          </p:cNvGrpSpPr>
          <p:nvPr/>
        </p:nvGrpSpPr>
        <p:grpSpPr bwMode="auto">
          <a:xfrm>
            <a:off x="4225466" y="3236321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36" name="Freeform 14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37" name="Freeform 15"/>
            <p:cNvSpPr/>
            <p:nvPr>
              <p:custDataLst>
                <p:tags r:id="rId4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38" name="矩形 37"/>
          <p:cNvSpPr/>
          <p:nvPr>
            <p:custDataLst>
              <p:tags r:id="rId2"/>
            </p:custDataLst>
          </p:nvPr>
        </p:nvSpPr>
        <p:spPr>
          <a:xfrm>
            <a:off x="4534964" y="3208158"/>
            <a:ext cx="2506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Problem Definition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 Regular" panose="02020503050405090304" charset="0"/>
                <a:cs typeface="Times New Roman Regular" panose="02020503050405090304" charset="0"/>
              </a:rPr>
              <a:t>Team Introduction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itchFamily="2" charset="-122"/>
                <a:ea typeface="宋体" pitchFamily="2" charset="-122"/>
              </a:rPr>
              <a:t>3</a:t>
            </a:fld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5" name="圆角矩形"/>
          <p:cNvSpPr/>
          <p:nvPr>
            <p:custDataLst>
              <p:tags r:id="rId2"/>
            </p:custDataLst>
          </p:nvPr>
        </p:nvSpPr>
        <p:spPr>
          <a:xfrm flipH="1">
            <a:off x="5600700" y="1553845"/>
            <a:ext cx="6282690" cy="4782185"/>
          </a:xfrm>
          <a:prstGeom prst="roundRect">
            <a:avLst>
              <a:gd name="adj" fmla="val 3636"/>
            </a:avLst>
          </a:prstGeom>
          <a:solidFill>
            <a:srgbClr val="6281E0">
              <a:alpha val="15000"/>
            </a:srgbClr>
          </a:solidFill>
          <a:ln w="12700">
            <a:miter lim="400000"/>
          </a:ln>
        </p:spPr>
        <p:txBody>
          <a:bodyPr lIns="50800" tIns="50800" rIns="50800" bIns="50800"/>
          <a:lstStyle/>
          <a:p>
            <a:pPr defTabSz="2438400"/>
            <a:endParaRPr sz="500">
              <a:solidFill>
                <a:srgbClr val="FFFFFF"/>
              </a:solidFill>
            </a:endParaRPr>
          </a:p>
        </p:txBody>
      </p:sp>
      <p:sp>
        <p:nvSpPr>
          <p:cNvPr id="20" name="圆角矩形"/>
          <p:cNvSpPr/>
          <p:nvPr>
            <p:custDataLst>
              <p:tags r:id="rId3"/>
            </p:custDataLst>
          </p:nvPr>
        </p:nvSpPr>
        <p:spPr>
          <a:xfrm>
            <a:off x="5721350" y="5601335"/>
            <a:ext cx="6028690" cy="59372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 cap="flat">
            <a:solidFill>
              <a:srgbClr val="D5D5D5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825500">
              <a:defRPr sz="3200"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19" name="圆角矩形"/>
          <p:cNvSpPr/>
          <p:nvPr>
            <p:custDataLst>
              <p:tags r:id="rId4"/>
            </p:custDataLst>
          </p:nvPr>
        </p:nvSpPr>
        <p:spPr>
          <a:xfrm>
            <a:off x="5721350" y="4853305"/>
            <a:ext cx="6028690" cy="59372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 cap="flat">
            <a:solidFill>
              <a:srgbClr val="D5D5D5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825500">
              <a:defRPr sz="3200"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21" name="圆角矩形"/>
          <p:cNvSpPr/>
          <p:nvPr>
            <p:custDataLst>
              <p:tags r:id="rId5"/>
            </p:custDataLst>
          </p:nvPr>
        </p:nvSpPr>
        <p:spPr>
          <a:xfrm>
            <a:off x="5713095" y="4073525"/>
            <a:ext cx="6028690" cy="59372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 cap="flat">
            <a:solidFill>
              <a:srgbClr val="D5D5D5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825500">
              <a:defRPr sz="3200"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22" name="圆角矩形"/>
          <p:cNvSpPr/>
          <p:nvPr>
            <p:custDataLst>
              <p:tags r:id="rId6"/>
            </p:custDataLst>
          </p:nvPr>
        </p:nvSpPr>
        <p:spPr>
          <a:xfrm>
            <a:off x="5706110" y="3303905"/>
            <a:ext cx="6028690" cy="59372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 cap="flat">
            <a:solidFill>
              <a:srgbClr val="D5D5D5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825500">
              <a:defRPr sz="3200"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23" name="圆角矩形"/>
          <p:cNvSpPr/>
          <p:nvPr>
            <p:custDataLst>
              <p:tags r:id="rId7"/>
            </p:custDataLst>
          </p:nvPr>
        </p:nvSpPr>
        <p:spPr>
          <a:xfrm>
            <a:off x="5721350" y="2536190"/>
            <a:ext cx="6028690" cy="59372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 cap="flat">
            <a:solidFill>
              <a:srgbClr val="D5D5D5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825500">
              <a:defRPr sz="3200"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24" name="圆角矩形"/>
          <p:cNvSpPr/>
          <p:nvPr>
            <p:custDataLst>
              <p:tags r:id="rId8"/>
            </p:custDataLst>
          </p:nvPr>
        </p:nvSpPr>
        <p:spPr>
          <a:xfrm>
            <a:off x="5721350" y="1755140"/>
            <a:ext cx="6028690" cy="59372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 cap="flat">
            <a:solidFill>
              <a:srgbClr val="D5D5D5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825500">
              <a:defRPr sz="3200">
                <a:solidFill>
                  <a:srgbClr val="FFFFFF"/>
                </a:solidFill>
              </a:defRPr>
            </a:pPr>
            <a:endParaRPr sz="90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83" b="11683"/>
          <a:stretch>
            <a:fillRect/>
          </a:stretch>
        </p:blipFill>
        <p:spPr>
          <a:xfrm>
            <a:off x="398780" y="1422400"/>
            <a:ext cx="1383665" cy="1414145"/>
          </a:xfrm>
          <a:prstGeom prst="ellipse">
            <a:avLst/>
          </a:prstGeom>
        </p:spPr>
      </p:pic>
      <p:pic>
        <p:nvPicPr>
          <p:cNvPr id="7" name="图片 6" descr="mql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/>
          <a:srcRect l="28358" t="36218" r="23957" b="28292"/>
          <a:stretch>
            <a:fillRect/>
          </a:stretch>
        </p:blipFill>
        <p:spPr>
          <a:xfrm>
            <a:off x="398780" y="3291205"/>
            <a:ext cx="1424305" cy="1414145"/>
          </a:xfrm>
          <a:prstGeom prst="ellipse">
            <a:avLst/>
          </a:prstGeom>
        </p:spPr>
      </p:pic>
      <p:sp>
        <p:nvSpPr>
          <p:cNvPr id="28" name="文本框 27"/>
          <p:cNvSpPr txBox="1"/>
          <p:nvPr>
            <p:custDataLst>
              <p:tags r:id="rId11"/>
            </p:custDataLst>
          </p:nvPr>
        </p:nvSpPr>
        <p:spPr>
          <a:xfrm>
            <a:off x="1862455" y="1494155"/>
            <a:ext cx="3338195" cy="1673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000">
                <a:solidFill>
                  <a:srgbClr val="00B0F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Xinyi Peng</a:t>
            </a:r>
          </a:p>
          <a:p>
            <a:pPr algn="l">
              <a:lnSpc>
                <a:spcPct val="140000"/>
              </a:lnSpc>
            </a:pP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Specialized in recommendation algorithms, responsible for algorithm design.</a:t>
            </a:r>
          </a:p>
        </p:txBody>
      </p:sp>
      <p:sp>
        <p:nvSpPr>
          <p:cNvPr id="159" name="线条"/>
          <p:cNvSpPr/>
          <p:nvPr>
            <p:custDataLst>
              <p:tags r:id="rId12"/>
            </p:custDataLst>
          </p:nvPr>
        </p:nvSpPr>
        <p:spPr>
          <a:xfrm flipV="1">
            <a:off x="1922145" y="1939925"/>
            <a:ext cx="1047115" cy="7620"/>
          </a:xfrm>
          <a:prstGeom prst="line">
            <a:avLst/>
          </a:prstGeom>
          <a:ln w="41275">
            <a:solidFill>
              <a:srgbClr val="FF7303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1862455" y="3187700"/>
            <a:ext cx="3338195" cy="958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2000" dirty="0">
                <a:solidFill>
                  <a:srgbClr val="00B0F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</a:rPr>
              <a:t>Qianli Ma</a:t>
            </a:r>
            <a:endParaRPr lang="zh-CN" altLang="en-US" sz="2000" dirty="0">
              <a:solidFill>
                <a:srgbClr val="00B0F0"/>
              </a:solidFill>
              <a:uFillTx/>
              <a:latin typeface="Times New Roman" panose="02020503050405090304" pitchFamily="18" charset="0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1600">
                <a:uFillTx/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Specialized in RL, responsible for engineering optimization.</a:t>
            </a:r>
          </a:p>
        </p:txBody>
      </p:sp>
      <p:sp>
        <p:nvSpPr>
          <p:cNvPr id="12" name="线条"/>
          <p:cNvSpPr/>
          <p:nvPr>
            <p:custDataLst>
              <p:tags r:id="rId14"/>
            </p:custDataLst>
          </p:nvPr>
        </p:nvSpPr>
        <p:spPr>
          <a:xfrm flipV="1">
            <a:off x="1922145" y="3632835"/>
            <a:ext cx="1047115" cy="7620"/>
          </a:xfrm>
          <a:prstGeom prst="line">
            <a:avLst/>
          </a:prstGeom>
          <a:ln w="41275">
            <a:solidFill>
              <a:srgbClr val="FF7303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5704205" y="1506220"/>
            <a:ext cx="5958840" cy="4831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250000"/>
              </a:lnSpc>
              <a:buSzTx/>
            </a:pP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2024 </a:t>
            </a:r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Tianchi-</a:t>
            </a: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AFAC</a:t>
            </a:r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 LLM</a:t>
            </a:r>
            <a:r>
              <a:rPr lang="en-US" altLang="zh-CN" sz="2000"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Contest</a:t>
            </a:r>
            <a:endParaRPr lang="zh-CN" altLang="en-US" sz="2000">
              <a:solidFill>
                <a:schemeClr val="tx1"/>
              </a:solidFill>
              <a:latin typeface="Times New Roman" panose="02020503050405090304" pitchFamily="18" charset="0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algn="l">
              <a:lnSpc>
                <a:spcPct val="250000"/>
              </a:lnSpc>
              <a:buSzTx/>
            </a:pP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2024 IJCAI-</a:t>
            </a:r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Voice DeepFake Detection</a:t>
            </a:r>
            <a:endParaRPr lang="zh-CN" altLang="en-US" sz="2000">
              <a:solidFill>
                <a:schemeClr val="tx1"/>
              </a:solidFill>
              <a:latin typeface="Times New Roman" panose="02020503050405090304" pitchFamily="18" charset="0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algn="l">
              <a:lnSpc>
                <a:spcPct val="250000"/>
              </a:lnSpc>
              <a:buSzTx/>
            </a:pP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2023 </a:t>
            </a:r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Tsinghua</a:t>
            </a: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-China Collegiate Computing Contest</a:t>
            </a:r>
          </a:p>
          <a:p>
            <a:pPr algn="l">
              <a:lnSpc>
                <a:spcPct val="250000"/>
              </a:lnSpc>
              <a:buSzTx/>
            </a:pP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2023 </a:t>
            </a:r>
            <a:r>
              <a:rPr lang="en-US" altLang="zh-CN" sz="2000"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Tianchi</a:t>
            </a: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-AFAC</a:t>
            </a:r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en-US" altLang="zh-CN" sz="2000"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TimeSeries </a:t>
            </a:r>
            <a:r>
              <a:rPr lang="zh-CN" altLang="en-US" sz="2000"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Contest</a:t>
            </a:r>
            <a:endParaRPr lang="zh-CN" altLang="en-US" sz="2000">
              <a:solidFill>
                <a:schemeClr val="tx1"/>
              </a:solidFill>
              <a:latin typeface="Times New Roman" panose="02020503050405090304" pitchFamily="18" charset="0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250000"/>
              </a:lnSpc>
              <a:buSzTx/>
            </a:pP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2023 </a:t>
            </a:r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Tianchi</a:t>
            </a: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-IEEE-AICAS</a:t>
            </a:r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 RecSys </a:t>
            </a:r>
            <a:r>
              <a:rPr lang="zh-CN" altLang="en-US" sz="2000"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Contest</a:t>
            </a:r>
            <a:endParaRPr lang="zh-CN" altLang="en-US" sz="2000">
              <a:solidFill>
                <a:schemeClr val="tx1"/>
              </a:solidFill>
              <a:latin typeface="Times New Roman" panose="02020503050405090304" pitchFamily="18" charset="0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250000"/>
              </a:lnSpc>
              <a:buSzTx/>
            </a:pP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2023 </a:t>
            </a:r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Tianchi</a:t>
            </a:r>
            <a:r>
              <a:rPr lang="zh-CN" altLang="en-US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-Imagine Computing</a:t>
            </a:r>
            <a:r>
              <a:rPr lang="en-US" altLang="zh-CN" sz="2000">
                <a:solidFill>
                  <a:schemeClr val="tx1"/>
                </a:solidFill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000"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Contest</a:t>
            </a:r>
            <a:endParaRPr lang="en-US" altLang="zh-CN" sz="2000">
              <a:solidFill>
                <a:schemeClr val="tx1"/>
              </a:solidFill>
              <a:latin typeface="Times New Roman" panose="02020503050405090304" pitchFamily="18" charset="0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9">
            <a:lum bright="18000" contrast="24000"/>
          </a:blip>
          <a:srcRect l="5294" t="18432" r="65333" b="14189"/>
          <a:stretch>
            <a:fillRect/>
          </a:stretch>
        </p:blipFill>
        <p:spPr>
          <a:xfrm>
            <a:off x="11349355" y="2606675"/>
            <a:ext cx="309245" cy="40386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9">
            <a:lum bright="18000" contrast="24000"/>
          </a:blip>
          <a:srcRect l="35224" t="28853" r="34675" b="2824"/>
          <a:stretch>
            <a:fillRect/>
          </a:stretch>
        </p:blipFill>
        <p:spPr>
          <a:xfrm>
            <a:off x="11349355" y="1803400"/>
            <a:ext cx="308610" cy="40386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9">
            <a:lum bright="18000" contrast="24000"/>
          </a:blip>
          <a:srcRect l="35224" t="28853" r="34675" b="2824"/>
          <a:stretch>
            <a:fillRect/>
          </a:stretch>
        </p:blipFill>
        <p:spPr>
          <a:xfrm>
            <a:off x="11349355" y="3423285"/>
            <a:ext cx="308610" cy="40386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9">
            <a:lum bright="18000" contrast="24000"/>
          </a:blip>
          <a:srcRect l="5294" t="18432" r="65333" b="14189"/>
          <a:stretch>
            <a:fillRect/>
          </a:stretch>
        </p:blipFill>
        <p:spPr>
          <a:xfrm>
            <a:off x="11349355" y="4169410"/>
            <a:ext cx="309245" cy="40386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9">
            <a:lum bright="18000" contrast="24000"/>
          </a:blip>
          <a:srcRect l="35224" t="28853" r="34675" b="2824"/>
          <a:stretch>
            <a:fillRect/>
          </a:stretch>
        </p:blipFill>
        <p:spPr>
          <a:xfrm>
            <a:off x="11349355" y="4935220"/>
            <a:ext cx="308610" cy="40386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9">
            <a:lum bright="18000" contrast="24000"/>
          </a:blip>
          <a:srcRect l="5294" t="18432" r="65333" b="14189"/>
          <a:stretch>
            <a:fillRect/>
          </a:stretch>
        </p:blipFill>
        <p:spPr>
          <a:xfrm>
            <a:off x="11349355" y="5694045"/>
            <a:ext cx="309245" cy="4038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30"/>
          <a:srcRect t="2712" b="27191"/>
          <a:stretch>
            <a:fillRect/>
          </a:stretch>
        </p:blipFill>
        <p:spPr>
          <a:xfrm>
            <a:off x="355600" y="4956175"/>
            <a:ext cx="1426845" cy="1463675"/>
          </a:xfrm>
          <a:prstGeom prst="ellipse">
            <a:avLst/>
          </a:prstGeom>
        </p:spPr>
      </p:pic>
      <p:sp>
        <p:nvSpPr>
          <p:cNvPr id="5" name="文本框 4"/>
          <p:cNvSpPr txBox="1"/>
          <p:nvPr>
            <p:custDataLst>
              <p:tags r:id="rId23"/>
            </p:custDataLst>
          </p:nvPr>
        </p:nvSpPr>
        <p:spPr>
          <a:xfrm>
            <a:off x="1823085" y="5014595"/>
            <a:ext cx="3338195" cy="958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2000" dirty="0">
                <a:solidFill>
                  <a:srgbClr val="00B0F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</a:rPr>
              <a:t>Congcong Gu</a:t>
            </a:r>
            <a:endParaRPr lang="zh-CN" altLang="en-US" sz="2000" dirty="0">
              <a:solidFill>
                <a:srgbClr val="00B0F0"/>
              </a:solidFill>
              <a:uFillTx/>
              <a:latin typeface="Times New Roman" panose="02020503050405090304" pitchFamily="18" charset="0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1600">
                <a:uFillTx/>
                <a:latin typeface="Times New Roman" panose="0202050305040509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Specialized in recommendation algorithms.</a:t>
            </a:r>
          </a:p>
        </p:txBody>
      </p:sp>
      <p:sp>
        <p:nvSpPr>
          <p:cNvPr id="9" name="线条"/>
          <p:cNvSpPr/>
          <p:nvPr>
            <p:custDataLst>
              <p:tags r:id="rId24"/>
            </p:custDataLst>
          </p:nvPr>
        </p:nvSpPr>
        <p:spPr>
          <a:xfrm flipV="1">
            <a:off x="1882775" y="5459730"/>
            <a:ext cx="1047115" cy="7620"/>
          </a:xfrm>
          <a:prstGeom prst="line">
            <a:avLst/>
          </a:prstGeom>
          <a:ln w="41275">
            <a:solidFill>
              <a:srgbClr val="FF7303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 Regular" panose="02020503050405090304" charset="0"/>
                <a:cs typeface="Times New Roman Regular" panose="02020503050405090304" charset="0"/>
              </a:rPr>
              <a:t>Problem Definition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itchFamily="2" charset="-122"/>
                <a:ea typeface="宋体" pitchFamily="2" charset="-122"/>
              </a:rPr>
              <a:t>4</a:t>
            </a:fld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</p:blipFill>
        <p:spPr>
          <a:xfrm>
            <a:off x="7213600" y="3811905"/>
            <a:ext cx="4394200" cy="21234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68630" y="1141095"/>
            <a:ext cx="6710045" cy="52546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412399" y="1717992"/>
            <a:ext cx="2394908" cy="23949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14038" y="1752359"/>
            <a:ext cx="360362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4800" b="1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Methodology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856805" y="2215665"/>
            <a:ext cx="1487548" cy="1487548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14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Gill Sans" panose="020B0502020104020203" charset="0"/>
              </a:endParaRPr>
            </a:p>
          </p:txBody>
        </p:sp>
        <p:sp>
          <p:nvSpPr>
            <p:cNvPr id="15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Gill Sans" panose="020B0502020104020203" charset="0"/>
              </a:endParaRPr>
            </a:p>
          </p:txBody>
        </p:sp>
      </p:grpSp>
      <p:grpSp>
        <p:nvGrpSpPr>
          <p:cNvPr id="31" name="Group 13"/>
          <p:cNvGrpSpPr>
            <a:grpSpLocks noChangeAspect="1"/>
          </p:cNvGrpSpPr>
          <p:nvPr/>
        </p:nvGrpSpPr>
        <p:grpSpPr bwMode="auto">
          <a:xfrm>
            <a:off x="4225466" y="2759539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32" name="Freeform 14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33" name="Freeform 15"/>
            <p:cNvSpPr/>
            <p:nvPr>
              <p:custDataLst>
                <p:tags r:id="rId12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34" name="矩形 33"/>
          <p:cNvSpPr/>
          <p:nvPr>
            <p:custDataLst>
              <p:tags r:id="rId1"/>
            </p:custDataLst>
          </p:nvPr>
        </p:nvSpPr>
        <p:spPr>
          <a:xfrm>
            <a:off x="4521314" y="2731376"/>
            <a:ext cx="421757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Challenge 1: Severe Class Imbalance</a:t>
            </a:r>
          </a:p>
        </p:txBody>
      </p:sp>
      <p:grpSp>
        <p:nvGrpSpPr>
          <p:cNvPr id="35" name="Group 13"/>
          <p:cNvGrpSpPr>
            <a:grpSpLocks noChangeAspect="1"/>
          </p:cNvGrpSpPr>
          <p:nvPr/>
        </p:nvGrpSpPr>
        <p:grpSpPr bwMode="auto">
          <a:xfrm>
            <a:off x="4225466" y="3236321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36" name="Freeform 14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37" name="Freeform 15"/>
            <p:cNvSpPr/>
            <p:nvPr>
              <p:custDataLst>
                <p:tags r:id="rId10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38" name="矩形 37"/>
          <p:cNvSpPr/>
          <p:nvPr>
            <p:custDataLst>
              <p:tags r:id="rId2"/>
            </p:custDataLst>
          </p:nvPr>
        </p:nvSpPr>
        <p:spPr>
          <a:xfrm>
            <a:off x="4534964" y="3208158"/>
            <a:ext cx="44373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Challenge 2: Information-Sparse Samples</a:t>
            </a: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 bwMode="auto">
          <a:xfrm>
            <a:off x="4211496" y="3752679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5" name="Freeform 14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" name="Freeform 15"/>
            <p:cNvSpPr/>
            <p:nvPr>
              <p:custDataLst>
                <p:tags r:id="rId8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4507344" y="3724516"/>
            <a:ext cx="421757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Challenge 3: Extreme Data Skewness</a:t>
            </a:r>
          </a:p>
        </p:txBody>
      </p:sp>
      <p:grpSp>
        <p:nvGrpSpPr>
          <p:cNvPr id="8" name="Group 13"/>
          <p:cNvGrpSpPr>
            <a:grpSpLocks noChangeAspect="1"/>
          </p:cNvGrpSpPr>
          <p:nvPr/>
        </p:nvGrpSpPr>
        <p:grpSpPr bwMode="auto">
          <a:xfrm>
            <a:off x="4211496" y="4229461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9" name="Freeform 14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0" name="Freeform 15"/>
            <p:cNvSpPr/>
            <p:nvPr>
              <p:custDataLst>
                <p:tags r:id="rId6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4520994" y="4201298"/>
            <a:ext cx="592137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Challenge 4: High Noise and Missing Data in Raw 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 Regular" panose="02020503050405090304" charset="0"/>
                <a:cs typeface="Times New Roman Regular" panose="02020503050405090304" charset="0"/>
              </a:rPr>
              <a:t>Challenge 1: Severe Class Imbalance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itchFamily="2" charset="-122"/>
                <a:ea typeface="宋体" pitchFamily="2" charset="-122"/>
              </a:rPr>
              <a:t>6</a:t>
            </a:fld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8300" y="1141095"/>
            <a:ext cx="9215755" cy="53105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1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Challenge 2: Information-Sparse Samples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itchFamily="2" charset="-122"/>
                <a:ea typeface="宋体" pitchFamily="2" charset="-122"/>
              </a:rPr>
              <a:t>7</a:t>
            </a:fld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8310" y="1141095"/>
            <a:ext cx="9293860" cy="5224145"/>
          </a:xfrm>
          <a:prstGeom prst="rect">
            <a:avLst/>
          </a:prstGeom>
        </p:spPr>
      </p:pic>
      <p:pic>
        <p:nvPicPr>
          <p:cNvPr id="6" name="图片 5" descr="long-tail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742170" y="4002405"/>
            <a:ext cx="2364105" cy="14782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65"/>
            <a:ext cx="64015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1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Challenge 3: Extreme Data Skewness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itchFamily="2" charset="-122"/>
                <a:ea typeface="宋体" pitchFamily="2" charset="-122"/>
              </a:rPr>
              <a:t>8</a:t>
            </a:fld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8300" y="1069340"/>
            <a:ext cx="9867265" cy="54146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55"/>
            <a:ext cx="8767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1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Challenge 4: High Noise and Missing Data in Raw Logs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itchFamily="2" charset="-122"/>
                <a:ea typeface="宋体" pitchFamily="2" charset="-122"/>
              </a:rPr>
              <a:t>9</a:t>
            </a:fld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8300" y="1141095"/>
            <a:ext cx="9662160" cy="36410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412399" y="1717992"/>
            <a:ext cx="2394908" cy="23949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14038" y="1752359"/>
            <a:ext cx="350202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4800" b="1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Experiments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856805" y="2215665"/>
            <a:ext cx="1487548" cy="1487548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14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Gill Sans" panose="020B0502020104020203" charset="0"/>
              </a:endParaRPr>
            </a:p>
          </p:txBody>
        </p:sp>
        <p:sp>
          <p:nvSpPr>
            <p:cNvPr id="15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Gill Sans" panose="020B0502020104020203" charset="0"/>
              </a:endParaRPr>
            </a:p>
          </p:txBody>
        </p:sp>
      </p:grpSp>
      <p:grpSp>
        <p:nvGrpSpPr>
          <p:cNvPr id="31" name="Group 13"/>
          <p:cNvGrpSpPr>
            <a:grpSpLocks noChangeAspect="1"/>
          </p:cNvGrpSpPr>
          <p:nvPr/>
        </p:nvGrpSpPr>
        <p:grpSpPr bwMode="auto">
          <a:xfrm>
            <a:off x="4225466" y="2759539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32" name="Freeform 14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33" name="Freeform 15"/>
            <p:cNvSpPr/>
            <p:nvPr>
              <p:custDataLst>
                <p:tags r:id="rId9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34" name="矩形 33"/>
          <p:cNvSpPr/>
          <p:nvPr>
            <p:custDataLst>
              <p:tags r:id="rId1"/>
            </p:custDataLst>
          </p:nvPr>
        </p:nvSpPr>
        <p:spPr>
          <a:xfrm>
            <a:off x="4521314" y="2731376"/>
            <a:ext cx="421757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Label Construction Study</a:t>
            </a:r>
          </a:p>
        </p:txBody>
      </p:sp>
      <p:grpSp>
        <p:nvGrpSpPr>
          <p:cNvPr id="35" name="Group 13"/>
          <p:cNvGrpSpPr>
            <a:grpSpLocks noChangeAspect="1"/>
          </p:cNvGrpSpPr>
          <p:nvPr/>
        </p:nvGrpSpPr>
        <p:grpSpPr bwMode="auto">
          <a:xfrm>
            <a:off x="4225466" y="3236321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36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37" name="Freeform 15"/>
            <p:cNvSpPr/>
            <p:nvPr>
              <p:custDataLst>
                <p:tags r:id="rId7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38" name="矩形 37"/>
          <p:cNvSpPr/>
          <p:nvPr>
            <p:custDataLst>
              <p:tags r:id="rId2"/>
            </p:custDataLst>
          </p:nvPr>
        </p:nvSpPr>
        <p:spPr>
          <a:xfrm>
            <a:off x="4534964" y="3208158"/>
            <a:ext cx="260985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Sample Selection </a:t>
            </a:r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Study</a:t>
            </a:r>
            <a:endParaRPr lang="en-US" altLang="zh-CN" sz="2000" kern="100" dirty="0">
              <a:solidFill>
                <a:schemeClr val="accent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 bwMode="auto">
          <a:xfrm>
            <a:off x="4211496" y="3752679"/>
            <a:ext cx="328183" cy="327403"/>
            <a:chOff x="3665" y="2074"/>
            <a:chExt cx="421" cy="420"/>
          </a:xfrm>
          <a:solidFill>
            <a:schemeClr val="accent1"/>
          </a:solidFill>
        </p:grpSpPr>
        <p:sp>
          <p:nvSpPr>
            <p:cNvPr id="5" name="Freeform 14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665" y="2074"/>
              <a:ext cx="421" cy="420"/>
            </a:xfrm>
            <a:custGeom>
              <a:avLst/>
              <a:gdLst>
                <a:gd name="T0" fmla="*/ 350 w 699"/>
                <a:gd name="T1" fmla="*/ 698 h 698"/>
                <a:gd name="T2" fmla="*/ 0 w 699"/>
                <a:gd name="T3" fmla="*/ 349 h 698"/>
                <a:gd name="T4" fmla="*/ 350 w 699"/>
                <a:gd name="T5" fmla="*/ 0 h 698"/>
                <a:gd name="T6" fmla="*/ 699 w 699"/>
                <a:gd name="T7" fmla="*/ 349 h 698"/>
                <a:gd name="T8" fmla="*/ 350 w 699"/>
                <a:gd name="T9" fmla="*/ 698 h 698"/>
                <a:gd name="T10" fmla="*/ 350 w 699"/>
                <a:gd name="T11" fmla="*/ 40 h 698"/>
                <a:gd name="T12" fmla="*/ 40 w 699"/>
                <a:gd name="T13" fmla="*/ 349 h 698"/>
                <a:gd name="T14" fmla="*/ 350 w 699"/>
                <a:gd name="T15" fmla="*/ 658 h 698"/>
                <a:gd name="T16" fmla="*/ 659 w 699"/>
                <a:gd name="T17" fmla="*/ 349 h 698"/>
                <a:gd name="T18" fmla="*/ 350 w 699"/>
                <a:gd name="T19" fmla="*/ 4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9" h="698">
                  <a:moveTo>
                    <a:pt x="350" y="698"/>
                  </a:move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0"/>
                    <a:pt x="350" y="0"/>
                  </a:cubicBezTo>
                  <a:cubicBezTo>
                    <a:pt x="542" y="0"/>
                    <a:pt x="699" y="156"/>
                    <a:pt x="699" y="349"/>
                  </a:cubicBezTo>
                  <a:cubicBezTo>
                    <a:pt x="699" y="542"/>
                    <a:pt x="542" y="698"/>
                    <a:pt x="350" y="698"/>
                  </a:cubicBezTo>
                  <a:close/>
                  <a:moveTo>
                    <a:pt x="350" y="40"/>
                  </a:moveTo>
                  <a:cubicBezTo>
                    <a:pt x="179" y="40"/>
                    <a:pt x="40" y="179"/>
                    <a:pt x="40" y="349"/>
                  </a:cubicBezTo>
                  <a:cubicBezTo>
                    <a:pt x="40" y="519"/>
                    <a:pt x="179" y="658"/>
                    <a:pt x="350" y="658"/>
                  </a:cubicBezTo>
                  <a:cubicBezTo>
                    <a:pt x="520" y="658"/>
                    <a:pt x="659" y="519"/>
                    <a:pt x="659" y="349"/>
                  </a:cubicBezTo>
                  <a:cubicBezTo>
                    <a:pt x="659" y="179"/>
                    <a:pt x="520" y="40"/>
                    <a:pt x="3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" name="Freeform 15"/>
            <p:cNvSpPr/>
            <p:nvPr>
              <p:custDataLst>
                <p:tags r:id="rId5"/>
              </p:custDataLst>
            </p:nvPr>
          </p:nvSpPr>
          <p:spPr bwMode="auto">
            <a:xfrm>
              <a:off x="3759" y="2204"/>
              <a:ext cx="233" cy="162"/>
            </a:xfrm>
            <a:custGeom>
              <a:avLst/>
              <a:gdLst>
                <a:gd name="T0" fmla="*/ 138 w 387"/>
                <a:gd name="T1" fmla="*/ 269 h 269"/>
                <a:gd name="T2" fmla="*/ 123 w 387"/>
                <a:gd name="T3" fmla="*/ 263 h 269"/>
                <a:gd name="T4" fmla="*/ 7 w 387"/>
                <a:gd name="T5" fmla="*/ 147 h 269"/>
                <a:gd name="T6" fmla="*/ 7 w 387"/>
                <a:gd name="T7" fmla="*/ 119 h 269"/>
                <a:gd name="T8" fmla="*/ 7 w 387"/>
                <a:gd name="T9" fmla="*/ 119 h 269"/>
                <a:gd name="T10" fmla="*/ 36 w 387"/>
                <a:gd name="T11" fmla="*/ 119 h 269"/>
                <a:gd name="T12" fmla="*/ 36 w 387"/>
                <a:gd name="T13" fmla="*/ 119 h 269"/>
                <a:gd name="T14" fmla="*/ 138 w 387"/>
                <a:gd name="T15" fmla="*/ 221 h 269"/>
                <a:gd name="T16" fmla="*/ 350 w 387"/>
                <a:gd name="T17" fmla="*/ 8 h 269"/>
                <a:gd name="T18" fmla="*/ 379 w 387"/>
                <a:gd name="T19" fmla="*/ 8 h 269"/>
                <a:gd name="T20" fmla="*/ 379 w 387"/>
                <a:gd name="T21" fmla="*/ 8 h 269"/>
                <a:gd name="T22" fmla="*/ 379 w 387"/>
                <a:gd name="T23" fmla="*/ 36 h 269"/>
                <a:gd name="T24" fmla="*/ 379 w 387"/>
                <a:gd name="T25" fmla="*/ 36 h 269"/>
                <a:gd name="T26" fmla="*/ 152 w 387"/>
                <a:gd name="T27" fmla="*/ 263 h 269"/>
                <a:gd name="T28" fmla="*/ 138 w 387"/>
                <a:gd name="T2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7" h="269">
                  <a:moveTo>
                    <a:pt x="138" y="269"/>
                  </a:moveTo>
                  <a:cubicBezTo>
                    <a:pt x="132" y="269"/>
                    <a:pt x="127" y="267"/>
                    <a:pt x="123" y="263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0" y="139"/>
                    <a:pt x="0" y="127"/>
                    <a:pt x="7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5" y="111"/>
                    <a:pt x="28" y="111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350" y="8"/>
                    <a:pt x="350" y="8"/>
                    <a:pt x="350" y="8"/>
                  </a:cubicBezTo>
                  <a:cubicBezTo>
                    <a:pt x="358" y="0"/>
                    <a:pt x="371" y="0"/>
                    <a:pt x="379" y="8"/>
                  </a:cubicBezTo>
                  <a:cubicBezTo>
                    <a:pt x="379" y="8"/>
                    <a:pt x="379" y="8"/>
                    <a:pt x="379" y="8"/>
                  </a:cubicBezTo>
                  <a:cubicBezTo>
                    <a:pt x="387" y="16"/>
                    <a:pt x="387" y="28"/>
                    <a:pt x="379" y="36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152" y="263"/>
                    <a:pt x="152" y="263"/>
                    <a:pt x="152" y="263"/>
                  </a:cubicBezTo>
                  <a:cubicBezTo>
                    <a:pt x="148" y="267"/>
                    <a:pt x="143" y="269"/>
                    <a:pt x="138" y="2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4507344" y="3724516"/>
            <a:ext cx="421757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Model Validation </a:t>
            </a:r>
            <a:r>
              <a:rPr lang="en-US" altLang="zh-CN" sz="2000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Study</a:t>
            </a:r>
            <a:endParaRPr lang="en-US" altLang="zh-CN" sz="2000" kern="100" dirty="0">
              <a:solidFill>
                <a:schemeClr val="accent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55"/>
            <a:ext cx="8767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1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Label Construction Study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itchFamily="2" charset="-122"/>
                <a:ea typeface="宋体" pitchFamily="2" charset="-122"/>
              </a:rPr>
              <a:t>11</a:t>
            </a:fld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22910" y="1078230"/>
            <a:ext cx="98996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We label a DRAM module as positive if it experiences UE within 7 days after the observation window (excluding the immediate 15-minute buffer). We experimented with various labeling windows and found longer windows caused distribution shift. Using the last two months as validation data with fixed parameters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3435985" y="2982595"/>
          <a:ext cx="4267200" cy="1913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Window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14days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55"/>
            <a:ext cx="8767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1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Sample Selection Study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itchFamily="2" charset="-122"/>
                <a:ea typeface="宋体" pitchFamily="2" charset="-122"/>
              </a:rPr>
              <a:t>12</a:t>
            </a:fld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22910" y="1078230"/>
            <a:ext cx="98996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Times New Roman Regular" panose="02020503050405090304" charset="0"/>
                <a:cs typeface="Times New Roman Regular" panose="02020503050405090304" charset="0"/>
              </a:rPr>
              <a:t>To address data imbalance and sparsity, we implemented various sampling strategies. Using the last two months as validation data with fixed labeling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.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3140710" y="2357755"/>
          <a:ext cx="5303520" cy="2620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Negative Sampling (0.01)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Negative Sampling (0.1)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Negative Sampling (0.2)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Adaptive Sample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0.29</a:t>
                      </a:r>
                      <a:endParaRPr lang="en-US" alt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Grouped Subsampling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0.29</a:t>
                      </a:r>
                      <a:endParaRPr lang="en-US" alt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55"/>
            <a:ext cx="8767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1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Model Validation Study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itchFamily="2" charset="-122"/>
                <a:ea typeface="宋体" pitchFamily="2" charset="-122"/>
              </a:rPr>
              <a:t>13</a:t>
            </a:fld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22910" y="1078230"/>
            <a:ext cx="98996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We evaluated different validation strategies while maintaining optimal sampling and labeling configurations. Our final approach used temporal split validation with 2-month windows</a:t>
            </a:r>
            <a:r>
              <a:rPr lang="en-US">
                <a:latin typeface="Times New Roman Regular" panose="02020503050405090304" charset="0"/>
                <a:cs typeface="Times New Roman Regular" panose="02020503050405090304" charset="0"/>
              </a:rPr>
              <a:t>.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1480185" y="2357755"/>
          <a:ext cx="8639810" cy="2511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1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Validation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Random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valid_ratio=0.3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Full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Round=Best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Temporal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K=5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K-fold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K=5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Group K-fold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Group=sn_name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0.25</a:t>
                      </a:r>
                      <a:endParaRPr lang="en-US" alt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Stratified K-fold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K=5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350">
                          <a:sym typeface="+mn-ea"/>
                        </a:rPr>
                        <a:t>0.30</a:t>
                      </a:r>
                      <a:endParaRPr lang="en-US" alt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412399" y="1717992"/>
            <a:ext cx="2394908" cy="23949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14038" y="1752359"/>
            <a:ext cx="333438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4800" b="1" kern="100" dirty="0">
                <a:solidFill>
                  <a:schemeClr val="accent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Conclusions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856805" y="2215665"/>
            <a:ext cx="1487548" cy="1487548"/>
            <a:chOff x="2473104" y="2145028"/>
            <a:chExt cx="359165" cy="359165"/>
          </a:xfrm>
          <a:solidFill>
            <a:sysClr val="window" lastClr="FFFFFF"/>
          </a:solidFill>
        </p:grpSpPr>
        <p:sp>
          <p:nvSpPr>
            <p:cNvPr id="14" name="AutoShape 126"/>
            <p:cNvSpPr/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Gill Sans" panose="020B0502020104020203" charset="0"/>
              </a:endParaRPr>
            </a:p>
          </p:txBody>
        </p:sp>
        <p:sp>
          <p:nvSpPr>
            <p:cNvPr id="15" name="AutoShape 127"/>
            <p:cNvSpPr/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400" tIns="25400" rIns="25400" bIns="25400" anchor="ctr"/>
            <a:lstStyle/>
            <a:p>
              <a:pPr algn="ctr" defTabSz="30480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Gill Sans" panose="020B0502020104020203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5" y="287655"/>
            <a:ext cx="8767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kern="1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Conclusions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>
                <a:latin typeface="宋体" pitchFamily="2" charset="-122"/>
                <a:ea typeface="宋体" pitchFamily="2" charset="-122"/>
              </a:rPr>
              <a:t>15</a:t>
            </a:fld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68303" y="952505"/>
            <a:ext cx="11239500" cy="4571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85775" y="1209675"/>
            <a:ext cx="8486775" cy="37052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48"/>
    </mc:Choice>
    <mc:Fallback xmlns="">
      <p:transition spd="slow" advTm="7494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301" y="2551100"/>
            <a:ext cx="5584420" cy="1755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Y5ZjdlOTY1YTZiYzljNDc4ZTZjNDYzYjJkNGMwM2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898.55,&quot;left&quot;:19.15,&quot;top&quot;:95.65,&quot;width&quot;:880.325039370078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898.55,&quot;left&quot;:19.15,&quot;top&quot;:95.65,&quot;width&quot;:880.325039370078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98.55,&quot;left&quot;:19.15,&quot;top&quot;:95.65,&quot;width&quot;:880.3250393700788}"/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98.55,&quot;left&quot;:19.15,&quot;top&quot;:95.65,&quot;width&quot;:880.3250393700788}"/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98.55,&quot;left&quot;:19.15,&quot;top&quot;:95.65,&quot;width&quot;:880.3250393700788}"/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98.55,&quot;left&quot;:19.15,&quot;top&quot;:95.65,&quot;width&quot;:880.3250393700788}"/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525.65,&quot;left&quot;:30.7,&quot;top&quot;:95.65,&quot;width&quot;:1103.175039370078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98.55,&quot;left&quot;:19.15,&quot;top&quot;:95.65,&quot;width&quot;:880.3250393700788}"/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898.55,&quot;left&quot;:19.15,&quot;top&quot;:95.65,&quot;width&quot;:880.3250393700788}"/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417*219"/>
  <p:tag name="TABLE_ENDDRAG_RECT" val="188*234*417*21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417*219"/>
  <p:tag name="TABLE_ENDDRAG_RECT" val="188*234*417*219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1253</Words>
  <Application>Microsoft Office PowerPoint</Application>
  <PresentationFormat>宽屏</PresentationFormat>
  <Paragraphs>171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Lucida Grande</vt:lpstr>
      <vt:lpstr>Times New Roman Regular</vt:lpstr>
      <vt:lpstr>宋体</vt:lpstr>
      <vt:lpstr>Arial</vt:lpstr>
      <vt:lpstr>Calibri</vt:lpstr>
      <vt:lpstr>Candara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YANG, Menglin</dc:creator>
  <cp:lastModifiedBy>Hongyi Xie</cp:lastModifiedBy>
  <cp:revision>13</cp:revision>
  <dcterms:created xsi:type="dcterms:W3CDTF">2025-04-26T12:54:24Z</dcterms:created>
  <dcterms:modified xsi:type="dcterms:W3CDTF">2025-05-06T06:56:35Z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(2)+pvTOeuSSWkLCNKegJkdyToWwwhF/G3/epmj/ZrjqmIRGNbgrRaTzKZRz6IPic3Q/MsDdjEV
Pp8rzkUjkUQcl8n7gVXMSe/UkybsM2c5qRPQIpXfTjyUJQZDUAq+X8njzQU6V5iZ+pnbB3zf
SSjhUWx8/jUcAkI5nguoQIAG1ziun/aYE+5pdKmnoagJ8f+PeMzNUfJeMRGTli+gX5rbdBaK
TYC/6ZPi7dXfOzX6HC</vt:lpwstr>
  </property>
  <property fmtid="{D5CDD505-2E9C-101B-9397-08002B2CF9AE}" pid="3" name="_2015_ms_pID_7253431">
    <vt:lpwstr>4Mx6C8o6lYYRvLlr6qXq9aWMPtsfQ9etLA6kj0r8IwOFaTLFh1QQzt
rFMfarMsc1s/eUEeHtAy8IUyzX+ynGt7OyTcUrQM24xAB+zt3GVguijXcdqecPEMU6c2mRBv
H4NjZ5tX+LCmZXio7BAeO7sKhLiC+XijIhGv4rJxVx0Ei8Oui9C22yuftsL9Yf7+Nts=</vt:lpwstr>
  </property>
  <property fmtid="{D5CDD505-2E9C-101B-9397-08002B2CF9AE}" pid="4" name="ICV">
    <vt:lpwstr>B2AF4FFD8D20B753A4C70C680A2CD1C3_42</vt:lpwstr>
  </property>
  <property fmtid="{D5CDD505-2E9C-101B-9397-08002B2CF9AE}" pid="5" name="KSOProductBuildVer">
    <vt:lpwstr>2052-6.9.0.8865</vt:lpwstr>
  </property>
</Properties>
</file>